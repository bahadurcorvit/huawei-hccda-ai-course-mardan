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34"/>
  </p:notesMasterIdLst>
  <p:sldIdLst>
    <p:sldId id="293" r:id="rId2"/>
    <p:sldId id="294" r:id="rId3"/>
    <p:sldId id="301" r:id="rId4"/>
    <p:sldId id="295" r:id="rId5"/>
    <p:sldId id="302" r:id="rId6"/>
    <p:sldId id="303" r:id="rId7"/>
    <p:sldId id="327" r:id="rId8"/>
    <p:sldId id="329" r:id="rId9"/>
    <p:sldId id="330" r:id="rId10"/>
    <p:sldId id="331" r:id="rId11"/>
    <p:sldId id="314" r:id="rId12"/>
    <p:sldId id="320" r:id="rId13"/>
    <p:sldId id="299" r:id="rId14"/>
    <p:sldId id="321" r:id="rId15"/>
    <p:sldId id="322" r:id="rId16"/>
    <p:sldId id="323" r:id="rId17"/>
    <p:sldId id="324" r:id="rId18"/>
    <p:sldId id="296" r:id="rId19"/>
    <p:sldId id="309" r:id="rId20"/>
    <p:sldId id="325" r:id="rId21"/>
    <p:sldId id="326" r:id="rId22"/>
    <p:sldId id="307" r:id="rId23"/>
    <p:sldId id="313" r:id="rId24"/>
    <p:sldId id="312" r:id="rId25"/>
    <p:sldId id="310" r:id="rId26"/>
    <p:sldId id="315" r:id="rId27"/>
    <p:sldId id="316" r:id="rId28"/>
    <p:sldId id="317" r:id="rId29"/>
    <p:sldId id="332" r:id="rId30"/>
    <p:sldId id="333" r:id="rId31"/>
    <p:sldId id="318" r:id="rId32"/>
    <p:sldId id="28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EA0DC"/>
    <a:srgbClr val="1EA078"/>
    <a:srgbClr val="1BA0DB"/>
    <a:srgbClr val="0B80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77" autoAdjust="0"/>
    <p:restoredTop sz="91600" autoAdjust="0"/>
  </p:normalViewPr>
  <p:slideViewPr>
    <p:cSldViewPr snapToGrid="0">
      <p:cViewPr varScale="1">
        <p:scale>
          <a:sx n="58" d="100"/>
          <a:sy n="58" d="100"/>
        </p:scale>
        <p:origin x="100" y="2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2513F-10D7-43B8-BD18-F250194E00F7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027D8-EDF7-4F60-B1D9-953B6983C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2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Brittle – Fragile – </a:t>
            </a:r>
            <a:r>
              <a:rPr lang="ar-AE" baseline="0" dirty="0"/>
              <a:t>نازک</a:t>
            </a:r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traditional feature extractors (HOG, SIFT, ORB, etc.) do not extract high-level features</a:t>
            </a:r>
            <a:r>
              <a:rPr lang="en-US" dirty="0"/>
              <a:t> the way CNNs do. They primarily capture </a:t>
            </a:r>
            <a:r>
              <a:rPr lang="en-US" b="1" dirty="0"/>
              <a:t>low to mid-level features</a:t>
            </a:r>
            <a:r>
              <a:rPr lang="en-US" dirty="0"/>
              <a:t> such as edges, corners, and </a:t>
            </a:r>
            <a:r>
              <a:rPr lang="en-US" dirty="0" err="1"/>
              <a:t>keypoints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25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spcBef>
                <a:spcPts val="525"/>
              </a:spcBef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Artificial Neuron:</a:t>
            </a:r>
            <a:r>
              <a:rPr lang="en-US" sz="1200" b="1" baseline="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Inspired by the structure of the human brain.</a:t>
            </a:r>
          </a:p>
          <a:p>
            <a:pPr algn="just">
              <a:spcBef>
                <a:spcPts val="525"/>
              </a:spcBef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Early research dates back to 1943 (McCulloch &amp; Pitts models).</a:t>
            </a:r>
          </a:p>
          <a:p>
            <a:pPr algn="just">
              <a:spcBef>
                <a:spcPts val="525"/>
              </a:spcBef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  <a:p>
            <a:pPr algn="just">
              <a:spcBef>
                <a:spcPts val="525"/>
              </a:spcBef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Lenet-5</a:t>
            </a:r>
            <a:r>
              <a:rPr lang="en-US" sz="1200" baseline="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  </a:t>
            </a:r>
            <a:r>
              <a:rPr lang="en-US" sz="1200" baseline="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 1998</a:t>
            </a:r>
          </a:p>
          <a:p>
            <a:pPr algn="just">
              <a:spcBef>
                <a:spcPts val="525"/>
              </a:spcBef>
            </a:pPr>
            <a:endParaRPr lang="en-US" sz="1200" baseline="0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process of computing gradients in a neural network is called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 propagation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83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27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artificial neuron performs either linear or logistic regression, depending on the activation function.</a:t>
            </a:r>
          </a:p>
          <a:p>
            <a:r>
              <a:rPr lang="en-US" baseline="0" dirty="0"/>
              <a:t>- If </a:t>
            </a:r>
            <a:r>
              <a:rPr lang="en-US" baseline="0" dirty="0" err="1"/>
              <a:t>relu</a:t>
            </a:r>
            <a:r>
              <a:rPr lang="en-US" baseline="0" dirty="0"/>
              <a:t>, </a:t>
            </a:r>
            <a:r>
              <a:rPr lang="en-US" baseline="0" dirty="0" err="1"/>
              <a:t>tanh</a:t>
            </a:r>
            <a:r>
              <a:rPr lang="en-US" baseline="0" dirty="0"/>
              <a:t> so non-linear transformation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42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7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One common example is sigmoid function.</a:t>
            </a:r>
          </a:p>
          <a:p>
            <a:r>
              <a:rPr lang="en-US" b="1" baseline="0" dirty="0"/>
              <a:t>Sigmoid function </a:t>
            </a:r>
            <a:r>
              <a:rPr lang="en-US" baseline="0" dirty="0"/>
              <a:t>is really good for things like probabilities if you want to convert your output of your perceptron to a probability.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71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use </a:t>
            </a:r>
            <a:r>
              <a:rPr lang="en-US" b="1" dirty="0"/>
              <a:t>different activation functions</a:t>
            </a:r>
            <a:r>
              <a:rPr lang="en-US" dirty="0"/>
              <a:t> for different layers or even different neurons within a layer. The choice of activation function depends on the purpose of the layer.</a:t>
            </a:r>
          </a:p>
          <a:p>
            <a:r>
              <a:rPr lang="en-US" b="1" dirty="0"/>
              <a:t>Hidden layers</a:t>
            </a:r>
            <a:r>
              <a:rPr lang="en-US" dirty="0"/>
              <a:t>: Typically use activation functions like </a:t>
            </a:r>
            <a:r>
              <a:rPr lang="en-US" b="1" dirty="0" err="1"/>
              <a:t>ReLU</a:t>
            </a:r>
            <a:r>
              <a:rPr lang="en-US" dirty="0"/>
              <a:t> (Rectified Linear Unit), </a:t>
            </a:r>
            <a:r>
              <a:rPr lang="en-US" b="1" dirty="0"/>
              <a:t>Sigmoid</a:t>
            </a:r>
            <a:r>
              <a:rPr lang="en-US" dirty="0"/>
              <a:t>, or </a:t>
            </a:r>
            <a:r>
              <a:rPr lang="en-US" b="1" dirty="0" err="1"/>
              <a:t>Tanh</a:t>
            </a:r>
            <a:r>
              <a:rPr lang="en-US" dirty="0"/>
              <a:t> to introduce non-linearity.</a:t>
            </a:r>
          </a:p>
          <a:p>
            <a:r>
              <a:rPr lang="en-US" b="1" dirty="0"/>
              <a:t>Output layer</a:t>
            </a:r>
            <a:r>
              <a:rPr lang="en-US" dirty="0"/>
              <a:t>: The activation function depends on the task:</a:t>
            </a:r>
          </a:p>
          <a:p>
            <a:pPr lvl="1"/>
            <a:r>
              <a:rPr lang="en-US" b="1" dirty="0"/>
              <a:t>Sigmoid</a:t>
            </a:r>
            <a:r>
              <a:rPr lang="en-US" dirty="0"/>
              <a:t> → for binary classification (output between 0 and 1).</a:t>
            </a:r>
          </a:p>
          <a:p>
            <a:pPr lvl="1"/>
            <a:r>
              <a:rPr lang="en-US" b="1" dirty="0" err="1"/>
              <a:t>Softmax</a:t>
            </a:r>
            <a:r>
              <a:rPr lang="en-US" dirty="0"/>
              <a:t> → for multi-class classification (produces probability distribution).</a:t>
            </a:r>
          </a:p>
          <a:p>
            <a:pPr lvl="1"/>
            <a:r>
              <a:rPr lang="en-US" b="1" dirty="0"/>
              <a:t>Linear (Identity Function)</a:t>
            </a:r>
            <a:r>
              <a:rPr lang="en-US" dirty="0"/>
              <a:t> → for regression problems.</a:t>
            </a:r>
          </a:p>
          <a:p>
            <a:endParaRPr lang="en-US" baseline="0" dirty="0"/>
          </a:p>
          <a:p>
            <a:r>
              <a:rPr lang="en-US" dirty="0"/>
              <a:t>Yes, the </a:t>
            </a:r>
            <a:r>
              <a:rPr lang="en-US" b="1" dirty="0"/>
              <a:t>cost function is only calculated at the output layer</a:t>
            </a:r>
            <a:r>
              <a:rPr lang="en-US" dirty="0"/>
              <a:t>, </a:t>
            </a:r>
            <a:r>
              <a:rPr lang="en-US" b="1" dirty="0"/>
              <a:t>not in between layers</a:t>
            </a:r>
            <a:r>
              <a:rPr lang="en-US" dirty="0"/>
              <a:t>.</a:t>
            </a:r>
          </a:p>
          <a:p>
            <a:r>
              <a:rPr lang="en-US" dirty="0"/>
              <a:t>The cost function measures how far the network's predictions are from the actual labels (ground truth).</a:t>
            </a:r>
          </a:p>
          <a:p>
            <a:r>
              <a:rPr lang="en-US" dirty="0"/>
              <a:t>It is computed by comparing the actual values with the predicted values from </a:t>
            </a:r>
            <a:r>
              <a:rPr lang="en-US" b="1" dirty="0"/>
              <a:t>all neurons in the output layer</a:t>
            </a:r>
            <a:r>
              <a:rPr lang="en-US" dirty="0"/>
              <a:t>.</a:t>
            </a:r>
          </a:p>
          <a:p>
            <a:r>
              <a:rPr lang="en-US" dirty="0"/>
              <a:t>The computed cost (or loss) is then used in </a:t>
            </a:r>
            <a:r>
              <a:rPr lang="en-US" b="1" dirty="0"/>
              <a:t>backpropagation</a:t>
            </a:r>
            <a:r>
              <a:rPr lang="en-US" dirty="0"/>
              <a:t> to update weights in earlier layers.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weighted sum</a:t>
            </a:r>
            <a:r>
              <a:rPr lang="en-US" dirty="0"/>
              <a:t> is the combination of input values multiplied by their respective weights, plus a bias term. It is mathematically represented as:</a:t>
            </a:r>
          </a:p>
          <a:p>
            <a:r>
              <a:rPr lang="en-US" dirty="0"/>
              <a:t>z=w1x1+w2x2+...+</a:t>
            </a:r>
            <a:r>
              <a:rPr lang="en-US" dirty="0" err="1"/>
              <a:t>wnxn+b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E027D8-EDF7-4F60-B1D9-953B6983C2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1894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E027D8-EDF7-4F60-B1D9-953B6983C2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2582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E027D8-EDF7-4F60-B1D9-953B6983C2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1997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Activation functions are mathematical functions applied to neural network outputs to introduce non linearity, enabling the network to learn complex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E027D8-EDF7-4F60-B1D9-953B6983C2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101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99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06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Everything in my input is connected to everything in my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0470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just call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599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988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Optimization Goal</a:t>
            </a:r>
            <a:r>
              <a:rPr lang="en-US" dirty="0"/>
              <a:t>: Minimize the cost function using gradient descent or its variants (SGD, Adam, </a:t>
            </a:r>
            <a:r>
              <a:rPr lang="en-US" dirty="0" err="1"/>
              <a:t>RMSprop</a:t>
            </a:r>
            <a:r>
              <a:rPr lang="en-US"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823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514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4BCD14-5A93-4938-87CE-709050061C51}" type="slidenum">
              <a:rPr lang="en-US" smtClean="0">
                <a:solidFill>
                  <a:prstClr val="black"/>
                </a:solidFill>
                <a:latin typeface="Arial" pitchFamily="34" charset="0"/>
              </a:rPr>
              <a:pPr/>
              <a:t>20</a:t>
            </a:fld>
            <a:endParaRPr lang="en-US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34" charset="0"/>
              </a:rPr>
              <a:t>Minimize loss on the dataset.</a:t>
            </a:r>
          </a:p>
          <a:p>
            <a:pPr eaLnBrk="1" hangingPunct="1"/>
            <a:endParaRPr lang="en-US" dirty="0">
              <a:latin typeface="Arial" pitchFamily="34" charset="0"/>
            </a:endParaRPr>
          </a:p>
          <a:p>
            <a:pPr eaLnBrk="1" hangingPunct="1"/>
            <a:r>
              <a:rPr lang="en-US" dirty="0">
                <a:latin typeface="Arial" pitchFamily="34" charset="0"/>
              </a:rPr>
              <a:t>We</a:t>
            </a:r>
            <a:r>
              <a:rPr lang="en-US" baseline="0" dirty="0">
                <a:latin typeface="Arial" pitchFamily="34" charset="0"/>
              </a:rPr>
              <a:t> want to find the weights that will result in the minimum loss over the entire dataset from 1 to m.</a:t>
            </a:r>
          </a:p>
          <a:p>
            <a:pPr eaLnBrk="1" hangingPunct="1"/>
            <a:endParaRPr lang="en-US" baseline="0" dirty="0">
              <a:latin typeface="Arial" pitchFamily="34" charset="0"/>
            </a:endParaRPr>
          </a:p>
          <a:p>
            <a:pPr eaLnBrk="1" hangingPunct="1"/>
            <a:r>
              <a:rPr lang="en-US" baseline="0" dirty="0">
                <a:latin typeface="Arial" pitchFamily="34" charset="0"/>
              </a:rPr>
              <a:t>- Randomly pick an initial (</a:t>
            </a:r>
            <a:r>
              <a:rPr lang="en-US" baseline="0" dirty="0">
                <a:latin typeface="Century Schoolbook" panose="02040604050505020304" pitchFamily="18" charset="0"/>
              </a:rPr>
              <a:t>theta0, theta1</a:t>
            </a:r>
            <a:r>
              <a:rPr lang="en-US" baseline="0" dirty="0">
                <a:latin typeface="Arial" pitchFamily="34" charset="0"/>
              </a:rPr>
              <a:t>)</a:t>
            </a:r>
          </a:p>
          <a:p>
            <a:pPr marL="0" indent="0" eaLnBrk="1" hangingPunct="1">
              <a:buFontTx/>
              <a:buNone/>
            </a:pPr>
            <a:r>
              <a:rPr lang="en-US" dirty="0">
                <a:latin typeface="Arial" pitchFamily="34" charset="0"/>
              </a:rPr>
              <a:t>- Computer gradient, (d</a:t>
            </a:r>
            <a:r>
              <a:rPr lang="en-US" baseline="0" dirty="0">
                <a:latin typeface="Arial" pitchFamily="34" charset="0"/>
              </a:rPr>
              <a:t> J(theta)/d(theta)</a:t>
            </a:r>
            <a:r>
              <a:rPr lang="en-US" dirty="0">
                <a:latin typeface="Arial" pitchFamily="34" charset="0"/>
              </a:rPr>
              <a:t>)</a:t>
            </a:r>
          </a:p>
          <a:p>
            <a:pPr marL="171450" indent="-171450" eaLnBrk="1" hangingPunct="1">
              <a:buFontTx/>
              <a:buChar char="-"/>
            </a:pPr>
            <a:r>
              <a:rPr lang="en-US" baseline="0" dirty="0">
                <a:latin typeface="Arial" pitchFamily="34" charset="0"/>
              </a:rPr>
              <a:t>Repeat until convergence.</a:t>
            </a:r>
          </a:p>
          <a:p>
            <a:pPr marL="171450" indent="-171450" eaLnBrk="1" hangingPunct="1">
              <a:buFontTx/>
              <a:buChar char="-"/>
            </a:pPr>
            <a:endParaRPr lang="en-US" baseline="0" dirty="0">
              <a:latin typeface="Arial" pitchFamily="34" charset="0"/>
            </a:endParaRPr>
          </a:p>
          <a:p>
            <a:pPr marL="0" indent="0" eaLnBrk="1" hangingPunct="1">
              <a:buFontTx/>
              <a:buNone/>
            </a:pPr>
            <a:r>
              <a:rPr lang="en-US" baseline="0" dirty="0">
                <a:latin typeface="Arial" pitchFamily="34" charset="0"/>
              </a:rPr>
              <a:t>Gradient Descent Algorithm</a:t>
            </a:r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3046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process of computing gradients in a neural network is called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 propagation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US" baseline="0" dirty="0"/>
          </a:p>
          <a:p>
            <a:r>
              <a:rPr lang="en-US" baseline="0" dirty="0"/>
              <a:t>Perceptron -&gt; Single neuron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The purpose of activation function is to introduce non-</a:t>
            </a:r>
            <a:r>
              <a:rPr lang="en-US" baseline="0" dirty="0" err="1"/>
              <a:t>linearities</a:t>
            </a:r>
            <a:r>
              <a:rPr lang="en-US" baseline="0" dirty="0"/>
              <a:t> into the network.</a:t>
            </a:r>
          </a:p>
          <a:p>
            <a:pPr marL="0" indent="0">
              <a:buFontTx/>
              <a:buNone/>
            </a:pPr>
            <a:r>
              <a:rPr lang="en-US" baseline="0" dirty="0"/>
              <a:t>How a perceptron works:</a:t>
            </a:r>
          </a:p>
          <a:p>
            <a:pPr marL="228600" indent="-228600">
              <a:buFontTx/>
              <a:buAutoNum type="arabicPeriod"/>
            </a:pPr>
            <a:r>
              <a:rPr lang="en-US" baseline="0" dirty="0"/>
              <a:t>Take dot product of inputs and weights</a:t>
            </a:r>
          </a:p>
          <a:p>
            <a:pPr marL="228600" indent="-228600">
              <a:buFontTx/>
              <a:buAutoNum type="arabicPeriod"/>
            </a:pPr>
            <a:r>
              <a:rPr lang="en-US" baseline="0" dirty="0"/>
              <a:t>Add a bias</a:t>
            </a:r>
          </a:p>
          <a:p>
            <a:pPr marL="228600" indent="-228600">
              <a:buFontTx/>
              <a:buAutoNum type="arabicPeriod"/>
            </a:pPr>
            <a:r>
              <a:rPr lang="en-US" baseline="0" dirty="0"/>
              <a:t>Apply non-linearity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E027D8-EDF7-4F60-B1D9-953B6983C2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61464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Choosing the Right Algorithm: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Depends on dataset size, model complexity, and training speed requirements.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First-order:</a:t>
            </a:r>
          </a:p>
          <a:p>
            <a:r>
              <a:rPr lang="en-US" baseline="0" dirty="0"/>
              <a:t>Adaptive: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271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a huge problem not just in deep learning</a:t>
            </a:r>
            <a:r>
              <a:rPr lang="en-US" baseline="0" dirty="0"/>
              <a:t> but it is one of the most fundamental topics of all of the machine learning as a whole.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232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733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Balancing Model Complexity and Generalization:</a:t>
            </a:r>
            <a:r>
              <a:rPr lang="en-US" dirty="0"/>
              <a:t> Properly tuning </a:t>
            </a:r>
            <a:r>
              <a:rPr lang="en-US" dirty="0" err="1"/>
              <a:t>hyperparameters</a:t>
            </a:r>
            <a:r>
              <a:rPr lang="en-US" dirty="0"/>
              <a:t> and applying regularization techniques ensures a well-generalized neural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24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Drop out: During training randomly set some activation to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416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Typically ‘drop’ 50% of activations in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194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225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350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156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752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6EA57D64-9DC5-4159-89A6-E1EF6778DE39}" type="datetime1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89167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3ED9-1853-4E9A-BEA1-97DB1E34C977}" type="datetime1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0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8FC99-E00E-4CA7-9A71-4E257C654C63}" type="datetime1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858256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19440-99FB-4B3B-A256-28D9E5B0C2D8}" type="datetime1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96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6341-CC28-4470-86D6-E0C5AD9E15C0}" type="datetime1">
              <a:rPr lang="en-US" smtClean="0"/>
              <a:t>8/3/2025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69719-A9B0-4A29-A0B6-5065B2E9BF17}" type="datetime1">
              <a:rPr lang="en-US" smtClean="0"/>
              <a:t>8/3/2025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68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103CD-44FE-4ED0-BB85-F76BC293C635}" type="datetime1">
              <a:rPr lang="en-US" smtClean="0"/>
              <a:t>8/3/2025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62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5E2E-CBE9-4AAB-A5C2-FF2BD7DB911F}" type="datetime1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742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6C37-131E-4072-8F7D-D15C99E1C145}" type="datetime1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38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F1EE-ACFC-4521-B6C4-E578FAD9D2F1}" type="datetime1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64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B265F-4CCC-4F87-98B2-1597E9224289}" type="datetime1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28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2C6D8757-6514-4FC8-A89B-D6B4F4E38CF0}" type="datetime1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51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30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2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210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11" Type="http://schemas.openxmlformats.org/officeDocument/2006/relationships/image" Target="../media/image28.png"/><Relationship Id="rId5" Type="http://schemas.openxmlformats.org/officeDocument/2006/relationships/image" Target="../media/image13.png"/><Relationship Id="rId10" Type="http://schemas.openxmlformats.org/officeDocument/2006/relationships/image" Target="../media/image27.png"/><Relationship Id="rId4" Type="http://schemas.openxmlformats.org/officeDocument/2006/relationships/image" Target="../media/image9.png"/><Relationship Id="rId9" Type="http://schemas.openxmlformats.org/officeDocument/2006/relationships/image" Target="../media/image26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2.png"/><Relationship Id="rId3" Type="http://schemas.openxmlformats.org/officeDocument/2006/relationships/image" Target="../media/image18.png"/><Relationship Id="rId7" Type="http://schemas.openxmlformats.org/officeDocument/2006/relationships/image" Target="../media/image14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11" Type="http://schemas.openxmlformats.org/officeDocument/2006/relationships/image" Target="../media/image28.png"/><Relationship Id="rId5" Type="http://schemas.openxmlformats.org/officeDocument/2006/relationships/image" Target="../media/image9.png"/><Relationship Id="rId10" Type="http://schemas.openxmlformats.org/officeDocument/2006/relationships/image" Target="../media/image27.png"/><Relationship Id="rId4" Type="http://schemas.openxmlformats.org/officeDocument/2006/relationships/image" Target="../media/image8.png"/><Relationship Id="rId9" Type="http://schemas.openxmlformats.org/officeDocument/2006/relationships/image" Target="../media/image26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3" Type="http://schemas.openxmlformats.org/officeDocument/2006/relationships/image" Target="../media/image46.png"/><Relationship Id="rId7" Type="http://schemas.openxmlformats.org/officeDocument/2006/relationships/image" Target="../media/image5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5" Type="http://schemas.openxmlformats.org/officeDocument/2006/relationships/image" Target="../media/image520.pn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3200" b="1" dirty="0"/>
              <a:t>Why Deep Learning?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600974" y="969338"/>
            <a:ext cx="10202144" cy="1462777"/>
          </a:xfrm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  <a:p>
            <a:pPr marL="0" indent="0" algn="ctr">
              <a:spcBef>
                <a:spcPts val="700"/>
              </a:spcBef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Hand engineered features are time consuming, brittle, and not scalable in practice.</a:t>
            </a:r>
          </a:p>
          <a:p>
            <a:pPr marL="0" indent="0" algn="ctr">
              <a:spcBef>
                <a:spcPts val="700"/>
              </a:spcBef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Can we learn the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underlying features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directly from data?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2533" y="3572934"/>
            <a:ext cx="3302001" cy="1930400"/>
          </a:xfrm>
          <a:prstGeom prst="rect">
            <a:avLst/>
          </a:prstGeom>
        </p:spPr>
      </p:pic>
      <p:pic>
        <p:nvPicPr>
          <p:cNvPr id="8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06097" y="3572931"/>
            <a:ext cx="3476834" cy="1930403"/>
          </a:xfrm>
          <a:prstGeom prst="rect">
            <a:avLst/>
          </a:prstGeom>
        </p:spPr>
      </p:pic>
      <p:pic>
        <p:nvPicPr>
          <p:cNvPr id="9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0000" y="3572931"/>
            <a:ext cx="3471334" cy="193040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5622" y="3030816"/>
            <a:ext cx="2550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+mj-lt"/>
              </a:rPr>
              <a:t>Low Level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9097" y="3030816"/>
            <a:ext cx="2502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+mj-lt"/>
              </a:rPr>
              <a:t>Mid Level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110269" y="3030816"/>
            <a:ext cx="26228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+mj-lt"/>
              </a:rPr>
              <a:t>High Level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55345" y="5572534"/>
            <a:ext cx="1736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Lines &amp; Edges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7468" y="5575449"/>
            <a:ext cx="23599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Eyes &amp; Nose &amp; Ears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2950" y="5572534"/>
            <a:ext cx="19367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Facial Structure</a:t>
            </a:r>
          </a:p>
        </p:txBody>
      </p:sp>
    </p:spTree>
    <p:extLst>
      <p:ext uri="{BB962C8B-B14F-4D97-AF65-F5344CB8AC3E}">
        <p14:creationId xmlns:p14="http://schemas.microsoft.com/office/powerpoint/2010/main" val="2488902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3200" b="1" dirty="0"/>
              <a:t>Why 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2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bject 93"/>
          <p:cNvSpPr txBox="1"/>
          <p:nvPr/>
        </p:nvSpPr>
        <p:spPr>
          <a:xfrm>
            <a:off x="780211" y="2470047"/>
            <a:ext cx="633730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dirty="0">
                <a:cs typeface="Calibri"/>
              </a:rPr>
              <a:t>1958</a:t>
            </a:r>
            <a:endParaRPr dirty="0">
              <a:cs typeface="Calibri"/>
            </a:endParaRPr>
          </a:p>
        </p:txBody>
      </p:sp>
      <p:sp>
        <p:nvSpPr>
          <p:cNvPr id="25" name="object 94"/>
          <p:cNvSpPr txBox="1"/>
          <p:nvPr/>
        </p:nvSpPr>
        <p:spPr>
          <a:xfrm>
            <a:off x="2083222" y="1386689"/>
            <a:ext cx="2526485" cy="7829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480">
              <a:lnSpc>
                <a:spcPts val="2970"/>
              </a:lnSpc>
            </a:pPr>
            <a:r>
              <a:rPr spc="-10" dirty="0">
                <a:solidFill>
                  <a:srgbClr val="111111"/>
                </a:solidFill>
                <a:cs typeface="Calibri"/>
              </a:rPr>
              <a:t>Stochas</a:t>
            </a:r>
            <a:r>
              <a:rPr lang="en-US" spc="-10" dirty="0">
                <a:solidFill>
                  <a:srgbClr val="111111"/>
                </a:solidFill>
                <a:cs typeface="Calibri"/>
              </a:rPr>
              <a:t>t</a:t>
            </a:r>
            <a:r>
              <a:rPr spc="-10" dirty="0">
                <a:solidFill>
                  <a:srgbClr val="111111"/>
                </a:solidFill>
                <a:cs typeface="Calibri"/>
              </a:rPr>
              <a:t>ic</a:t>
            </a:r>
            <a:r>
              <a:rPr spc="150" dirty="0">
                <a:solidFill>
                  <a:srgbClr val="111111"/>
                </a:solidFill>
                <a:cs typeface="Calibri"/>
              </a:rPr>
              <a:t> </a:t>
            </a:r>
            <a:r>
              <a:rPr spc="-20" dirty="0">
                <a:cs typeface="Calibri"/>
              </a:rPr>
              <a:t>Gradien</a:t>
            </a:r>
            <a:r>
              <a:rPr lang="en-US" spc="-20" dirty="0">
                <a:cs typeface="Calibri"/>
              </a:rPr>
              <a:t>t </a:t>
            </a:r>
            <a:r>
              <a:rPr spc="-10" dirty="0">
                <a:solidFill>
                  <a:srgbClr val="2D2D2D"/>
                </a:solidFill>
                <a:cs typeface="Calibri"/>
              </a:rPr>
              <a:t>D</a:t>
            </a:r>
            <a:r>
              <a:rPr lang="en-US" spc="-10" dirty="0">
                <a:solidFill>
                  <a:srgbClr val="2D2D2D"/>
                </a:solidFill>
                <a:cs typeface="Calibri"/>
              </a:rPr>
              <a:t>escent</a:t>
            </a:r>
            <a:endParaRPr dirty="0">
              <a:cs typeface="Calibri"/>
            </a:endParaRPr>
          </a:p>
        </p:txBody>
      </p:sp>
      <p:sp>
        <p:nvSpPr>
          <p:cNvPr id="26" name="object 95"/>
          <p:cNvSpPr txBox="1"/>
          <p:nvPr/>
        </p:nvSpPr>
        <p:spPr>
          <a:xfrm>
            <a:off x="774323" y="4178554"/>
            <a:ext cx="551284" cy="29174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20" dirty="0">
                <a:cs typeface="Calibri"/>
              </a:rPr>
              <a:t>1986</a:t>
            </a:r>
            <a:endParaRPr dirty="0">
              <a:cs typeface="Calibri"/>
            </a:endParaRPr>
          </a:p>
        </p:txBody>
      </p:sp>
      <p:sp>
        <p:nvSpPr>
          <p:cNvPr id="27" name="object 96"/>
          <p:cNvSpPr txBox="1"/>
          <p:nvPr/>
        </p:nvSpPr>
        <p:spPr>
          <a:xfrm>
            <a:off x="2058287" y="4087406"/>
            <a:ext cx="2938420" cy="78418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3200"/>
              </a:lnSpc>
              <a:spcBef>
                <a:spcPts val="114"/>
              </a:spcBef>
            </a:pPr>
            <a:r>
              <a:rPr spc="-40" dirty="0">
                <a:cs typeface="Calibri"/>
              </a:rPr>
              <a:t>Bac</a:t>
            </a:r>
            <a:r>
              <a:rPr lang="en-US" spc="-40" dirty="0">
                <a:cs typeface="Calibri"/>
              </a:rPr>
              <a:t>kp</a:t>
            </a:r>
            <a:r>
              <a:rPr spc="-40" dirty="0">
                <a:cs typeface="Calibri"/>
              </a:rPr>
              <a:t>ropaga</a:t>
            </a:r>
            <a:r>
              <a:rPr lang="en-US" spc="-40" dirty="0">
                <a:cs typeface="Calibri"/>
              </a:rPr>
              <a:t>ti</a:t>
            </a:r>
            <a:r>
              <a:rPr spc="-40" dirty="0">
                <a:cs typeface="Calibri"/>
              </a:rPr>
              <a:t>on</a:t>
            </a:r>
            <a:endParaRPr dirty="0">
              <a:cs typeface="Calibri"/>
            </a:endParaRPr>
          </a:p>
          <a:p>
            <a:pPr marL="361315" indent="-342900">
              <a:lnSpc>
                <a:spcPts val="2780"/>
              </a:lnSpc>
              <a:buFont typeface="Arial" panose="020B0604020202020204" pitchFamily="34" charset="0"/>
              <a:buChar char="•"/>
              <a:tabLst>
                <a:tab pos="474345" algn="l"/>
              </a:tabLst>
            </a:pPr>
            <a:r>
              <a:rPr lang="en-US" dirty="0">
                <a:cs typeface="Calibri"/>
              </a:rPr>
              <a:t>Multi-Layer Perceptron</a:t>
            </a:r>
            <a:endParaRPr dirty="0">
              <a:cs typeface="Calibri"/>
            </a:endParaRPr>
          </a:p>
        </p:txBody>
      </p:sp>
      <p:sp>
        <p:nvSpPr>
          <p:cNvPr id="28" name="object 97"/>
          <p:cNvSpPr txBox="1"/>
          <p:nvPr/>
        </p:nvSpPr>
        <p:spPr>
          <a:xfrm>
            <a:off x="2083222" y="2384997"/>
            <a:ext cx="2610485" cy="86369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3315"/>
              </a:lnSpc>
              <a:spcBef>
                <a:spcPts val="135"/>
              </a:spcBef>
            </a:pPr>
            <a:r>
              <a:rPr lang="en-US" spc="-10" dirty="0">
                <a:cs typeface="Calibri"/>
              </a:rPr>
              <a:t>Perceptron</a:t>
            </a:r>
          </a:p>
          <a:p>
            <a:pPr marL="355600" indent="-342900">
              <a:lnSpc>
                <a:spcPts val="3315"/>
              </a:lnSpc>
              <a:buFont typeface="Arial" panose="020B0604020202020204" pitchFamily="34" charset="0"/>
              <a:buChar char="•"/>
            </a:pPr>
            <a:r>
              <a:rPr lang="en-US" spc="-10" dirty="0">
                <a:cs typeface="Calibri"/>
              </a:rPr>
              <a:t>Learnable weights</a:t>
            </a:r>
            <a:endParaRPr dirty="0">
              <a:cs typeface="Calibri"/>
            </a:endParaRPr>
          </a:p>
        </p:txBody>
      </p:sp>
      <p:sp>
        <p:nvSpPr>
          <p:cNvPr id="29" name="object 98"/>
          <p:cNvSpPr txBox="1"/>
          <p:nvPr/>
        </p:nvSpPr>
        <p:spPr>
          <a:xfrm>
            <a:off x="2108026" y="5130917"/>
            <a:ext cx="2647950" cy="737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10"/>
              </a:lnSpc>
              <a:spcBef>
                <a:spcPts val="95"/>
              </a:spcBef>
            </a:pPr>
            <a:r>
              <a:rPr dirty="0">
                <a:cs typeface="Calibri"/>
              </a:rPr>
              <a:t>D</a:t>
            </a:r>
            <a:r>
              <a:rPr lang="en-US" dirty="0">
                <a:cs typeface="Calibri"/>
              </a:rPr>
              <a:t>e</a:t>
            </a:r>
            <a:r>
              <a:rPr dirty="0">
                <a:cs typeface="Calibri"/>
              </a:rPr>
              <a:t>ep</a:t>
            </a:r>
            <a:r>
              <a:rPr spc="45" dirty="0">
                <a:cs typeface="Calibri"/>
              </a:rPr>
              <a:t> </a:t>
            </a:r>
            <a:r>
              <a:rPr spc="-85" dirty="0">
                <a:solidFill>
                  <a:srgbClr val="0E0E0E"/>
                </a:solidFill>
                <a:cs typeface="Calibri"/>
              </a:rPr>
              <a:t>Convo</a:t>
            </a:r>
            <a:r>
              <a:rPr lang="en-US" spc="-85" dirty="0">
                <a:solidFill>
                  <a:srgbClr val="0E0E0E"/>
                </a:solidFill>
                <a:cs typeface="Calibri"/>
              </a:rPr>
              <a:t>lu</a:t>
            </a:r>
            <a:r>
              <a:rPr spc="-85" dirty="0">
                <a:solidFill>
                  <a:srgbClr val="0E0E0E"/>
                </a:solidFill>
                <a:cs typeface="Calibri"/>
              </a:rPr>
              <a:t>tiona</a:t>
            </a:r>
            <a:r>
              <a:rPr lang="en-US" spc="-85" dirty="0">
                <a:solidFill>
                  <a:srgbClr val="0E0E0E"/>
                </a:solidFill>
                <a:cs typeface="Calibri"/>
              </a:rPr>
              <a:t>l NN</a:t>
            </a:r>
            <a:endParaRPr dirty="0">
              <a:cs typeface="Calibri"/>
            </a:endParaRPr>
          </a:p>
          <a:p>
            <a:pPr marL="474980" indent="-461645">
              <a:lnSpc>
                <a:spcPts val="2730"/>
              </a:lnSpc>
              <a:buClr>
                <a:srgbClr val="000000"/>
              </a:buClr>
              <a:buChar char="•"/>
              <a:tabLst>
                <a:tab pos="474980" algn="l"/>
              </a:tabLst>
            </a:pPr>
            <a:r>
              <a:rPr spc="-10" dirty="0">
                <a:solidFill>
                  <a:srgbClr val="1F1F1F"/>
                </a:solidFill>
                <a:cs typeface="Calibri"/>
              </a:rPr>
              <a:t>D</a:t>
            </a:r>
            <a:r>
              <a:rPr lang="en-US" spc="-10" dirty="0">
                <a:solidFill>
                  <a:srgbClr val="1F1F1F"/>
                </a:solidFill>
                <a:cs typeface="Calibri"/>
              </a:rPr>
              <a:t>igit Recognition</a:t>
            </a:r>
            <a:endParaRPr dirty="0">
              <a:cs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9480" y="1437489"/>
            <a:ext cx="7570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1952</a:t>
            </a:r>
          </a:p>
        </p:txBody>
      </p:sp>
      <p:sp>
        <p:nvSpPr>
          <p:cNvPr id="30" name="object 95"/>
          <p:cNvSpPr txBox="1"/>
          <p:nvPr/>
        </p:nvSpPr>
        <p:spPr>
          <a:xfrm>
            <a:off x="789098" y="5226471"/>
            <a:ext cx="597342" cy="2904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20" dirty="0">
                <a:cs typeface="Calibri"/>
              </a:rPr>
              <a:t>19</a:t>
            </a:r>
            <a:r>
              <a:rPr lang="en-US" spc="-120" dirty="0">
                <a:cs typeface="Calibri"/>
              </a:rPr>
              <a:t>95</a:t>
            </a:r>
            <a:endParaRPr dirty="0">
              <a:cs typeface="Calibri"/>
            </a:endParaRPr>
          </a:p>
        </p:txBody>
      </p:sp>
      <p:sp>
        <p:nvSpPr>
          <p:cNvPr id="6" name="Oval 5"/>
          <p:cNvSpPr/>
          <p:nvPr/>
        </p:nvSpPr>
        <p:spPr>
          <a:xfrm>
            <a:off x="999921" y="2975658"/>
            <a:ext cx="103695" cy="10847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999921" y="3166361"/>
            <a:ext cx="103695" cy="10847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1000950" y="3388936"/>
            <a:ext cx="103695" cy="10847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045228" y="5676556"/>
            <a:ext cx="103695" cy="10847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045228" y="5873758"/>
            <a:ext cx="103695" cy="10847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1035356" y="6078259"/>
            <a:ext cx="103695" cy="10847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755976" y="782135"/>
            <a:ext cx="6877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Neural Networks date back decades, so why the dominance?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930159" y="1587102"/>
            <a:ext cx="23744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b="1" dirty="0"/>
              <a:t>Big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Larger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Easier Collection &amp; Storage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206668" y="1560144"/>
            <a:ext cx="237444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 startAt="2"/>
            </a:pPr>
            <a:r>
              <a:rPr lang="en-US" b="1" dirty="0"/>
              <a:t>Hardware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Graphics Processing Units (GPUs)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Massively Parallelizable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172281" y="1560144"/>
            <a:ext cx="212056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 startAt="3"/>
            </a:pPr>
            <a:r>
              <a:rPr lang="en-US" b="1" dirty="0"/>
              <a:t>Software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Improved Techniques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New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Toolboxes</a:t>
            </a:r>
          </a:p>
        </p:txBody>
      </p:sp>
      <p:pic>
        <p:nvPicPr>
          <p:cNvPr id="93" name="Picture 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874" y="4046540"/>
            <a:ext cx="2121009" cy="1276416"/>
          </a:xfrm>
          <a:prstGeom prst="rect">
            <a:avLst/>
          </a:prstGeom>
        </p:spPr>
      </p:pic>
      <p:pic>
        <p:nvPicPr>
          <p:cNvPr id="94" name="Picture 9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051" y="3931005"/>
            <a:ext cx="1854295" cy="1295467"/>
          </a:xfrm>
          <a:prstGeom prst="rect">
            <a:avLst/>
          </a:prstGeom>
        </p:spPr>
      </p:pic>
      <p:pic>
        <p:nvPicPr>
          <p:cNvPr id="95" name="Picture 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5638" y="3931005"/>
            <a:ext cx="1828894" cy="1295467"/>
          </a:xfrm>
          <a:prstGeom prst="rect">
            <a:avLst/>
          </a:prstGeom>
        </p:spPr>
      </p:pic>
      <p:sp>
        <p:nvSpPr>
          <p:cNvPr id="8" name="Down Arrow 7"/>
          <p:cNvSpPr/>
          <p:nvPr/>
        </p:nvSpPr>
        <p:spPr>
          <a:xfrm>
            <a:off x="1244978" y="1456472"/>
            <a:ext cx="904974" cy="5307291"/>
          </a:xfrm>
          <a:prstGeom prst="downArrow">
            <a:avLst/>
          </a:prstGeom>
          <a:solidFill>
            <a:srgbClr val="1EA0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4733" y="5377968"/>
            <a:ext cx="998143" cy="120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440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" grpId="0"/>
      <p:bldP spid="30" grpId="0"/>
      <p:bldP spid="6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/>
      <p:bldP spid="90" grpId="0"/>
      <p:bldP spid="91" grpId="0"/>
      <p:bldP spid="9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948267" y="2201334"/>
            <a:ext cx="10801773" cy="1676400"/>
          </a:xfrm>
        </p:spPr>
        <p:txBody>
          <a:bodyPr>
            <a:noAutofit/>
          </a:bodyPr>
          <a:lstStyle/>
          <a:p>
            <a:pPr algn="ctr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Perceptron</a:t>
            </a:r>
            <a:b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structural building block of deep learning</a:t>
            </a:r>
            <a:endParaRPr lang="en-US" sz="28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696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3200" b="1" dirty="0"/>
              <a:t>The Perceptron Forward Propagation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4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3" name="object 4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8327" y="2753727"/>
            <a:ext cx="2610600" cy="760031"/>
          </a:xfrm>
          <a:prstGeom prst="rect">
            <a:avLst/>
          </a:prstGeom>
        </p:spPr>
      </p:pic>
      <p:pic>
        <p:nvPicPr>
          <p:cNvPr id="94" name="object 4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8327" y="2554998"/>
            <a:ext cx="2593667" cy="140231"/>
          </a:xfrm>
          <a:prstGeom prst="rect">
            <a:avLst/>
          </a:prstGeom>
        </p:spPr>
      </p:pic>
      <p:pic>
        <p:nvPicPr>
          <p:cNvPr id="95" name="object 4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2812" y="1706252"/>
            <a:ext cx="2584922" cy="828986"/>
          </a:xfrm>
          <a:prstGeom prst="rect">
            <a:avLst/>
          </a:prstGeom>
        </p:spPr>
      </p:pic>
      <p:pic>
        <p:nvPicPr>
          <p:cNvPr id="97" name="object 4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63824" y="2554998"/>
            <a:ext cx="643343" cy="192028"/>
          </a:xfrm>
          <a:prstGeom prst="rect">
            <a:avLst/>
          </a:prstGeom>
        </p:spPr>
      </p:pic>
      <p:pic>
        <p:nvPicPr>
          <p:cNvPr id="98" name="object 4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65825" y="2399137"/>
            <a:ext cx="432525" cy="429753"/>
          </a:xfrm>
          <a:prstGeom prst="rect">
            <a:avLst/>
          </a:prstGeom>
        </p:spPr>
      </p:pic>
      <p:pic>
        <p:nvPicPr>
          <p:cNvPr id="100" name="object 1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47201" y="2904437"/>
            <a:ext cx="372666" cy="202572"/>
          </a:xfrm>
          <a:prstGeom prst="rect">
            <a:avLst/>
          </a:prstGeom>
        </p:spPr>
      </p:pic>
      <p:sp>
        <p:nvSpPr>
          <p:cNvPr id="120" name="object 116"/>
          <p:cNvSpPr txBox="1"/>
          <p:nvPr/>
        </p:nvSpPr>
        <p:spPr>
          <a:xfrm>
            <a:off x="393976" y="5311790"/>
            <a:ext cx="103124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0700" algn="l"/>
              </a:tabLst>
            </a:pPr>
            <a:r>
              <a:rPr lang="en-US" sz="2400" spc="-50" dirty="0">
                <a:solidFill>
                  <a:srgbClr val="444444"/>
                </a:solidFill>
                <a:cs typeface="Calibri"/>
              </a:rPr>
              <a:t>Inputs</a:t>
            </a:r>
            <a:endParaRPr sz="2400" dirty="0">
              <a:cs typeface="Calibri"/>
            </a:endParaRPr>
          </a:p>
        </p:txBody>
      </p:sp>
      <p:sp>
        <p:nvSpPr>
          <p:cNvPr id="121" name="object 117"/>
          <p:cNvSpPr txBox="1"/>
          <p:nvPr/>
        </p:nvSpPr>
        <p:spPr>
          <a:xfrm>
            <a:off x="4463824" y="5307943"/>
            <a:ext cx="2066361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400" spc="-114" dirty="0">
                <a:solidFill>
                  <a:schemeClr val="tx1">
                    <a:lumMod val="65000"/>
                    <a:lumOff val="35000"/>
                  </a:schemeClr>
                </a:solidFill>
                <a:cs typeface="Cambria"/>
              </a:rPr>
              <a:t>Non-Linearity</a:t>
            </a:r>
            <a:endParaRPr sz="2400" dirty="0">
              <a:solidFill>
                <a:schemeClr val="tx1">
                  <a:lumMod val="65000"/>
                  <a:lumOff val="35000"/>
                </a:schemeClr>
              </a:solidFill>
              <a:cs typeface="Cambria"/>
            </a:endParaRPr>
          </a:p>
        </p:txBody>
      </p:sp>
      <p:sp>
        <p:nvSpPr>
          <p:cNvPr id="122" name="object 118"/>
          <p:cNvSpPr txBox="1"/>
          <p:nvPr/>
        </p:nvSpPr>
        <p:spPr>
          <a:xfrm>
            <a:off x="6494204" y="5307943"/>
            <a:ext cx="1294745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54990" algn="l"/>
              </a:tabLst>
            </a:pPr>
            <a:r>
              <a:rPr lang="en-US" sz="2400" spc="45" dirty="0">
                <a:solidFill>
                  <a:schemeClr val="tx1">
                    <a:lumMod val="65000"/>
                    <a:lumOff val="35000"/>
                  </a:schemeClr>
                </a:solidFill>
                <a:cs typeface="Calibri"/>
              </a:rPr>
              <a:t>Output</a:t>
            </a:r>
            <a:endParaRPr sz="2400" dirty="0">
              <a:solidFill>
                <a:schemeClr val="tx1">
                  <a:lumMod val="65000"/>
                  <a:lumOff val="35000"/>
                </a:schemeClr>
              </a:solidFill>
              <a:cs typeface="Calibri"/>
            </a:endParaRPr>
          </a:p>
        </p:txBody>
      </p:sp>
      <p:pic>
        <p:nvPicPr>
          <p:cNvPr id="123" name="object 4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69962" y="2517752"/>
            <a:ext cx="643343" cy="192028"/>
          </a:xfrm>
          <a:prstGeom prst="rect">
            <a:avLst/>
          </a:prstGeom>
        </p:spPr>
      </p:pic>
      <p:sp>
        <p:nvSpPr>
          <p:cNvPr id="124" name="object 116"/>
          <p:cNvSpPr txBox="1"/>
          <p:nvPr/>
        </p:nvSpPr>
        <p:spPr>
          <a:xfrm>
            <a:off x="1741839" y="5311790"/>
            <a:ext cx="1438257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0700" algn="l"/>
              </a:tabLst>
            </a:pPr>
            <a:r>
              <a:rPr lang="en-US" sz="2400" spc="-50" dirty="0">
                <a:solidFill>
                  <a:srgbClr val="444444"/>
                </a:solidFill>
                <a:cs typeface="Calibri"/>
              </a:rPr>
              <a:t>Weights</a:t>
            </a:r>
            <a:endParaRPr sz="2400" dirty="0">
              <a:cs typeface="Calibri"/>
            </a:endParaRPr>
          </a:p>
        </p:txBody>
      </p:sp>
      <p:sp>
        <p:nvSpPr>
          <p:cNvPr id="125" name="object 116"/>
          <p:cNvSpPr txBox="1"/>
          <p:nvPr/>
        </p:nvSpPr>
        <p:spPr>
          <a:xfrm>
            <a:off x="3446639" y="5311790"/>
            <a:ext cx="945016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0700" algn="l"/>
              </a:tabLst>
            </a:pPr>
            <a:r>
              <a:rPr lang="en-US" sz="2400" spc="-50" dirty="0">
                <a:solidFill>
                  <a:srgbClr val="444444"/>
                </a:solidFill>
                <a:cs typeface="Calibri"/>
              </a:rPr>
              <a:t>Sum</a:t>
            </a:r>
            <a:endParaRPr sz="2400" dirty="0"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4836" y="2189671"/>
            <a:ext cx="390632" cy="3293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47692" y="1571118"/>
            <a:ext cx="3624217" cy="284759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007569" y="2313361"/>
            <a:ext cx="293350" cy="492443"/>
          </a:xfrm>
          <a:prstGeom prst="rect">
            <a:avLst/>
          </a:prstGeom>
          <a:solidFill>
            <a:srgbClr val="FFC0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3200" b="1" dirty="0"/>
              <a:t>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736694" y="1464050"/>
                <a:ext cx="41351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94" y="1464050"/>
                <a:ext cx="413510" cy="369332"/>
              </a:xfrm>
              <a:prstGeom prst="rect">
                <a:avLst/>
              </a:prstGeom>
              <a:blipFill>
                <a:blip r:embed="rId11"/>
                <a:stretch>
                  <a:fillRect l="-8824" r="-4412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/>
          <p:cNvSpPr/>
          <p:nvPr/>
        </p:nvSpPr>
        <p:spPr>
          <a:xfrm>
            <a:off x="692697" y="1501758"/>
            <a:ext cx="460345" cy="397577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766545" y="2295182"/>
                <a:ext cx="41351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545" y="2295182"/>
                <a:ext cx="413510" cy="369332"/>
              </a:xfrm>
              <a:prstGeom prst="rect">
                <a:avLst/>
              </a:prstGeom>
              <a:blipFill>
                <a:blip r:embed="rId12"/>
                <a:stretch>
                  <a:fillRect l="-8824" r="-4412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Oval 52"/>
          <p:cNvSpPr/>
          <p:nvPr/>
        </p:nvSpPr>
        <p:spPr>
          <a:xfrm>
            <a:off x="722548" y="2332890"/>
            <a:ext cx="460345" cy="397577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728836" y="3219013"/>
                <a:ext cx="48564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36" y="3219013"/>
                <a:ext cx="485646" cy="369332"/>
              </a:xfrm>
              <a:prstGeom prst="rect">
                <a:avLst/>
              </a:prstGeom>
              <a:blipFill>
                <a:blip r:embed="rId13"/>
                <a:stretch>
                  <a:fillRect l="-7595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Oval 54"/>
          <p:cNvSpPr/>
          <p:nvPr/>
        </p:nvSpPr>
        <p:spPr>
          <a:xfrm>
            <a:off x="722547" y="3256721"/>
            <a:ext cx="460345" cy="397577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6507101" y="2386957"/>
            <a:ext cx="20478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/>
              <a:t>ŷ</a:t>
            </a:r>
          </a:p>
        </p:txBody>
      </p:sp>
      <p:sp>
        <p:nvSpPr>
          <p:cNvPr id="57" name="Oval 56"/>
          <p:cNvSpPr/>
          <p:nvPr/>
        </p:nvSpPr>
        <p:spPr>
          <a:xfrm>
            <a:off x="6341613" y="2355576"/>
            <a:ext cx="511675" cy="440913"/>
          </a:xfrm>
          <a:prstGeom prst="ellipse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39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3200" b="1" dirty="0"/>
              <a:t>The Perceptron Forward Propagation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5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3" name="object 4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2355" y="2747026"/>
            <a:ext cx="2406572" cy="656050"/>
          </a:xfrm>
          <a:prstGeom prst="rect">
            <a:avLst/>
          </a:prstGeom>
        </p:spPr>
      </p:pic>
      <p:pic>
        <p:nvPicPr>
          <p:cNvPr id="94" name="object 4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3533" y="2605613"/>
            <a:ext cx="2458461" cy="89616"/>
          </a:xfrm>
          <a:prstGeom prst="rect">
            <a:avLst/>
          </a:prstGeom>
        </p:spPr>
      </p:pic>
      <p:pic>
        <p:nvPicPr>
          <p:cNvPr id="100" name="object 1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47201" y="2904437"/>
            <a:ext cx="372666" cy="202572"/>
          </a:xfrm>
          <a:prstGeom prst="rect">
            <a:avLst/>
          </a:prstGeom>
        </p:spPr>
      </p:pic>
      <p:sp>
        <p:nvSpPr>
          <p:cNvPr id="120" name="object 116"/>
          <p:cNvSpPr txBox="1"/>
          <p:nvPr/>
        </p:nvSpPr>
        <p:spPr>
          <a:xfrm>
            <a:off x="402757" y="5319705"/>
            <a:ext cx="103124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0700" algn="l"/>
              </a:tabLst>
            </a:pPr>
            <a:r>
              <a:rPr lang="en-US" sz="2400" spc="-50" dirty="0">
                <a:solidFill>
                  <a:srgbClr val="444444"/>
                </a:solidFill>
                <a:cs typeface="Calibri"/>
              </a:rPr>
              <a:t>Inputs</a:t>
            </a:r>
            <a:endParaRPr sz="2400" dirty="0">
              <a:cs typeface="Calibri"/>
            </a:endParaRPr>
          </a:p>
        </p:txBody>
      </p:sp>
      <p:sp>
        <p:nvSpPr>
          <p:cNvPr id="121" name="object 117"/>
          <p:cNvSpPr txBox="1"/>
          <p:nvPr/>
        </p:nvSpPr>
        <p:spPr>
          <a:xfrm>
            <a:off x="4341273" y="5321243"/>
            <a:ext cx="2066361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400" spc="-114" dirty="0">
                <a:solidFill>
                  <a:schemeClr val="tx1">
                    <a:lumMod val="65000"/>
                    <a:lumOff val="35000"/>
                  </a:schemeClr>
                </a:solidFill>
                <a:cs typeface="Cambria"/>
              </a:rPr>
              <a:t>Non-Linearity</a:t>
            </a:r>
            <a:endParaRPr sz="2400" dirty="0">
              <a:solidFill>
                <a:schemeClr val="tx1">
                  <a:lumMod val="65000"/>
                  <a:lumOff val="35000"/>
                </a:schemeClr>
              </a:solidFill>
              <a:cs typeface="Cambria"/>
            </a:endParaRPr>
          </a:p>
        </p:txBody>
      </p:sp>
      <p:sp>
        <p:nvSpPr>
          <p:cNvPr id="122" name="object 118"/>
          <p:cNvSpPr txBox="1"/>
          <p:nvPr/>
        </p:nvSpPr>
        <p:spPr>
          <a:xfrm>
            <a:off x="6474899" y="5321884"/>
            <a:ext cx="1294745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54990" algn="l"/>
              </a:tabLst>
            </a:pPr>
            <a:r>
              <a:rPr lang="en-US" sz="2400" spc="45" dirty="0">
                <a:solidFill>
                  <a:schemeClr val="tx1">
                    <a:lumMod val="65000"/>
                    <a:lumOff val="35000"/>
                  </a:schemeClr>
                </a:solidFill>
                <a:cs typeface="Calibri"/>
              </a:rPr>
              <a:t>Output</a:t>
            </a:r>
            <a:endParaRPr sz="2400" dirty="0">
              <a:solidFill>
                <a:schemeClr val="tx1">
                  <a:lumMod val="65000"/>
                  <a:lumOff val="35000"/>
                </a:schemeClr>
              </a:solidFill>
              <a:cs typeface="Calibri"/>
            </a:endParaRPr>
          </a:p>
        </p:txBody>
      </p:sp>
      <p:sp>
        <p:nvSpPr>
          <p:cNvPr id="124" name="object 116"/>
          <p:cNvSpPr txBox="1"/>
          <p:nvPr/>
        </p:nvSpPr>
        <p:spPr>
          <a:xfrm>
            <a:off x="1628969" y="5350419"/>
            <a:ext cx="1438257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0700" algn="l"/>
              </a:tabLst>
            </a:pPr>
            <a:r>
              <a:rPr lang="en-US" sz="2400" spc="-50" dirty="0">
                <a:solidFill>
                  <a:srgbClr val="444444"/>
                </a:solidFill>
                <a:cs typeface="Calibri"/>
              </a:rPr>
              <a:t>Weights</a:t>
            </a:r>
            <a:endParaRPr sz="2400" dirty="0">
              <a:cs typeface="Calibri"/>
            </a:endParaRPr>
          </a:p>
        </p:txBody>
      </p:sp>
      <p:sp>
        <p:nvSpPr>
          <p:cNvPr id="125" name="object 116"/>
          <p:cNvSpPr txBox="1"/>
          <p:nvPr/>
        </p:nvSpPr>
        <p:spPr>
          <a:xfrm>
            <a:off x="3270553" y="5315699"/>
            <a:ext cx="945016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0700" algn="l"/>
              </a:tabLst>
            </a:pPr>
            <a:r>
              <a:rPr lang="en-US" sz="2400" spc="-50" dirty="0">
                <a:solidFill>
                  <a:srgbClr val="444444"/>
                </a:solidFill>
                <a:cs typeface="Calibri"/>
              </a:rPr>
              <a:t>Sum</a:t>
            </a:r>
            <a:endParaRPr sz="2400" dirty="0"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4836" y="2276257"/>
            <a:ext cx="390632" cy="3293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7692" y="1745510"/>
            <a:ext cx="3960778" cy="27116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8"/>
          <a:srcRect l="31228"/>
          <a:stretch/>
        </p:blipFill>
        <p:spPr>
          <a:xfrm>
            <a:off x="1272453" y="1088235"/>
            <a:ext cx="2519542" cy="13070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13680" y="2342317"/>
                <a:ext cx="41351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0" y="2342317"/>
                <a:ext cx="413510" cy="369332"/>
              </a:xfrm>
              <a:prstGeom prst="rect">
                <a:avLst/>
              </a:prstGeom>
              <a:blipFill>
                <a:blip r:embed="rId9"/>
                <a:stretch>
                  <a:fillRect l="-8824" r="-4412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/>
          <p:cNvSpPr/>
          <p:nvPr/>
        </p:nvSpPr>
        <p:spPr>
          <a:xfrm>
            <a:off x="769683" y="2380025"/>
            <a:ext cx="460345" cy="397577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813679" y="3124744"/>
                <a:ext cx="48564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79" y="3124744"/>
                <a:ext cx="485646" cy="369332"/>
              </a:xfrm>
              <a:prstGeom prst="rect">
                <a:avLst/>
              </a:prstGeom>
              <a:blipFill>
                <a:blip r:embed="rId10"/>
                <a:stretch>
                  <a:fillRect l="-750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/>
          <p:cNvSpPr/>
          <p:nvPr/>
        </p:nvSpPr>
        <p:spPr>
          <a:xfrm>
            <a:off x="807390" y="3162452"/>
            <a:ext cx="460345" cy="397577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30961" y="1746858"/>
                <a:ext cx="41351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961" y="1746858"/>
                <a:ext cx="413510" cy="369332"/>
              </a:xfrm>
              <a:prstGeom prst="rect">
                <a:avLst/>
              </a:prstGeom>
              <a:blipFill>
                <a:blip r:embed="rId11"/>
                <a:stretch>
                  <a:fillRect l="-8824" r="-4412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/>
          <p:cNvSpPr/>
          <p:nvPr/>
        </p:nvSpPr>
        <p:spPr>
          <a:xfrm>
            <a:off x="786964" y="1784566"/>
            <a:ext cx="460345" cy="397577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915804" y="1115257"/>
            <a:ext cx="176330" cy="3693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2400" b="1" dirty="0"/>
              <a:t>1</a:t>
            </a:r>
          </a:p>
        </p:txBody>
      </p:sp>
      <p:sp>
        <p:nvSpPr>
          <p:cNvPr id="33" name="Oval 32"/>
          <p:cNvSpPr/>
          <p:nvPr/>
        </p:nvSpPr>
        <p:spPr>
          <a:xfrm>
            <a:off x="786964" y="1134111"/>
            <a:ext cx="460345" cy="397577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object 4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341273" y="2460728"/>
            <a:ext cx="643343" cy="192028"/>
          </a:xfrm>
          <a:prstGeom prst="rect">
            <a:avLst/>
          </a:prstGeom>
        </p:spPr>
      </p:pic>
      <p:pic>
        <p:nvPicPr>
          <p:cNvPr id="35" name="object 4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43274" y="2304867"/>
            <a:ext cx="432525" cy="429753"/>
          </a:xfrm>
          <a:prstGeom prst="rect">
            <a:avLst/>
          </a:prstGeom>
        </p:spPr>
      </p:pic>
      <p:pic>
        <p:nvPicPr>
          <p:cNvPr id="36" name="object 4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547411" y="2423482"/>
            <a:ext cx="643343" cy="1920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885018" y="2219091"/>
            <a:ext cx="293350" cy="492443"/>
          </a:xfrm>
          <a:prstGeom prst="rect">
            <a:avLst/>
          </a:prstGeom>
          <a:solidFill>
            <a:srgbClr val="FFC0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3200" b="1" dirty="0"/>
              <a:t>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4550" y="2292687"/>
            <a:ext cx="20478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/>
              <a:t>ŷ</a:t>
            </a:r>
          </a:p>
        </p:txBody>
      </p:sp>
      <p:sp>
        <p:nvSpPr>
          <p:cNvPr id="39" name="Oval 38"/>
          <p:cNvSpPr/>
          <p:nvPr/>
        </p:nvSpPr>
        <p:spPr>
          <a:xfrm>
            <a:off x="6219062" y="2280160"/>
            <a:ext cx="511675" cy="440913"/>
          </a:xfrm>
          <a:prstGeom prst="ellipse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9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3200" b="1" dirty="0"/>
              <a:t>The Perceptron Forward Propagation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6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143" y="1190914"/>
            <a:ext cx="3761654" cy="4566286"/>
          </a:xfrm>
          <a:prstGeom prst="rect">
            <a:avLst/>
          </a:prstGeom>
        </p:spPr>
      </p:pic>
      <p:pic>
        <p:nvPicPr>
          <p:cNvPr id="51" name="object 4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2355" y="2747026"/>
            <a:ext cx="2406572" cy="656050"/>
          </a:xfrm>
          <a:prstGeom prst="rect">
            <a:avLst/>
          </a:prstGeom>
        </p:spPr>
      </p:pic>
      <p:pic>
        <p:nvPicPr>
          <p:cNvPr id="52" name="object 4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3533" y="2605613"/>
            <a:ext cx="2458461" cy="89616"/>
          </a:xfrm>
          <a:prstGeom prst="rect">
            <a:avLst/>
          </a:prstGeom>
        </p:spPr>
      </p:pic>
      <p:pic>
        <p:nvPicPr>
          <p:cNvPr id="53" name="object 1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47201" y="2904437"/>
            <a:ext cx="372666" cy="202572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4836" y="2276257"/>
            <a:ext cx="390632" cy="329356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 rotWithShape="1">
          <a:blip r:embed="rId8"/>
          <a:srcRect l="31228"/>
          <a:stretch/>
        </p:blipFill>
        <p:spPr>
          <a:xfrm>
            <a:off x="1272453" y="1088235"/>
            <a:ext cx="2519542" cy="13070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813680" y="2342317"/>
                <a:ext cx="41351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80" y="2342317"/>
                <a:ext cx="413510" cy="369332"/>
              </a:xfrm>
              <a:prstGeom prst="rect">
                <a:avLst/>
              </a:prstGeom>
              <a:blipFill>
                <a:blip r:embed="rId9"/>
                <a:stretch>
                  <a:fillRect l="-8824" r="-4412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/>
          <p:cNvSpPr/>
          <p:nvPr/>
        </p:nvSpPr>
        <p:spPr>
          <a:xfrm>
            <a:off x="769683" y="2380025"/>
            <a:ext cx="460345" cy="397577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813679" y="3124744"/>
                <a:ext cx="48564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79" y="3124744"/>
                <a:ext cx="485646" cy="369332"/>
              </a:xfrm>
              <a:prstGeom prst="rect">
                <a:avLst/>
              </a:prstGeom>
              <a:blipFill>
                <a:blip r:embed="rId10"/>
                <a:stretch>
                  <a:fillRect l="-750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Oval 58"/>
          <p:cNvSpPr/>
          <p:nvPr/>
        </p:nvSpPr>
        <p:spPr>
          <a:xfrm>
            <a:off x="807390" y="3162452"/>
            <a:ext cx="460345" cy="397577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830961" y="1746858"/>
                <a:ext cx="41351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961" y="1746858"/>
                <a:ext cx="413510" cy="369332"/>
              </a:xfrm>
              <a:prstGeom prst="rect">
                <a:avLst/>
              </a:prstGeom>
              <a:blipFill>
                <a:blip r:embed="rId11"/>
                <a:stretch>
                  <a:fillRect l="-8824" r="-4412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Oval 60"/>
          <p:cNvSpPr/>
          <p:nvPr/>
        </p:nvSpPr>
        <p:spPr>
          <a:xfrm>
            <a:off x="786964" y="1784566"/>
            <a:ext cx="460345" cy="397577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915804" y="1115257"/>
            <a:ext cx="176330" cy="3693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2400" b="1" dirty="0"/>
              <a:t>1</a:t>
            </a:r>
          </a:p>
        </p:txBody>
      </p:sp>
      <p:sp>
        <p:nvSpPr>
          <p:cNvPr id="63" name="Oval 62"/>
          <p:cNvSpPr/>
          <p:nvPr/>
        </p:nvSpPr>
        <p:spPr>
          <a:xfrm>
            <a:off x="786964" y="1134111"/>
            <a:ext cx="460345" cy="397577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4" name="object 4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341273" y="2460728"/>
            <a:ext cx="643343" cy="192028"/>
          </a:xfrm>
          <a:prstGeom prst="rect">
            <a:avLst/>
          </a:prstGeom>
        </p:spPr>
      </p:pic>
      <p:pic>
        <p:nvPicPr>
          <p:cNvPr id="65" name="object 4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43274" y="2304867"/>
            <a:ext cx="432525" cy="429753"/>
          </a:xfrm>
          <a:prstGeom prst="rect">
            <a:avLst/>
          </a:prstGeom>
        </p:spPr>
      </p:pic>
      <p:pic>
        <p:nvPicPr>
          <p:cNvPr id="66" name="object 4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547411" y="2423482"/>
            <a:ext cx="643343" cy="19202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885018" y="2219091"/>
            <a:ext cx="293350" cy="492443"/>
          </a:xfrm>
          <a:prstGeom prst="rect">
            <a:avLst/>
          </a:prstGeom>
          <a:solidFill>
            <a:srgbClr val="FFC0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3200" b="1" dirty="0"/>
              <a:t>∑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84550" y="2292687"/>
            <a:ext cx="20478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/>
              <a:t>ŷ</a:t>
            </a:r>
          </a:p>
        </p:txBody>
      </p:sp>
      <p:sp>
        <p:nvSpPr>
          <p:cNvPr id="69" name="Oval 68"/>
          <p:cNvSpPr/>
          <p:nvPr/>
        </p:nvSpPr>
        <p:spPr>
          <a:xfrm>
            <a:off x="6219062" y="2280160"/>
            <a:ext cx="511675" cy="440913"/>
          </a:xfrm>
          <a:prstGeom prst="ellipse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bject 116"/>
          <p:cNvSpPr txBox="1"/>
          <p:nvPr/>
        </p:nvSpPr>
        <p:spPr>
          <a:xfrm>
            <a:off x="402757" y="5319705"/>
            <a:ext cx="103124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0700" algn="l"/>
              </a:tabLst>
            </a:pPr>
            <a:r>
              <a:rPr lang="en-US" sz="2400" spc="-50" dirty="0">
                <a:solidFill>
                  <a:srgbClr val="444444"/>
                </a:solidFill>
                <a:cs typeface="Calibri"/>
              </a:rPr>
              <a:t>Inputs</a:t>
            </a:r>
            <a:endParaRPr sz="2400" dirty="0">
              <a:cs typeface="Calibri"/>
            </a:endParaRPr>
          </a:p>
        </p:txBody>
      </p:sp>
      <p:sp>
        <p:nvSpPr>
          <p:cNvPr id="71" name="object 117"/>
          <p:cNvSpPr txBox="1"/>
          <p:nvPr/>
        </p:nvSpPr>
        <p:spPr>
          <a:xfrm>
            <a:off x="4341273" y="5321243"/>
            <a:ext cx="2066361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400" spc="-114" dirty="0">
                <a:solidFill>
                  <a:schemeClr val="tx1">
                    <a:lumMod val="65000"/>
                    <a:lumOff val="35000"/>
                  </a:schemeClr>
                </a:solidFill>
                <a:cs typeface="Cambria"/>
              </a:rPr>
              <a:t>Non-Linearity</a:t>
            </a:r>
            <a:endParaRPr sz="2400" dirty="0">
              <a:solidFill>
                <a:schemeClr val="tx1">
                  <a:lumMod val="65000"/>
                  <a:lumOff val="35000"/>
                </a:schemeClr>
              </a:solidFill>
              <a:cs typeface="Cambria"/>
            </a:endParaRPr>
          </a:p>
        </p:txBody>
      </p:sp>
      <p:sp>
        <p:nvSpPr>
          <p:cNvPr id="72" name="object 118"/>
          <p:cNvSpPr txBox="1"/>
          <p:nvPr/>
        </p:nvSpPr>
        <p:spPr>
          <a:xfrm>
            <a:off x="6474899" y="5321884"/>
            <a:ext cx="1294745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54990" algn="l"/>
              </a:tabLst>
            </a:pPr>
            <a:r>
              <a:rPr lang="en-US" sz="2400" spc="45" dirty="0">
                <a:solidFill>
                  <a:schemeClr val="tx1">
                    <a:lumMod val="65000"/>
                    <a:lumOff val="35000"/>
                  </a:schemeClr>
                </a:solidFill>
                <a:cs typeface="Calibri"/>
              </a:rPr>
              <a:t>Output</a:t>
            </a:r>
            <a:endParaRPr sz="2400" dirty="0">
              <a:solidFill>
                <a:schemeClr val="tx1">
                  <a:lumMod val="65000"/>
                  <a:lumOff val="35000"/>
                </a:schemeClr>
              </a:solidFill>
              <a:cs typeface="Calibri"/>
            </a:endParaRPr>
          </a:p>
        </p:txBody>
      </p:sp>
      <p:sp>
        <p:nvSpPr>
          <p:cNvPr id="73" name="object 116"/>
          <p:cNvSpPr txBox="1"/>
          <p:nvPr/>
        </p:nvSpPr>
        <p:spPr>
          <a:xfrm>
            <a:off x="1628969" y="5350419"/>
            <a:ext cx="1438257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0700" algn="l"/>
              </a:tabLst>
            </a:pPr>
            <a:r>
              <a:rPr lang="en-US" sz="2400" spc="-50" dirty="0">
                <a:solidFill>
                  <a:srgbClr val="444444"/>
                </a:solidFill>
                <a:cs typeface="Calibri"/>
              </a:rPr>
              <a:t>Weights</a:t>
            </a:r>
            <a:endParaRPr sz="2400" dirty="0">
              <a:cs typeface="Calibri"/>
            </a:endParaRPr>
          </a:p>
        </p:txBody>
      </p:sp>
      <p:sp>
        <p:nvSpPr>
          <p:cNvPr id="74" name="object 116"/>
          <p:cNvSpPr txBox="1"/>
          <p:nvPr/>
        </p:nvSpPr>
        <p:spPr>
          <a:xfrm>
            <a:off x="3270553" y="5315699"/>
            <a:ext cx="945016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0700" algn="l"/>
              </a:tabLst>
            </a:pPr>
            <a:r>
              <a:rPr lang="en-US" sz="2400" spc="-50" dirty="0">
                <a:solidFill>
                  <a:srgbClr val="444444"/>
                </a:solidFill>
                <a:cs typeface="Calibri"/>
              </a:rPr>
              <a:t>Sum</a:t>
            </a:r>
            <a:endParaRPr sz="2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6251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6" y="343056"/>
            <a:ext cx="9994753" cy="626283"/>
          </a:xfrm>
        </p:spPr>
        <p:txBody>
          <a:bodyPr>
            <a:noAutofit/>
          </a:bodyPr>
          <a:lstStyle/>
          <a:p>
            <a:r>
              <a:rPr lang="en-US" sz="3200" b="1" dirty="0"/>
              <a:t>Forward Propagation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 defTabSz="914377">
              <a:defRPr/>
            </a:pPr>
            <a:fld id="{7861E9F1-9214-4563-ABFC-1D940E589AFF}" type="slidenum">
              <a:rPr lang="en-US">
                <a:solidFill>
                  <a:srgbClr val="46464A">
                    <a:lumMod val="60000"/>
                    <a:lumOff val="40000"/>
                  </a:srgbClr>
                </a:solidFill>
                <a:latin typeface="Century Schoolbook" panose="02040604050505020304"/>
              </a:rPr>
              <a:pPr defTabSz="914377">
                <a:defRPr/>
              </a:pPr>
              <a:t>7</a:t>
            </a:fld>
            <a:endParaRPr lang="en-US">
              <a:solidFill>
                <a:srgbClr val="46464A">
                  <a:lumMod val="60000"/>
                  <a:lumOff val="40000"/>
                </a:srgbClr>
              </a:solidFill>
              <a:latin typeface="Century Schoolbook" panose="02040604050505020304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1157445"/>
            <a:ext cx="6206225" cy="5319556"/>
          </a:xfrm>
        </p:spPr>
        <p:txBody>
          <a:bodyPr>
            <a:noAutofit/>
          </a:bodyPr>
          <a:lstStyle/>
          <a:p>
            <a:pPr algn="just"/>
            <a:r>
              <a:rPr lang="en-US" sz="1867" dirty="0"/>
              <a:t>Forward propagation in a neural network refers to the process of passing input data through the network layers, applying activation functions at each neuron, and producing an output prediction at the final layer.</a:t>
            </a:r>
          </a:p>
          <a:p>
            <a:pPr marL="0" indent="0" algn="just">
              <a:buNone/>
            </a:pPr>
            <a:r>
              <a:rPr lang="en-US" sz="2133" b="1" dirty="0"/>
              <a:t>Process Overview:</a:t>
            </a:r>
            <a:endParaRPr lang="en-US" sz="2133" dirty="0"/>
          </a:p>
          <a:p>
            <a:pPr marL="304792" indent="-304792" algn="just">
              <a:spcBef>
                <a:spcPts val="667"/>
              </a:spcBef>
              <a:buFont typeface="+mj-lt"/>
              <a:buAutoNum type="arabicParenR"/>
            </a:pPr>
            <a:r>
              <a:rPr lang="en-US" sz="1867" dirty="0"/>
              <a:t>Input data is provided to the input layer.</a:t>
            </a:r>
          </a:p>
          <a:p>
            <a:pPr marL="304792" indent="-304792" algn="just">
              <a:spcBef>
                <a:spcPts val="667"/>
              </a:spcBef>
              <a:buFont typeface="+mj-lt"/>
              <a:buAutoNum type="arabicParenR"/>
            </a:pPr>
            <a:r>
              <a:rPr lang="en-US" sz="1867" dirty="0"/>
              <a:t>Weighted sum of inputs is calculated at each neuron.</a:t>
            </a:r>
          </a:p>
          <a:p>
            <a:pPr marL="304792" indent="-304792" algn="just">
              <a:spcBef>
                <a:spcPts val="667"/>
              </a:spcBef>
              <a:buFont typeface="+mj-lt"/>
              <a:buAutoNum type="arabicParenR"/>
            </a:pPr>
            <a:r>
              <a:rPr lang="en-US" sz="1867" dirty="0"/>
              <a:t>An activation function is applied to introduce non-linearity.</a:t>
            </a:r>
          </a:p>
          <a:p>
            <a:pPr marL="304792" indent="-304792" algn="just">
              <a:spcBef>
                <a:spcPts val="667"/>
              </a:spcBef>
              <a:buFont typeface="+mj-lt"/>
              <a:buAutoNum type="arabicParenR"/>
            </a:pPr>
            <a:r>
              <a:rPr lang="en-US" sz="1867" dirty="0"/>
              <a:t>The output of each layer serves as input to the next layer.</a:t>
            </a:r>
          </a:p>
          <a:p>
            <a:pPr marL="304792" indent="-304792" algn="just">
              <a:spcBef>
                <a:spcPts val="667"/>
              </a:spcBef>
              <a:buFont typeface="+mj-lt"/>
              <a:buAutoNum type="arabicParenR"/>
            </a:pPr>
            <a:r>
              <a:rPr lang="en-US" sz="1867" dirty="0"/>
              <a:t>The final layer produces predictions.</a:t>
            </a:r>
          </a:p>
        </p:txBody>
      </p:sp>
      <p:pic>
        <p:nvPicPr>
          <p:cNvPr id="1026" name="Picture 2" descr="Forward Propagati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199" y="177801"/>
            <a:ext cx="4407415" cy="327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200" y="3632200"/>
            <a:ext cx="4472413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114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6" y="343056"/>
            <a:ext cx="9965425" cy="1053944"/>
          </a:xfrm>
        </p:spPr>
        <p:txBody>
          <a:bodyPr>
            <a:noAutofit/>
          </a:bodyPr>
          <a:lstStyle/>
          <a:p>
            <a:r>
              <a:rPr lang="en-US" sz="3200" b="1" dirty="0"/>
              <a:t>Implementation of Forward Propagation in neural network using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 defTabSz="914377">
              <a:defRPr/>
            </a:pPr>
            <a:fld id="{7861E9F1-9214-4563-ABFC-1D940E589AFF}" type="slidenum">
              <a:rPr lang="en-US">
                <a:solidFill>
                  <a:srgbClr val="46464A">
                    <a:lumMod val="60000"/>
                    <a:lumOff val="40000"/>
                  </a:srgbClr>
                </a:solidFill>
                <a:latin typeface="Century Schoolbook" panose="02040604050505020304"/>
              </a:rPr>
              <a:pPr defTabSz="914377">
                <a:defRPr/>
              </a:pPr>
              <a:t>8</a:t>
            </a:fld>
            <a:endParaRPr lang="en-US">
              <a:solidFill>
                <a:srgbClr val="46464A">
                  <a:lumMod val="60000"/>
                  <a:lumOff val="40000"/>
                </a:srgbClr>
              </a:solidFill>
              <a:latin typeface="Century Schoolbook" panose="020406040505050203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2" y="4010167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ln>
                <a:solidFill>
                  <a:srgbClr val="FFFFFF"/>
                </a:solidFill>
              </a:ln>
              <a:solidFill>
                <a:srgbClr val="FFFFFF"/>
              </a:solidFill>
              <a:latin typeface="Century Schoolbook" panose="020406040505050203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1" y="5637194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srgbClr val="FFFFFF"/>
              </a:solidFill>
              <a:latin typeface="Century Schoolbook" panose="02040604050505020304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1600200"/>
            <a:ext cx="5901425" cy="4432955"/>
          </a:xfrm>
        </p:spPr>
        <p:txBody>
          <a:bodyPr>
            <a:noAutofit/>
          </a:bodyPr>
          <a:lstStyle/>
          <a:p>
            <a:pPr>
              <a:spcBef>
                <a:spcPts val="700"/>
              </a:spcBef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698" y="1498600"/>
            <a:ext cx="6723903" cy="5080000"/>
          </a:xfrm>
          <a:prstGeom prst="roundRect">
            <a:avLst>
              <a:gd name="adj" fmla="val 7948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733" dirty="0">
                <a:solidFill>
                  <a:srgbClr val="FFC000"/>
                </a:solidFill>
                <a:latin typeface="Consolas" panose="020B0609020204030204" pitchFamily="49" charset="0"/>
              </a:rPr>
              <a:t>import </a:t>
            </a:r>
            <a:r>
              <a:rPr lang="en-US" sz="1733" dirty="0" err="1">
                <a:solidFill>
                  <a:srgbClr val="FFC000"/>
                </a:solidFill>
                <a:latin typeface="Consolas" panose="020B0609020204030204" pitchFamily="49" charset="0"/>
              </a:rPr>
              <a:t>numpy</a:t>
            </a:r>
            <a:r>
              <a:rPr lang="en-US" sz="1733" dirty="0">
                <a:solidFill>
                  <a:srgbClr val="FFC000"/>
                </a:solidFill>
                <a:latin typeface="Consolas" panose="020B0609020204030204" pitchFamily="49" charset="0"/>
              </a:rPr>
              <a:t> as np</a:t>
            </a:r>
          </a:p>
          <a:p>
            <a:endParaRPr lang="en-US" sz="1733" dirty="0">
              <a:latin typeface="Consolas" panose="020B0609020204030204" pitchFamily="49" charset="0"/>
            </a:endParaRPr>
          </a:p>
          <a:p>
            <a:r>
              <a:rPr lang="en-US" sz="1733" dirty="0" err="1">
                <a:solidFill>
                  <a:srgbClr val="CCFFFF"/>
                </a:solidFill>
                <a:latin typeface="Consolas" panose="020B0609020204030204" pitchFamily="49" charset="0"/>
              </a:rPr>
              <a:t>def</a:t>
            </a:r>
            <a:r>
              <a:rPr lang="en-US" sz="1733" dirty="0">
                <a:solidFill>
                  <a:srgbClr val="CCFFFF"/>
                </a:solidFill>
                <a:latin typeface="Consolas" panose="020B0609020204030204" pitchFamily="49" charset="0"/>
              </a:rPr>
              <a:t> sigmoid(z):</a:t>
            </a:r>
          </a:p>
          <a:p>
            <a:r>
              <a:rPr lang="en-US" sz="1733" dirty="0">
                <a:solidFill>
                  <a:srgbClr val="CCFFFF"/>
                </a:solidFill>
                <a:latin typeface="Consolas" panose="020B0609020204030204" pitchFamily="49" charset="0"/>
              </a:rPr>
              <a:t>    return 1 / (1 + </a:t>
            </a:r>
            <a:r>
              <a:rPr lang="en-US" sz="1733" dirty="0" err="1">
                <a:solidFill>
                  <a:srgbClr val="CCFFFF"/>
                </a:solidFill>
                <a:latin typeface="Consolas" panose="020B0609020204030204" pitchFamily="49" charset="0"/>
              </a:rPr>
              <a:t>np.exp</a:t>
            </a:r>
            <a:r>
              <a:rPr lang="en-US" sz="1733" dirty="0">
                <a:solidFill>
                  <a:srgbClr val="CCFFFF"/>
                </a:solidFill>
                <a:latin typeface="Consolas" panose="020B0609020204030204" pitchFamily="49" charset="0"/>
              </a:rPr>
              <a:t>(-z))</a:t>
            </a:r>
          </a:p>
          <a:p>
            <a:endParaRPr lang="en-US" sz="1733" dirty="0">
              <a:latin typeface="Consolas" panose="020B0609020204030204" pitchFamily="49" charset="0"/>
            </a:endParaRPr>
          </a:p>
          <a:p>
            <a:r>
              <a:rPr lang="en-US" sz="1733" dirty="0">
                <a:latin typeface="Consolas" panose="020B0609020204030204" pitchFamily="49" charset="0"/>
              </a:rPr>
              <a:t># Input values</a:t>
            </a:r>
          </a:p>
          <a:p>
            <a:r>
              <a:rPr lang="en-US" sz="1733" dirty="0">
                <a:solidFill>
                  <a:srgbClr val="FFC000"/>
                </a:solidFill>
                <a:latin typeface="Consolas" panose="020B0609020204030204" pitchFamily="49" charset="0"/>
              </a:rPr>
              <a:t>x = </a:t>
            </a:r>
            <a:r>
              <a:rPr lang="en-US" sz="1733" dirty="0" err="1">
                <a:solidFill>
                  <a:srgbClr val="FFC000"/>
                </a:solidFill>
                <a:latin typeface="Consolas" panose="020B0609020204030204" pitchFamily="49" charset="0"/>
              </a:rPr>
              <a:t>np.array</a:t>
            </a:r>
            <a:r>
              <a:rPr lang="en-US" sz="1733" dirty="0">
                <a:solidFill>
                  <a:srgbClr val="FFC000"/>
                </a:solidFill>
                <a:latin typeface="Consolas" panose="020B0609020204030204" pitchFamily="49" charset="0"/>
              </a:rPr>
              <a:t>([0.5, 0.8])</a:t>
            </a:r>
          </a:p>
          <a:p>
            <a:endParaRPr lang="en-US" sz="1733" dirty="0">
              <a:latin typeface="Consolas" panose="020B0609020204030204" pitchFamily="49" charset="0"/>
            </a:endParaRPr>
          </a:p>
          <a:p>
            <a:r>
              <a:rPr lang="en-US" sz="1733" dirty="0">
                <a:latin typeface="Consolas" panose="020B0609020204030204" pitchFamily="49" charset="0"/>
              </a:rPr>
              <a:t># Initialize weights and bias</a:t>
            </a:r>
          </a:p>
          <a:p>
            <a:r>
              <a:rPr lang="en-US" sz="1733" dirty="0">
                <a:solidFill>
                  <a:srgbClr val="FFC000"/>
                </a:solidFill>
                <a:latin typeface="Consolas" panose="020B0609020204030204" pitchFamily="49" charset="0"/>
              </a:rPr>
              <a:t>w = </a:t>
            </a:r>
            <a:r>
              <a:rPr lang="en-US" sz="1733" dirty="0" err="1">
                <a:solidFill>
                  <a:srgbClr val="FFC000"/>
                </a:solidFill>
                <a:latin typeface="Consolas" panose="020B0609020204030204" pitchFamily="49" charset="0"/>
              </a:rPr>
              <a:t>np.array</a:t>
            </a:r>
            <a:r>
              <a:rPr lang="en-US" sz="1733" dirty="0">
                <a:solidFill>
                  <a:srgbClr val="FFC000"/>
                </a:solidFill>
                <a:latin typeface="Consolas" panose="020B0609020204030204" pitchFamily="49" charset="0"/>
              </a:rPr>
              <a:t>([0.2, 0.4])</a:t>
            </a:r>
          </a:p>
          <a:p>
            <a:r>
              <a:rPr lang="en-US" sz="1733" dirty="0">
                <a:solidFill>
                  <a:srgbClr val="FFC000"/>
                </a:solidFill>
                <a:latin typeface="Consolas" panose="020B0609020204030204" pitchFamily="49" charset="0"/>
              </a:rPr>
              <a:t>b = 0.1</a:t>
            </a:r>
          </a:p>
          <a:p>
            <a:endParaRPr lang="en-US" sz="1733" dirty="0">
              <a:latin typeface="Consolas" panose="020B0609020204030204" pitchFamily="49" charset="0"/>
            </a:endParaRPr>
          </a:p>
          <a:p>
            <a:r>
              <a:rPr lang="en-US" sz="1733" dirty="0">
                <a:latin typeface="Consolas" panose="020B0609020204030204" pitchFamily="49" charset="0"/>
              </a:rPr>
              <a:t># Compute weighted sum</a:t>
            </a:r>
          </a:p>
          <a:p>
            <a:r>
              <a:rPr lang="en-US" sz="1733" dirty="0">
                <a:solidFill>
                  <a:srgbClr val="FFC000"/>
                </a:solidFill>
                <a:latin typeface="Consolas" panose="020B0609020204030204" pitchFamily="49" charset="0"/>
              </a:rPr>
              <a:t>z = np.dot(x, w) + b</a:t>
            </a:r>
          </a:p>
          <a:p>
            <a:endParaRPr lang="en-US" sz="1733" dirty="0">
              <a:latin typeface="Consolas" panose="020B0609020204030204" pitchFamily="49" charset="0"/>
            </a:endParaRPr>
          </a:p>
          <a:p>
            <a:r>
              <a:rPr lang="en-US" sz="1733" dirty="0">
                <a:latin typeface="Consolas" panose="020B0609020204030204" pitchFamily="49" charset="0"/>
              </a:rPr>
              <a:t># Apply activation function</a:t>
            </a:r>
          </a:p>
          <a:p>
            <a:r>
              <a:rPr lang="en-US" sz="1733" dirty="0">
                <a:solidFill>
                  <a:srgbClr val="FFC000"/>
                </a:solidFill>
                <a:latin typeface="Consolas" panose="020B0609020204030204" pitchFamily="49" charset="0"/>
              </a:rPr>
              <a:t>output = sigmoid(z)</a:t>
            </a:r>
          </a:p>
          <a:p>
            <a:r>
              <a:rPr lang="en-US" sz="1733" dirty="0">
                <a:solidFill>
                  <a:srgbClr val="FFC000"/>
                </a:solidFill>
                <a:latin typeface="Consolas" panose="020B0609020204030204" pitchFamily="49" charset="0"/>
              </a:rPr>
              <a:t>print(“Final Output:”, output)</a:t>
            </a:r>
            <a:endParaRPr lang="en-US" sz="1867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151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6" y="343056"/>
            <a:ext cx="9994753" cy="626283"/>
          </a:xfrm>
        </p:spPr>
        <p:txBody>
          <a:bodyPr>
            <a:noAutofit/>
          </a:bodyPr>
          <a:lstStyle/>
          <a:p>
            <a:r>
              <a:rPr lang="en-US" sz="3200" b="1" dirty="0"/>
              <a:t>Neural Networks Training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 defTabSz="914377">
              <a:defRPr/>
            </a:pPr>
            <a:fld id="{7861E9F1-9214-4563-ABFC-1D940E589AFF}" type="slidenum">
              <a:rPr lang="en-US">
                <a:solidFill>
                  <a:srgbClr val="46464A">
                    <a:lumMod val="60000"/>
                    <a:lumOff val="40000"/>
                  </a:srgbClr>
                </a:solidFill>
                <a:latin typeface="Century Schoolbook" panose="02040604050505020304"/>
              </a:rPr>
              <a:pPr defTabSz="914377">
                <a:defRPr/>
              </a:pPr>
              <a:t>9</a:t>
            </a:fld>
            <a:endParaRPr lang="en-US">
              <a:solidFill>
                <a:srgbClr val="46464A">
                  <a:lumMod val="60000"/>
                  <a:lumOff val="40000"/>
                </a:srgbClr>
              </a:solidFill>
              <a:latin typeface="Century Schoolbook" panose="020406040505050203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2" y="4010167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ln>
                <a:solidFill>
                  <a:srgbClr val="FFFFFF"/>
                </a:solidFill>
              </a:ln>
              <a:solidFill>
                <a:srgbClr val="FFFFFF"/>
              </a:solidFill>
              <a:latin typeface="Century Schoolbook" panose="020406040505050203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1" y="5637194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srgbClr val="FFFFFF"/>
              </a:solidFill>
              <a:latin typeface="Century Schoolbook" panose="02040604050505020304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3" y="1092201"/>
            <a:ext cx="8339827" cy="5700556"/>
          </a:xfrm>
        </p:spPr>
        <p:txBody>
          <a:bodyPr>
            <a:noAutofit/>
          </a:bodyPr>
          <a:lstStyle/>
          <a:p>
            <a:pPr algn="just"/>
            <a:r>
              <a:rPr lang="en-US" sz="1867" dirty="0"/>
              <a:t>To fit the parameters of a neural network to a given training dataset, we employ backpropagation combined with optimization techniques like gradient descent.</a:t>
            </a:r>
          </a:p>
          <a:p>
            <a:pPr algn="just">
              <a:spcBef>
                <a:spcPts val="700"/>
              </a:spcBef>
            </a:pPr>
            <a:r>
              <a:rPr lang="en-US" sz="2133" b="1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General Steps:</a:t>
            </a:r>
          </a:p>
          <a:p>
            <a:pPr marL="731502" lvl="1" indent="-457189" algn="just">
              <a:buFont typeface="+mj-lt"/>
              <a:buAutoNum type="arabicPeriod"/>
            </a:pPr>
            <a:r>
              <a:rPr lang="en-US" sz="1867" b="1" dirty="0"/>
              <a:t>Initialize Parameters</a:t>
            </a:r>
            <a:r>
              <a:rPr lang="en-US" sz="1867" dirty="0"/>
              <a:t> - Assign small random values to weights and biases.</a:t>
            </a:r>
          </a:p>
          <a:p>
            <a:pPr marL="731502" lvl="1" indent="-457189" algn="just">
              <a:buFont typeface="+mj-lt"/>
              <a:buAutoNum type="arabicPeriod"/>
            </a:pPr>
            <a:r>
              <a:rPr lang="en-US" sz="1867" b="1" dirty="0"/>
              <a:t>Forward Propagation</a:t>
            </a:r>
            <a:r>
              <a:rPr lang="en-US" sz="1867" dirty="0"/>
              <a:t> - Compute outputs layer by layer.</a:t>
            </a:r>
          </a:p>
          <a:p>
            <a:pPr marL="731502" lvl="1" indent="-457189" algn="just">
              <a:buFont typeface="+mj-lt"/>
              <a:buAutoNum type="arabicPeriod"/>
            </a:pPr>
            <a:r>
              <a:rPr lang="en-US" sz="1867" b="1" dirty="0"/>
              <a:t>Compute Loss</a:t>
            </a:r>
            <a:r>
              <a:rPr lang="en-US" sz="1867" dirty="0"/>
              <a:t> - Measure how far predictions are from actual values.</a:t>
            </a:r>
          </a:p>
          <a:p>
            <a:pPr marL="731502" lvl="1" indent="-457189" algn="just">
              <a:buFont typeface="+mj-lt"/>
              <a:buAutoNum type="arabicPeriod"/>
            </a:pPr>
            <a:r>
              <a:rPr lang="en-US" sz="1867" b="1" dirty="0"/>
              <a:t>Backpropagation</a:t>
            </a:r>
            <a:r>
              <a:rPr lang="en-US" sz="1867" dirty="0"/>
              <a:t> - Calculate gradients to adjust parameters.</a:t>
            </a:r>
          </a:p>
          <a:p>
            <a:pPr marL="731502" lvl="1" indent="-457189" algn="just">
              <a:buFont typeface="+mj-lt"/>
              <a:buAutoNum type="arabicPeriod"/>
            </a:pPr>
            <a:r>
              <a:rPr lang="en-US" sz="1867" b="1" dirty="0"/>
              <a:t>Gradient Descent</a:t>
            </a:r>
            <a:r>
              <a:rPr lang="en-US" sz="1867" dirty="0"/>
              <a:t> - Update weights to minimize the loss function.</a:t>
            </a:r>
          </a:p>
          <a:p>
            <a:pPr marL="731502" lvl="1" indent="-457189" algn="just">
              <a:buFont typeface="+mj-lt"/>
              <a:buAutoNum type="arabicPeriod"/>
            </a:pPr>
            <a:r>
              <a:rPr lang="en-US" sz="1867" b="1" dirty="0"/>
              <a:t>Repeat</a:t>
            </a:r>
            <a:r>
              <a:rPr lang="en-US" sz="1867" dirty="0"/>
              <a:t> - Iterate until convergence.</a:t>
            </a:r>
          </a:p>
          <a:p>
            <a:pPr marL="731502" lvl="1" indent="-457189" algn="just">
              <a:buFont typeface="+mj-lt"/>
              <a:buAutoNum type="arabicPeriod"/>
            </a:pPr>
            <a:r>
              <a:rPr lang="en-US" sz="1867" b="1" dirty="0"/>
              <a:t>Evaluate</a:t>
            </a:r>
            <a:r>
              <a:rPr lang="en-US" sz="1867" dirty="0"/>
              <a:t> - Assess performance using a test dataset.</a:t>
            </a:r>
          </a:p>
          <a:p>
            <a:pPr marL="731502" lvl="1" indent="-457189" algn="just">
              <a:buFont typeface="+mj-lt"/>
              <a:buAutoNum type="arabicPeriod"/>
            </a:pPr>
            <a:r>
              <a:rPr lang="en-US" sz="1867" b="1" dirty="0"/>
              <a:t>Adjust </a:t>
            </a:r>
            <a:r>
              <a:rPr lang="en-US" sz="1867" b="1" dirty="0" err="1"/>
              <a:t>Hyperparameters</a:t>
            </a:r>
            <a:r>
              <a:rPr lang="en-US" sz="1867" dirty="0"/>
              <a:t> - Tune learning rate, batch size, etc.</a:t>
            </a:r>
          </a:p>
          <a:p>
            <a:pPr marL="731502" lvl="1" indent="-457189" algn="just">
              <a:buFont typeface="+mj-lt"/>
              <a:buAutoNum type="arabicPeriod"/>
            </a:pPr>
            <a:r>
              <a:rPr lang="en-US" sz="1867" b="1" dirty="0"/>
              <a:t>Test</a:t>
            </a:r>
            <a:r>
              <a:rPr lang="en-US" sz="1867" dirty="0"/>
              <a:t> - Validate the final model.</a:t>
            </a:r>
          </a:p>
        </p:txBody>
      </p:sp>
    </p:spTree>
    <p:extLst>
      <p:ext uri="{BB962C8B-B14F-4D97-AF65-F5344CB8AC3E}">
        <p14:creationId xmlns:p14="http://schemas.microsoft.com/office/powerpoint/2010/main" val="617352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1745"/>
            <a:ext cx="8898128" cy="624840"/>
          </a:xfrm>
        </p:spPr>
        <p:txBody>
          <a:bodyPr>
            <a:noAutofit/>
          </a:bodyPr>
          <a:lstStyle/>
          <a:p>
            <a:r>
              <a:rPr lang="en-US" sz="3200" b="1" dirty="0"/>
              <a:t>Neural Networks Training Process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7861E9F1-9214-4563-ABFC-1D940E589AFF}" type="slidenum">
              <a:rPr lang="en-US" smtClean="0"/>
              <a:t>10</a:t>
            </a:fld>
            <a:endParaRPr lang="en-US"/>
          </a:p>
        </p:txBody>
      </p:sp>
      <p:pic>
        <p:nvPicPr>
          <p:cNvPr id="2050" name="Picture 2" descr="Overview of a Neural Network's Learning Process | by Rukshan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990600"/>
            <a:ext cx="9753600" cy="5733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1961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6" y="343056"/>
            <a:ext cx="9994753" cy="626283"/>
          </a:xfrm>
        </p:spPr>
        <p:txBody>
          <a:bodyPr>
            <a:noAutofit/>
          </a:bodyPr>
          <a:lstStyle/>
          <a:p>
            <a:r>
              <a:rPr lang="en-US" sz="3200" b="1" dirty="0"/>
              <a:t>Activation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 defTabSz="914377">
              <a:defRPr/>
            </a:pPr>
            <a:fld id="{7861E9F1-9214-4563-ABFC-1D940E589AFF}" type="slidenum">
              <a:rPr lang="en-US">
                <a:solidFill>
                  <a:srgbClr val="46464A">
                    <a:lumMod val="60000"/>
                    <a:lumOff val="40000"/>
                  </a:srgbClr>
                </a:solidFill>
                <a:latin typeface="Century Schoolbook" panose="02040604050505020304"/>
              </a:rPr>
              <a:pPr defTabSz="914377">
                <a:defRPr/>
              </a:pPr>
              <a:t>11</a:t>
            </a:fld>
            <a:endParaRPr lang="en-US">
              <a:solidFill>
                <a:srgbClr val="46464A">
                  <a:lumMod val="60000"/>
                  <a:lumOff val="40000"/>
                </a:srgbClr>
              </a:solidFill>
              <a:latin typeface="Century Schoolbook" panose="020406040505050203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2" y="4010167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ln>
                <a:solidFill>
                  <a:srgbClr val="FFFFFF"/>
                </a:solidFill>
              </a:ln>
              <a:solidFill>
                <a:srgbClr val="FFFFFF"/>
              </a:solidFill>
              <a:latin typeface="Century Schoolbook" panose="020406040505050203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1" y="5637194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srgbClr val="FFFFFF"/>
              </a:solidFill>
              <a:latin typeface="Century Schoolbook" panose="02040604050505020304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1157444"/>
            <a:ext cx="5721338" cy="1538621"/>
          </a:xfrm>
        </p:spPr>
        <p:txBody>
          <a:bodyPr>
            <a:noAutofit/>
          </a:bodyPr>
          <a:lstStyle/>
          <a:p>
            <a:pPr algn="just">
              <a:spcBef>
                <a:spcPts val="700"/>
              </a:spcBef>
            </a:pPr>
            <a:r>
              <a:rPr lang="en-US" sz="2133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Activation functions introduces non-linearity, allowing neural networks to learn complex patterns.</a:t>
            </a:r>
          </a:p>
        </p:txBody>
      </p:sp>
      <p:pic>
        <p:nvPicPr>
          <p:cNvPr id="1026" name="Picture 2" descr="Introduction to Different Activation Functions for Deep Learning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569" y="3303266"/>
            <a:ext cx="6624230" cy="346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311" y="519605"/>
            <a:ext cx="4948731" cy="27836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0974" y="2538000"/>
            <a:ext cx="50658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700"/>
              </a:spcBef>
            </a:pPr>
            <a:r>
              <a:rPr lang="en-US" sz="2400" b="1" dirty="0"/>
              <a:t>Common Activation Functions</a:t>
            </a:r>
          </a:p>
        </p:txBody>
      </p:sp>
    </p:spTree>
    <p:extLst>
      <p:ext uri="{BB962C8B-B14F-4D97-AF65-F5344CB8AC3E}">
        <p14:creationId xmlns:p14="http://schemas.microsoft.com/office/powerpoint/2010/main" val="363967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3200" b="1" dirty="0"/>
              <a:t>Importance Activation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12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71296" y="1127715"/>
            <a:ext cx="94541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purpose of activation functions is </a:t>
            </a:r>
            <a:r>
              <a:rPr lang="en-US" b="1" dirty="0"/>
              <a:t>to introduce non-linearity </a:t>
            </a:r>
            <a:r>
              <a:rPr lang="en-US" dirty="0"/>
              <a:t>into the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144567" y="4911478"/>
            <a:ext cx="46115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What if we wanted to build a neural network to distinguish green vs red points?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807" y="1916129"/>
            <a:ext cx="4148553" cy="268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33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3200" b="1" dirty="0"/>
              <a:t>Importance Activation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13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71296" y="1127715"/>
            <a:ext cx="94541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purpose of activation functions is </a:t>
            </a:r>
            <a:r>
              <a:rPr lang="en-US" b="1" dirty="0"/>
              <a:t>to introduce non-linearity </a:t>
            </a:r>
            <a:r>
              <a:rPr lang="en-US" dirty="0"/>
              <a:t>into the network</a:t>
            </a:r>
          </a:p>
        </p:txBody>
      </p:sp>
      <p:pic>
        <p:nvPicPr>
          <p:cNvPr id="8" name="object 2"/>
          <p:cNvPicPr/>
          <p:nvPr/>
        </p:nvPicPr>
        <p:blipFill rotWithShape="1">
          <a:blip r:embed="rId3" cstate="print"/>
          <a:srcRect l="14522" t="34085" r="57078" b="24282"/>
          <a:stretch/>
        </p:blipFill>
        <p:spPr>
          <a:xfrm>
            <a:off x="1429901" y="2264521"/>
            <a:ext cx="3344617" cy="236884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85017" y="4816067"/>
            <a:ext cx="42087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Linear activation functions produce linear decisions no matter the network size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24736" y="4816067"/>
            <a:ext cx="443822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Non-</a:t>
            </a:r>
            <a:r>
              <a:rPr lang="en-US" sz="1600" dirty="0" err="1"/>
              <a:t>linearities</a:t>
            </a:r>
            <a:r>
              <a:rPr lang="en-US" sz="1600" dirty="0"/>
              <a:t> allow us to approximate arbitrarily complex functions</a:t>
            </a:r>
          </a:p>
        </p:txBody>
      </p:sp>
      <p:pic>
        <p:nvPicPr>
          <p:cNvPr id="11" name="object 2"/>
          <p:cNvPicPr/>
          <p:nvPr/>
        </p:nvPicPr>
        <p:blipFill rotWithShape="1">
          <a:blip r:embed="rId3" cstate="print"/>
          <a:srcRect l="55537" t="33855" r="15442" b="24743"/>
          <a:stretch/>
        </p:blipFill>
        <p:spPr>
          <a:xfrm>
            <a:off x="5897573" y="2264521"/>
            <a:ext cx="3393713" cy="234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884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8397629" cy="77570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Multi Output Perceptron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0073" y="1687651"/>
            <a:ext cx="9647226" cy="3804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Because all inputs are densely connected to all outputs , these layers are called </a:t>
            </a:r>
            <a:r>
              <a:rPr lang="en-US" sz="1600" b="1" dirty="0"/>
              <a:t>Dense</a:t>
            </a:r>
            <a:r>
              <a:rPr lang="en-US" sz="1600" dirty="0"/>
              <a:t> layers.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9356" t="33823" r="28286"/>
          <a:stretch/>
        </p:blipFill>
        <p:spPr>
          <a:xfrm>
            <a:off x="3513038" y="2816843"/>
            <a:ext cx="4231745" cy="348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5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794" y="405036"/>
            <a:ext cx="9569779" cy="672594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Dense layer from scratch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618727" y="1305628"/>
            <a:ext cx="6131911" cy="499544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4316" y="1324037"/>
            <a:ext cx="998143" cy="120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0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794" y="405036"/>
            <a:ext cx="9569779" cy="672594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Dense layer from scratch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16</a:t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003124" y="2509999"/>
            <a:ext cx="2749336" cy="810073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import </a:t>
            </a:r>
            <a:r>
              <a:rPr lang="en-US" sz="1200" dirty="0" err="1">
                <a:solidFill>
                  <a:schemeClr val="bg1"/>
                </a:solidFill>
              </a:rPr>
              <a:t>torch.nn</a:t>
            </a:r>
            <a:r>
              <a:rPr lang="en-US" sz="1200" dirty="0">
                <a:solidFill>
                  <a:schemeClr val="bg1"/>
                </a:solidFill>
              </a:rPr>
              <a:t> as </a:t>
            </a:r>
            <a:r>
              <a:rPr lang="en-US" sz="1200" dirty="0" err="1">
                <a:solidFill>
                  <a:schemeClr val="bg1"/>
                </a:solidFill>
              </a:rPr>
              <a:t>nn</a:t>
            </a:r>
            <a:endParaRPr lang="en-US" sz="1200" dirty="0">
              <a:solidFill>
                <a:schemeClr val="bg1"/>
              </a:solidFill>
            </a:endParaRP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layer = </a:t>
            </a:r>
            <a:r>
              <a:rPr lang="en-US" sz="1200" dirty="0" err="1">
                <a:solidFill>
                  <a:schemeClr val="bg1"/>
                </a:solidFill>
              </a:rPr>
              <a:t>nn.Linear</a:t>
            </a:r>
            <a:r>
              <a:rPr lang="en-US" sz="1200" dirty="0">
                <a:solidFill>
                  <a:schemeClr val="bg1"/>
                </a:solidFill>
              </a:rPr>
              <a:t>(</a:t>
            </a:r>
            <a:r>
              <a:rPr lang="en-US" sz="1200" dirty="0" err="1">
                <a:solidFill>
                  <a:schemeClr val="bg1"/>
                </a:solidFill>
              </a:rPr>
              <a:t>in_features</a:t>
            </a:r>
            <a:r>
              <a:rPr lang="en-US" sz="1200" dirty="0">
                <a:solidFill>
                  <a:schemeClr val="bg1"/>
                </a:solidFill>
              </a:rPr>
              <a:t>=m, </a:t>
            </a:r>
            <a:r>
              <a:rPr lang="en-US" sz="1200" dirty="0" err="1">
                <a:solidFill>
                  <a:schemeClr val="bg1"/>
                </a:solidFill>
              </a:rPr>
              <a:t>out_features</a:t>
            </a:r>
            <a:r>
              <a:rPr lang="en-US" sz="1200" dirty="0">
                <a:solidFill>
                  <a:schemeClr val="bg1"/>
                </a:solidFill>
              </a:rPr>
              <a:t>=2)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30930" y="3991464"/>
            <a:ext cx="2721529" cy="76097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import </a:t>
            </a:r>
            <a:r>
              <a:rPr lang="en-US" sz="1200" dirty="0" err="1">
                <a:solidFill>
                  <a:schemeClr val="bg1"/>
                </a:solidFill>
              </a:rPr>
              <a:t>tensorflow</a:t>
            </a:r>
            <a:r>
              <a:rPr lang="en-US" sz="1200" dirty="0">
                <a:solidFill>
                  <a:schemeClr val="bg1"/>
                </a:solidFill>
              </a:rPr>
              <a:t> as </a:t>
            </a:r>
            <a:r>
              <a:rPr lang="en-US" sz="1200" dirty="0" err="1">
                <a:solidFill>
                  <a:schemeClr val="bg1"/>
                </a:solidFill>
              </a:rPr>
              <a:t>tf</a:t>
            </a:r>
            <a:endParaRPr lang="en-US" sz="1200" dirty="0">
              <a:solidFill>
                <a:schemeClr val="bg1"/>
              </a:solidFill>
            </a:endParaRP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layer = </a:t>
            </a:r>
            <a:r>
              <a:rPr lang="en-US" sz="1200" dirty="0" err="1">
                <a:solidFill>
                  <a:schemeClr val="bg1"/>
                </a:solidFill>
              </a:rPr>
              <a:t>nn.keras.layers.Dense</a:t>
            </a:r>
            <a:r>
              <a:rPr lang="en-US" sz="1200" dirty="0">
                <a:solidFill>
                  <a:schemeClr val="bg1"/>
                </a:solidFill>
              </a:rPr>
              <a:t>(</a:t>
            </a:r>
          </a:p>
          <a:p>
            <a:r>
              <a:rPr lang="en-US" sz="1200" dirty="0">
                <a:solidFill>
                  <a:schemeClr val="bg1"/>
                </a:solidFill>
              </a:rPr>
              <a:t>units=2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546" y="2538602"/>
            <a:ext cx="267005" cy="32328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898" y="4015026"/>
            <a:ext cx="313748" cy="29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21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170880" cy="67137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Deep Neural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12108"/>
          <a:stretch/>
        </p:blipFill>
        <p:spPr>
          <a:xfrm>
            <a:off x="0" y="1755157"/>
            <a:ext cx="11289590" cy="509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90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/>
              <a:t>Loss Function / Cost Function in Deep Learning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600973" y="987758"/>
            <a:ext cx="8137674" cy="215136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/>
              <a:t>Loss Function:</a:t>
            </a:r>
          </a:p>
          <a:p>
            <a:pPr lvl="1" algn="just"/>
            <a:r>
              <a:rPr lang="en-US" dirty="0"/>
              <a:t>A loss function measures the difference between the predicted output and the actual target.</a:t>
            </a:r>
          </a:p>
          <a:p>
            <a:pPr lvl="1" algn="just"/>
            <a:r>
              <a:rPr lang="en-US" dirty="0"/>
              <a:t>It helps the neural network adjust weights during training to minimize errors.</a:t>
            </a:r>
          </a:p>
          <a:p>
            <a:pPr marL="0" indent="0" algn="just">
              <a:buNone/>
            </a:pPr>
            <a:r>
              <a:rPr lang="en-US" b="1" dirty="0"/>
              <a:t>Cost Function:</a:t>
            </a:r>
          </a:p>
          <a:p>
            <a:pPr lvl="1" algn="just"/>
            <a:r>
              <a:rPr lang="en-US" dirty="0"/>
              <a:t>The cost function is the average of the loss function over the entire dataset.</a:t>
            </a:r>
          </a:p>
          <a:p>
            <a:pPr lvl="1" algn="just"/>
            <a:r>
              <a:rPr lang="en-US" dirty="0"/>
              <a:t>It provides a single scalar value to optimize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18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746916"/>
              </p:ext>
            </p:extLst>
          </p:nvPr>
        </p:nvGraphicFramePr>
        <p:xfrm>
          <a:off x="1438812" y="3639379"/>
          <a:ext cx="8610162" cy="312654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870054">
                  <a:extLst>
                    <a:ext uri="{9D8B030D-6E8A-4147-A177-3AD203B41FA5}">
                      <a16:colId xmlns:a16="http://schemas.microsoft.com/office/drawing/2014/main" val="2266564123"/>
                    </a:ext>
                  </a:extLst>
                </a:gridCol>
                <a:gridCol w="2870054">
                  <a:extLst>
                    <a:ext uri="{9D8B030D-6E8A-4147-A177-3AD203B41FA5}">
                      <a16:colId xmlns:a16="http://schemas.microsoft.com/office/drawing/2014/main" val="1919314157"/>
                    </a:ext>
                  </a:extLst>
                </a:gridCol>
                <a:gridCol w="2870054">
                  <a:extLst>
                    <a:ext uri="{9D8B030D-6E8A-4147-A177-3AD203B41FA5}">
                      <a16:colId xmlns:a16="http://schemas.microsoft.com/office/drawing/2014/main" val="1564576897"/>
                    </a:ext>
                  </a:extLst>
                </a:gridCol>
              </a:tblGrid>
              <a:tr h="386574">
                <a:tc>
                  <a:txBody>
                    <a:bodyPr/>
                    <a:lstStyle/>
                    <a:p>
                      <a:r>
                        <a:rPr lang="en-US" sz="1800" b="1" dirty="0"/>
                        <a:t>Loss Function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Type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Use Case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083953"/>
                  </a:ext>
                </a:extLst>
              </a:tr>
              <a:tr h="547994">
                <a:tc>
                  <a:txBody>
                    <a:bodyPr/>
                    <a:lstStyle/>
                    <a:p>
                      <a:r>
                        <a:rPr lang="en-US" sz="1400" dirty="0"/>
                        <a:t>Mean Squared Error (MSE)</a:t>
                      </a:r>
                    </a:p>
                  </a:txBody>
                  <a:tcPr marL="90653" marR="90653" marT="45326" marB="45326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Regression</a:t>
                      </a:r>
                    </a:p>
                  </a:txBody>
                  <a:tcPr marL="90653" marR="90653" marT="45326" marB="45326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Penalizes large errors, used for continuous values</a:t>
                      </a:r>
                    </a:p>
                  </a:txBody>
                  <a:tcPr marL="90653" marR="90653" marT="45326" marB="45326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190633"/>
                  </a:ext>
                </a:extLst>
              </a:tr>
              <a:tr h="547994">
                <a:tc>
                  <a:txBody>
                    <a:bodyPr/>
                    <a:lstStyle/>
                    <a:p>
                      <a:r>
                        <a:rPr lang="en-US" sz="1400" dirty="0"/>
                        <a:t>Mean Absolute Error (MAE)</a:t>
                      </a:r>
                    </a:p>
                  </a:txBody>
                  <a:tcPr marL="90653" marR="90653" marT="45326" marB="4532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Regression</a:t>
                      </a:r>
                    </a:p>
                  </a:txBody>
                  <a:tcPr marL="90653" marR="90653" marT="45326" marB="4532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/>
                        <a:t>More robust to outliers than MSE</a:t>
                      </a:r>
                    </a:p>
                  </a:txBody>
                  <a:tcPr marL="90653" marR="90653" marT="45326" marB="4532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14452"/>
                  </a:ext>
                </a:extLst>
              </a:tr>
              <a:tr h="547994">
                <a:tc>
                  <a:txBody>
                    <a:bodyPr/>
                    <a:lstStyle/>
                    <a:p>
                      <a:r>
                        <a:rPr lang="en-US" sz="1400" dirty="0"/>
                        <a:t>Binary Cross-Entropy</a:t>
                      </a:r>
                    </a:p>
                  </a:txBody>
                  <a:tcPr marL="90653" marR="90653" marT="45326" marB="4532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Classification</a:t>
                      </a:r>
                    </a:p>
                  </a:txBody>
                  <a:tcPr marL="90653" marR="90653" marT="45326" marB="4532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/>
                        <a:t>For binary classification (e.g., Yes/No, 0/1)</a:t>
                      </a:r>
                    </a:p>
                  </a:txBody>
                  <a:tcPr marL="90653" marR="90653" marT="45326" marB="4532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505527"/>
                  </a:ext>
                </a:extLst>
              </a:tr>
              <a:tr h="547994">
                <a:tc>
                  <a:txBody>
                    <a:bodyPr/>
                    <a:lstStyle/>
                    <a:p>
                      <a:r>
                        <a:rPr lang="en-US" sz="1400"/>
                        <a:t>Categorical Cross-Entropy</a:t>
                      </a:r>
                    </a:p>
                  </a:txBody>
                  <a:tcPr marL="90653" marR="90653" marT="45326" marB="4532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Classification</a:t>
                      </a:r>
                    </a:p>
                  </a:txBody>
                  <a:tcPr marL="90653" marR="90653" marT="45326" marB="4532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/>
                        <a:t>For multi-class classification (e.g., Image Recognition)</a:t>
                      </a:r>
                    </a:p>
                  </a:txBody>
                  <a:tcPr marL="90653" marR="90653" marT="45326" marB="4532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810067"/>
                  </a:ext>
                </a:extLst>
              </a:tr>
              <a:tr h="547994">
                <a:tc>
                  <a:txBody>
                    <a:bodyPr/>
                    <a:lstStyle/>
                    <a:p>
                      <a:r>
                        <a:rPr lang="en-US" sz="1400"/>
                        <a:t>Huber Loss</a:t>
                      </a:r>
                    </a:p>
                  </a:txBody>
                  <a:tcPr marL="90653" marR="90653" marT="45326" marB="4532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Regression</a:t>
                      </a:r>
                    </a:p>
                  </a:txBody>
                  <a:tcPr marL="90653" marR="90653" marT="45326" marB="4532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Combines MSE and MAE, handles outliers well</a:t>
                      </a:r>
                    </a:p>
                  </a:txBody>
                  <a:tcPr marL="90653" marR="90653" marT="45326" marB="4532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889974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600973" y="3247007"/>
            <a:ext cx="5498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/>
              <a:t>Types of Loss Functions in Neural Networks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319754"/>
            <a:ext cx="3051890" cy="58300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loss = 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torch.nn.functional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mse_loss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   predicted, y 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6332" y="2629668"/>
            <a:ext cx="191906" cy="23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948267" y="2201334"/>
            <a:ext cx="10801773" cy="1676400"/>
          </a:xfrm>
        </p:spPr>
        <p:txBody>
          <a:bodyPr>
            <a:noAutofit/>
          </a:bodyPr>
          <a:lstStyle/>
          <a:p>
            <a:pPr algn="ctr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Training Neural Networks</a:t>
            </a:r>
            <a:endParaRPr lang="en-US" sz="28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577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2800" y="1435881"/>
            <a:ext cx="10236200" cy="537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7191" name="AutoShape 7"/>
          <p:cNvSpPr>
            <a:spLocks noChangeArrowheads="1"/>
          </p:cNvSpPr>
          <p:nvPr/>
        </p:nvSpPr>
        <p:spPr bwMode="auto">
          <a:xfrm>
            <a:off x="5054600" y="3379956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7192" name="AutoShape 8"/>
          <p:cNvSpPr>
            <a:spLocks noChangeArrowheads="1"/>
          </p:cNvSpPr>
          <p:nvPr/>
        </p:nvSpPr>
        <p:spPr bwMode="auto">
          <a:xfrm>
            <a:off x="5105400" y="3670468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7193" name="AutoShape 9"/>
          <p:cNvSpPr>
            <a:spLocks noChangeArrowheads="1"/>
          </p:cNvSpPr>
          <p:nvPr/>
        </p:nvSpPr>
        <p:spPr bwMode="auto">
          <a:xfrm>
            <a:off x="5080000" y="3965743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7194" name="AutoShape 10"/>
          <p:cNvSpPr>
            <a:spLocks noChangeArrowheads="1"/>
          </p:cNvSpPr>
          <p:nvPr/>
        </p:nvSpPr>
        <p:spPr bwMode="auto">
          <a:xfrm>
            <a:off x="4775200" y="4270543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7195" name="AutoShape 11"/>
          <p:cNvSpPr>
            <a:spLocks noChangeArrowheads="1"/>
          </p:cNvSpPr>
          <p:nvPr/>
        </p:nvSpPr>
        <p:spPr bwMode="auto">
          <a:xfrm>
            <a:off x="4876800" y="4575343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7196" name="AutoShape 12"/>
          <p:cNvSpPr>
            <a:spLocks noChangeArrowheads="1"/>
          </p:cNvSpPr>
          <p:nvPr/>
        </p:nvSpPr>
        <p:spPr bwMode="auto">
          <a:xfrm>
            <a:off x="5283200" y="4651543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7197" name="AutoShape 13"/>
          <p:cNvSpPr>
            <a:spLocks noChangeArrowheads="1"/>
          </p:cNvSpPr>
          <p:nvPr/>
        </p:nvSpPr>
        <p:spPr bwMode="auto">
          <a:xfrm>
            <a:off x="5486400" y="4880143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7198" name="AutoShape 14"/>
          <p:cNvSpPr>
            <a:spLocks noChangeArrowheads="1"/>
          </p:cNvSpPr>
          <p:nvPr/>
        </p:nvSpPr>
        <p:spPr bwMode="auto">
          <a:xfrm>
            <a:off x="5384800" y="5184943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cxnSp>
        <p:nvCxnSpPr>
          <p:cNvPr id="477199" name="AutoShape 15"/>
          <p:cNvCxnSpPr>
            <a:cxnSpLocks noChangeShapeType="1"/>
          </p:cNvCxnSpPr>
          <p:nvPr/>
        </p:nvCxnSpPr>
        <p:spPr bwMode="auto">
          <a:xfrm>
            <a:off x="4923367" y="4384843"/>
            <a:ext cx="101600" cy="304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0" name="AutoShape 16"/>
          <p:cNvCxnSpPr>
            <a:cxnSpLocks noChangeShapeType="1"/>
          </p:cNvCxnSpPr>
          <p:nvPr/>
        </p:nvCxnSpPr>
        <p:spPr bwMode="auto">
          <a:xfrm flipH="1">
            <a:off x="4923367" y="4080043"/>
            <a:ext cx="304800" cy="304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1" name="AutoShape 17"/>
          <p:cNvCxnSpPr>
            <a:cxnSpLocks noChangeShapeType="1"/>
          </p:cNvCxnSpPr>
          <p:nvPr/>
        </p:nvCxnSpPr>
        <p:spPr bwMode="auto">
          <a:xfrm>
            <a:off x="5033433" y="4689643"/>
            <a:ext cx="406400" cy="762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2" name="AutoShape 18"/>
          <p:cNvCxnSpPr>
            <a:cxnSpLocks noChangeShapeType="1"/>
          </p:cNvCxnSpPr>
          <p:nvPr/>
        </p:nvCxnSpPr>
        <p:spPr bwMode="auto">
          <a:xfrm>
            <a:off x="5425017" y="4765843"/>
            <a:ext cx="2032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3" name="AutoShape 19"/>
          <p:cNvCxnSpPr>
            <a:cxnSpLocks noChangeShapeType="1"/>
          </p:cNvCxnSpPr>
          <p:nvPr/>
        </p:nvCxnSpPr>
        <p:spPr bwMode="auto">
          <a:xfrm flipH="1">
            <a:off x="5526617" y="4994443"/>
            <a:ext cx="101600" cy="304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477204" name="Line 20"/>
          <p:cNvSpPr>
            <a:spLocks noChangeShapeType="1"/>
          </p:cNvSpPr>
          <p:nvPr/>
        </p:nvSpPr>
        <p:spPr bwMode="auto">
          <a:xfrm>
            <a:off x="5207002" y="3494256"/>
            <a:ext cx="57151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7205" name="Line 21"/>
          <p:cNvSpPr>
            <a:spLocks noChangeShapeType="1"/>
          </p:cNvSpPr>
          <p:nvPr/>
        </p:nvSpPr>
        <p:spPr bwMode="auto">
          <a:xfrm flipH="1">
            <a:off x="5232402" y="3794294"/>
            <a:ext cx="31751" cy="2809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50196" name="Text Box 22"/>
          <p:cNvSpPr txBox="1">
            <a:spLocks noChangeArrowheads="1"/>
          </p:cNvSpPr>
          <p:nvPr/>
        </p:nvSpPr>
        <p:spPr bwMode="auto">
          <a:xfrm>
            <a:off x="9029701" y="5689432"/>
            <a:ext cx="4475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sz="2400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endParaRPr lang="en-US" sz="2400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50197" name="Text Box 23"/>
          <p:cNvSpPr txBox="1">
            <a:spLocks noChangeArrowheads="1"/>
          </p:cNvSpPr>
          <p:nvPr/>
        </p:nvSpPr>
        <p:spPr bwMode="auto">
          <a:xfrm>
            <a:off x="3668184" y="6068845"/>
            <a:ext cx="4475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sz="2400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endParaRPr lang="en-US" sz="2400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795047" y="3909526"/>
            <a:ext cx="11641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</a:rPr>
              <a:t>J(</a:t>
            </a:r>
            <a:r>
              <a:rPr lang="en-US" sz="24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sz="2400" baseline="-250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r>
              <a:rPr lang="en-US" sz="24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,</a:t>
            </a:r>
            <a:r>
              <a:rPr lang="en-US" sz="2400" baseline="-250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r>
              <a:rPr lang="en-US" sz="2400" dirty="0">
                <a:solidFill>
                  <a:prstClr val="black"/>
                </a:solidFill>
              </a:rPr>
              <a:t>)</a:t>
            </a:r>
            <a:endParaRPr lang="en-US" sz="2400" baseline="-25000" dirty="0">
              <a:solidFill>
                <a:prstClr val="black"/>
              </a:solidFill>
              <a:latin typeface="Symbol" pitchFamily="18" charset="2"/>
              <a:sym typeface="Symbol" pitchFamily="18" charset="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086131" y="315165"/>
            <a:ext cx="35910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+mj-lt"/>
              </a:rPr>
              <a:t>Loss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047" y="1102853"/>
            <a:ext cx="74154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We want to find the network weights that </a:t>
            </a:r>
            <a:r>
              <a:rPr lang="en-US" sz="1600" b="1" dirty="0"/>
              <a:t>achieve the lowest loss</a:t>
            </a:r>
          </a:p>
        </p:txBody>
      </p:sp>
    </p:spTree>
    <p:extLst>
      <p:ext uri="{BB962C8B-B14F-4D97-AF65-F5344CB8AC3E}">
        <p14:creationId xmlns:p14="http://schemas.microsoft.com/office/powerpoint/2010/main" val="1607603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91" grpId="0" animBg="1"/>
      <p:bldP spid="477192" grpId="0" animBg="1"/>
      <p:bldP spid="477193" grpId="0" animBg="1"/>
      <p:bldP spid="477194" grpId="0" animBg="1"/>
      <p:bldP spid="477195" grpId="0" animBg="1"/>
      <p:bldP spid="477196" grpId="0" animBg="1"/>
      <p:bldP spid="477197" grpId="0" animBg="1"/>
      <p:bldP spid="477198" grpId="0" animBg="1"/>
      <p:bldP spid="477204" grpId="0" animBg="1"/>
      <p:bldP spid="47720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6" y="343056"/>
            <a:ext cx="9994753" cy="626283"/>
          </a:xfrm>
        </p:spPr>
        <p:txBody>
          <a:bodyPr>
            <a:noAutofit/>
          </a:bodyPr>
          <a:lstStyle/>
          <a:p>
            <a:r>
              <a:rPr lang="en-US" sz="3200" b="1" dirty="0"/>
              <a:t>Backpropagation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600974" y="1157445"/>
            <a:ext cx="6511025" cy="5421156"/>
          </a:xfrm>
        </p:spPr>
        <p:txBody>
          <a:bodyPr>
            <a:noAutofit/>
          </a:bodyPr>
          <a:lstStyle/>
          <a:p>
            <a:pPr algn="just">
              <a:spcBef>
                <a:spcPts val="700"/>
              </a:spcBef>
            </a:pPr>
            <a:r>
              <a:rPr lang="en-US" sz="1867" dirty="0"/>
              <a:t>Backpropagation is an algorithm used to minimize the cost function by updating weights based on the error obtained at the output layer</a:t>
            </a:r>
            <a:r>
              <a:rPr lang="en-US" sz="2133" dirty="0"/>
              <a:t>.</a:t>
            </a:r>
          </a:p>
          <a:p>
            <a:pPr algn="just"/>
            <a:r>
              <a:rPr lang="en-US" sz="2133" b="1" dirty="0"/>
              <a:t>Key Steps:</a:t>
            </a:r>
            <a:endParaRPr lang="en-US" sz="2133" dirty="0"/>
          </a:p>
          <a:p>
            <a:pPr lvl="1" algn="just"/>
            <a:r>
              <a:rPr lang="en-US" dirty="0"/>
              <a:t>Perform forward propagation.</a:t>
            </a:r>
          </a:p>
          <a:p>
            <a:pPr lvl="1" algn="just"/>
            <a:r>
              <a:rPr lang="en-US" dirty="0"/>
              <a:t>Compute loss at the output layer.</a:t>
            </a:r>
          </a:p>
          <a:p>
            <a:pPr lvl="1" algn="just"/>
            <a:r>
              <a:rPr lang="en-US" dirty="0"/>
              <a:t>Compute gradients of the loss with respect to weights using chain rule.</a:t>
            </a:r>
          </a:p>
          <a:p>
            <a:pPr lvl="1" algn="just"/>
            <a:r>
              <a:rPr lang="en-US" dirty="0"/>
              <a:t>Propagate these gradients backward to update weights.</a:t>
            </a:r>
          </a:p>
          <a:p>
            <a:pPr lvl="1" algn="just"/>
            <a:r>
              <a:rPr lang="en-US" dirty="0"/>
              <a:t>Repeat until convergence.</a:t>
            </a:r>
          </a:p>
          <a:p>
            <a:pPr algn="just"/>
            <a:r>
              <a:rPr lang="en-US" sz="2133" b="1" dirty="0"/>
              <a:t>Important Notes:</a:t>
            </a:r>
            <a:endParaRPr lang="en-US" sz="2133" dirty="0"/>
          </a:p>
          <a:p>
            <a:pPr lvl="1" algn="just"/>
            <a:r>
              <a:rPr lang="en-US" dirty="0"/>
              <a:t>Backpropagation adjusts weights using partial derivatives.</a:t>
            </a:r>
          </a:p>
          <a:p>
            <a:pPr lvl="1" algn="just"/>
            <a:r>
              <a:rPr lang="en-US" dirty="0"/>
              <a:t>It enables efficient training by distributing errors backward.</a:t>
            </a:r>
          </a:p>
          <a:p>
            <a:pPr algn="just">
              <a:spcBef>
                <a:spcPts val="700"/>
              </a:spcBef>
            </a:pPr>
            <a:endParaRPr lang="en-US" sz="2133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 defTabSz="914377">
              <a:defRPr/>
            </a:pPr>
            <a:fld id="{7861E9F1-9214-4563-ABFC-1D940E589AFF}" type="slidenum">
              <a:rPr lang="en-US">
                <a:solidFill>
                  <a:srgbClr val="46464A">
                    <a:lumMod val="60000"/>
                    <a:lumOff val="40000"/>
                  </a:srgbClr>
                </a:solidFill>
                <a:latin typeface="Century Schoolbook" panose="02040604050505020304"/>
              </a:rPr>
              <a:pPr defTabSz="914377">
                <a:defRPr/>
              </a:pPr>
              <a:t>21</a:t>
            </a:fld>
            <a:endParaRPr lang="en-US">
              <a:solidFill>
                <a:srgbClr val="46464A">
                  <a:lumMod val="60000"/>
                  <a:lumOff val="40000"/>
                </a:srgbClr>
              </a:solidFill>
              <a:latin typeface="Century Schoolbook" panose="020406040505050203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2" y="4010167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ln>
                <a:solidFill>
                  <a:srgbClr val="FFFFFF"/>
                </a:solidFill>
              </a:ln>
              <a:solidFill>
                <a:srgbClr val="FFFFFF"/>
              </a:solidFill>
              <a:latin typeface="Century Schoolbook" panose="020406040505050203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1" y="5637194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srgbClr val="FFFFFF"/>
              </a:solidFill>
              <a:latin typeface="Century Schoolbook" panose="020406040505050203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872" y="3530601"/>
            <a:ext cx="4313968" cy="323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738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145090"/>
            <a:ext cx="9994753" cy="626283"/>
          </a:xfrm>
        </p:spPr>
        <p:txBody>
          <a:bodyPr>
            <a:noAutofit/>
          </a:bodyPr>
          <a:lstStyle/>
          <a:p>
            <a:r>
              <a:rPr lang="en-US" sz="2400" b="1" dirty="0"/>
              <a:t>Optimization Algorithms for Training Neural Networks</a:t>
            </a:r>
            <a:endParaRPr lang="en-US" sz="2400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600973" y="818076"/>
            <a:ext cx="8486466" cy="120868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/>
              <a:t>What is Optimization in Deep Learning?</a:t>
            </a:r>
          </a:p>
          <a:p>
            <a:pPr lvl="1" algn="just"/>
            <a:r>
              <a:rPr lang="en-US" dirty="0"/>
              <a:t>Optimization algorithms adjust model parameters (weights) to minimize the loss function.</a:t>
            </a:r>
          </a:p>
          <a:p>
            <a:pPr lvl="1" algn="just"/>
            <a:r>
              <a:rPr lang="en-US" dirty="0"/>
              <a:t>Efficient optimization ensures faster convergence and better model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22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013612"/>
              </p:ext>
            </p:extLst>
          </p:nvPr>
        </p:nvGraphicFramePr>
        <p:xfrm>
          <a:off x="1080258" y="2639510"/>
          <a:ext cx="9581457" cy="394446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193819">
                  <a:extLst>
                    <a:ext uri="{9D8B030D-6E8A-4147-A177-3AD203B41FA5}">
                      <a16:colId xmlns:a16="http://schemas.microsoft.com/office/drawing/2014/main" val="612266429"/>
                    </a:ext>
                  </a:extLst>
                </a:gridCol>
                <a:gridCol w="3193819">
                  <a:extLst>
                    <a:ext uri="{9D8B030D-6E8A-4147-A177-3AD203B41FA5}">
                      <a16:colId xmlns:a16="http://schemas.microsoft.com/office/drawing/2014/main" val="1485912744"/>
                    </a:ext>
                  </a:extLst>
                </a:gridCol>
                <a:gridCol w="3193819">
                  <a:extLst>
                    <a:ext uri="{9D8B030D-6E8A-4147-A177-3AD203B41FA5}">
                      <a16:colId xmlns:a16="http://schemas.microsoft.com/office/drawing/2014/main" val="4179112533"/>
                    </a:ext>
                  </a:extLst>
                </a:gridCol>
              </a:tblGrid>
              <a:tr h="332906">
                <a:tc>
                  <a:txBody>
                    <a:bodyPr/>
                    <a:lstStyle/>
                    <a:p>
                      <a:r>
                        <a:rPr lang="en-US" sz="2400" b="1" dirty="0"/>
                        <a:t>Algorithm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Type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Characteristics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571761"/>
                  </a:ext>
                </a:extLst>
              </a:tr>
              <a:tr h="647902">
                <a:tc>
                  <a:txBody>
                    <a:bodyPr/>
                    <a:lstStyle/>
                    <a:p>
                      <a:r>
                        <a:rPr lang="en-US" sz="1400" dirty="0"/>
                        <a:t>Stochastic Gradient Descent (SGD)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First-order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Updates weights using a single data point, faster but noisy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646802"/>
                  </a:ext>
                </a:extLst>
              </a:tr>
              <a:tr h="680147">
                <a:tc>
                  <a:txBody>
                    <a:bodyPr/>
                    <a:lstStyle/>
                    <a:p>
                      <a:r>
                        <a:rPr lang="en-US" sz="1400"/>
                        <a:t>Momentum-based SGD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First-order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Adds momentum to reduce oscillations and speed up convergence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038604"/>
                  </a:ext>
                </a:extLst>
              </a:tr>
              <a:tr h="647902">
                <a:tc>
                  <a:txBody>
                    <a:bodyPr/>
                    <a:lstStyle/>
                    <a:p>
                      <a:r>
                        <a:rPr lang="en-US" sz="1400"/>
                        <a:t>Adam (Adaptive Moment Estimation)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Adaptive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Combines momentum and adaptive learning rates, widely used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168199"/>
                  </a:ext>
                </a:extLst>
              </a:tr>
              <a:tr h="842237">
                <a:tc>
                  <a:txBody>
                    <a:bodyPr/>
                    <a:lstStyle/>
                    <a:p>
                      <a:r>
                        <a:rPr lang="en-US" sz="1400"/>
                        <a:t>RMSprop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Adaptive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Adjusts learning rates for each parameter, effective for deep networks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621748"/>
                  </a:ext>
                </a:extLst>
              </a:tr>
              <a:tr h="647902">
                <a:tc>
                  <a:txBody>
                    <a:bodyPr/>
                    <a:lstStyle/>
                    <a:p>
                      <a:r>
                        <a:rPr lang="en-US" sz="1400" dirty="0" err="1"/>
                        <a:t>Adagrad</a:t>
                      </a:r>
                      <a:endParaRPr lang="en-US" sz="1400" dirty="0"/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Adaptive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Adapts learning rate based on past gradients, suitable for sparse data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83959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4579" y="2148470"/>
            <a:ext cx="42098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Popular Optimization Algorithms</a:t>
            </a:r>
          </a:p>
        </p:txBody>
      </p:sp>
    </p:spTree>
    <p:extLst>
      <p:ext uri="{BB962C8B-B14F-4D97-AF65-F5344CB8AC3E}">
        <p14:creationId xmlns:p14="http://schemas.microsoft.com/office/powerpoint/2010/main" val="3302010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948267" y="2201334"/>
            <a:ext cx="10801773" cy="1676400"/>
          </a:xfrm>
        </p:spPr>
        <p:txBody>
          <a:bodyPr>
            <a:noAutofit/>
          </a:bodyPr>
          <a:lstStyle/>
          <a:p>
            <a:pPr algn="ctr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 in Practice:</a:t>
            </a:r>
            <a:b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Overfitting</a:t>
            </a:r>
            <a:endParaRPr lang="en-US" sz="28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414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object 4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73322" y="4771638"/>
            <a:ext cx="1201979" cy="141732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87271" y="4787251"/>
            <a:ext cx="1189920" cy="113386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5568179" y="4593622"/>
            <a:ext cx="14086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Ideal fit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23864" y="4476840"/>
            <a:ext cx="17636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Under fitting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32294" y="4476840"/>
            <a:ext cx="15263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Overfitting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96615" y="394571"/>
            <a:ext cx="59650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The Problem of Overfitting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/>
          <a:srcRect l="1986" t="27047" r="67082" b="25788"/>
          <a:stretch/>
        </p:blipFill>
        <p:spPr>
          <a:xfrm>
            <a:off x="1337847" y="1939344"/>
            <a:ext cx="2738214" cy="201936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/>
          <a:srcRect l="33887" t="27047" r="35852" b="26097"/>
          <a:stretch/>
        </p:blipFill>
        <p:spPr>
          <a:xfrm>
            <a:off x="4566037" y="1951618"/>
            <a:ext cx="2712842" cy="203163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/>
          <a:srcRect l="66683" t="27047" r="2311" b="26251"/>
          <a:stretch/>
        </p:blipFill>
        <p:spPr>
          <a:xfrm>
            <a:off x="7768856" y="1951618"/>
            <a:ext cx="2771985" cy="201936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4866" y="4842504"/>
            <a:ext cx="32618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Model does not have capacity to fully learn 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826563" y="4842504"/>
            <a:ext cx="35758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Too complex, extra parameters, does not generalize well</a:t>
            </a:r>
          </a:p>
        </p:txBody>
      </p:sp>
    </p:spTree>
    <p:extLst>
      <p:ext uri="{BB962C8B-B14F-4D97-AF65-F5344CB8AC3E}">
        <p14:creationId xmlns:p14="http://schemas.microsoft.com/office/powerpoint/2010/main" val="662644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18507"/>
            <a:ext cx="9994753" cy="626283"/>
          </a:xfrm>
        </p:spPr>
        <p:txBody>
          <a:bodyPr>
            <a:noAutofit/>
          </a:bodyPr>
          <a:lstStyle/>
          <a:p>
            <a:r>
              <a:rPr lang="en-US" sz="3200" b="1" dirty="0"/>
              <a:t>Overfitting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600974" y="925502"/>
            <a:ext cx="7761976" cy="2179645"/>
          </a:xfrm>
        </p:spPr>
        <p:txBody>
          <a:bodyPr>
            <a:noAutofit/>
          </a:bodyPr>
          <a:lstStyle/>
          <a:p>
            <a:pPr algn="just"/>
            <a:r>
              <a:rPr lang="en-US" sz="1600" dirty="0"/>
              <a:t>Overfitting occurs when a model learns noise and patterns specific to the training data but fails to generalize to new data.</a:t>
            </a:r>
          </a:p>
          <a:p>
            <a:pPr algn="just"/>
            <a:r>
              <a:rPr lang="en-US" sz="1600" dirty="0"/>
              <a:t>It leads to high accuracy on training data but poor performance on test data.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n-US" sz="2000" b="1" dirty="0"/>
              <a:t>Causes of Overfitting</a:t>
            </a:r>
          </a:p>
          <a:p>
            <a:pPr lvl="1" algn="just"/>
            <a:r>
              <a:rPr lang="en-US" sz="1400" dirty="0"/>
              <a:t>Too complex a model with excessive parameters.</a:t>
            </a:r>
          </a:p>
          <a:p>
            <a:pPr lvl="1" algn="just"/>
            <a:r>
              <a:rPr lang="en-US" sz="1400" dirty="0"/>
              <a:t>Insufficient training data.</a:t>
            </a:r>
          </a:p>
          <a:p>
            <a:pPr lvl="1" algn="just"/>
            <a:r>
              <a:rPr lang="en-US" sz="1400" dirty="0"/>
              <a:t>Lack of regularization techniques.</a:t>
            </a:r>
          </a:p>
          <a:p>
            <a:pPr algn="just"/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25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3985618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12645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036572"/>
              </p:ext>
            </p:extLst>
          </p:nvPr>
        </p:nvGraphicFramePr>
        <p:xfrm>
          <a:off x="1480008" y="3481023"/>
          <a:ext cx="9530498" cy="323849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34792">
                  <a:extLst>
                    <a:ext uri="{9D8B030D-6E8A-4147-A177-3AD203B41FA5}">
                      <a16:colId xmlns:a16="http://schemas.microsoft.com/office/drawing/2014/main" val="2627349824"/>
                    </a:ext>
                  </a:extLst>
                </a:gridCol>
                <a:gridCol w="6895706">
                  <a:extLst>
                    <a:ext uri="{9D8B030D-6E8A-4147-A177-3AD203B41FA5}">
                      <a16:colId xmlns:a16="http://schemas.microsoft.com/office/drawing/2014/main" val="3368894377"/>
                    </a:ext>
                  </a:extLst>
                </a:gridCol>
              </a:tblGrid>
              <a:tr h="313261">
                <a:tc>
                  <a:txBody>
                    <a:bodyPr/>
                    <a:lstStyle/>
                    <a:p>
                      <a:r>
                        <a:rPr lang="en-US" sz="1800" b="1"/>
                        <a:t>Method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Description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774769"/>
                  </a:ext>
                </a:extLst>
              </a:tr>
              <a:tr h="631756">
                <a:tc>
                  <a:txBody>
                    <a:bodyPr/>
                    <a:lstStyle/>
                    <a:p>
                      <a:pPr algn="just"/>
                      <a:r>
                        <a:rPr lang="en-US" sz="1600"/>
                        <a:t>L1 Regularization (Lasso)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/>
                        <a:t>Adds absolute values of weights to the loss function, promotes sparsity by reducing less important weights to zero.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423776"/>
                  </a:ext>
                </a:extLst>
              </a:tr>
              <a:tr h="485968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L2 Regularization (Ridge)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Adds squared values of weights to the loss function, prevents large weights and improves generalization.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213634"/>
                  </a:ext>
                </a:extLst>
              </a:tr>
              <a:tr h="485968">
                <a:tc>
                  <a:txBody>
                    <a:bodyPr/>
                    <a:lstStyle/>
                    <a:p>
                      <a:pPr algn="just"/>
                      <a:r>
                        <a:rPr lang="en-US" sz="1600"/>
                        <a:t>Dropout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Randomly disables a fraction of neurons during training to reduce reliance on specific features.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009169"/>
                  </a:ext>
                </a:extLst>
              </a:tr>
              <a:tr h="485968">
                <a:tc>
                  <a:txBody>
                    <a:bodyPr/>
                    <a:lstStyle/>
                    <a:p>
                      <a:pPr algn="just"/>
                      <a:r>
                        <a:rPr lang="en-US" sz="1600"/>
                        <a:t>Early Stopping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Stops training when validation performance starts to degrade, preventing overfitting.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222855"/>
                  </a:ext>
                </a:extLst>
              </a:tr>
              <a:tr h="485968">
                <a:tc>
                  <a:txBody>
                    <a:bodyPr/>
                    <a:lstStyle/>
                    <a:p>
                      <a:pPr algn="just"/>
                      <a:r>
                        <a:rPr lang="en-US" sz="1600"/>
                        <a:t>Data Augmentation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Expands training data by applying transformations (rotation, flipping, scaling) to improve generalization.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57149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00974" y="3070876"/>
            <a:ext cx="47692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Techniques to Prevent Overfitting</a:t>
            </a:r>
          </a:p>
        </p:txBody>
      </p:sp>
    </p:spTree>
    <p:extLst>
      <p:ext uri="{BB962C8B-B14F-4D97-AF65-F5344CB8AC3E}">
        <p14:creationId xmlns:p14="http://schemas.microsoft.com/office/powerpoint/2010/main" val="23838519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Regularization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600973" y="1157444"/>
            <a:ext cx="9994753" cy="5365904"/>
          </a:xfrm>
        </p:spPr>
        <p:txBody>
          <a:bodyPr>
            <a:noAutofit/>
          </a:bodyPr>
          <a:lstStyle/>
          <a:p>
            <a:pPr marL="0" indent="0" algn="ctr">
              <a:spcBef>
                <a:spcPts val="700"/>
              </a:spcBef>
              <a:buNone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  <a:p>
            <a:pPr marL="0" indent="0" algn="ctr">
              <a:spcBef>
                <a:spcPts val="700"/>
              </a:spcBef>
              <a:buNone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  <a:p>
            <a:pPr marL="0" indent="0" algn="ctr">
              <a:spcBef>
                <a:spcPts val="700"/>
              </a:spcBef>
              <a:buNone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What is it?</a:t>
            </a:r>
          </a:p>
          <a:p>
            <a:pPr marL="0" indent="0" algn="ctr">
              <a:spcBef>
                <a:spcPts val="700"/>
              </a:spcBef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Technique that constraint our optimization problem to discourage complex models</a:t>
            </a:r>
          </a:p>
          <a:p>
            <a:pPr marL="0" indent="0" algn="ctr">
              <a:spcBef>
                <a:spcPts val="700"/>
              </a:spcBef>
              <a:buNone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  <a:p>
            <a:pPr marL="0" indent="0" algn="ctr">
              <a:spcBef>
                <a:spcPts val="700"/>
              </a:spcBef>
              <a:buNone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  <a:p>
            <a:pPr marL="0" indent="0" algn="ctr">
              <a:spcBef>
                <a:spcPts val="700"/>
              </a:spcBef>
              <a:buNone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  <a:p>
            <a:pPr marL="0" indent="0" algn="ctr">
              <a:spcBef>
                <a:spcPts val="700"/>
              </a:spcBef>
              <a:buNone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Why do need it?</a:t>
            </a:r>
          </a:p>
          <a:p>
            <a:pPr marL="0" indent="0" algn="ctr">
              <a:spcBef>
                <a:spcPts val="700"/>
              </a:spcBef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Improve generalization of our model on unseen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26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3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Regularization I: Dropout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600973" y="1157444"/>
            <a:ext cx="10287159" cy="5014756"/>
          </a:xfrm>
        </p:spPr>
        <p:txBody>
          <a:bodyPr>
            <a:noAutofit/>
          </a:bodyPr>
          <a:lstStyle/>
          <a:p>
            <a:pPr marL="0" indent="0" algn="ctr">
              <a:spcBef>
                <a:spcPts val="700"/>
              </a:spcBef>
              <a:buNone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During training, randomly set some activations to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27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ject 2"/>
          <p:cNvPicPr/>
          <p:nvPr/>
        </p:nvPicPr>
        <p:blipFill rotWithShape="1">
          <a:blip r:embed="rId3" cstate="print"/>
          <a:srcRect l="18373" t="42787" r="16430" b="6408"/>
          <a:stretch/>
        </p:blipFill>
        <p:spPr>
          <a:xfrm>
            <a:off x="1896533" y="3013224"/>
            <a:ext cx="7535334" cy="31589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41052" y="2048985"/>
            <a:ext cx="3112630" cy="43279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     </a:t>
            </a:r>
            <a:r>
              <a:rPr lang="en-US" sz="1400" dirty="0" err="1">
                <a:solidFill>
                  <a:schemeClr val="bg1"/>
                </a:solidFill>
              </a:rPr>
              <a:t>torch.nn.Dropout</a:t>
            </a:r>
            <a:r>
              <a:rPr lang="en-US" sz="1400" dirty="0">
                <a:solidFill>
                  <a:schemeClr val="bg1"/>
                </a:solidFill>
              </a:rPr>
              <a:t>(p=0.5)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2567" y="2115188"/>
            <a:ext cx="267005" cy="3232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/>
          <a:srcRect l="6411" r="8878"/>
          <a:stretch/>
        </p:blipFill>
        <p:spPr>
          <a:xfrm>
            <a:off x="2000634" y="2969914"/>
            <a:ext cx="7296789" cy="308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611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Regularization 2: Early Stopping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600974" y="1157444"/>
            <a:ext cx="10287159" cy="5014756"/>
          </a:xfrm>
        </p:spPr>
        <p:txBody>
          <a:bodyPr>
            <a:noAutofit/>
          </a:bodyPr>
          <a:lstStyle/>
          <a:p>
            <a:pPr algn="ctr">
              <a:spcBef>
                <a:spcPts val="700"/>
              </a:spcBef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  <a:p>
            <a:pPr algn="ctr">
              <a:spcBef>
                <a:spcPts val="700"/>
              </a:spcBef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Stop training before we have a chance to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overfit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28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object 4"/>
          <p:cNvPicPr/>
          <p:nvPr/>
        </p:nvPicPr>
        <p:blipFill rotWithShape="1">
          <a:blip r:embed="rId3" cstate="print"/>
          <a:srcRect b="7003"/>
          <a:stretch/>
        </p:blipFill>
        <p:spPr>
          <a:xfrm>
            <a:off x="1804490" y="2319925"/>
            <a:ext cx="6848443" cy="346813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57346" y="3926301"/>
            <a:ext cx="7841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Loss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2067" y="5672669"/>
            <a:ext cx="27254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Training Examples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821" y="2965225"/>
            <a:ext cx="1883564" cy="20683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2146" y="2942001"/>
            <a:ext cx="930509" cy="144953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2146" y="3027917"/>
            <a:ext cx="1193796" cy="187398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2146" y="2897501"/>
            <a:ext cx="2047001" cy="21825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1807" y="2864284"/>
            <a:ext cx="3515593" cy="238505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1781" y="2787532"/>
            <a:ext cx="4814491" cy="246180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8669" y="2787532"/>
            <a:ext cx="4858886" cy="2484502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>
            <a:off x="4128942" y="3469066"/>
            <a:ext cx="18853" cy="203105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265145" y="3597290"/>
            <a:ext cx="19271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Stop training here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6972" y="3050260"/>
            <a:ext cx="14478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Over-fitting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81110" y="3050260"/>
            <a:ext cx="1606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Under-fitting</a:t>
            </a:r>
          </a:p>
        </p:txBody>
      </p:sp>
    </p:spTree>
    <p:extLst>
      <p:ext uri="{BB962C8B-B14F-4D97-AF65-F5344CB8AC3E}">
        <p14:creationId xmlns:p14="http://schemas.microsoft.com/office/powerpoint/2010/main" val="4219632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948267" y="2201334"/>
            <a:ext cx="10801773" cy="1676400"/>
          </a:xfrm>
        </p:spPr>
        <p:txBody>
          <a:bodyPr>
            <a:noAutofit/>
          </a:bodyPr>
          <a:lstStyle/>
          <a:p>
            <a:pPr algn="ctr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Modern Deep Learning Architectures</a:t>
            </a:r>
            <a:endParaRPr lang="en-US" sz="28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0214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538" y="304390"/>
            <a:ext cx="8888582" cy="622283"/>
          </a:xfrm>
        </p:spPr>
        <p:txBody>
          <a:bodyPr>
            <a:normAutofit/>
          </a:bodyPr>
          <a:lstStyle/>
          <a:p>
            <a:r>
              <a:rPr lang="en-US" sz="3200" b="1" dirty="0"/>
              <a:t>Modern Deep Learning Architectures</a:t>
            </a:r>
            <a:endParaRPr lang="en-US" sz="32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4946860"/>
              </p:ext>
            </p:extLst>
          </p:nvPr>
        </p:nvGraphicFramePr>
        <p:xfrm>
          <a:off x="1004665" y="1614776"/>
          <a:ext cx="8520738" cy="455742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02739">
                  <a:extLst>
                    <a:ext uri="{9D8B030D-6E8A-4147-A177-3AD203B41FA5}">
                      <a16:colId xmlns:a16="http://schemas.microsoft.com/office/drawing/2014/main" val="1383702181"/>
                    </a:ext>
                  </a:extLst>
                </a:gridCol>
                <a:gridCol w="2835254">
                  <a:extLst>
                    <a:ext uri="{9D8B030D-6E8A-4147-A177-3AD203B41FA5}">
                      <a16:colId xmlns:a16="http://schemas.microsoft.com/office/drawing/2014/main" val="4077364718"/>
                    </a:ext>
                  </a:extLst>
                </a:gridCol>
                <a:gridCol w="2682745">
                  <a:extLst>
                    <a:ext uri="{9D8B030D-6E8A-4147-A177-3AD203B41FA5}">
                      <a16:colId xmlns:a16="http://schemas.microsoft.com/office/drawing/2014/main" val="2014218377"/>
                    </a:ext>
                  </a:extLst>
                </a:gridCol>
              </a:tblGrid>
              <a:tr h="538004">
                <a:tc>
                  <a:txBody>
                    <a:bodyPr/>
                    <a:lstStyle/>
                    <a:p>
                      <a:r>
                        <a:rPr lang="en-US" sz="1800" b="1" dirty="0"/>
                        <a:t>Architecture</a:t>
                      </a:r>
                    </a:p>
                  </a:txBody>
                  <a:tcPr marL="90653" marR="90653" marT="45326" marB="45326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Purpose</a:t>
                      </a:r>
                    </a:p>
                  </a:txBody>
                  <a:tcPr marL="90653" marR="90653" marT="45326" marB="45326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Example Use</a:t>
                      </a:r>
                    </a:p>
                  </a:txBody>
                  <a:tcPr marL="90653" marR="90653" marT="45326" marB="45326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0755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r>
                        <a:rPr lang="en-US" sz="1800" b="1" dirty="0"/>
                        <a:t>CNNs (Convolutional Neural Networks)</a:t>
                      </a:r>
                    </a:p>
                  </a:txBody>
                  <a:tcPr marL="90653" marR="90653" marT="45326" marB="4532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Extract patterns from images using filters</a:t>
                      </a:r>
                    </a:p>
                  </a:txBody>
                  <a:tcPr marL="90653" marR="90653" marT="45326" marB="4532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Image classification, object detection</a:t>
                      </a:r>
                    </a:p>
                  </a:txBody>
                  <a:tcPr marL="90653" marR="90653" marT="45326" marB="4532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15765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r>
                        <a:rPr lang="en-US" sz="1800" b="1" dirty="0"/>
                        <a:t>RNNs (Recurrent Neural Networks)</a:t>
                      </a:r>
                    </a:p>
                  </a:txBody>
                  <a:tcPr marL="90653" marR="90653" marT="45326" marB="4532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Handle sequential data with memory</a:t>
                      </a:r>
                    </a:p>
                  </a:txBody>
                  <a:tcPr marL="90653" marR="90653" marT="45326" marB="4532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Language modeling, time series</a:t>
                      </a:r>
                    </a:p>
                  </a:txBody>
                  <a:tcPr marL="90653" marR="90653" marT="45326" marB="4532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480833"/>
                  </a:ext>
                </a:extLst>
              </a:tr>
              <a:tr h="906528">
                <a:tc>
                  <a:txBody>
                    <a:bodyPr/>
                    <a:lstStyle/>
                    <a:p>
                      <a:r>
                        <a:rPr lang="en-US" sz="1800" b="1" dirty="0"/>
                        <a:t>Transformers</a:t>
                      </a:r>
                    </a:p>
                  </a:txBody>
                  <a:tcPr marL="90653" marR="90653" marT="45326" marB="4532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Attention-based, parallelized learning for sequences</a:t>
                      </a:r>
                    </a:p>
                  </a:txBody>
                  <a:tcPr marL="90653" marR="90653" marT="45326" marB="4532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ChatGPT, translation, summarization</a:t>
                      </a:r>
                    </a:p>
                  </a:txBody>
                  <a:tcPr marL="90653" marR="90653" marT="45326" marB="4532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784201"/>
                  </a:ext>
                </a:extLst>
              </a:tr>
              <a:tr h="906528">
                <a:tc>
                  <a:txBody>
                    <a:bodyPr/>
                    <a:lstStyle/>
                    <a:p>
                      <a:r>
                        <a:rPr lang="en-US" sz="1800" b="1" dirty="0"/>
                        <a:t>GANs (Generative Adversarial Networks)</a:t>
                      </a:r>
                    </a:p>
                  </a:txBody>
                  <a:tcPr marL="90653" marR="90653" marT="45326" marB="4532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Learn to generate realistic data by competition</a:t>
                      </a:r>
                    </a:p>
                  </a:txBody>
                  <a:tcPr marL="90653" marR="90653" marT="45326" marB="4532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Deepfakes, image synthesis</a:t>
                      </a:r>
                    </a:p>
                  </a:txBody>
                  <a:tcPr marL="90653" marR="90653" marT="45326" marB="4532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154545"/>
                  </a:ext>
                </a:extLst>
              </a:tr>
              <a:tr h="906528">
                <a:tc>
                  <a:txBody>
                    <a:bodyPr/>
                    <a:lstStyle/>
                    <a:p>
                      <a:r>
                        <a:rPr lang="en-US" sz="1800" b="1" dirty="0"/>
                        <a:t>Multimodal Models</a:t>
                      </a:r>
                    </a:p>
                  </a:txBody>
                  <a:tcPr marL="90653" marR="90653" marT="45326" marB="4532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Process multiple input types (text, image, audio) together</a:t>
                      </a:r>
                    </a:p>
                  </a:txBody>
                  <a:tcPr marL="90653" marR="90653" marT="45326" marB="4532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Text-to-image, video Q&amp;A, agents</a:t>
                      </a:r>
                    </a:p>
                  </a:txBody>
                  <a:tcPr marL="90653" marR="90653" marT="45326" marB="4532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67035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30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74537" y="926673"/>
            <a:ext cx="7783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Deep learning has evolved into powerful, specialized architectures:</a:t>
            </a:r>
          </a:p>
        </p:txBody>
      </p:sp>
    </p:spTree>
    <p:extLst>
      <p:ext uri="{BB962C8B-B14F-4D97-AF65-F5344CB8AC3E}">
        <p14:creationId xmlns:p14="http://schemas.microsoft.com/office/powerpoint/2010/main" val="1169958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Core Foundation Review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700933" y="1129163"/>
            <a:ext cx="9994753" cy="5365904"/>
          </a:xfrm>
        </p:spPr>
        <p:txBody>
          <a:bodyPr>
            <a:noAutofit/>
          </a:bodyPr>
          <a:lstStyle/>
          <a:p>
            <a:pPr marL="0" indent="0" algn="ctr">
              <a:spcBef>
                <a:spcPts val="700"/>
              </a:spcBef>
              <a:buNone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  <a:p>
            <a:pPr marL="0" indent="0" algn="ctr">
              <a:spcBef>
                <a:spcPts val="700"/>
              </a:spcBef>
              <a:buNone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31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29590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1971" y="2326844"/>
            <a:ext cx="26694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Structural building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Nonlinear activation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23722" y="2326844"/>
            <a:ext cx="277635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Stacking </a:t>
            </a:r>
            <a:r>
              <a:rPr lang="en-US" dirty="0" err="1"/>
              <a:t>Perceptrons</a:t>
            </a:r>
            <a:r>
              <a:rPr lang="en-US" dirty="0"/>
              <a:t> to form neural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Optimization through backpropagation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39184" y="2395852"/>
            <a:ext cx="266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Adaptive learning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Batching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Regularization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902" y="4570004"/>
            <a:ext cx="2883048" cy="118751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892" y="4295633"/>
            <a:ext cx="2425825" cy="1606633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>
            <a:off x="1074653" y="4741687"/>
            <a:ext cx="876696" cy="224244"/>
          </a:xfrm>
          <a:prstGeom prst="straightConnector1">
            <a:avLst/>
          </a:prstGeom>
          <a:ln>
            <a:solidFill>
              <a:srgbClr val="0070C0">
                <a:alpha val="95000"/>
              </a:srgbClr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28" idx="6"/>
          </p:cNvCxnSpPr>
          <p:nvPr/>
        </p:nvCxnSpPr>
        <p:spPr>
          <a:xfrm flipV="1">
            <a:off x="1032060" y="5217499"/>
            <a:ext cx="919289" cy="38531"/>
          </a:xfrm>
          <a:prstGeom prst="straightConnector1">
            <a:avLst/>
          </a:prstGeom>
          <a:ln>
            <a:solidFill>
              <a:srgbClr val="0070C0">
                <a:alpha val="95000"/>
              </a:srgbClr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1074653" y="5410990"/>
            <a:ext cx="876696" cy="348789"/>
          </a:xfrm>
          <a:prstGeom prst="straightConnector1">
            <a:avLst/>
          </a:prstGeom>
          <a:ln>
            <a:solidFill>
              <a:srgbClr val="0070C0">
                <a:alpha val="95000"/>
              </a:srgbClr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14142" y="4471209"/>
                <a:ext cx="41351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42" y="4471209"/>
                <a:ext cx="413510" cy="369332"/>
              </a:xfrm>
              <a:prstGeom prst="rect">
                <a:avLst/>
              </a:prstGeom>
              <a:blipFill>
                <a:blip r:embed="rId5"/>
                <a:stretch>
                  <a:fillRect l="-8824" r="-4412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2037367" y="4886884"/>
            <a:ext cx="293350" cy="492443"/>
          </a:xfrm>
          <a:prstGeom prst="rect">
            <a:avLst/>
          </a:prstGeom>
          <a:solidFill>
            <a:srgbClr val="FFC0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3200" b="1" dirty="0"/>
              <a:t>∑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2460392" y="5147039"/>
            <a:ext cx="452486" cy="1"/>
          </a:xfrm>
          <a:prstGeom prst="straightConnector1">
            <a:avLst/>
          </a:prstGeom>
          <a:ln>
            <a:solidFill>
              <a:srgbClr val="FF0000">
                <a:alpha val="95000"/>
              </a:srgb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104" y="4928318"/>
            <a:ext cx="263999" cy="42399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905299" y="4903917"/>
            <a:ext cx="20478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/>
              <a:t>ŷ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3253811" y="5139180"/>
            <a:ext cx="452486" cy="1"/>
          </a:xfrm>
          <a:prstGeom prst="straightConnector1">
            <a:avLst/>
          </a:prstGeom>
          <a:ln>
            <a:solidFill>
              <a:srgbClr val="FF0000">
                <a:alpha val="95000"/>
              </a:srgb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739811" y="4891390"/>
            <a:ext cx="511675" cy="440913"/>
          </a:xfrm>
          <a:prstGeom prst="ellipse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79573" y="4490063"/>
            <a:ext cx="460345" cy="397577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15712" y="5019533"/>
                <a:ext cx="41351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12" y="5019533"/>
                <a:ext cx="413510" cy="369332"/>
              </a:xfrm>
              <a:prstGeom prst="rect">
                <a:avLst/>
              </a:prstGeom>
              <a:blipFill>
                <a:blip r:embed="rId7"/>
                <a:stretch>
                  <a:fillRect l="-8824" r="-4412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/>
          <p:cNvSpPr/>
          <p:nvPr/>
        </p:nvSpPr>
        <p:spPr>
          <a:xfrm>
            <a:off x="571715" y="5057241"/>
            <a:ext cx="460345" cy="397577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68576" y="5632280"/>
                <a:ext cx="48564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76" y="5632280"/>
                <a:ext cx="485646" cy="369332"/>
              </a:xfrm>
              <a:prstGeom prst="rect">
                <a:avLst/>
              </a:prstGeom>
              <a:blipFill>
                <a:blip r:embed="rId8"/>
                <a:stretch>
                  <a:fillRect l="-7500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29"/>
          <p:cNvSpPr/>
          <p:nvPr/>
        </p:nvSpPr>
        <p:spPr>
          <a:xfrm>
            <a:off x="562287" y="5669988"/>
            <a:ext cx="460345" cy="397577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1452906" y="1435506"/>
            <a:ext cx="1874756" cy="43383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495885" y="1461747"/>
            <a:ext cx="1830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Perceptron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4753" y="1435506"/>
            <a:ext cx="1874756" cy="43383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515889" y="1461747"/>
            <a:ext cx="20297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Neural Networks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696353" y="1436813"/>
            <a:ext cx="2060389" cy="44701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682770" y="1485068"/>
            <a:ext cx="20928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Training in Practice</a:t>
            </a:r>
          </a:p>
        </p:txBody>
      </p:sp>
    </p:spTree>
    <p:extLst>
      <p:ext uri="{BB962C8B-B14F-4D97-AF65-F5344CB8AC3E}">
        <p14:creationId xmlns:p14="http://schemas.microsoft.com/office/powerpoint/2010/main" val="28600295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54155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7949</TotalTime>
  <Words>2094</Words>
  <Application>Microsoft Office PowerPoint</Application>
  <PresentationFormat>Widescreen</PresentationFormat>
  <Paragraphs>399</Paragraphs>
  <Slides>32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Cambria Math</vt:lpstr>
      <vt:lpstr>Century Schoolbook</vt:lpstr>
      <vt:lpstr>Consolas</vt:lpstr>
      <vt:lpstr>Symbol</vt:lpstr>
      <vt:lpstr>Wingdings 2</vt:lpstr>
      <vt:lpstr>View</vt:lpstr>
      <vt:lpstr>Why Deep Learning?</vt:lpstr>
      <vt:lpstr>Why Now?</vt:lpstr>
      <vt:lpstr>The Perceptron The structural building block of deep learning</vt:lpstr>
      <vt:lpstr>The Perceptron Forward Propagation</vt:lpstr>
      <vt:lpstr>The Perceptron Forward Propagation</vt:lpstr>
      <vt:lpstr>The Perceptron Forward Propagation</vt:lpstr>
      <vt:lpstr>Forward Propagation</vt:lpstr>
      <vt:lpstr>Implementation of Forward Propagation in neural network using python</vt:lpstr>
      <vt:lpstr>Neural Networks Training Process</vt:lpstr>
      <vt:lpstr>Neural Networks Training Process</vt:lpstr>
      <vt:lpstr>Activation Functions</vt:lpstr>
      <vt:lpstr>Importance Activation Functions</vt:lpstr>
      <vt:lpstr>Importance Activation Functions</vt:lpstr>
      <vt:lpstr>Multi Output Perceptron</vt:lpstr>
      <vt:lpstr>Dense layer from scratch</vt:lpstr>
      <vt:lpstr>Dense layer from scratch</vt:lpstr>
      <vt:lpstr>Deep Neural Network</vt:lpstr>
      <vt:lpstr>Loss Function / Cost Function in Deep Learning</vt:lpstr>
      <vt:lpstr>Training Neural Networks</vt:lpstr>
      <vt:lpstr>PowerPoint Presentation</vt:lpstr>
      <vt:lpstr>Backpropagation</vt:lpstr>
      <vt:lpstr>Optimization Algorithms for Training Neural Networks</vt:lpstr>
      <vt:lpstr>Neural Networks in Practice: Overfitting</vt:lpstr>
      <vt:lpstr>PowerPoint Presentation</vt:lpstr>
      <vt:lpstr>Overfitting</vt:lpstr>
      <vt:lpstr>Regularization</vt:lpstr>
      <vt:lpstr>Regularization I: Dropout</vt:lpstr>
      <vt:lpstr>Regularization 2: Early Stopping</vt:lpstr>
      <vt:lpstr>Modern Deep Learning Architectures</vt:lpstr>
      <vt:lpstr>Modern Deep Learning Architectures</vt:lpstr>
      <vt:lpstr>Core Foundation Review</vt:lpstr>
      <vt:lpstr>Thank You</vt:lpstr>
    </vt:vector>
  </TitlesOfParts>
  <Company>Islamia College Peshawar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Deep Learning</dc:title>
  <dc:creator>Imran Nawar</dc:creator>
  <cp:keywords>DIP Lab ICP</cp:keywords>
  <cp:lastModifiedBy>Fawad Bahadur</cp:lastModifiedBy>
  <cp:revision>480</cp:revision>
  <dcterms:created xsi:type="dcterms:W3CDTF">2015-12-26T11:48:24Z</dcterms:created>
  <dcterms:modified xsi:type="dcterms:W3CDTF">2025-08-03T07:37:48Z</dcterms:modified>
</cp:coreProperties>
</file>