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61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8" r:id="rId14"/>
    <p:sldId id="446" r:id="rId15"/>
    <p:sldId id="447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39" r:id="rId31"/>
    <p:sldId id="443" r:id="rId32"/>
    <p:sldId id="444" r:id="rId33"/>
    <p:sldId id="445" r:id="rId34"/>
    <p:sldId id="26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8.png"/><Relationship Id="rId7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1087120"/>
            <a:ext cx="11440160" cy="26483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2E6578"/>
                </a:solidFill>
                <a:cs typeface="+mn-cs"/>
              </a:rPr>
              <a:t>Huawei HCCDA-AI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38811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Basic Data Formats – CSV &amp; JSON and Their Manipulation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8717280" y="6291105"/>
            <a:ext cx="34645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chemeClr val="bg1"/>
                </a:solidFill>
                <a:effectLst/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-10160" y="630126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effectLst/>
              </a:rPr>
              <a:t>Dated: 20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661AA-EA56-4818-8C0E-7F17343E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33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72A0C-B023-4573-A66E-9DC2AA04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0" y="1043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Introduction to Data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961040"/>
            <a:ext cx="665957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What are data formats?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Why we need them: </a:t>
            </a:r>
            <a:r>
              <a:rPr lang="en-US" sz="3200" b="1" dirty="0">
                <a:solidFill>
                  <a:schemeClr val="bg1"/>
                </a:solidFill>
              </a:rPr>
              <a:t>data storage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b="1" dirty="0">
                <a:solidFill>
                  <a:schemeClr val="bg1"/>
                </a:solidFill>
              </a:rPr>
              <a:t>sharing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b="1" dirty="0">
                <a:solidFill>
                  <a:schemeClr val="bg1"/>
                </a:solidFill>
              </a:rPr>
              <a:t>exchange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Structured vs unstructured formats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Focus: CSV and JSON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C75BD-784F-45F3-ACD5-5FBDF0B41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238" y="1903831"/>
            <a:ext cx="4089082" cy="40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What is CSV?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6" y="1554640"/>
            <a:ext cx="81124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CSV = Comma-Separated Values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Used to represent tabular data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Each line = one record (row)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Columns separated by commas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Commonly used in Excel, databases, Python, ML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Example:</a:t>
            </a:r>
          </a:p>
          <a:p>
            <a:pPr lvl="1"/>
            <a:r>
              <a:rPr lang="en-US" sz="2800" dirty="0" err="1">
                <a:solidFill>
                  <a:schemeClr val="bg1"/>
                </a:solidFill>
              </a:rPr>
              <a:t>Name,Age,Country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Ali,21,Pakistan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John,25,USA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DCA4FD-CD3B-4244-8FED-A0F444A66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520" y="1435075"/>
            <a:ext cx="3949700" cy="2958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A454AC-05B2-45E8-85E1-294621DDC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317" y="433765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2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CSV: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849280"/>
            <a:ext cx="59483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Goudy Old Style" panose="02020502050305020303" pitchFamily="18" charset="0"/>
              <a:buChar char="¬"/>
            </a:pPr>
            <a:r>
              <a:rPr lang="en-US" sz="3600" dirty="0">
                <a:solidFill>
                  <a:schemeClr val="bg1"/>
                </a:solidFill>
              </a:rPr>
              <a:t>Plain text (easily readable)</a:t>
            </a:r>
          </a:p>
          <a:p>
            <a:pPr marL="571500" indent="-571500">
              <a:buFont typeface="Goudy Old Style" panose="02020502050305020303" pitchFamily="18" charset="0"/>
              <a:buChar char="¬"/>
            </a:pPr>
            <a:r>
              <a:rPr lang="en-US" sz="3600" dirty="0">
                <a:solidFill>
                  <a:schemeClr val="bg1"/>
                </a:solidFill>
              </a:rPr>
              <a:t>Lightweight, fast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accent4"/>
                </a:solidFill>
              </a:rPr>
              <a:t>Can be opened with:</a:t>
            </a:r>
          </a:p>
          <a:p>
            <a:pPr marL="571500" indent="-571500">
              <a:buFont typeface="Goudy Old Style" panose="02020502050305020303" pitchFamily="18" charset="0"/>
              <a:buChar char="¬"/>
            </a:pPr>
            <a:r>
              <a:rPr lang="en-US" sz="3600" dirty="0">
                <a:solidFill>
                  <a:schemeClr val="bg1"/>
                </a:solidFill>
              </a:rPr>
              <a:t>Excel</a:t>
            </a:r>
          </a:p>
          <a:p>
            <a:pPr marL="571500" indent="-571500">
              <a:buFont typeface="Goudy Old Style" panose="02020502050305020303" pitchFamily="18" charset="0"/>
              <a:buChar char="¬"/>
            </a:pPr>
            <a:r>
              <a:rPr lang="en-US" sz="3600" dirty="0">
                <a:solidFill>
                  <a:schemeClr val="bg1"/>
                </a:solidFill>
              </a:rPr>
              <a:t>Text editor</a:t>
            </a:r>
          </a:p>
          <a:p>
            <a:pPr marL="571500" indent="-571500">
              <a:buFont typeface="Goudy Old Style" panose="02020502050305020303" pitchFamily="18" charset="0"/>
              <a:buChar char="¬"/>
            </a:pPr>
            <a:r>
              <a:rPr lang="en-US" sz="3600" dirty="0">
                <a:solidFill>
                  <a:schemeClr val="bg1"/>
                </a:solidFill>
              </a:rPr>
              <a:t>Python (pandas, csv module)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B87DC-4303-40BA-9E71-AF32F51C4E7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8" r="13941"/>
          <a:stretch/>
        </p:blipFill>
        <p:spPr>
          <a:xfrm>
            <a:off x="6649413" y="1849280"/>
            <a:ext cx="5191760" cy="364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2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CSV Manipulation in Excel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10187" y="1930560"/>
            <a:ext cx="68986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Open .csv file in Excel → rows/columns auto-organized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accent4"/>
                </a:solidFill>
              </a:rPr>
              <a:t>Can: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Sort &amp; filter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Add formulas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Save as .xlsx or .csv again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4EE2E-66B9-4191-9D68-794FA53109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659"/>
          <a:stretch/>
        </p:blipFill>
        <p:spPr>
          <a:xfrm>
            <a:off x="8221682" y="1902699"/>
            <a:ext cx="3970318" cy="3825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996C74-DA43-4820-95FD-781F35712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092" y="3429000"/>
            <a:ext cx="2319065" cy="13030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686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CSV Manipulation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554640"/>
            <a:ext cx="58162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import pandas as pd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Read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df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pd.read_csv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("data.csv")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View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df.head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Filter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young = df[df["Age"] &lt; 25]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Save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young.to_csv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("young_people.csv", index=False)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094D2-9790-49A2-B201-4069BC65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650" y="1963527"/>
            <a:ext cx="5741670" cy="357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73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What is JSON?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6" y="1554640"/>
            <a:ext cx="811245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JSON = JavaScript Object Notation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Used for structured data exchange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Format = key-value pairs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Supports: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Lists (arrays)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Nested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Used in APIs, config files, web data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"name": "Ali",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"age": 21,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"skills": ["Python", "ML"]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16EA29-A6BF-4CDE-BB31-4DBB7EC08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277" y="1102359"/>
            <a:ext cx="2453323" cy="24533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812050-CF24-4FA9-A1B7-5341E5E3E2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" t="8591" b="10759"/>
          <a:stretch/>
        </p:blipFill>
        <p:spPr>
          <a:xfrm>
            <a:off x="7554277" y="3656501"/>
            <a:ext cx="3058161" cy="31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4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JSON: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38357" y="2225200"/>
            <a:ext cx="677133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Human-readable</a:t>
            </a:r>
          </a:p>
          <a:p>
            <a:r>
              <a:rPr lang="en-US" sz="3200" dirty="0">
                <a:solidFill>
                  <a:schemeClr val="bg1"/>
                </a:solidFill>
              </a:rPr>
              <a:t>More flexible and hierarchical than CSV</a:t>
            </a:r>
          </a:p>
          <a:p>
            <a:endParaRPr lang="en-US" sz="3200" b="1" dirty="0">
              <a:solidFill>
                <a:schemeClr val="accent4"/>
              </a:solidFill>
            </a:endParaRPr>
          </a:p>
          <a:p>
            <a:r>
              <a:rPr lang="en-US" sz="3200" b="1" dirty="0">
                <a:solidFill>
                  <a:schemeClr val="accent4"/>
                </a:solidFill>
              </a:rPr>
              <a:t>Often used in: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Web development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REST APIs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MongoDB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78875-87E1-4D02-AE06-EA706B2A06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68"/>
          <a:stretch/>
        </p:blipFill>
        <p:spPr>
          <a:xfrm>
            <a:off x="7734617" y="2262152"/>
            <a:ext cx="3583623" cy="328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3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JSON Manipulation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38357" y="1275238"/>
            <a:ext cx="47393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import json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Load from string or file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with open("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data.json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") as f: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data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json.load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(f)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Access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print(data["name"])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Modify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data["age"] = 22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 Save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with open("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updated.json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", "w") as f: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json.dump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(data, f, indent=4)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67BDDF-5145-4B76-9890-DD4757DAF5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659"/>
          <a:stretch/>
        </p:blipFill>
        <p:spPr>
          <a:xfrm>
            <a:off x="8221682" y="1902699"/>
            <a:ext cx="3970318" cy="3825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996687-012A-433F-AB97-D133723543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77" y="2910839"/>
            <a:ext cx="1579881" cy="15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6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CSV vs JSON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1DBC0A-29C0-4F09-B65A-B7CD8851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26399"/>
              </p:ext>
            </p:extLst>
          </p:nvPr>
        </p:nvGraphicFramePr>
        <p:xfrm>
          <a:off x="718927" y="2131906"/>
          <a:ext cx="1057899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6331">
                  <a:extLst>
                    <a:ext uri="{9D8B030D-6E8A-4147-A177-3AD203B41FA5}">
                      <a16:colId xmlns:a16="http://schemas.microsoft.com/office/drawing/2014/main" val="746922799"/>
                    </a:ext>
                  </a:extLst>
                </a:gridCol>
                <a:gridCol w="3526331">
                  <a:extLst>
                    <a:ext uri="{9D8B030D-6E8A-4147-A177-3AD203B41FA5}">
                      <a16:colId xmlns:a16="http://schemas.microsoft.com/office/drawing/2014/main" val="1021149123"/>
                    </a:ext>
                  </a:extLst>
                </a:gridCol>
                <a:gridCol w="3526331">
                  <a:extLst>
                    <a:ext uri="{9D8B030D-6E8A-4147-A177-3AD203B41FA5}">
                      <a16:colId xmlns:a16="http://schemas.microsoft.com/office/drawing/2014/main" val="3218322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76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Tabular (rows/cols)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Hierarchical (tree)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18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Readability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05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Nested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Spreadsheets,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APIs, configs, web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51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Excel, 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Python json,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58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23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Real-World Use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A9747-FB20-4BD7-8856-D51CD4291085}"/>
              </a:ext>
            </a:extLst>
          </p:cNvPr>
          <p:cNvSpPr txBox="1"/>
          <p:nvPr/>
        </p:nvSpPr>
        <p:spPr>
          <a:xfrm>
            <a:off x="289867" y="1828960"/>
            <a:ext cx="68729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📌 CSV: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Datasets for Machine Learning (e.g., Titanic dataset)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Student records, attendance, sales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Bank statements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📌 JSON: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API response (e.g., weather, user info)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App configuration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Chatbot logic, mobile app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998B4-2A63-4745-9D76-E19DC93268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1" r="20370"/>
          <a:stretch/>
        </p:blipFill>
        <p:spPr>
          <a:xfrm>
            <a:off x="6807200" y="4025424"/>
            <a:ext cx="4333146" cy="25728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B8261-FCC4-4064-A665-C4BBACCF58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496" y="1749414"/>
            <a:ext cx="2892154" cy="21663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5254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Best Practices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A9747-FB20-4BD7-8856-D51CD4291085}"/>
              </a:ext>
            </a:extLst>
          </p:cNvPr>
          <p:cNvSpPr txBox="1"/>
          <p:nvPr/>
        </p:nvSpPr>
        <p:spPr>
          <a:xfrm>
            <a:off x="307341" y="1889920"/>
            <a:ext cx="6743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Always validate data format before parsing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Use proper encoding (utf-8)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Handle missing values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Pretty print JSON (indent=4)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Avoid mixing data types in columns (CSV)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9E6C0-17BB-48D0-9AAD-A9B731076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389" y="2692550"/>
            <a:ext cx="4276931" cy="2365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093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Huawei Cloud EI: Empowering AI Innovation Globally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Vision, NLP, Speech, OCR, </a:t>
            </a:r>
            <a:r>
              <a:rPr lang="en-US" sz="3200" b="1" u="sng" dirty="0" err="1">
                <a:solidFill>
                  <a:schemeClr val="tx1">
                    <a:lumMod val="50000"/>
                  </a:schemeClr>
                </a:solidFill>
                <a:effectLst/>
              </a:rPr>
              <a:t>ModelArts</a:t>
            </a:r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, </a:t>
            </a:r>
            <a:r>
              <a:rPr lang="en-US" sz="3200" b="1" u="sng" dirty="0" err="1">
                <a:solidFill>
                  <a:schemeClr val="tx1">
                    <a:lumMod val="50000"/>
                  </a:schemeClr>
                </a:solidFill>
                <a:effectLst/>
              </a:rPr>
              <a:t>HiLens</a:t>
            </a:r>
            <a:endParaRPr lang="en-US" sz="3200" b="1" u="sng" dirty="0">
              <a:solidFill>
                <a:schemeClr val="tx1">
                  <a:lumMod val="50000"/>
                </a:schemeClr>
              </a:solidFill>
              <a:effectLst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8717280" y="6291105"/>
            <a:ext cx="34645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chemeClr val="bg1"/>
                </a:solidFill>
                <a:effectLst/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-10160" y="630126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effectLst/>
              </a:rPr>
              <a:t>Dated: 20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661AA-EA56-4818-8C0E-7F17343E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33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72A0C-B023-4573-A66E-9DC2AA04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0" y="1043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0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Huawei Cloud Enterprise Intelligence (EI) Portfolio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6" y="1554640"/>
            <a:ext cx="8112453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Vision: 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Object detection, image classification, facial recognition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Natural Language Processing: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Text classification, sentiment analysis, machine translation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Speech: 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Voice recognition, speech synthesis, real-time transcription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OCR: 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High-accuracy document and invoice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D830-F803-4453-8F07-89630068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44" y="1999119"/>
            <a:ext cx="4008449" cy="312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52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ModelArts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: End-to-End AI Lifecycle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6" y="1503840"/>
            <a:ext cx="81124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Data labeling, training, tuning, deployment in one platform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AutoML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support for beginners and experts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Supports TensorFlow, PyTorch,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MindSpore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876B6-AD39-4BF8-AD3F-A31235D22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35" y="3198167"/>
            <a:ext cx="9327825" cy="3590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17E02-3E8F-4858-9B11-7AD6EE90F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228" y="1413835"/>
            <a:ext cx="1784332" cy="1784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5C6CA-9E82-4540-8950-6DD4693C5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88DD15-7A48-4D01-9D44-889A0D79F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53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</a:rPr>
              <a:t>HiLens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 – Edge AI with Cloud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6" y="1554640"/>
            <a:ext cx="8092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Built-in AI models for face, object, and behavior recognition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Works seamlessly with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ModelArts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and the cloud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Use cases: Smart surveillance, retail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F95D5-B17E-428D-9513-AAFB9675C2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9" t="22689" r="19291" b="12559"/>
          <a:stretch/>
        </p:blipFill>
        <p:spPr>
          <a:xfrm>
            <a:off x="1026160" y="4015434"/>
            <a:ext cx="3808223" cy="2121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E22BA7-70D6-4C33-946C-B8A0F9949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832" y="3858022"/>
            <a:ext cx="3199448" cy="2129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FBA535-A156-47DA-A3C0-1FD653B87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44FB3E-2354-46B6-9511-AC30605F3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96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9D8E41C-9D9F-4B0C-9ECE-0BF02D9A3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92" y="4061142"/>
            <a:ext cx="3790699" cy="252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Huawei’s Global AI Initiatives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6" y="1453040"/>
            <a:ext cx="811245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Ascend AI processors deployed globally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Open-source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MindSpore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framework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 education with universities (e.g., Seeds for the Future)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Collaborations in healthcare, transportation, and smart cities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7FECD6-4C54-42A4-8D1B-A1086A277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131" y="4395787"/>
            <a:ext cx="3949401" cy="2260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54128E-27AC-4B8A-BC84-C2D2BC05D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239" y="1303158"/>
            <a:ext cx="3535681" cy="2894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AI Use Cases Powered by Huawei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E93FA-24AE-4A45-90EF-BCF03B368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18447"/>
              </p:ext>
            </p:extLst>
          </p:nvPr>
        </p:nvGraphicFramePr>
        <p:xfrm>
          <a:off x="1554480" y="2142066"/>
          <a:ext cx="9083040" cy="32833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41520">
                  <a:extLst>
                    <a:ext uri="{9D8B030D-6E8A-4147-A177-3AD203B41FA5}">
                      <a16:colId xmlns:a16="http://schemas.microsoft.com/office/drawing/2014/main" val="570786889"/>
                    </a:ext>
                  </a:extLst>
                </a:gridCol>
                <a:gridCol w="4541520">
                  <a:extLst>
                    <a:ext uri="{9D8B030D-6E8A-4147-A177-3AD203B41FA5}">
                      <a16:colId xmlns:a16="http://schemas.microsoft.com/office/drawing/2014/main" val="3246303871"/>
                    </a:ext>
                  </a:extLst>
                </a:gridCol>
              </a:tblGrid>
              <a:tr h="5472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Use Case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Huawei Capability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886993"/>
                  </a:ext>
                </a:extLst>
              </a:tr>
              <a:tr h="547229">
                <a:tc>
                  <a:txBody>
                    <a:bodyPr/>
                    <a:lstStyle/>
                    <a:p>
                      <a:r>
                        <a:rPr lang="en-US" sz="2400" dirty="0"/>
                        <a:t>Smart 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NLP + OCR + Speech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48889"/>
                  </a:ext>
                </a:extLst>
              </a:tr>
              <a:tr h="547229">
                <a:tc>
                  <a:txBody>
                    <a:bodyPr/>
                    <a:lstStyle/>
                    <a:p>
                      <a:r>
                        <a:rPr lang="en-US" sz="2400" dirty="0"/>
                        <a:t>Intelligent 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OCR + NLP + </a:t>
                      </a:r>
                      <a:r>
                        <a:rPr lang="en-US" sz="2400" dirty="0" err="1"/>
                        <a:t>ModelArts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60439"/>
                  </a:ext>
                </a:extLst>
              </a:tr>
              <a:tr h="547229">
                <a:tc>
                  <a:txBody>
                    <a:bodyPr/>
                    <a:lstStyle/>
                    <a:p>
                      <a:r>
                        <a:rPr lang="en-US" sz="2400" dirty="0"/>
                        <a:t>Retail Video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Vision AI + </a:t>
                      </a:r>
                      <a:r>
                        <a:rPr lang="en-US" sz="2400" dirty="0" err="1"/>
                        <a:t>HiLens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31422"/>
                  </a:ext>
                </a:extLst>
              </a:tr>
              <a:tr h="547229">
                <a:tc>
                  <a:txBody>
                    <a:bodyPr/>
                    <a:lstStyle/>
                    <a:p>
                      <a:r>
                        <a:rPr lang="en-US" sz="2400" dirty="0"/>
                        <a:t>Automated Call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Speech Recognition + NLP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63045"/>
                  </a:ext>
                </a:extLst>
              </a:tr>
              <a:tr h="547229">
                <a:tc>
                  <a:txBody>
                    <a:bodyPr/>
                    <a:lstStyle/>
                    <a:p>
                      <a:r>
                        <a:rPr lang="en-US" sz="2400" dirty="0"/>
                        <a:t>Smart City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Vision AI + </a:t>
                      </a:r>
                      <a:r>
                        <a:rPr lang="en-US" sz="2400" dirty="0" err="1"/>
                        <a:t>HiLens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13406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8DF7DF7-763C-4DB4-94B1-3258CFDC7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388ACA-91AE-49AC-8CB8-C154EA839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15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Cloud-Based Tools for AI/ML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8717280" y="6291105"/>
            <a:ext cx="34645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chemeClr val="bg1"/>
                </a:solidFill>
                <a:effectLst/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-10160" y="630126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effectLst/>
              </a:rPr>
              <a:t>Dated: 20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661AA-EA56-4818-8C0E-7F17343E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33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72A0C-B023-4573-A66E-9DC2AA04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0" y="1043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03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Google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</a:rPr>
              <a:t>Colab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 (Collaboratory)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Free cloud-based </a:t>
            </a:r>
            <a:r>
              <a:rPr lang="en-US" sz="2400" b="1" dirty="0" err="1">
                <a:solidFill>
                  <a:schemeClr val="bg1"/>
                </a:solidFill>
              </a:rPr>
              <a:t>Jupyter</a:t>
            </a:r>
            <a:r>
              <a:rPr lang="en-US" sz="2400" b="1" dirty="0">
                <a:solidFill>
                  <a:schemeClr val="bg1"/>
                </a:solidFill>
              </a:rPr>
              <a:t> Notebook </a:t>
            </a:r>
            <a:r>
              <a:rPr lang="en-US" sz="2400" dirty="0">
                <a:solidFill>
                  <a:schemeClr val="bg1"/>
                </a:solidFill>
              </a:rPr>
              <a:t>environment.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Backed by </a:t>
            </a:r>
            <a:r>
              <a:rPr lang="en-US" sz="2400" b="1" dirty="0">
                <a:solidFill>
                  <a:schemeClr val="bg1"/>
                </a:solidFill>
              </a:rPr>
              <a:t>Google Drive </a:t>
            </a:r>
            <a:r>
              <a:rPr lang="en-US" sz="2400" dirty="0">
                <a:solidFill>
                  <a:schemeClr val="bg1"/>
                </a:solidFill>
              </a:rPr>
              <a:t>– auto-save &amp; easy sharing.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Provides free </a:t>
            </a:r>
            <a:r>
              <a:rPr lang="en-US" sz="2400" b="1" dirty="0">
                <a:solidFill>
                  <a:schemeClr val="bg1"/>
                </a:solidFill>
              </a:rPr>
              <a:t>CPU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GPU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TPU</a:t>
            </a:r>
            <a:r>
              <a:rPr lang="en-US" sz="2400" dirty="0">
                <a:solidFill>
                  <a:schemeClr val="bg1"/>
                </a:solidFill>
              </a:rPr>
              <a:t> access.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Ideal for </a:t>
            </a:r>
            <a:r>
              <a:rPr lang="en-US" sz="2400" b="1" dirty="0">
                <a:solidFill>
                  <a:schemeClr val="bg1"/>
                </a:solidFill>
              </a:rPr>
              <a:t>beginners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students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prototyping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Integrated with Python libraries: </a:t>
            </a:r>
            <a:r>
              <a:rPr lang="en-US" sz="2400" b="1" dirty="0">
                <a:solidFill>
                  <a:schemeClr val="bg1"/>
                </a:solidFill>
              </a:rPr>
              <a:t>TensorFlow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PyTorch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OpenCV</a:t>
            </a:r>
            <a:r>
              <a:rPr lang="en-US" sz="2400" dirty="0">
                <a:solidFill>
                  <a:schemeClr val="bg1"/>
                </a:solidFill>
              </a:rPr>
              <a:t>, etc.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Easy integration with </a:t>
            </a:r>
            <a:r>
              <a:rPr lang="en-US" sz="2400" b="1" dirty="0">
                <a:solidFill>
                  <a:schemeClr val="bg1"/>
                </a:solidFill>
              </a:rPr>
              <a:t>Google services </a:t>
            </a:r>
            <a:r>
              <a:rPr lang="en-US" sz="2400" dirty="0">
                <a:solidFill>
                  <a:schemeClr val="bg1"/>
                </a:solidFill>
              </a:rPr>
              <a:t>and </a:t>
            </a:r>
            <a:r>
              <a:rPr lang="en-US" sz="2400" b="1" dirty="0">
                <a:solidFill>
                  <a:schemeClr val="bg1"/>
                </a:solidFill>
              </a:rPr>
              <a:t>GitHub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Cases: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Training ML models quickly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400" dirty="0">
                <a:solidFill>
                  <a:schemeClr val="bg1"/>
                </a:solidFill>
              </a:rPr>
              <a:t>Writing and running notebooks collaboratively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6A8F13-7DB7-4E26-880D-CEE2E7383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0" y="1660277"/>
            <a:ext cx="4297680" cy="2859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FEF6CC-A332-46C8-8640-CDB0E599E9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1" t="26059" r="12097" b="28367"/>
          <a:stretch/>
        </p:blipFill>
        <p:spPr>
          <a:xfrm>
            <a:off x="8151142" y="4493726"/>
            <a:ext cx="364207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17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AWS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</a:rPr>
              <a:t>SageMaker</a:t>
            </a:r>
            <a:endParaRPr lang="en-US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747680"/>
            <a:ext cx="100834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800" dirty="0">
                <a:solidFill>
                  <a:schemeClr val="bg1"/>
                </a:solidFill>
              </a:rPr>
              <a:t>Fully managed machine learning service by </a:t>
            </a:r>
            <a:r>
              <a:rPr lang="en-US" sz="2800" b="1" dirty="0">
                <a:solidFill>
                  <a:schemeClr val="bg1"/>
                </a:solidFill>
              </a:rPr>
              <a:t>Amazon Web Services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800" dirty="0">
                <a:solidFill>
                  <a:schemeClr val="bg1"/>
                </a:solidFill>
              </a:rPr>
              <a:t>Enables </a:t>
            </a:r>
            <a:r>
              <a:rPr lang="en-US" sz="2800" b="1" dirty="0">
                <a:solidFill>
                  <a:schemeClr val="bg1"/>
                </a:solidFill>
              </a:rPr>
              <a:t>building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chemeClr val="bg1"/>
                </a:solidFill>
              </a:rPr>
              <a:t>training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b="1" dirty="0">
                <a:solidFill>
                  <a:schemeClr val="bg1"/>
                </a:solidFill>
              </a:rPr>
              <a:t>deploying</a:t>
            </a:r>
            <a:r>
              <a:rPr lang="en-US" sz="2800" dirty="0">
                <a:solidFill>
                  <a:schemeClr val="bg1"/>
                </a:solidFill>
              </a:rPr>
              <a:t> ML models at scale.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800" dirty="0">
                <a:solidFill>
                  <a:schemeClr val="bg1"/>
                </a:solidFill>
              </a:rPr>
              <a:t>Offers built-in algorithms, </a:t>
            </a:r>
            <a:r>
              <a:rPr lang="en-US" sz="2800" b="1" dirty="0" err="1">
                <a:solidFill>
                  <a:schemeClr val="bg1"/>
                </a:solidFill>
              </a:rPr>
              <a:t>AutoML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b="1" dirty="0">
                <a:solidFill>
                  <a:schemeClr val="bg1"/>
                </a:solidFill>
              </a:rPr>
              <a:t>pre-built </a:t>
            </a:r>
            <a:r>
              <a:rPr lang="en-US" sz="2800" b="1" dirty="0" err="1">
                <a:solidFill>
                  <a:schemeClr val="bg1"/>
                </a:solidFill>
              </a:rPr>
              <a:t>Jupyter</a:t>
            </a:r>
            <a:r>
              <a:rPr lang="en-US" sz="2800" b="1" dirty="0">
                <a:solidFill>
                  <a:schemeClr val="bg1"/>
                </a:solidFill>
              </a:rPr>
              <a:t> Notebooks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800" dirty="0">
                <a:solidFill>
                  <a:schemeClr val="bg1"/>
                </a:solidFill>
              </a:rPr>
              <a:t>Supports </a:t>
            </a:r>
            <a:r>
              <a:rPr lang="en-US" sz="2800" b="1" dirty="0">
                <a:solidFill>
                  <a:schemeClr val="bg1"/>
                </a:solidFill>
              </a:rPr>
              <a:t>Docker containers </a:t>
            </a:r>
            <a:r>
              <a:rPr lang="en-US" sz="2800" dirty="0">
                <a:solidFill>
                  <a:schemeClr val="bg1"/>
                </a:solidFill>
              </a:rPr>
              <a:t>and </a:t>
            </a:r>
            <a:r>
              <a:rPr lang="en-US" sz="2800" b="1" dirty="0">
                <a:solidFill>
                  <a:schemeClr val="bg1"/>
                </a:solidFill>
              </a:rPr>
              <a:t>custom ML workflows.</a:t>
            </a:r>
          </a:p>
          <a:p>
            <a:endParaRPr lang="en-US" sz="2800" b="1" dirty="0">
              <a:solidFill>
                <a:schemeClr val="accent4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Features: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800" dirty="0">
                <a:solidFill>
                  <a:schemeClr val="bg1"/>
                </a:solidFill>
              </a:rPr>
              <a:t>Studio IDE for end-to-end ML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800" dirty="0">
                <a:solidFill>
                  <a:schemeClr val="bg1"/>
                </a:solidFill>
              </a:rPr>
              <a:t>Model monitoring &amp; deployment (A/B testing, multi-model endpoints)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800" dirty="0">
                <a:solidFill>
                  <a:schemeClr val="bg1"/>
                </a:solidFill>
              </a:rPr>
              <a:t>Integration with S3, EC2, Lambda, etc.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35125-5B6C-4810-BA87-76C3F7FD7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472" y="3049940"/>
            <a:ext cx="2973922" cy="2227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18536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8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Huawei Cloud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</a:rPr>
              <a:t>ModelArts</a:t>
            </a:r>
            <a:endParaRPr lang="en-US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716439"/>
            <a:ext cx="85086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AI development platform for </a:t>
            </a:r>
            <a:r>
              <a:rPr lang="en-US" sz="2400" b="1" dirty="0">
                <a:solidFill>
                  <a:schemeClr val="bg1"/>
                </a:solidFill>
              </a:rPr>
              <a:t>model training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management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deployment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Provides a visual drag-and-drop interface for model development.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Offers </a:t>
            </a:r>
            <a:r>
              <a:rPr lang="en-US" sz="2400" b="1" dirty="0">
                <a:solidFill>
                  <a:schemeClr val="bg1"/>
                </a:solidFill>
              </a:rPr>
              <a:t>GPU</a:t>
            </a:r>
            <a:r>
              <a:rPr lang="en-US" sz="2400" dirty="0">
                <a:solidFill>
                  <a:schemeClr val="bg1"/>
                </a:solidFill>
              </a:rPr>
              <a:t> and Ascend AI processor instances.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Supports </a:t>
            </a:r>
            <a:r>
              <a:rPr lang="en-US" sz="2400" b="1" dirty="0" err="1">
                <a:solidFill>
                  <a:schemeClr val="bg1"/>
                </a:solidFill>
              </a:rPr>
              <a:t>AutoM</a:t>
            </a:r>
            <a:r>
              <a:rPr lang="en-US" sz="2400" dirty="0" err="1">
                <a:solidFill>
                  <a:schemeClr val="bg1"/>
                </a:solidFill>
              </a:rPr>
              <a:t>L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data labeling </a:t>
            </a:r>
            <a:r>
              <a:rPr lang="en-US" sz="2400" dirty="0">
                <a:solidFill>
                  <a:schemeClr val="bg1"/>
                </a:solidFill>
              </a:rPr>
              <a:t>tools, and </a:t>
            </a:r>
            <a:r>
              <a:rPr lang="en-US" sz="2400" b="1" dirty="0">
                <a:solidFill>
                  <a:schemeClr val="bg1"/>
                </a:solidFill>
              </a:rPr>
              <a:t>distributed</a:t>
            </a:r>
            <a:r>
              <a:rPr lang="en-US" sz="2400" dirty="0">
                <a:solidFill>
                  <a:schemeClr val="bg1"/>
                </a:solidFill>
              </a:rPr>
              <a:t> training.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Strong in </a:t>
            </a:r>
            <a:r>
              <a:rPr lang="en-US" sz="2400" b="1" dirty="0">
                <a:solidFill>
                  <a:schemeClr val="bg1"/>
                </a:solidFill>
              </a:rPr>
              <a:t>image classification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object detection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NLP</a:t>
            </a:r>
            <a:r>
              <a:rPr lang="en-US" sz="2400" dirty="0">
                <a:solidFill>
                  <a:schemeClr val="bg1"/>
                </a:solidFill>
              </a:rPr>
              <a:t> tasks.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chemeClr val="bg1"/>
                </a:solidFill>
              </a:rPr>
              <a:t>Seamless integration with </a:t>
            </a:r>
            <a:r>
              <a:rPr lang="en-US" sz="2400" b="1" dirty="0">
                <a:solidFill>
                  <a:schemeClr val="bg1"/>
                </a:solidFill>
              </a:rPr>
              <a:t>Huawei's ecosystem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9171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A2DFA5-2D51-40F1-978A-6540E67CC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476" y="4523244"/>
            <a:ext cx="3647523" cy="16962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DBCF3C-49F2-42E5-BD5D-901401D1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370" y="1936534"/>
            <a:ext cx="2097733" cy="21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04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Calling REST APIs from a 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8717280" y="6291105"/>
            <a:ext cx="34645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chemeClr val="bg1"/>
                </a:solidFill>
                <a:effectLst/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-10160" y="630126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effectLst/>
              </a:rPr>
              <a:t>Dated: 20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661AA-EA56-4818-8C0E-7F17343E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33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72A0C-B023-4573-A66E-9DC2AA04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0" y="1043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25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What is an API?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API = Application Programming Interface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Allows two software systems to communicate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Acts as a bridge between your app/script and a web service</a:t>
            </a:r>
          </a:p>
          <a:p>
            <a:endParaRPr lang="en-US" sz="2800" b="1" dirty="0">
              <a:solidFill>
                <a:schemeClr val="accent4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Types of APIs: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REST (most common)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SOAP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GraphQL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D5754-6C34-4BC3-9C7C-47FC81FE5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920" y="1625600"/>
            <a:ext cx="3962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1C717C-FE62-4019-87DE-E3874AE016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160" y="4115584"/>
            <a:ext cx="3962400" cy="24299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3795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What is a REST API?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80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REST = Representational State Transfer</a:t>
            </a:r>
          </a:p>
          <a:p>
            <a:pPr marL="457200" indent="-457200">
              <a:buSzPct val="80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Web-based API that uses HTTP requests</a:t>
            </a:r>
          </a:p>
          <a:p>
            <a:pPr marL="457200" indent="-457200">
              <a:buSzPct val="80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Works with resources (like users, posts, products)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Uses standard HTTP methods: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GET – retrieve data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POST – send new data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PUT/PATCH – update existing data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DELETE – remove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53AED1-721C-49EA-8438-CF8D617FF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" r="2085" b="3613"/>
          <a:stretch/>
        </p:blipFill>
        <p:spPr>
          <a:xfrm>
            <a:off x="6827521" y="4449297"/>
            <a:ext cx="5064452" cy="20429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C5BBA0-5902-499F-BA84-00E2B5C7DA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220" y="1736937"/>
            <a:ext cx="4015100" cy="2117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317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Real-Life Examples of REST APIs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Weather API: get current weather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Twitter API: fetch tweets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GitHub API: get repo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News API: get latest headlines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F27313-04B7-4725-B2A2-797CE6566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440" y="1389380"/>
            <a:ext cx="2857500" cy="160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E11671-57EC-4705-8B80-E3BE913886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8" r="27840"/>
          <a:stretch/>
        </p:blipFill>
        <p:spPr>
          <a:xfrm>
            <a:off x="8636000" y="3423871"/>
            <a:ext cx="1610217" cy="1467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6D1EFE-DB21-45ED-893E-0DBB795AA35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464" r="4381" b="22830"/>
          <a:stretch/>
        </p:blipFill>
        <p:spPr>
          <a:xfrm>
            <a:off x="7085965" y="5241276"/>
            <a:ext cx="5050155" cy="15767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8C4F77-3939-4318-BC01-2E1E8916A7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81" y="4891223"/>
            <a:ext cx="3526155" cy="17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55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Tools You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Programming language (e.g., Python)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Module for HTTP requests (e.g., requests)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API endpoint URL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API key (for authentication if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0629E-6740-4777-9D2E-9CF3FB7F1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0" y="1612582"/>
            <a:ext cx="3925570" cy="26028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7E5FC-0226-4A8B-8A96-4B0D0E2F7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37" y="5208795"/>
            <a:ext cx="1565965" cy="1565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5A6232-AACB-4CB5-BCD5-10FB8DEAED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535" y="5301214"/>
            <a:ext cx="3295650" cy="1381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7AFAD7-C192-4C2C-A056-72F7D68122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995" y="5005999"/>
            <a:ext cx="2943225" cy="1552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0536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Basic Python Script to Call an API (GET)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71675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import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url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 = "https://api.github.com/users/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octocat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response = 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requests.get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url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response.status_code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response.json</a:t>
            </a:r>
            <a:r>
              <a:rPr lang="en-US" sz="2800" dirty="0">
                <a:solidFill>
                  <a:schemeClr val="bg1"/>
                </a:solidFill>
                <a:highlight>
                  <a:srgbClr val="C0C0C0"/>
                </a:highlight>
              </a:rPr>
              <a:t>())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Explanation: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chemeClr val="bg1"/>
                </a:solidFill>
              </a:rPr>
              <a:t>requests.get</a:t>
            </a:r>
            <a:r>
              <a:rPr lang="en-US" sz="2800" dirty="0">
                <a:solidFill>
                  <a:schemeClr val="bg1"/>
                </a:solidFill>
              </a:rPr>
              <a:t>() makes the GET call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.json() converts response to Python </a:t>
            </a:r>
            <a:r>
              <a:rPr lang="en-US" sz="2800" dirty="0" err="1">
                <a:solidFill>
                  <a:schemeClr val="bg1"/>
                </a:solidFill>
              </a:rPr>
              <a:t>dict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7CC767-8DDF-4BA6-82FA-842B6FED9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360" y="2472054"/>
            <a:ext cx="4661535" cy="22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6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Understanding the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57248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.</a:t>
            </a:r>
            <a:r>
              <a:rPr lang="en-US" sz="2800" b="1" dirty="0" err="1">
                <a:solidFill>
                  <a:schemeClr val="bg1"/>
                </a:solidFill>
              </a:rPr>
              <a:t>status_code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 status (200 = OK, 404 = Not Found)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.json(): 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Converts response to a dictionary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.text: </a:t>
            </a:r>
          </a:p>
          <a:p>
            <a:r>
              <a:rPr lang="en-US" sz="2800" dirty="0">
                <a:solidFill>
                  <a:schemeClr val="bg1"/>
                </a:solidFill>
              </a:rPr>
              <a:t>Raw response as string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E02291-D66B-43A2-B2EE-55E4006C6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679" y="1308334"/>
            <a:ext cx="4092521" cy="2234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81A7F-6CD1-4FED-99A3-F43DEE9AF7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090" y="3580439"/>
            <a:ext cx="2857500" cy="16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12EB95-0FEC-4434-89D6-46C37CA196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192"/>
          <a:stretch/>
        </p:blipFill>
        <p:spPr>
          <a:xfrm>
            <a:off x="7944483" y="5387020"/>
            <a:ext cx="2215517" cy="13877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82788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Common Status Codes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869600"/>
            <a:ext cx="84172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headers = {"Authorization": "Bearer &lt;token&gt;"}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response = </a:t>
            </a:r>
            <a:r>
              <a:rPr lang="en-US" sz="2800" b="1" dirty="0" err="1">
                <a:solidFill>
                  <a:schemeClr val="bg1"/>
                </a:solidFill>
              </a:rPr>
              <a:t>requests.get</a:t>
            </a:r>
            <a:r>
              <a:rPr lang="en-US" sz="2800" b="1" dirty="0">
                <a:solidFill>
                  <a:schemeClr val="bg1"/>
                </a:solidFill>
              </a:rPr>
              <a:t>("https://api.example.com/user", headers=headers)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Needed for APIs that require authentication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BE71293-862A-40D2-8A42-1290BF8FB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626153"/>
              </p:ext>
            </p:extLst>
          </p:nvPr>
        </p:nvGraphicFramePr>
        <p:xfrm>
          <a:off x="1013660" y="4209378"/>
          <a:ext cx="3738880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9440">
                  <a:extLst>
                    <a:ext uri="{9D8B030D-6E8A-4147-A177-3AD203B41FA5}">
                      <a16:colId xmlns:a16="http://schemas.microsoft.com/office/drawing/2014/main" val="1577082044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1427393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0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9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7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Bad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43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Unauthorized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81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8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77154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ADA2D65-36BD-47C6-899F-9F9BD4D92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040" y="1693228"/>
            <a:ext cx="3450840" cy="2246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FAC3C0-76A4-4A47-A45A-672167AFCF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752" y="4250019"/>
            <a:ext cx="3465632" cy="25958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0901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Practical Use Cases for Students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49227" y="2347120"/>
            <a:ext cx="63649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Get COVID-19 stats from an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 a News API to display top headlines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Access currency exchange rates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Automate data fetching in projects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24FB9D-1D80-478A-80C7-C9137491A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854" y="2463800"/>
            <a:ext cx="4947919" cy="24739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0621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Tips and Best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49227" y="1930560"/>
            <a:ext cx="69135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Always check API documentation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Respect API rate limits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Handle errors gracefully (e.g., try/except)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Secure your API keys (don’t share!)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3BDF3-3917-4DD0-A111-4B48EEFEC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2665-0BDA-40B4-936A-4B27A70F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FADDA-4476-4069-9B22-78E33CFFE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124" y="2081905"/>
            <a:ext cx="4824096" cy="28058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0673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1345</Words>
  <Application>Microsoft Office PowerPoint</Application>
  <PresentationFormat>Widescreen</PresentationFormat>
  <Paragraphs>314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Courier New</vt:lpstr>
      <vt:lpstr>Goudy Old Style</vt:lpstr>
      <vt:lpstr>Symbol</vt:lpstr>
      <vt:lpstr>Wingdings</vt:lpstr>
      <vt:lpstr>Wingdings 2</vt:lpstr>
      <vt:lpstr>SlateVTI</vt:lpstr>
      <vt:lpstr>Huawei HCCDA-AI certification </vt:lpstr>
      <vt:lpstr>Basic Data Formats – CSV &amp; JSON and Their Manipulation</vt:lpstr>
      <vt:lpstr>Introduction to Data Formats</vt:lpstr>
      <vt:lpstr>What is CSV?</vt:lpstr>
      <vt:lpstr>CSV: Characteristics</vt:lpstr>
      <vt:lpstr>CSV Manipulation in Excel</vt:lpstr>
      <vt:lpstr>CSV Manipulation in Python</vt:lpstr>
      <vt:lpstr>What is JSON?</vt:lpstr>
      <vt:lpstr>JSON: Characteristics</vt:lpstr>
      <vt:lpstr>JSON Manipulation in Python</vt:lpstr>
      <vt:lpstr>CSV vs JSON Comparison</vt:lpstr>
      <vt:lpstr>Real-World Use Cases</vt:lpstr>
      <vt:lpstr>Best Practices</vt:lpstr>
      <vt:lpstr>Huawei Cloud EI: Empowering AI Innovation Globally</vt:lpstr>
      <vt:lpstr>Huawei Cloud Enterprise Intelligence (EI) Portfolio</vt:lpstr>
      <vt:lpstr>ModelArts: End-to-End AI Lifecycle Management</vt:lpstr>
      <vt:lpstr>HiLens – Edge AI with Cloud Intelligence</vt:lpstr>
      <vt:lpstr>Huawei’s Global AI Initiatives</vt:lpstr>
      <vt:lpstr>AI Use Cases Powered by Huawei</vt:lpstr>
      <vt:lpstr>Cloud-Based Tools for AI/ML</vt:lpstr>
      <vt:lpstr>Google Colab (Collaboratory)</vt:lpstr>
      <vt:lpstr>AWS SageMaker</vt:lpstr>
      <vt:lpstr>Huawei Cloud ModelArts</vt:lpstr>
      <vt:lpstr>Calling REST APIs from a Script</vt:lpstr>
      <vt:lpstr>What is an API?</vt:lpstr>
      <vt:lpstr>What is a REST API?</vt:lpstr>
      <vt:lpstr>Real-Life Examples of REST APIs</vt:lpstr>
      <vt:lpstr>Tools You Need</vt:lpstr>
      <vt:lpstr>Basic Python Script to Call an API (GET)</vt:lpstr>
      <vt:lpstr>Understanding the Response</vt:lpstr>
      <vt:lpstr>Common Status Codes</vt:lpstr>
      <vt:lpstr>Practical Use Cases for Students</vt:lpstr>
      <vt:lpstr>Tips and Best Practices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2025-07-26T08:25:53Z</dcterms:modified>
</cp:coreProperties>
</file>