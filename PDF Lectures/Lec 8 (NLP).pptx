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360" r:id="rId2"/>
    <p:sldId id="265" r:id="rId3"/>
    <p:sldId id="381" r:id="rId4"/>
    <p:sldId id="385" r:id="rId5"/>
    <p:sldId id="392" r:id="rId6"/>
    <p:sldId id="393" r:id="rId7"/>
    <p:sldId id="389" r:id="rId8"/>
    <p:sldId id="390" r:id="rId9"/>
    <p:sldId id="391" r:id="rId10"/>
    <p:sldId id="388" r:id="rId11"/>
    <p:sldId id="401" r:id="rId12"/>
    <p:sldId id="402" r:id="rId13"/>
    <p:sldId id="394" r:id="rId14"/>
    <p:sldId id="395" r:id="rId15"/>
    <p:sldId id="396" r:id="rId16"/>
    <p:sldId id="397" r:id="rId17"/>
    <p:sldId id="408" r:id="rId18"/>
    <p:sldId id="409" r:id="rId19"/>
    <p:sldId id="386" r:id="rId20"/>
    <p:sldId id="387" r:id="rId21"/>
    <p:sldId id="419" r:id="rId22"/>
    <p:sldId id="414" r:id="rId23"/>
    <p:sldId id="416" r:id="rId24"/>
    <p:sldId id="415" r:id="rId25"/>
    <p:sldId id="412" r:id="rId26"/>
    <p:sldId id="413" r:id="rId27"/>
    <p:sldId id="406" r:id="rId28"/>
    <p:sldId id="407" r:id="rId29"/>
    <p:sldId id="400" r:id="rId30"/>
    <p:sldId id="420" r:id="rId31"/>
    <p:sldId id="421" r:id="rId32"/>
    <p:sldId id="26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74B"/>
    <a:srgbClr val="26B4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238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  <p:sldLayoutId id="2147483717" r:id="rId18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7120"/>
            <a:ext cx="12192000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Natural Language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10649"/>
            <a:ext cx="12192000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3">
                    <a:lumMod val="75000"/>
                  </a:schemeClr>
                </a:solidFill>
                <a:effectLst/>
              </a:rPr>
              <a:t>A Comprehensive Journey into NLP Techniques and Applications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190" y="911972"/>
            <a:ext cx="1555039" cy="155503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CB66FD8F-78E2-4D71-A6AD-762061E9053D}"/>
              </a:ext>
            </a:extLst>
          </p:cNvPr>
          <p:cNvSpPr txBox="1">
            <a:spLocks/>
          </p:cNvSpPr>
          <p:nvPr/>
        </p:nvSpPr>
        <p:spPr>
          <a:xfrm>
            <a:off x="7121462" y="6077745"/>
            <a:ext cx="4836858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Instructor : Fawad Bahadur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E0B58F5-D20E-4FB6-BC0A-C191F415E89F}"/>
              </a:ext>
            </a:extLst>
          </p:cNvPr>
          <p:cNvSpPr txBox="1">
            <a:spLocks/>
          </p:cNvSpPr>
          <p:nvPr/>
        </p:nvSpPr>
        <p:spPr>
          <a:xfrm>
            <a:off x="172720" y="6159025"/>
            <a:ext cx="23977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</a:rPr>
              <a:t>Dated: 12 July 2025</a:t>
            </a:r>
          </a:p>
        </p:txBody>
      </p:sp>
    </p:spTree>
    <p:extLst>
      <p:ext uri="{BB962C8B-B14F-4D97-AF65-F5344CB8AC3E}">
        <p14:creationId xmlns:p14="http://schemas.microsoft.com/office/powerpoint/2010/main" val="2505784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Training Objectives &amp; Outcomes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Instructor : Fawad Bahadur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5B1E41BB-1786-4DC2-BCB4-106BC7B5FF02}"/>
              </a:ext>
            </a:extLst>
          </p:cNvPr>
          <p:cNvGrpSpPr/>
          <p:nvPr/>
        </p:nvGrpSpPr>
        <p:grpSpPr>
          <a:xfrm>
            <a:off x="1012180" y="2242741"/>
            <a:ext cx="10710113" cy="4261949"/>
            <a:chOff x="1012180" y="2242741"/>
            <a:chExt cx="10710113" cy="4261949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E401598-0117-4661-9793-BBB318A41ABF}"/>
                </a:ext>
              </a:extLst>
            </p:cNvPr>
            <p:cNvGrpSpPr/>
            <p:nvPr/>
          </p:nvGrpSpPr>
          <p:grpSpPr>
            <a:xfrm>
              <a:off x="1012180" y="2242741"/>
              <a:ext cx="10710113" cy="4261949"/>
              <a:chOff x="1942398" y="1019157"/>
              <a:chExt cx="6261760" cy="2912037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78BCE336-CBFD-4DDD-BD7B-4D830EB2AAF1}"/>
                  </a:ext>
                </a:extLst>
              </p:cNvPr>
              <p:cNvGrpSpPr/>
              <p:nvPr/>
            </p:nvGrpSpPr>
            <p:grpSpPr>
              <a:xfrm flipV="1">
                <a:off x="3262207" y="2824114"/>
                <a:ext cx="1161497" cy="1107080"/>
                <a:chOff x="2825608" y="737883"/>
                <a:chExt cx="1548662" cy="1476107"/>
              </a:xfrm>
            </p:grpSpPr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DC62CE2F-2A1A-4055-98BD-86464397C9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-60000">
                  <a:off x="3663659" y="2213990"/>
                  <a:ext cx="710611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5455EC6B-640C-4C29-9880-26EAC1EDCF86}"/>
                    </a:ext>
                  </a:extLst>
                </p:cNvPr>
                <p:cNvGrpSpPr/>
                <p:nvPr/>
              </p:nvGrpSpPr>
              <p:grpSpPr>
                <a:xfrm>
                  <a:off x="3364423" y="1464859"/>
                  <a:ext cx="846808" cy="168817"/>
                  <a:chOff x="3364423" y="1464859"/>
                  <a:chExt cx="846808" cy="168817"/>
                </a:xfrm>
              </p:grpSpPr>
              <p:cxnSp>
                <p:nvCxnSpPr>
                  <p:cNvPr id="147" name="Straight Connector 146">
                    <a:extLst>
                      <a:ext uri="{FF2B5EF4-FFF2-40B4-BE49-F238E27FC236}">
                        <a16:creationId xmlns:a16="http://schemas.microsoft.com/office/drawing/2014/main" id="{D5062026-C246-44EB-B5DD-6F81BC0DBB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64423" y="1464859"/>
                    <a:ext cx="137351" cy="168817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435078A8-05A3-4FFD-AC37-C2D751A9D2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00620" y="1465674"/>
                    <a:ext cx="710611" cy="5938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55CE1A0B-C1BA-4EF4-9AAA-1B5E08121B2D}"/>
                    </a:ext>
                  </a:extLst>
                </p:cNvPr>
                <p:cNvGrpSpPr/>
                <p:nvPr/>
              </p:nvGrpSpPr>
              <p:grpSpPr>
                <a:xfrm>
                  <a:off x="2825608" y="737883"/>
                  <a:ext cx="874325" cy="444812"/>
                  <a:chOff x="2956005" y="765222"/>
                  <a:chExt cx="874325" cy="444812"/>
                </a:xfrm>
              </p:grpSpPr>
              <p:cxnSp>
                <p:nvCxnSpPr>
                  <p:cNvPr id="145" name="Straight Connector 144">
                    <a:extLst>
                      <a:ext uri="{FF2B5EF4-FFF2-40B4-BE49-F238E27FC236}">
                        <a16:creationId xmlns:a16="http://schemas.microsoft.com/office/drawing/2014/main" id="{16D41E67-4B44-4D46-8D18-E3F93F7854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56005" y="765222"/>
                    <a:ext cx="361903" cy="444812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>
                    <a:extLst>
                      <a:ext uri="{FF2B5EF4-FFF2-40B4-BE49-F238E27FC236}">
                        <a16:creationId xmlns:a16="http://schemas.microsoft.com/office/drawing/2014/main" id="{4DEACB7E-F146-47F8-8C7E-EA75EE7BED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17908" y="765222"/>
                    <a:ext cx="512422" cy="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ED91F773-CA1F-40FE-B8E5-1344964773C3}"/>
                  </a:ext>
                </a:extLst>
              </p:cNvPr>
              <p:cNvGrpSpPr/>
              <p:nvPr/>
            </p:nvGrpSpPr>
            <p:grpSpPr>
              <a:xfrm>
                <a:off x="3262207" y="1196350"/>
                <a:ext cx="1161497" cy="1107080"/>
                <a:chOff x="2825608" y="737883"/>
                <a:chExt cx="1548662" cy="1476107"/>
              </a:xfrm>
            </p:grpSpPr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FED16619-3E60-4659-BD1A-07040A2C54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-60000">
                  <a:off x="3663659" y="2213990"/>
                  <a:ext cx="710611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80E64AF0-5443-43FB-B363-E23DEFB10088}"/>
                    </a:ext>
                  </a:extLst>
                </p:cNvPr>
                <p:cNvGrpSpPr/>
                <p:nvPr/>
              </p:nvGrpSpPr>
              <p:grpSpPr>
                <a:xfrm>
                  <a:off x="3364423" y="1464859"/>
                  <a:ext cx="846808" cy="168817"/>
                  <a:chOff x="3364423" y="1464859"/>
                  <a:chExt cx="846808" cy="168817"/>
                </a:xfrm>
              </p:grpSpPr>
              <p:cxnSp>
                <p:nvCxnSpPr>
                  <p:cNvPr id="140" name="Straight Connector 139">
                    <a:extLst>
                      <a:ext uri="{FF2B5EF4-FFF2-40B4-BE49-F238E27FC236}">
                        <a16:creationId xmlns:a16="http://schemas.microsoft.com/office/drawing/2014/main" id="{3A676D20-4D4E-4977-A30C-258BC3D4D4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64423" y="1464859"/>
                    <a:ext cx="137351" cy="168817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Straight Connector 140">
                    <a:extLst>
                      <a:ext uri="{FF2B5EF4-FFF2-40B4-BE49-F238E27FC236}">
                        <a16:creationId xmlns:a16="http://schemas.microsoft.com/office/drawing/2014/main" id="{2C20458B-3B62-4B58-BBF3-1F2E7A9B9F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00620" y="1465674"/>
                    <a:ext cx="710611" cy="5938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7" name="Group 136">
                  <a:extLst>
                    <a:ext uri="{FF2B5EF4-FFF2-40B4-BE49-F238E27FC236}">
                      <a16:creationId xmlns:a16="http://schemas.microsoft.com/office/drawing/2014/main" id="{5EF8A829-19A5-4791-9E40-433729F12F0D}"/>
                    </a:ext>
                  </a:extLst>
                </p:cNvPr>
                <p:cNvGrpSpPr/>
                <p:nvPr/>
              </p:nvGrpSpPr>
              <p:grpSpPr>
                <a:xfrm>
                  <a:off x="2825608" y="737883"/>
                  <a:ext cx="874325" cy="444812"/>
                  <a:chOff x="2956005" y="765222"/>
                  <a:chExt cx="874325" cy="444812"/>
                </a:xfrm>
              </p:grpSpPr>
              <p:cxnSp>
                <p:nvCxnSpPr>
                  <p:cNvPr id="138" name="Straight Connector 137">
                    <a:extLst>
                      <a:ext uri="{FF2B5EF4-FFF2-40B4-BE49-F238E27FC236}">
                        <a16:creationId xmlns:a16="http://schemas.microsoft.com/office/drawing/2014/main" id="{12109548-D040-46C6-BDAA-916D3454E0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56005" y="765222"/>
                    <a:ext cx="361903" cy="444812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Straight Connector 138">
                    <a:extLst>
                      <a:ext uri="{FF2B5EF4-FFF2-40B4-BE49-F238E27FC236}">
                        <a16:creationId xmlns:a16="http://schemas.microsoft.com/office/drawing/2014/main" id="{E7B5B2B2-136E-44F3-AC75-98B2F769F0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17908" y="765222"/>
                    <a:ext cx="512422" cy="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2597DC99-B28F-4FC6-BAAE-3E2A7FFBF635}"/>
                  </a:ext>
                </a:extLst>
              </p:cNvPr>
              <p:cNvSpPr/>
              <p:nvPr/>
            </p:nvSpPr>
            <p:spPr>
              <a:xfrm>
                <a:off x="2759073" y="1415010"/>
                <a:ext cx="1161931" cy="2323862"/>
              </a:xfrm>
              <a:custGeom>
                <a:avLst/>
                <a:gdLst>
                  <a:gd name="connsiteX0" fmla="*/ 0 w 1549241"/>
                  <a:gd name="connsiteY0" fmla="*/ 0 h 3098482"/>
                  <a:gd name="connsiteX1" fmla="*/ 1549241 w 1549241"/>
                  <a:gd name="connsiteY1" fmla="*/ 1549241 h 3098482"/>
                  <a:gd name="connsiteX2" fmla="*/ 0 w 1549241"/>
                  <a:gd name="connsiteY2" fmla="*/ 3098482 h 3098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49241" h="3098482">
                    <a:moveTo>
                      <a:pt x="0" y="0"/>
                    </a:moveTo>
                    <a:cubicBezTo>
                      <a:pt x="855631" y="0"/>
                      <a:pt x="1549241" y="693611"/>
                      <a:pt x="1549241" y="1549241"/>
                    </a:cubicBezTo>
                    <a:cubicBezTo>
                      <a:pt x="1549241" y="2404872"/>
                      <a:pt x="855631" y="3098482"/>
                      <a:pt x="0" y="3098482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1050" dirty="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AB9895CD-801D-4B38-B0CA-60EFD7CBA65C}"/>
                  </a:ext>
                </a:extLst>
              </p:cNvPr>
              <p:cNvSpPr/>
              <p:nvPr/>
            </p:nvSpPr>
            <p:spPr>
              <a:xfrm>
                <a:off x="2689206" y="1345145"/>
                <a:ext cx="139732" cy="139732"/>
              </a:xfrm>
              <a:custGeom>
                <a:avLst/>
                <a:gdLst>
                  <a:gd name="connsiteX0" fmla="*/ 186309 w 186309"/>
                  <a:gd name="connsiteY0" fmla="*/ 93155 h 186309"/>
                  <a:gd name="connsiteX1" fmla="*/ 93155 w 186309"/>
                  <a:gd name="connsiteY1" fmla="*/ 186309 h 186309"/>
                  <a:gd name="connsiteX2" fmla="*/ 0 w 186309"/>
                  <a:gd name="connsiteY2" fmla="*/ 93155 h 186309"/>
                  <a:gd name="connsiteX3" fmla="*/ 93155 w 186309"/>
                  <a:gd name="connsiteY3" fmla="*/ 0 h 186309"/>
                  <a:gd name="connsiteX4" fmla="*/ 186309 w 186309"/>
                  <a:gd name="connsiteY4" fmla="*/ 93155 h 18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309" h="186309">
                    <a:moveTo>
                      <a:pt x="186309" y="93155"/>
                    </a:moveTo>
                    <a:cubicBezTo>
                      <a:pt x="186309" y="144602"/>
                      <a:pt x="144602" y="186309"/>
                      <a:pt x="93155" y="186309"/>
                    </a:cubicBezTo>
                    <a:cubicBezTo>
                      <a:pt x="41707" y="186309"/>
                      <a:pt x="0" y="144602"/>
                      <a:pt x="0" y="93155"/>
                    </a:cubicBezTo>
                    <a:cubicBezTo>
                      <a:pt x="0" y="41707"/>
                      <a:pt x="41707" y="0"/>
                      <a:pt x="93155" y="0"/>
                    </a:cubicBezTo>
                    <a:cubicBezTo>
                      <a:pt x="144602" y="0"/>
                      <a:pt x="186309" y="41707"/>
                      <a:pt x="186309" y="93155"/>
                    </a:cubicBezTo>
                    <a:close/>
                  </a:path>
                </a:pathLst>
              </a:custGeom>
              <a:solidFill>
                <a:schemeClr val="bg1"/>
              </a:solidFill>
              <a:ln w="15875">
                <a:solidFill>
                  <a:schemeClr val="bg1">
                    <a:alpha val="42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050" dirty="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5A7543FC-63F6-4F9E-84AE-E03C0383FF39}"/>
                  </a:ext>
                </a:extLst>
              </p:cNvPr>
              <p:cNvSpPr/>
              <p:nvPr/>
            </p:nvSpPr>
            <p:spPr>
              <a:xfrm>
                <a:off x="3820920" y="2765394"/>
                <a:ext cx="139731" cy="139732"/>
              </a:xfrm>
              <a:custGeom>
                <a:avLst/>
                <a:gdLst>
                  <a:gd name="connsiteX0" fmla="*/ 186309 w 186308"/>
                  <a:gd name="connsiteY0" fmla="*/ 93154 h 186309"/>
                  <a:gd name="connsiteX1" fmla="*/ 93155 w 186308"/>
                  <a:gd name="connsiteY1" fmla="*/ 186309 h 186309"/>
                  <a:gd name="connsiteX2" fmla="*/ 0 w 186308"/>
                  <a:gd name="connsiteY2" fmla="*/ 93154 h 186309"/>
                  <a:gd name="connsiteX3" fmla="*/ 93155 w 186308"/>
                  <a:gd name="connsiteY3" fmla="*/ 0 h 186309"/>
                  <a:gd name="connsiteX4" fmla="*/ 186309 w 186308"/>
                  <a:gd name="connsiteY4" fmla="*/ 93154 h 18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308" h="186309">
                    <a:moveTo>
                      <a:pt x="186309" y="93154"/>
                    </a:moveTo>
                    <a:cubicBezTo>
                      <a:pt x="186309" y="144602"/>
                      <a:pt x="144602" y="186309"/>
                      <a:pt x="93155" y="186309"/>
                    </a:cubicBezTo>
                    <a:cubicBezTo>
                      <a:pt x="41707" y="186309"/>
                      <a:pt x="0" y="144602"/>
                      <a:pt x="0" y="93154"/>
                    </a:cubicBezTo>
                    <a:cubicBezTo>
                      <a:pt x="0" y="41707"/>
                      <a:pt x="41707" y="0"/>
                      <a:pt x="93155" y="0"/>
                    </a:cubicBezTo>
                    <a:cubicBezTo>
                      <a:pt x="144602" y="0"/>
                      <a:pt x="186309" y="41707"/>
                      <a:pt x="186309" y="9315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solidFill>
                  <a:schemeClr val="bg1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 sz="1050" dirty="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58A23E3A-1523-4EFB-9512-B7CC8617A50A}"/>
                  </a:ext>
                </a:extLst>
              </p:cNvPr>
              <p:cNvSpPr/>
              <p:nvPr/>
            </p:nvSpPr>
            <p:spPr>
              <a:xfrm>
                <a:off x="3821349" y="2248758"/>
                <a:ext cx="139731" cy="139732"/>
              </a:xfrm>
              <a:custGeom>
                <a:avLst/>
                <a:gdLst>
                  <a:gd name="connsiteX0" fmla="*/ 186309 w 186308"/>
                  <a:gd name="connsiteY0" fmla="*/ 93155 h 186309"/>
                  <a:gd name="connsiteX1" fmla="*/ 93155 w 186308"/>
                  <a:gd name="connsiteY1" fmla="*/ 186309 h 186309"/>
                  <a:gd name="connsiteX2" fmla="*/ 0 w 186308"/>
                  <a:gd name="connsiteY2" fmla="*/ 93155 h 186309"/>
                  <a:gd name="connsiteX3" fmla="*/ 93155 w 186308"/>
                  <a:gd name="connsiteY3" fmla="*/ 0 h 186309"/>
                  <a:gd name="connsiteX4" fmla="*/ 186309 w 186308"/>
                  <a:gd name="connsiteY4" fmla="*/ 93155 h 18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308" h="186309">
                    <a:moveTo>
                      <a:pt x="186309" y="93155"/>
                    </a:moveTo>
                    <a:cubicBezTo>
                      <a:pt x="186309" y="144602"/>
                      <a:pt x="144602" y="186309"/>
                      <a:pt x="93155" y="186309"/>
                    </a:cubicBezTo>
                    <a:cubicBezTo>
                      <a:pt x="41707" y="186309"/>
                      <a:pt x="0" y="144602"/>
                      <a:pt x="0" y="93155"/>
                    </a:cubicBezTo>
                    <a:cubicBezTo>
                      <a:pt x="0" y="41707"/>
                      <a:pt x="41707" y="0"/>
                      <a:pt x="93155" y="0"/>
                    </a:cubicBezTo>
                    <a:cubicBezTo>
                      <a:pt x="144602" y="0"/>
                      <a:pt x="186309" y="41707"/>
                      <a:pt x="186309" y="9315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solidFill>
                  <a:schemeClr val="bg1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 sz="1050" dirty="0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3509D109-5D00-4805-A056-715A6249DB25}"/>
                  </a:ext>
                </a:extLst>
              </p:cNvPr>
              <p:cNvSpPr/>
              <p:nvPr/>
            </p:nvSpPr>
            <p:spPr>
              <a:xfrm>
                <a:off x="3597606" y="1783128"/>
                <a:ext cx="139732" cy="139732"/>
              </a:xfrm>
              <a:custGeom>
                <a:avLst/>
                <a:gdLst>
                  <a:gd name="connsiteX0" fmla="*/ 186309 w 186309"/>
                  <a:gd name="connsiteY0" fmla="*/ 93154 h 186309"/>
                  <a:gd name="connsiteX1" fmla="*/ 93155 w 186309"/>
                  <a:gd name="connsiteY1" fmla="*/ 186309 h 186309"/>
                  <a:gd name="connsiteX2" fmla="*/ 0 w 186309"/>
                  <a:gd name="connsiteY2" fmla="*/ 93154 h 186309"/>
                  <a:gd name="connsiteX3" fmla="*/ 93155 w 186309"/>
                  <a:gd name="connsiteY3" fmla="*/ 0 h 186309"/>
                  <a:gd name="connsiteX4" fmla="*/ 186309 w 186309"/>
                  <a:gd name="connsiteY4" fmla="*/ 93154 h 18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309" h="186309">
                    <a:moveTo>
                      <a:pt x="186309" y="93154"/>
                    </a:moveTo>
                    <a:cubicBezTo>
                      <a:pt x="186309" y="144602"/>
                      <a:pt x="144602" y="186309"/>
                      <a:pt x="93155" y="186309"/>
                    </a:cubicBezTo>
                    <a:cubicBezTo>
                      <a:pt x="41707" y="186309"/>
                      <a:pt x="0" y="144602"/>
                      <a:pt x="0" y="93154"/>
                    </a:cubicBezTo>
                    <a:cubicBezTo>
                      <a:pt x="0" y="41707"/>
                      <a:pt x="41707" y="0"/>
                      <a:pt x="93155" y="0"/>
                    </a:cubicBezTo>
                    <a:cubicBezTo>
                      <a:pt x="144602" y="0"/>
                      <a:pt x="186309" y="41707"/>
                      <a:pt x="186309" y="931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solidFill>
                  <a:schemeClr val="bg1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 sz="1050" dirty="0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4624DD76-2C79-4770-B1C8-A9200A596B7E}"/>
                  </a:ext>
                </a:extLst>
              </p:cNvPr>
              <p:cNvSpPr/>
              <p:nvPr/>
            </p:nvSpPr>
            <p:spPr>
              <a:xfrm>
                <a:off x="3193984" y="1460660"/>
                <a:ext cx="139732" cy="139731"/>
              </a:xfrm>
              <a:custGeom>
                <a:avLst/>
                <a:gdLst>
                  <a:gd name="connsiteX0" fmla="*/ 186309 w 186309"/>
                  <a:gd name="connsiteY0" fmla="*/ 93155 h 186308"/>
                  <a:gd name="connsiteX1" fmla="*/ 93155 w 186309"/>
                  <a:gd name="connsiteY1" fmla="*/ 186309 h 186308"/>
                  <a:gd name="connsiteX2" fmla="*/ 0 w 186309"/>
                  <a:gd name="connsiteY2" fmla="*/ 93154 h 186308"/>
                  <a:gd name="connsiteX3" fmla="*/ 93155 w 186309"/>
                  <a:gd name="connsiteY3" fmla="*/ 0 h 186308"/>
                  <a:gd name="connsiteX4" fmla="*/ 186309 w 186309"/>
                  <a:gd name="connsiteY4" fmla="*/ 93155 h 186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309" h="186308">
                    <a:moveTo>
                      <a:pt x="186309" y="93155"/>
                    </a:moveTo>
                    <a:cubicBezTo>
                      <a:pt x="186309" y="144602"/>
                      <a:pt x="144602" y="186309"/>
                      <a:pt x="93155" y="186309"/>
                    </a:cubicBezTo>
                    <a:cubicBezTo>
                      <a:pt x="41707" y="186309"/>
                      <a:pt x="0" y="144602"/>
                      <a:pt x="0" y="93154"/>
                    </a:cubicBezTo>
                    <a:cubicBezTo>
                      <a:pt x="0" y="41707"/>
                      <a:pt x="41707" y="0"/>
                      <a:pt x="93155" y="0"/>
                    </a:cubicBezTo>
                    <a:cubicBezTo>
                      <a:pt x="144602" y="0"/>
                      <a:pt x="186309" y="41707"/>
                      <a:pt x="186309" y="9315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bg1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 sz="1050" dirty="0"/>
              </a:p>
            </p:txBody>
          </p: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F77AAA6E-C22C-4915-95C1-900C0E0E8108}"/>
                  </a:ext>
                </a:extLst>
              </p:cNvPr>
              <p:cNvGrpSpPr/>
              <p:nvPr/>
            </p:nvGrpSpPr>
            <p:grpSpPr>
              <a:xfrm>
                <a:off x="1942398" y="1775510"/>
                <a:ext cx="1642370" cy="1593341"/>
                <a:chOff x="1065864" y="1510094"/>
                <a:chExt cx="2189826" cy="2124455"/>
              </a:xfrm>
            </p:grpSpPr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C9368893-6859-4831-A639-8BCA0796180F}"/>
                    </a:ext>
                  </a:extLst>
                </p:cNvPr>
                <p:cNvSpPr/>
                <p:nvPr/>
              </p:nvSpPr>
              <p:spPr>
                <a:xfrm>
                  <a:off x="1098550" y="1510094"/>
                  <a:ext cx="2124456" cy="2124455"/>
                </a:xfrm>
                <a:custGeom>
                  <a:avLst/>
                  <a:gdLst>
                    <a:gd name="connsiteX0" fmla="*/ 2124456 w 2124456"/>
                    <a:gd name="connsiteY0" fmla="*/ 1062228 h 2124455"/>
                    <a:gd name="connsiteX1" fmla="*/ 1062228 w 2124456"/>
                    <a:gd name="connsiteY1" fmla="*/ 2124456 h 2124455"/>
                    <a:gd name="connsiteX2" fmla="*/ 0 w 2124456"/>
                    <a:gd name="connsiteY2" fmla="*/ 1062228 h 2124455"/>
                    <a:gd name="connsiteX3" fmla="*/ 1062228 w 2124456"/>
                    <a:gd name="connsiteY3" fmla="*/ 0 h 2124455"/>
                    <a:gd name="connsiteX4" fmla="*/ 2124456 w 2124456"/>
                    <a:gd name="connsiteY4" fmla="*/ 1062228 h 2124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24456" h="2124455">
                      <a:moveTo>
                        <a:pt x="2124456" y="1062228"/>
                      </a:moveTo>
                      <a:cubicBezTo>
                        <a:pt x="2124456" y="1648880"/>
                        <a:pt x="1648880" y="2124456"/>
                        <a:pt x="1062228" y="2124456"/>
                      </a:cubicBezTo>
                      <a:cubicBezTo>
                        <a:pt x="475576" y="2124456"/>
                        <a:pt x="0" y="1648880"/>
                        <a:pt x="0" y="1062228"/>
                      </a:cubicBezTo>
                      <a:cubicBezTo>
                        <a:pt x="0" y="475575"/>
                        <a:pt x="475576" y="0"/>
                        <a:pt x="1062228" y="0"/>
                      </a:cubicBezTo>
                      <a:cubicBezTo>
                        <a:pt x="1648880" y="0"/>
                        <a:pt x="2124456" y="475575"/>
                        <a:pt x="2124456" y="1062228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bg1">
                      <a:alpha val="52000"/>
                    </a:schemeClr>
                  </a:solidFill>
                </a:ln>
                <a:effectLst>
                  <a:innerShdw blurRad="63500" dist="25400" dir="162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050" dirty="0"/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685B4C02-D946-45A1-BC57-E689963D8EB0}"/>
                    </a:ext>
                  </a:extLst>
                </p:cNvPr>
                <p:cNvSpPr/>
                <p:nvPr/>
              </p:nvSpPr>
              <p:spPr>
                <a:xfrm>
                  <a:off x="1202118" y="1613662"/>
                  <a:ext cx="1917320" cy="1917320"/>
                </a:xfrm>
                <a:custGeom>
                  <a:avLst/>
                  <a:gdLst>
                    <a:gd name="connsiteX0" fmla="*/ 2124456 w 2124456"/>
                    <a:gd name="connsiteY0" fmla="*/ 1062228 h 2124455"/>
                    <a:gd name="connsiteX1" fmla="*/ 1062228 w 2124456"/>
                    <a:gd name="connsiteY1" fmla="*/ 2124456 h 2124455"/>
                    <a:gd name="connsiteX2" fmla="*/ 0 w 2124456"/>
                    <a:gd name="connsiteY2" fmla="*/ 1062228 h 2124455"/>
                    <a:gd name="connsiteX3" fmla="*/ 1062228 w 2124456"/>
                    <a:gd name="connsiteY3" fmla="*/ 0 h 2124455"/>
                    <a:gd name="connsiteX4" fmla="*/ 2124456 w 2124456"/>
                    <a:gd name="connsiteY4" fmla="*/ 1062228 h 2124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24456" h="2124455">
                      <a:moveTo>
                        <a:pt x="2124456" y="1062228"/>
                      </a:moveTo>
                      <a:cubicBezTo>
                        <a:pt x="2124456" y="1648880"/>
                        <a:pt x="1648880" y="2124456"/>
                        <a:pt x="1062228" y="2124456"/>
                      </a:cubicBezTo>
                      <a:cubicBezTo>
                        <a:pt x="475576" y="2124456"/>
                        <a:pt x="0" y="1648880"/>
                        <a:pt x="0" y="1062228"/>
                      </a:cubicBezTo>
                      <a:cubicBezTo>
                        <a:pt x="0" y="475575"/>
                        <a:pt x="475576" y="0"/>
                        <a:pt x="1062228" y="0"/>
                      </a:cubicBezTo>
                      <a:cubicBezTo>
                        <a:pt x="1648880" y="0"/>
                        <a:pt x="2124456" y="475575"/>
                        <a:pt x="2124456" y="106222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5875">
                  <a:solidFill>
                    <a:schemeClr val="bg1">
                      <a:alpha val="42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050" dirty="0"/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878804DC-F6B4-49A1-A82C-BC2ED8528CE1}"/>
                    </a:ext>
                  </a:extLst>
                </p:cNvPr>
                <p:cNvSpPr txBox="1"/>
                <p:nvPr/>
              </p:nvSpPr>
              <p:spPr>
                <a:xfrm>
                  <a:off x="1065864" y="2185211"/>
                  <a:ext cx="2189826" cy="6955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buClr>
                      <a:schemeClr val="dk1"/>
                    </a:buClr>
                    <a:buSzPts val="1100"/>
                  </a:pPr>
                  <a:endParaRPr lang="en-IN" sz="1350" b="1" spc="450" dirty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Kanit" pitchFamily="2" charset="-34"/>
                  </a:endParaRPr>
                </a:p>
              </p:txBody>
            </p: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3F1B1874-C34D-4ABB-AF13-8DC841CCB0B9}"/>
                  </a:ext>
                </a:extLst>
              </p:cNvPr>
              <p:cNvGrpSpPr/>
              <p:nvPr/>
            </p:nvGrpSpPr>
            <p:grpSpPr>
              <a:xfrm>
                <a:off x="3845432" y="1019157"/>
                <a:ext cx="4358726" cy="2123692"/>
                <a:chOff x="3603243" y="501626"/>
                <a:chExt cx="5811636" cy="2831589"/>
              </a:xfrm>
            </p:grpSpPr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7289BCA8-CBA0-4295-80C8-EB3C236A652A}"/>
                    </a:ext>
                  </a:extLst>
                </p:cNvPr>
                <p:cNvGrpSpPr/>
                <p:nvPr/>
              </p:nvGrpSpPr>
              <p:grpSpPr>
                <a:xfrm>
                  <a:off x="3603243" y="501626"/>
                  <a:ext cx="5070316" cy="669750"/>
                  <a:chOff x="4130675" y="266335"/>
                  <a:chExt cx="6528722" cy="862392"/>
                </a:xfrm>
              </p:grpSpPr>
              <p:grpSp>
                <p:nvGrpSpPr>
                  <p:cNvPr id="125" name="Group 124">
                    <a:extLst>
                      <a:ext uri="{FF2B5EF4-FFF2-40B4-BE49-F238E27FC236}">
                        <a16:creationId xmlns:a16="http://schemas.microsoft.com/office/drawing/2014/main" id="{B3BBEB22-9397-49BA-B440-805741C63018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266335"/>
                    <a:ext cx="6445795" cy="862392"/>
                    <a:chOff x="3797300" y="666963"/>
                    <a:chExt cx="6445795" cy="862392"/>
                  </a:xfrm>
                </p:grpSpPr>
                <p:sp>
                  <p:nvSpPr>
                    <p:cNvPr id="127" name="Rectangle: Rounded Corners 126">
                      <a:extLst>
                        <a:ext uri="{FF2B5EF4-FFF2-40B4-BE49-F238E27FC236}">
                          <a16:creationId xmlns:a16="http://schemas.microsoft.com/office/drawing/2014/main" id="{AC723A7A-231E-407B-8CBE-6AC133DDEF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1656" y="750547"/>
                      <a:ext cx="6381439" cy="778808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85000"/>
                        <a:alpha val="42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  <a:effectLst/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sp>
                  <p:nvSpPr>
                    <p:cNvPr id="128" name="Rectangle: Rounded Corners 127">
                      <a:extLst>
                        <a:ext uri="{FF2B5EF4-FFF2-40B4-BE49-F238E27FC236}">
                          <a16:creationId xmlns:a16="http://schemas.microsoft.com/office/drawing/2014/main" id="{0ED7AE01-2894-4D48-B246-A57714A9E9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54156" y="711876"/>
                      <a:ext cx="1116000" cy="90202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1"/>
                    </a:solidFill>
                    <a:ln w="15875" cap="flat">
                      <a:solidFill>
                        <a:schemeClr val="bg1">
                          <a:alpha val="48000"/>
                        </a:schemeClr>
                      </a:solidFill>
                      <a:prstDash val="solid"/>
                      <a:miter/>
                    </a:ln>
                    <a:effectLst>
                      <a:outerShdw blurRad="50800" dist="25400" dir="5400000" sx="97000" sy="97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grpSp>
                  <p:nvGrpSpPr>
                    <p:cNvPr id="129" name="Group 128">
                      <a:extLst>
                        <a:ext uri="{FF2B5EF4-FFF2-40B4-BE49-F238E27FC236}">
                          <a16:creationId xmlns:a16="http://schemas.microsoft.com/office/drawing/2014/main" id="{C2F84809-6BE5-4F44-9FFD-B22CCAD2F1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797300" y="666963"/>
                      <a:ext cx="608424" cy="608424"/>
                      <a:chOff x="3797300" y="666963"/>
                      <a:chExt cx="608424" cy="608424"/>
                    </a:xfrm>
                  </p:grpSpPr>
                  <p:sp>
                    <p:nvSpPr>
                      <p:cNvPr id="130" name="Oval 129">
                        <a:extLst>
                          <a:ext uri="{FF2B5EF4-FFF2-40B4-BE49-F238E27FC236}">
                            <a16:creationId xmlns:a16="http://schemas.microsoft.com/office/drawing/2014/main" id="{617C94AD-5A01-42E2-A9C9-2588C09436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97300" y="666963"/>
                        <a:ext cx="608424" cy="608424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12700">
                        <a:solidFill>
                          <a:schemeClr val="bg1">
                            <a:alpha val="52000"/>
                          </a:schemeClr>
                        </a:solidFill>
                      </a:ln>
                      <a:effectLst>
                        <a:innerShdw blurRad="63500" dist="25400" dir="16200000">
                          <a:prstClr val="black">
                            <a:alpha val="50000"/>
                          </a:prstClr>
                        </a:inn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sz="1050" dirty="0"/>
                      </a:p>
                    </p:txBody>
                  </p:sp>
                  <p:sp>
                    <p:nvSpPr>
                      <p:cNvPr id="131" name="Oval 130">
                        <a:extLst>
                          <a:ext uri="{FF2B5EF4-FFF2-40B4-BE49-F238E27FC236}">
                            <a16:creationId xmlns:a16="http://schemas.microsoft.com/office/drawing/2014/main" id="{921DB404-25D9-463B-8603-94B458C18A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65767" y="735432"/>
                        <a:ext cx="471490" cy="471490"/>
                      </a:xfrm>
                      <a:prstGeom prst="ellipse">
                        <a:avLst/>
                      </a:prstGeom>
                      <a:gradFill>
                        <a:gsLst>
                          <a:gs pos="68000">
                            <a:schemeClr val="bg1"/>
                          </a:gs>
                          <a:gs pos="9000">
                            <a:schemeClr val="bg1">
                              <a:lumMod val="78000"/>
                            </a:schemeClr>
                          </a:gs>
                        </a:gsLst>
                        <a:lin ang="2700000" scaled="1"/>
                      </a:gradFill>
                      <a:ln w="15875">
                        <a:solidFill>
                          <a:schemeClr val="bg1">
                            <a:alpha val="42000"/>
                          </a:schemeClr>
                        </a:solidFill>
                      </a:ln>
                      <a:effectLst>
                        <a:outerShdw blurRad="50800" dist="38100" dir="5400000" algn="t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IN" sz="1050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rPr>
                          <a:t>1</a:t>
                        </a:r>
                      </a:p>
                    </p:txBody>
                  </p:sp>
                </p:grpSp>
              </p:grpSp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07A18212-9441-474D-8CB8-1024BD017479}"/>
                      </a:ext>
                    </a:extLst>
                  </p:cNvPr>
                  <p:cNvSpPr txBox="1"/>
                  <p:nvPr/>
                </p:nvSpPr>
                <p:spPr>
                  <a:xfrm>
                    <a:off x="5600203" y="410751"/>
                    <a:ext cx="5059194" cy="47082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69" tIns="68569" rIns="68569" bIns="68569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0" indent="0">
                      <a:buNone/>
                      <a:defRPr sz="11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Roboto"/>
                        <a:cs typeface="Open Sans" pitchFamily="2" charset="0"/>
                      </a:defRPr>
                    </a:lvl1pPr>
                  </a:lstStyle>
                  <a:p>
                    <a:r>
                      <a:rPr lang="en-US" sz="1600" b="1" dirty="0">
                        <a:solidFill>
                          <a:schemeClr val="bg2"/>
                        </a:solidFill>
                        <a:latin typeface="Lato"/>
                        <a:ea typeface="Lato"/>
                        <a:cs typeface="Lato"/>
                      </a:rPr>
                      <a:t>Core NLP concepts and terminologies.</a:t>
                    </a: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D65A46B1-9845-4CB5-8AF8-8DA24DF63E6E}"/>
                    </a:ext>
                  </a:extLst>
                </p:cNvPr>
                <p:cNvGrpSpPr/>
                <p:nvPr/>
              </p:nvGrpSpPr>
              <p:grpSpPr>
                <a:xfrm>
                  <a:off x="4079477" y="1222239"/>
                  <a:ext cx="5070327" cy="669750"/>
                  <a:chOff x="4130675" y="266335"/>
                  <a:chExt cx="6528737" cy="862392"/>
                </a:xfrm>
              </p:grpSpPr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9D22CE9B-007B-40EE-B03F-382636C380C7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266335"/>
                    <a:ext cx="6445793" cy="862392"/>
                    <a:chOff x="3797300" y="666963"/>
                    <a:chExt cx="6445793" cy="862392"/>
                  </a:xfrm>
                </p:grpSpPr>
                <p:sp>
                  <p:nvSpPr>
                    <p:cNvPr id="120" name="Rectangle: Rounded Corners 119">
                      <a:extLst>
                        <a:ext uri="{FF2B5EF4-FFF2-40B4-BE49-F238E27FC236}">
                          <a16:creationId xmlns:a16="http://schemas.microsoft.com/office/drawing/2014/main" id="{7C375245-7908-42B4-A22E-494D9CF257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1655" y="750547"/>
                      <a:ext cx="6381438" cy="778808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85000"/>
                        <a:alpha val="42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  <a:effectLst/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sp>
                  <p:nvSpPr>
                    <p:cNvPr id="121" name="Rectangle: Rounded Corners 120">
                      <a:extLst>
                        <a:ext uri="{FF2B5EF4-FFF2-40B4-BE49-F238E27FC236}">
                          <a16:creationId xmlns:a16="http://schemas.microsoft.com/office/drawing/2014/main" id="{57A770B9-1FA9-4E43-A929-5A880278AF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54156" y="711876"/>
                      <a:ext cx="1116000" cy="90202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2"/>
                    </a:solidFill>
                    <a:ln w="15875" cap="flat">
                      <a:solidFill>
                        <a:schemeClr val="bg1">
                          <a:alpha val="48000"/>
                        </a:schemeClr>
                      </a:solidFill>
                      <a:prstDash val="solid"/>
                      <a:miter/>
                    </a:ln>
                    <a:effectLst>
                      <a:outerShdw blurRad="50800" dist="25400" dir="5400000" sx="97000" sy="97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grpSp>
                  <p:nvGrpSpPr>
                    <p:cNvPr id="122" name="Group 121">
                      <a:extLst>
                        <a:ext uri="{FF2B5EF4-FFF2-40B4-BE49-F238E27FC236}">
                          <a16:creationId xmlns:a16="http://schemas.microsoft.com/office/drawing/2014/main" id="{0E7D93E6-BB08-4324-B45B-E14038B01A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797300" y="666963"/>
                      <a:ext cx="608424" cy="608424"/>
                      <a:chOff x="3797300" y="666963"/>
                      <a:chExt cx="608424" cy="608424"/>
                    </a:xfrm>
                  </p:grpSpPr>
                  <p:sp>
                    <p:nvSpPr>
                      <p:cNvPr id="123" name="Oval 122">
                        <a:extLst>
                          <a:ext uri="{FF2B5EF4-FFF2-40B4-BE49-F238E27FC236}">
                            <a16:creationId xmlns:a16="http://schemas.microsoft.com/office/drawing/2014/main" id="{05D4AE43-AA46-49EC-8EF5-44CD8AC9A9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97300" y="666963"/>
                        <a:ext cx="608424" cy="608424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12700">
                        <a:solidFill>
                          <a:schemeClr val="bg1">
                            <a:alpha val="52000"/>
                          </a:schemeClr>
                        </a:solidFill>
                      </a:ln>
                      <a:effectLst>
                        <a:innerShdw blurRad="63500" dist="25400" dir="16200000">
                          <a:prstClr val="black">
                            <a:alpha val="50000"/>
                          </a:prstClr>
                        </a:inn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sz="1050" dirty="0"/>
                      </a:p>
                    </p:txBody>
                  </p:sp>
                  <p:sp>
                    <p:nvSpPr>
                      <p:cNvPr id="124" name="Oval 123">
                        <a:extLst>
                          <a:ext uri="{FF2B5EF4-FFF2-40B4-BE49-F238E27FC236}">
                            <a16:creationId xmlns:a16="http://schemas.microsoft.com/office/drawing/2014/main" id="{96EA97BE-1A26-49DC-89FD-57FD29C09A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65767" y="735432"/>
                        <a:ext cx="471490" cy="471490"/>
                      </a:xfrm>
                      <a:prstGeom prst="ellipse">
                        <a:avLst/>
                      </a:prstGeom>
                      <a:gradFill>
                        <a:gsLst>
                          <a:gs pos="68000">
                            <a:schemeClr val="bg1"/>
                          </a:gs>
                          <a:gs pos="9000">
                            <a:schemeClr val="bg1">
                              <a:lumMod val="78000"/>
                            </a:schemeClr>
                          </a:gs>
                        </a:gsLst>
                        <a:lin ang="2700000" scaled="1"/>
                      </a:gradFill>
                      <a:ln w="15875">
                        <a:solidFill>
                          <a:schemeClr val="bg1">
                            <a:alpha val="42000"/>
                          </a:schemeClr>
                        </a:solidFill>
                      </a:ln>
                      <a:effectLst>
                        <a:outerShdw blurRad="50800" dist="38100" dir="5400000" algn="t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IN" sz="1050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rPr>
                          <a:t>2</a:t>
                        </a:r>
                      </a:p>
                    </p:txBody>
                  </p:sp>
                </p:grpSp>
              </p:grpSp>
              <p:sp>
                <p:nvSpPr>
                  <p:cNvPr id="119" name="TextBox 118">
                    <a:extLst>
                      <a:ext uri="{FF2B5EF4-FFF2-40B4-BE49-F238E27FC236}">
                        <a16:creationId xmlns:a16="http://schemas.microsoft.com/office/drawing/2014/main" id="{80EC2B4E-B618-4CE1-8B6E-88B6415FBCB6}"/>
                      </a:ext>
                    </a:extLst>
                  </p:cNvPr>
                  <p:cNvSpPr txBox="1"/>
                  <p:nvPr/>
                </p:nvSpPr>
                <p:spPr>
                  <a:xfrm>
                    <a:off x="5600196" y="410751"/>
                    <a:ext cx="5059216" cy="47082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69" tIns="68569" rIns="68569" bIns="68569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0" indent="0">
                      <a:buNone/>
                      <a:defRPr sz="11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Roboto"/>
                        <a:cs typeface="Open Sans" pitchFamily="2" charset="0"/>
                      </a:defRPr>
                    </a:lvl1pPr>
                  </a:lstStyle>
                  <a:p>
                    <a:r>
                      <a:rPr lang="en-US" sz="1600" b="1" dirty="0">
                        <a:solidFill>
                          <a:schemeClr val="bg2"/>
                        </a:solidFill>
                        <a:latin typeface="Lato"/>
                        <a:ea typeface="Lato"/>
                        <a:cs typeface="Lato"/>
                      </a:rPr>
                      <a:t>Techniques for text preprocessing and analysis.</a:t>
                    </a:r>
                  </a:p>
                </p:txBody>
              </p:sp>
            </p:grp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8E467D13-5662-4D8E-8AF9-F090CA7CFA2A}"/>
                    </a:ext>
                  </a:extLst>
                </p:cNvPr>
                <p:cNvGrpSpPr/>
                <p:nvPr/>
              </p:nvGrpSpPr>
              <p:grpSpPr>
                <a:xfrm>
                  <a:off x="4344549" y="1942852"/>
                  <a:ext cx="5070330" cy="669751"/>
                  <a:chOff x="4130675" y="266335"/>
                  <a:chExt cx="6528740" cy="862392"/>
                </a:xfrm>
              </p:grpSpPr>
              <p:grpSp>
                <p:nvGrpSpPr>
                  <p:cNvPr id="111" name="Group 110">
                    <a:extLst>
                      <a:ext uri="{FF2B5EF4-FFF2-40B4-BE49-F238E27FC236}">
                        <a16:creationId xmlns:a16="http://schemas.microsoft.com/office/drawing/2014/main" id="{5AB8DF0F-225B-42DC-A2BD-561E46A49B86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266335"/>
                    <a:ext cx="6445792" cy="862392"/>
                    <a:chOff x="3797300" y="666963"/>
                    <a:chExt cx="6445792" cy="862392"/>
                  </a:xfrm>
                </p:grpSpPr>
                <p:sp>
                  <p:nvSpPr>
                    <p:cNvPr id="113" name="Rectangle: Rounded Corners 112">
                      <a:extLst>
                        <a:ext uri="{FF2B5EF4-FFF2-40B4-BE49-F238E27FC236}">
                          <a16:creationId xmlns:a16="http://schemas.microsoft.com/office/drawing/2014/main" id="{0A1DA19E-B419-41F9-8637-CDA62522C6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1656" y="750547"/>
                      <a:ext cx="6381436" cy="778808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85000"/>
                        <a:alpha val="42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  <a:effectLst/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sp>
                  <p:nvSpPr>
                    <p:cNvPr id="114" name="Rectangle: Rounded Corners 113">
                      <a:extLst>
                        <a:ext uri="{FF2B5EF4-FFF2-40B4-BE49-F238E27FC236}">
                          <a16:creationId xmlns:a16="http://schemas.microsoft.com/office/drawing/2014/main" id="{7F830FE7-CCEE-4EF4-A5A7-CF28F2266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54156" y="711876"/>
                      <a:ext cx="1116000" cy="90202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3"/>
                    </a:solidFill>
                    <a:ln w="15875" cap="flat">
                      <a:solidFill>
                        <a:schemeClr val="bg1">
                          <a:alpha val="48000"/>
                        </a:schemeClr>
                      </a:solidFill>
                      <a:prstDash val="solid"/>
                      <a:miter/>
                    </a:ln>
                    <a:effectLst>
                      <a:outerShdw blurRad="50800" dist="25400" dir="5400000" sx="97000" sy="97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grpSp>
                  <p:nvGrpSpPr>
                    <p:cNvPr id="115" name="Group 114">
                      <a:extLst>
                        <a:ext uri="{FF2B5EF4-FFF2-40B4-BE49-F238E27FC236}">
                          <a16:creationId xmlns:a16="http://schemas.microsoft.com/office/drawing/2014/main" id="{EB6A597B-E977-4CEE-871D-EDCF9F73E9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797300" y="666963"/>
                      <a:ext cx="608424" cy="608424"/>
                      <a:chOff x="3797300" y="666963"/>
                      <a:chExt cx="608424" cy="608424"/>
                    </a:xfrm>
                  </p:grpSpPr>
                  <p:sp>
                    <p:nvSpPr>
                      <p:cNvPr id="116" name="Oval 115">
                        <a:extLst>
                          <a:ext uri="{FF2B5EF4-FFF2-40B4-BE49-F238E27FC236}">
                            <a16:creationId xmlns:a16="http://schemas.microsoft.com/office/drawing/2014/main" id="{6510260E-B439-4575-9738-3F2418CC6D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97300" y="666963"/>
                        <a:ext cx="608424" cy="608424"/>
                      </a:xfrm>
                      <a:prstGeom prst="ellipse">
                        <a:avLst/>
                      </a:prstGeom>
                      <a:solidFill>
                        <a:schemeClr val="accent3"/>
                      </a:solidFill>
                      <a:ln w="12700">
                        <a:solidFill>
                          <a:schemeClr val="bg1">
                            <a:alpha val="52000"/>
                          </a:schemeClr>
                        </a:solidFill>
                      </a:ln>
                      <a:effectLst>
                        <a:innerShdw blurRad="63500" dist="25400" dir="16200000">
                          <a:prstClr val="black">
                            <a:alpha val="50000"/>
                          </a:prstClr>
                        </a:inn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sz="1050" dirty="0"/>
                      </a:p>
                    </p:txBody>
                  </p:sp>
                  <p:sp>
                    <p:nvSpPr>
                      <p:cNvPr id="117" name="Oval 116">
                        <a:extLst>
                          <a:ext uri="{FF2B5EF4-FFF2-40B4-BE49-F238E27FC236}">
                            <a16:creationId xmlns:a16="http://schemas.microsoft.com/office/drawing/2014/main" id="{1A0C3B1E-08F2-4AE4-86EE-417AE7B87D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65767" y="735431"/>
                        <a:ext cx="471489" cy="471489"/>
                      </a:xfrm>
                      <a:prstGeom prst="ellipse">
                        <a:avLst/>
                      </a:prstGeom>
                      <a:gradFill>
                        <a:gsLst>
                          <a:gs pos="68000">
                            <a:schemeClr val="bg1"/>
                          </a:gs>
                          <a:gs pos="9000">
                            <a:schemeClr val="bg1">
                              <a:lumMod val="78000"/>
                            </a:schemeClr>
                          </a:gs>
                        </a:gsLst>
                        <a:lin ang="2700000" scaled="1"/>
                      </a:gradFill>
                      <a:ln w="15875">
                        <a:solidFill>
                          <a:schemeClr val="bg1">
                            <a:alpha val="42000"/>
                          </a:schemeClr>
                        </a:solidFill>
                      </a:ln>
                      <a:effectLst>
                        <a:outerShdw blurRad="50800" dist="38100" dir="5400000" algn="t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IN" sz="1050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rPr>
                          <a:t>3</a:t>
                        </a:r>
                      </a:p>
                    </p:txBody>
                  </p:sp>
                </p:grpSp>
              </p:grpSp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E6561006-7C15-4572-B395-17B38EE69291}"/>
                      </a:ext>
                    </a:extLst>
                  </p:cNvPr>
                  <p:cNvSpPr txBox="1"/>
                  <p:nvPr/>
                </p:nvSpPr>
                <p:spPr>
                  <a:xfrm>
                    <a:off x="5600191" y="410751"/>
                    <a:ext cx="5059224" cy="4708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69" tIns="68569" rIns="68569" bIns="68569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0" indent="0">
                      <a:buNone/>
                      <a:defRPr sz="11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Roboto"/>
                        <a:cs typeface="Open Sans" pitchFamily="2" charset="0"/>
                      </a:defRPr>
                    </a:lvl1pPr>
                  </a:lstStyle>
                  <a:p>
                    <a:r>
                      <a:rPr lang="en-US" sz="1600" b="1" dirty="0">
                        <a:solidFill>
                          <a:schemeClr val="bg2"/>
                        </a:solidFill>
                        <a:latin typeface="Lato"/>
                        <a:ea typeface="Lato"/>
                        <a:cs typeface="Lato"/>
                      </a:rPr>
                      <a:t>Building NLP models using popular libraries.</a:t>
                    </a: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3492E0F5-C389-483D-B789-16AC95939345}"/>
                    </a:ext>
                  </a:extLst>
                </p:cNvPr>
                <p:cNvGrpSpPr/>
                <p:nvPr/>
              </p:nvGrpSpPr>
              <p:grpSpPr>
                <a:xfrm>
                  <a:off x="4344549" y="2663465"/>
                  <a:ext cx="5070313" cy="669750"/>
                  <a:chOff x="4130675" y="266335"/>
                  <a:chExt cx="6528718" cy="862392"/>
                </a:xfrm>
              </p:grpSpPr>
              <p:grpSp>
                <p:nvGrpSpPr>
                  <p:cNvPr id="104" name="Group 103">
                    <a:extLst>
                      <a:ext uri="{FF2B5EF4-FFF2-40B4-BE49-F238E27FC236}">
                        <a16:creationId xmlns:a16="http://schemas.microsoft.com/office/drawing/2014/main" id="{CCC0D05E-29F2-4309-8F98-EBBC057D56E1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266335"/>
                    <a:ext cx="6445793" cy="862392"/>
                    <a:chOff x="3797300" y="666963"/>
                    <a:chExt cx="6445793" cy="862392"/>
                  </a:xfrm>
                </p:grpSpPr>
                <p:sp>
                  <p:nvSpPr>
                    <p:cNvPr id="106" name="Rectangle: Rounded Corners 105">
                      <a:extLst>
                        <a:ext uri="{FF2B5EF4-FFF2-40B4-BE49-F238E27FC236}">
                          <a16:creationId xmlns:a16="http://schemas.microsoft.com/office/drawing/2014/main" id="{575E9D03-5FF2-42CA-B68A-7F84A36E4A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1654" y="750547"/>
                      <a:ext cx="6381439" cy="778808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85000"/>
                        <a:alpha val="42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  <a:effectLst/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sp>
                  <p:nvSpPr>
                    <p:cNvPr id="107" name="Rectangle: Rounded Corners 106">
                      <a:extLst>
                        <a:ext uri="{FF2B5EF4-FFF2-40B4-BE49-F238E27FC236}">
                          <a16:creationId xmlns:a16="http://schemas.microsoft.com/office/drawing/2014/main" id="{D811432B-14CB-4AF1-B3DC-7B8360B0D0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54156" y="711876"/>
                      <a:ext cx="1116000" cy="90202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4"/>
                    </a:solidFill>
                    <a:ln w="15875" cap="flat">
                      <a:solidFill>
                        <a:schemeClr val="bg1">
                          <a:alpha val="48000"/>
                        </a:schemeClr>
                      </a:solidFill>
                      <a:prstDash val="solid"/>
                      <a:miter/>
                    </a:ln>
                    <a:effectLst>
                      <a:outerShdw blurRad="50800" dist="25400" dir="5400000" sx="97000" sy="97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grpSp>
                  <p:nvGrpSpPr>
                    <p:cNvPr id="108" name="Group 107">
                      <a:extLst>
                        <a:ext uri="{FF2B5EF4-FFF2-40B4-BE49-F238E27FC236}">
                          <a16:creationId xmlns:a16="http://schemas.microsoft.com/office/drawing/2014/main" id="{2CF242FF-DDA2-4602-A9F2-B6A7567CE6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797300" y="666963"/>
                      <a:ext cx="608424" cy="608424"/>
                      <a:chOff x="3797300" y="666963"/>
                      <a:chExt cx="608424" cy="608424"/>
                    </a:xfrm>
                  </p:grpSpPr>
                  <p:sp>
                    <p:nvSpPr>
                      <p:cNvPr id="109" name="Oval 108">
                        <a:extLst>
                          <a:ext uri="{FF2B5EF4-FFF2-40B4-BE49-F238E27FC236}">
                            <a16:creationId xmlns:a16="http://schemas.microsoft.com/office/drawing/2014/main" id="{0ACA42EC-93CD-42EC-A017-DD165C0D3B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97300" y="666963"/>
                        <a:ext cx="608424" cy="608424"/>
                      </a:xfrm>
                      <a:prstGeom prst="ellipse">
                        <a:avLst/>
                      </a:prstGeom>
                      <a:solidFill>
                        <a:schemeClr val="accent4"/>
                      </a:solidFill>
                      <a:ln w="12700">
                        <a:solidFill>
                          <a:schemeClr val="bg1">
                            <a:alpha val="52000"/>
                          </a:schemeClr>
                        </a:solidFill>
                      </a:ln>
                      <a:effectLst>
                        <a:innerShdw blurRad="63500" dist="25400" dir="16200000">
                          <a:prstClr val="black">
                            <a:alpha val="50000"/>
                          </a:prstClr>
                        </a:inn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sz="1050" dirty="0"/>
                      </a:p>
                    </p:txBody>
                  </p:sp>
                  <p:sp>
                    <p:nvSpPr>
                      <p:cNvPr id="110" name="Oval 109">
                        <a:extLst>
                          <a:ext uri="{FF2B5EF4-FFF2-40B4-BE49-F238E27FC236}">
                            <a16:creationId xmlns:a16="http://schemas.microsoft.com/office/drawing/2014/main" id="{4CE4E61F-A98A-4B63-BBB0-394907E858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65767" y="735431"/>
                        <a:ext cx="471489" cy="471489"/>
                      </a:xfrm>
                      <a:prstGeom prst="ellipse">
                        <a:avLst/>
                      </a:prstGeom>
                      <a:gradFill>
                        <a:gsLst>
                          <a:gs pos="68000">
                            <a:schemeClr val="bg1"/>
                          </a:gs>
                          <a:gs pos="9000">
                            <a:schemeClr val="bg1">
                              <a:lumMod val="78000"/>
                            </a:schemeClr>
                          </a:gs>
                        </a:gsLst>
                        <a:lin ang="2700000" scaled="1"/>
                      </a:gradFill>
                      <a:ln w="15875">
                        <a:solidFill>
                          <a:schemeClr val="bg1">
                            <a:alpha val="42000"/>
                          </a:schemeClr>
                        </a:solidFill>
                      </a:ln>
                      <a:effectLst>
                        <a:outerShdw blurRad="50800" dist="38100" dir="5400000" algn="t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IN" sz="1050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rPr>
                          <a:t>4</a:t>
                        </a:r>
                      </a:p>
                    </p:txBody>
                  </p:sp>
                </p:grpSp>
              </p:grp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BE1826CC-46F7-4FAF-B579-D0223D570DF2}"/>
                      </a:ext>
                    </a:extLst>
                  </p:cNvPr>
                  <p:cNvSpPr txBox="1"/>
                  <p:nvPr/>
                </p:nvSpPr>
                <p:spPr>
                  <a:xfrm>
                    <a:off x="5600206" y="410751"/>
                    <a:ext cx="5059187" cy="47082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69" tIns="68569" rIns="68569" bIns="68569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0" indent="0">
                      <a:buNone/>
                      <a:defRPr sz="11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Roboto"/>
                        <a:cs typeface="Open Sans" pitchFamily="2" charset="0"/>
                      </a:defRPr>
                    </a:lvl1pPr>
                  </a:lstStyle>
                  <a:p>
                    <a:r>
                      <a:rPr lang="en-US" sz="1600" b="1" dirty="0">
                        <a:solidFill>
                          <a:schemeClr val="bg2"/>
                        </a:solidFill>
                        <a:latin typeface="Lato"/>
                        <a:ea typeface="Lato"/>
                        <a:cs typeface="Lato"/>
                      </a:rPr>
                      <a:t>Advanced topics like topic modeling and deep learning in NLP.</a:t>
                    </a:r>
                  </a:p>
                </p:txBody>
              </p:sp>
            </p:grpSp>
          </p:grpSp>
        </p:grp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394184FC-A0D5-4E5A-B4A7-2EFE2FDB7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8170" y="3739283"/>
              <a:ext cx="1296452" cy="1296452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</p:spTree>
    <p:extLst>
      <p:ext uri="{BB962C8B-B14F-4D97-AF65-F5344CB8AC3E}">
        <p14:creationId xmlns:p14="http://schemas.microsoft.com/office/powerpoint/2010/main" val="224327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6A83944-9242-4052-B721-AC3A863E6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303" y="1004105"/>
            <a:ext cx="3282633" cy="2950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effectLst/>
              </a:rPr>
              <a:t>What is Natural Language Processing (NLP)?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815272"/>
            <a:ext cx="700315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Definition:</a:t>
            </a:r>
          </a:p>
          <a:p>
            <a:pPr>
              <a:defRPr sz="1800"/>
            </a:pPr>
            <a:r>
              <a:rPr lang="en-US" sz="2400" dirty="0">
                <a:solidFill>
                  <a:schemeClr val="bg1"/>
                </a:solidFill>
              </a:rPr>
              <a:t>Natural Language Processing (NLP) is a field of Artificial Intelligence (AI) that enables computers to </a:t>
            </a:r>
            <a:r>
              <a:rPr lang="en-US" sz="2400" b="1" dirty="0">
                <a:solidFill>
                  <a:schemeClr val="bg1"/>
                </a:solidFill>
              </a:rPr>
              <a:t>understand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interpret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b="1" dirty="0">
                <a:solidFill>
                  <a:schemeClr val="bg1"/>
                </a:solidFill>
              </a:rPr>
              <a:t>generate</a:t>
            </a:r>
            <a:r>
              <a:rPr lang="en-US" sz="2400" dirty="0">
                <a:solidFill>
                  <a:schemeClr val="bg1"/>
                </a:solidFill>
              </a:rPr>
              <a:t> human language.</a:t>
            </a:r>
          </a:p>
          <a:p>
            <a:pPr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Goals of NLP: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Bridge communication between humans and machines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Enable machines to understand context, semantics, and intent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Automate and enhance language-based tasks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297A18-CF60-4BD3-9000-FB7C1499F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870" y="3954319"/>
            <a:ext cx="4417740" cy="260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09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57F4CBD-5A03-4023-BFD6-0E41B6E32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697" y="3786063"/>
            <a:ext cx="2771775" cy="1647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effectLst/>
              </a:rPr>
              <a:t>What is Natural Language Processing (NLP)?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490152"/>
            <a:ext cx="70031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Core Objectives: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Speech recognition &amp; synthesis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Language translation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Text understanding and generation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Information retrieval &amp; extraction</a:t>
            </a:r>
          </a:p>
          <a:p>
            <a:pPr lvl="1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Key Applications: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Chatbots &amp; Virtual Assistants (e.g., 	, Alexa)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Machine Translation (e.g., Google Translate)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Sentiment Analysis (e.g., product reviews)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Text Summarization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Email classification (spam detection)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Search engines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1FC879-065E-49AD-BB27-0B4815853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801" y="1402081"/>
            <a:ext cx="4564697" cy="29670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2A022F-D7C8-41A3-BBAF-ACACD98B9D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050" y="5638800"/>
            <a:ext cx="1904312" cy="10664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F11493-2FA3-47FF-8DC6-3F7CFB0675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352" y="5248275"/>
            <a:ext cx="2838450" cy="1609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A06D46-1524-42C1-B2F1-7558F13EFD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462" y="4287854"/>
            <a:ext cx="1858058" cy="120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41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D304C0-4F06-4BF0-ADF9-A6E20FFAF6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5"/>
          <a:stretch/>
        </p:blipFill>
        <p:spPr>
          <a:xfrm>
            <a:off x="7476329" y="1291847"/>
            <a:ext cx="4715671" cy="17296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A9C7B0-660E-40D0-8E4F-69AB3249D7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343"/>
          <a:stretch/>
        </p:blipFill>
        <p:spPr>
          <a:xfrm>
            <a:off x="7701280" y="3429000"/>
            <a:ext cx="4074160" cy="12406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effectLst/>
              </a:rPr>
              <a:t>Brief History of NLP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327592"/>
            <a:ext cx="9278996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1950s–1960s: Rule-Based Systems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Alan Turing proposes the Turing Test (1950)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First attempts at machine translation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NLP based on hand-written rules and grammar structures</a:t>
            </a:r>
          </a:p>
          <a:p>
            <a:pPr lvl="1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1970s–1980s: Classical Linguistics &amp; Symbolic NLP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Development of syntactic parsers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Use of expert systems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Limited success due to complexity and ambiguity of language</a:t>
            </a:r>
          </a:p>
          <a:p>
            <a:pPr lvl="1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1990s: Statistical NLP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Introduction of machine learning techniques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Use of Hidden Markov Models (HMMs) and n-grams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Rise of data-driven approaches using large corpora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3F9A15-E08D-4045-B942-5349D43FA2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561" y="4669654"/>
            <a:ext cx="3006358" cy="222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4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effectLst/>
              </a:rPr>
              <a:t>Brief History of NLP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490152"/>
            <a:ext cx="766355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2000s–2010s: Deep Learning Era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Emergence of word embeddings (e.g., Word2Vec, </a:t>
            </a:r>
            <a:r>
              <a:rPr lang="en-US" sz="2400" dirty="0" err="1">
                <a:solidFill>
                  <a:schemeClr val="bg1"/>
                </a:solidFill>
              </a:rPr>
              <a:t>GloVe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NLP powered by Neural Networks and Recurrent Neural Networks (RNNs)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Significant improvement in accuracy and scale</a:t>
            </a:r>
          </a:p>
          <a:p>
            <a:pPr lvl="1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2018–Present: Transformers and Large Language Models (LLMs)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Introduction of Transformers (Vaswani et al., 2017)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Rise of BERT, GPT, T5 and other LLMs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Shift to pretrained models and transfer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03F337-C86E-46C1-BC3E-323A70E56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9" t="50000" r="249" b="343"/>
          <a:stretch/>
        </p:blipFill>
        <p:spPr>
          <a:xfrm>
            <a:off x="7457440" y="2001520"/>
            <a:ext cx="4324392" cy="13168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F6DF5C-D13A-46FB-B2E5-77F7042D10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05" t="8485" r="7187" b="2416"/>
          <a:stretch/>
        </p:blipFill>
        <p:spPr>
          <a:xfrm>
            <a:off x="7660640" y="4069726"/>
            <a:ext cx="4324393" cy="259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0070C0"/>
                </a:solidFill>
                <a:effectLst/>
              </a:rPr>
              <a:t>Challenges and Ambiguities in Natural Language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632392"/>
            <a:ext cx="936027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1. Ambiguity</a:t>
            </a:r>
          </a:p>
          <a:p>
            <a:pPr lvl="1"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Lexical Ambiguity: </a:t>
            </a:r>
            <a:r>
              <a:rPr lang="en-US" sz="2400" dirty="0">
                <a:solidFill>
                  <a:schemeClr val="bg1"/>
                </a:solidFill>
              </a:rPr>
              <a:t>One word with multiple meanings</a:t>
            </a:r>
          </a:p>
          <a:p>
            <a:pPr lvl="2">
              <a:defRPr sz="1800"/>
            </a:pPr>
            <a:r>
              <a:rPr lang="en-US" sz="2400" dirty="0">
                <a:solidFill>
                  <a:schemeClr val="bg1"/>
                </a:solidFill>
              </a:rPr>
              <a:t>E.g., “bat” (animal vs. sports equipment)</a:t>
            </a:r>
          </a:p>
          <a:p>
            <a:pPr lvl="1"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Syntactic Ambiguity: </a:t>
            </a:r>
            <a:r>
              <a:rPr lang="en-US" sz="2400" dirty="0">
                <a:solidFill>
                  <a:schemeClr val="bg1"/>
                </a:solidFill>
              </a:rPr>
              <a:t>Multiple possible sentence structures</a:t>
            </a:r>
          </a:p>
          <a:p>
            <a:pPr lvl="2">
              <a:defRPr sz="1800"/>
            </a:pPr>
            <a:r>
              <a:rPr lang="en-US" sz="2400" dirty="0">
                <a:solidFill>
                  <a:schemeClr val="bg1"/>
                </a:solidFill>
              </a:rPr>
              <a:t>E.g., “I saw the man with the telescope”</a:t>
            </a:r>
          </a:p>
          <a:p>
            <a:pPr lvl="1"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Semantic Ambiguity: </a:t>
            </a:r>
            <a:r>
              <a:rPr lang="en-US" sz="2400" dirty="0">
                <a:solidFill>
                  <a:schemeClr val="bg1"/>
                </a:solidFill>
              </a:rPr>
              <a:t>Ambiguity in meaning</a:t>
            </a:r>
          </a:p>
          <a:p>
            <a:pPr lvl="2">
              <a:defRPr sz="1800"/>
            </a:pPr>
            <a:r>
              <a:rPr lang="en-US" sz="2400" dirty="0">
                <a:solidFill>
                  <a:schemeClr val="bg1"/>
                </a:solidFill>
              </a:rPr>
              <a:t>E.g., “The chicken is ready to eat” (Who’s eating whom?)</a:t>
            </a:r>
          </a:p>
          <a:p>
            <a:pPr lvl="2">
              <a:defRPr sz="1800"/>
            </a:pPr>
            <a:endParaRPr lang="en-US" sz="32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2. Context Sensitivity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Language meaning depends on context, tone, culture, etc.</a:t>
            </a:r>
          </a:p>
          <a:p>
            <a:pPr marL="1257300" lvl="2" indent="-342900">
              <a:buFont typeface="Courier New" panose="02070309020205020404" pitchFamily="49" charset="0"/>
              <a:buChar char="o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E.g., sarcasm, irony, or slang</a:t>
            </a:r>
          </a:p>
          <a:p>
            <a:pPr lvl="2">
              <a:defRPr sz="1800"/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03F512-A333-47CF-906B-71C6AFCA3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037" y="1788477"/>
            <a:ext cx="2605723" cy="26057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A2451A-F4D2-45B8-A1EF-71FD3D665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142" y="4655594"/>
            <a:ext cx="4008214" cy="20878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16436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B2201D-0A31-4A3C-A385-6E4B9D03D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288" y="1426210"/>
            <a:ext cx="6922985" cy="21196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0070C0"/>
                </a:solidFill>
                <a:effectLst/>
              </a:rPr>
              <a:t>Challenges and Ambiguities in Natural Language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2231832"/>
            <a:ext cx="72165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3. Coreference Resolution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Identifying what a pronoun or noun refers to</a:t>
            </a:r>
          </a:p>
          <a:p>
            <a:pPr lvl="2"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E.g., </a:t>
            </a:r>
            <a:r>
              <a:rPr lang="en-US" sz="2400" dirty="0">
                <a:solidFill>
                  <a:schemeClr val="bg1"/>
                </a:solidFill>
              </a:rPr>
              <a:t>“John helped Ali because he was tired”</a:t>
            </a:r>
          </a:p>
          <a:p>
            <a:pPr lvl="2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 lvl="2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 lvl="2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4. World Knowledge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NLP models lack real-world understanding</a:t>
            </a:r>
          </a:p>
          <a:p>
            <a:pPr lvl="2"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E.g., </a:t>
            </a:r>
            <a:r>
              <a:rPr lang="en-US" sz="2400" dirty="0">
                <a:solidFill>
                  <a:schemeClr val="bg1"/>
                </a:solidFill>
              </a:rPr>
              <a:t>“She put the book on the table and sat on it”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C881E0-7B72-43A8-BE12-FA545D0AD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924" y="3680203"/>
            <a:ext cx="3766001" cy="29505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8859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0070C0"/>
                </a:solidFill>
                <a:effectLst/>
              </a:rPr>
              <a:t>Challenges and Ambiguities in Natural Language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2109912"/>
            <a:ext cx="633259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5. Spelling &amp; Grammar Variations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Informal writing, typos, abbreviations</a:t>
            </a:r>
          </a:p>
          <a:p>
            <a:pPr lvl="2">
              <a:defRPr sz="1800"/>
            </a:pPr>
            <a:r>
              <a:rPr lang="en-US" sz="2400" dirty="0">
                <a:solidFill>
                  <a:schemeClr val="bg1"/>
                </a:solidFill>
              </a:rPr>
              <a:t>E.g., “u” vs. “you”, “</a:t>
            </a:r>
            <a:r>
              <a:rPr lang="en-US" sz="2400" dirty="0" err="1">
                <a:solidFill>
                  <a:schemeClr val="bg1"/>
                </a:solidFill>
              </a:rPr>
              <a:t>gonna</a:t>
            </a:r>
            <a:r>
              <a:rPr lang="en-US" sz="2400" dirty="0">
                <a:solidFill>
                  <a:schemeClr val="bg1"/>
                </a:solidFill>
              </a:rPr>
              <a:t>” vs. “going to”</a:t>
            </a:r>
          </a:p>
          <a:p>
            <a:pPr lvl="2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 lvl="2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6. </a:t>
            </a:r>
            <a:r>
              <a:rPr lang="en-US" sz="2800" dirty="0" err="1">
                <a:solidFill>
                  <a:schemeClr val="bg1"/>
                </a:solidFill>
              </a:rPr>
              <a:t>Multilinguality</a:t>
            </a:r>
            <a:r>
              <a:rPr lang="en-US" sz="2800" dirty="0">
                <a:solidFill>
                  <a:schemeClr val="bg1"/>
                </a:solidFill>
              </a:rPr>
              <a:t> &amp; Code-Switching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Handling multiple languages or mixed language text</a:t>
            </a:r>
          </a:p>
          <a:p>
            <a:pPr lvl="2">
              <a:defRPr sz="1800"/>
            </a:pPr>
            <a:r>
              <a:rPr lang="en-US" sz="2400" dirty="0">
                <a:solidFill>
                  <a:schemeClr val="bg1"/>
                </a:solidFill>
              </a:rPr>
              <a:t>E.g., “Main office </a:t>
            </a:r>
            <a:r>
              <a:rPr lang="en-US" sz="2400" dirty="0" err="1">
                <a:solidFill>
                  <a:schemeClr val="bg1"/>
                </a:solidFill>
              </a:rPr>
              <a:t>jaa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raha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hoon</a:t>
            </a:r>
            <a:r>
              <a:rPr lang="en-US" sz="2400" dirty="0">
                <a:solidFill>
                  <a:schemeClr val="bg1"/>
                </a:solidFill>
              </a:rPr>
              <a:t>” (English + Urdu/Hindi)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04B88-A1AD-47E6-B8EE-19BC385BA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460" y="1855683"/>
            <a:ext cx="3678556" cy="18392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6ED678-8312-4476-A984-CDCB0FEBA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041" y="4167788"/>
            <a:ext cx="4325394" cy="243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rgbClr val="0070C0"/>
                </a:solidFill>
                <a:effectLst/>
              </a:rPr>
              <a:t>The NLP Pipeline – Overview of Common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0" y="2022508"/>
            <a:ext cx="937043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1. Text Collection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Gather raw text data from sources like web, documents, chats, etc.</a:t>
            </a:r>
          </a:p>
          <a:p>
            <a:pPr lvl="1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 lvl="1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2. Text Preprocessing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Tokenization: Splitting text into words/sentences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Lowercasing: Converting all text to lowercase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 err="1">
                <a:solidFill>
                  <a:schemeClr val="bg1"/>
                </a:solidFill>
              </a:rPr>
              <a:t>Stopword</a:t>
            </a:r>
            <a:r>
              <a:rPr lang="en-US" sz="2400" dirty="0">
                <a:solidFill>
                  <a:schemeClr val="bg1"/>
                </a:solidFill>
              </a:rPr>
              <a:t> Removal: Removing common non-informative words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Stemming/Lemmatization: Reducing words to root forms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Noise Removal</a:t>
            </a:r>
            <a:r>
              <a:rPr lang="en-US" sz="2400" b="1" dirty="0">
                <a:solidFill>
                  <a:schemeClr val="bg1"/>
                </a:solidFill>
              </a:rPr>
              <a:t>:</a:t>
            </a:r>
            <a:r>
              <a:rPr lang="en-US" sz="2400" dirty="0">
                <a:solidFill>
                  <a:schemeClr val="bg1"/>
                </a:solidFill>
              </a:rPr>
              <a:t> Removing punctuation, numbers, HTML tags,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AC28BE-3105-4DB7-9561-D1BA93934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170" y="1828800"/>
            <a:ext cx="2857500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DF8464-05DC-4179-B3E1-53DAF1854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512" y="3965953"/>
            <a:ext cx="3959488" cy="16488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6207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rgbClr val="0070C0"/>
                </a:solidFill>
                <a:effectLst/>
              </a:rPr>
              <a:t>The NLP Pipeline – Overview of Common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490152"/>
            <a:ext cx="937043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3. Text Representation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Bag of Words (</a:t>
            </a:r>
            <a:r>
              <a:rPr lang="en-US" sz="2400" dirty="0" err="1">
                <a:solidFill>
                  <a:schemeClr val="bg1"/>
                </a:solidFill>
              </a:rPr>
              <a:t>BoW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TF-IDF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Word Embeddings (Word2Vec, </a:t>
            </a:r>
            <a:r>
              <a:rPr lang="en-US" sz="2400" dirty="0" err="1">
                <a:solidFill>
                  <a:schemeClr val="bg1"/>
                </a:solidFill>
              </a:rPr>
              <a:t>GloVe</a:t>
            </a:r>
            <a:r>
              <a:rPr lang="en-US" sz="2400" dirty="0">
                <a:solidFill>
                  <a:schemeClr val="bg1"/>
                </a:solidFill>
              </a:rPr>
              <a:t>, BERT)</a:t>
            </a:r>
          </a:p>
          <a:p>
            <a:pPr lvl="1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4. Feature Engineering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Creating features that represent key information from the text</a:t>
            </a:r>
          </a:p>
          <a:p>
            <a:pPr lvl="1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5. Model Building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Classification (e.g., spam detection)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Clustering (e.g., topic modeling)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Sequence Modeling (e.g., language generation)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E594A6-3E58-406A-9726-F8B2BCF63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261" y="1459872"/>
            <a:ext cx="4813455" cy="2203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A3ACDD-C758-491D-AF0D-F5DED9019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562" y="3429000"/>
            <a:ext cx="2886075" cy="15811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AB9EC9-FEA0-490A-A714-45AF704125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812" y="4979670"/>
            <a:ext cx="3299732" cy="18478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2343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rgbClr val="0070C0"/>
                </a:solidFill>
                <a:effectLst/>
              </a:rPr>
              <a:t>The NLP Pipeline – Overview of Common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90124" y="2090420"/>
            <a:ext cx="937043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6. Evaluation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Using metrics like Accuracy, Precision, Recall, F1-Score</a:t>
            </a:r>
          </a:p>
          <a:p>
            <a:pPr lvl="1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 lvl="1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7. Deployment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Integrating trained model into applications or APIs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A5A2E9-256C-4DC7-B2E6-2174C9DC4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513" y="1428766"/>
            <a:ext cx="4341847" cy="24314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370B87-F386-4F4E-96DB-46B52915B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513" y="4134405"/>
            <a:ext cx="4341846" cy="21709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9623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effectLst/>
              </a:rPr>
              <a:t>Introduction to Core NLP 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90124" y="2150552"/>
            <a:ext cx="766355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1. NLTK (Natural Language Toolkit)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One of the oldest NLP libraries in Python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Great for learning &amp; prototyping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Offers tools for tokenization, POS tagging, parsing, and more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Rich collection of linguistic datasets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Use Case: Academic projects, initial NLP exploration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41AC98A-25CC-412E-BA3E-4899148AD83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E232D-3673-4C15-BEC7-1ECBD0A2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142" y="1771967"/>
            <a:ext cx="3044974" cy="331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1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effectLst/>
              </a:rPr>
              <a:t>Introduction to Core NLP 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2140392"/>
            <a:ext cx="766355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2. </a:t>
            </a:r>
            <a:r>
              <a:rPr lang="en-US" sz="2800" dirty="0" err="1">
                <a:solidFill>
                  <a:schemeClr val="bg1"/>
                </a:solidFill>
              </a:rPr>
              <a:t>spaCy</a:t>
            </a:r>
            <a:endParaRPr lang="en-US" sz="2800" dirty="0">
              <a:solidFill>
                <a:schemeClr val="bg1"/>
              </a:solidFill>
            </a:endParaRP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Fast, production-ready NLP library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Supports named entity recognition (NER), POS tagging, dependency parsing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Pre-trained pipelines for multiple languages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Easy integration with deep learning frameworks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Use Case: Industrial NLP tasks, pipelines in production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FB52E-B69A-4BF3-99A8-039C98E04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40" y="1961197"/>
            <a:ext cx="3769043" cy="376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91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985FAD-62F0-4D9E-99D0-9FB0169B82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5" t="15380" r="23418" b="19251"/>
          <a:stretch/>
        </p:blipFill>
        <p:spPr>
          <a:xfrm>
            <a:off x="8300719" y="2440852"/>
            <a:ext cx="3342641" cy="21578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effectLst/>
              </a:rPr>
              <a:t>Introduction to Core NLP 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81564" y="2069272"/>
            <a:ext cx="766355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3. Hugging Face Transformers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Leading library for transformer-based models (BERT, GPT, </a:t>
            </a:r>
            <a:r>
              <a:rPr lang="en-US" sz="2400" dirty="0" err="1">
                <a:solidFill>
                  <a:schemeClr val="bg1"/>
                </a:solidFill>
              </a:rPr>
              <a:t>RoBERTa</a:t>
            </a:r>
            <a:r>
              <a:rPr lang="en-US" sz="2400" dirty="0">
                <a:solidFill>
                  <a:schemeClr val="bg1"/>
                </a:solidFill>
              </a:rPr>
              <a:t>, etc.)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Supports fine-tuning and inference with minimal code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Access to large-scale pre-trained models via transformers &amp; datasets packages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Use Case: State-of-the-art tasks like text generation, summarization, question answering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41AC98A-25CC-412E-BA3E-4899148AD83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7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effectLst/>
              </a:rPr>
              <a:t>Introduction to Core NLP 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61559" y="2278354"/>
            <a:ext cx="766355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4. Others (Brief Mentions)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 err="1">
                <a:solidFill>
                  <a:schemeClr val="bg1"/>
                </a:solidFill>
              </a:rPr>
              <a:t>TextBlob</a:t>
            </a:r>
            <a:r>
              <a:rPr lang="en-US" sz="2400" dirty="0">
                <a:solidFill>
                  <a:schemeClr val="bg1"/>
                </a:solidFill>
              </a:rPr>
              <a:t>: Simple API for common NLP tasks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 err="1">
                <a:solidFill>
                  <a:schemeClr val="bg1"/>
                </a:solidFill>
              </a:rPr>
              <a:t>Gensim</a:t>
            </a:r>
            <a:r>
              <a:rPr lang="en-US" sz="2400" dirty="0">
                <a:solidFill>
                  <a:schemeClr val="bg1"/>
                </a:solidFill>
              </a:rPr>
              <a:t>: Topic modeling and Word2Vec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Flair: NLP by </a:t>
            </a:r>
            <a:r>
              <a:rPr lang="en-US" sz="2400" dirty="0" err="1">
                <a:solidFill>
                  <a:schemeClr val="bg1"/>
                </a:solidFill>
              </a:rPr>
              <a:t>Zalando</a:t>
            </a:r>
            <a:r>
              <a:rPr lang="en-US" sz="2400" dirty="0">
                <a:solidFill>
                  <a:schemeClr val="bg1"/>
                </a:solidFill>
              </a:rPr>
              <a:t> with strong sequence labeling support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219F69-F266-4957-9BBE-47DE80FF5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287" y="4290666"/>
            <a:ext cx="5698131" cy="21543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101543-6097-4D3A-BE88-9EEE70214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018" y="3714465"/>
            <a:ext cx="3306763" cy="33067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497CB6-62F8-4241-A96C-A2C356D192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564" y="1621276"/>
            <a:ext cx="2937449" cy="269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5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rgbClr val="0070C0"/>
                </a:solidFill>
                <a:effectLst/>
              </a:rPr>
              <a:t>Text Cleaning — Case Folding, Punctuation,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927032"/>
            <a:ext cx="6985374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Objective:</a:t>
            </a:r>
          </a:p>
          <a:p>
            <a:pPr>
              <a:defRPr sz="1800"/>
            </a:pPr>
            <a:r>
              <a:rPr lang="en-US" sz="2400" dirty="0">
                <a:solidFill>
                  <a:schemeClr val="bg1"/>
                </a:solidFill>
              </a:rPr>
              <a:t>Prepare raw text data for NLP tasks by removing noise and standardizing input.</a:t>
            </a:r>
          </a:p>
          <a:p>
            <a:pPr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1. Case Folding (Lowercasing)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Converts all text to lowercase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Reduces vocabulary size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Example: 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	"Apple" → "apple“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Ensures “Apple” and “apple” are treated the same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870F3-09BA-4EA0-8EC1-EDC9BCC36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570" y="4322826"/>
            <a:ext cx="4212590" cy="19286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D34416-6976-4876-85B8-0CDBFA9D6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614" y="1648877"/>
            <a:ext cx="4212590" cy="26739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1419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1EC8978-5FD1-4652-B1A0-75894290D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587" y="4500627"/>
            <a:ext cx="2665413" cy="19709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22C91A-21F1-4CE3-A49C-A5BAF9575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231" y="1621523"/>
            <a:ext cx="4134485" cy="24806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rgbClr val="0070C0"/>
                </a:solidFill>
                <a:effectLst/>
              </a:rPr>
              <a:t>Text Cleaning — Case Folding, Punctuation,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307272"/>
            <a:ext cx="7897236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400" dirty="0">
                <a:solidFill>
                  <a:schemeClr val="bg1"/>
                </a:solidFill>
              </a:rPr>
              <a:t>2. Removing Punctuation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Eliminates special characters like . , ! ? : ; etc.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P</a:t>
            </a:r>
            <a:r>
              <a:rPr lang="en-US" sz="2000" dirty="0">
                <a:solidFill>
                  <a:schemeClr val="bg1"/>
                </a:solidFill>
              </a:rPr>
              <a:t>unctuation often does not add meaning (except in sentiment or emotion detection)</a:t>
            </a:r>
          </a:p>
          <a:p>
            <a:pPr lvl="1">
              <a:defRPr sz="1800"/>
            </a:pPr>
            <a:r>
              <a:rPr lang="en-US" sz="2000" b="1" dirty="0">
                <a:solidFill>
                  <a:schemeClr val="bg1"/>
                </a:solidFill>
              </a:rPr>
              <a:t>Example:</a:t>
            </a:r>
          </a:p>
          <a:p>
            <a:pPr lvl="2">
              <a:defRPr sz="1800"/>
            </a:pPr>
            <a:r>
              <a:rPr lang="en-US" sz="2000" dirty="0">
                <a:solidFill>
                  <a:schemeClr val="bg1"/>
                </a:solidFill>
              </a:rPr>
              <a:t>"Hello, world!" → "Hello world"</a:t>
            </a:r>
          </a:p>
          <a:p>
            <a:pPr>
              <a:defRPr sz="2000" b="1"/>
            </a:pPr>
            <a:r>
              <a:rPr lang="en-US" sz="2400" dirty="0">
                <a:solidFill>
                  <a:schemeClr val="bg1"/>
                </a:solidFill>
              </a:rPr>
              <a:t>3. Removing Numbers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000" dirty="0">
                <a:solidFill>
                  <a:schemeClr val="bg1"/>
                </a:solidFill>
              </a:rPr>
              <a:t>Numbers may be irrelevant in some NLP tasks (e.g., sentiment analysis)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000" dirty="0">
                <a:solidFill>
                  <a:schemeClr val="bg1"/>
                </a:solidFill>
              </a:rPr>
              <a:t>In other contexts (e.g., financial or scientific texts), they may be retained</a:t>
            </a:r>
          </a:p>
          <a:p>
            <a:pPr lvl="1">
              <a:defRPr sz="1800"/>
            </a:pPr>
            <a:r>
              <a:rPr lang="en-US" sz="2000" dirty="0">
                <a:solidFill>
                  <a:schemeClr val="bg1"/>
                </a:solidFill>
              </a:rPr>
              <a:t>Example:</a:t>
            </a:r>
          </a:p>
          <a:p>
            <a:pPr lvl="2">
              <a:defRPr sz="1800"/>
            </a:pPr>
            <a:r>
              <a:rPr lang="en-US" sz="2000" dirty="0">
                <a:solidFill>
                  <a:schemeClr val="bg1"/>
                </a:solidFill>
              </a:rPr>
              <a:t>"There are 123 apples" → "There are apples"</a:t>
            </a:r>
          </a:p>
          <a:p>
            <a:pPr>
              <a:defRPr sz="2000" b="1"/>
            </a:pPr>
            <a:r>
              <a:rPr lang="en-US" sz="2400" dirty="0">
                <a:solidFill>
                  <a:schemeClr val="bg1"/>
                </a:solidFill>
              </a:rPr>
              <a:t>Note: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000" dirty="0">
                <a:solidFill>
                  <a:schemeClr val="bg1"/>
                </a:solidFill>
              </a:rPr>
              <a:t>Always tailor cleaning to your task.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000" dirty="0">
                <a:solidFill>
                  <a:schemeClr val="bg1"/>
                </a:solidFill>
              </a:rPr>
              <a:t>Don’t over-clean if the information might be useful (e.g., "COVID-19", "Windows 10")</a:t>
            </a:r>
          </a:p>
        </p:txBody>
      </p:sp>
    </p:spTree>
    <p:extLst>
      <p:ext uri="{BB962C8B-B14F-4D97-AF65-F5344CB8AC3E}">
        <p14:creationId xmlns:p14="http://schemas.microsoft.com/office/powerpoint/2010/main" val="366588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49193D-4083-4B14-A774-A6A3DABDE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412" y="3060684"/>
            <a:ext cx="6707188" cy="37685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0070C0"/>
                </a:solidFill>
                <a:effectLst/>
              </a:rPr>
              <a:t>Tokenization — Word, Sentence, and </a:t>
            </a:r>
            <a:r>
              <a:rPr lang="en-US" sz="4800" b="1" dirty="0" err="1">
                <a:solidFill>
                  <a:srgbClr val="0070C0"/>
                </a:solidFill>
                <a:effectLst/>
              </a:rPr>
              <a:t>Subword</a:t>
            </a:r>
            <a:r>
              <a:rPr lang="en-US" sz="4800" b="1" dirty="0">
                <a:solidFill>
                  <a:srgbClr val="0070C0"/>
                </a:solidFill>
                <a:effectLst/>
              </a:rPr>
              <a:t> Tokenization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490152"/>
            <a:ext cx="700315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3200" dirty="0">
                <a:solidFill>
                  <a:schemeClr val="bg1"/>
                </a:solidFill>
              </a:rPr>
              <a:t>Definition:</a:t>
            </a:r>
          </a:p>
          <a:p>
            <a:pPr>
              <a:defRPr sz="1800"/>
            </a:pPr>
            <a:r>
              <a:rPr lang="en-US" sz="2800" dirty="0">
                <a:solidFill>
                  <a:schemeClr val="bg1"/>
                </a:solidFill>
              </a:rPr>
              <a:t>Tokenization is the process of splitting text into smaller units (tokens), which are the building blocks for NLP tasks.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564DD8-9502-44EF-BAA8-75188E1EAE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432" y="1470999"/>
            <a:ext cx="4213284" cy="31558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6444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0070C0"/>
                </a:solidFill>
                <a:effectLst/>
              </a:rPr>
              <a:t>Tokenization — Word, Sentence, and </a:t>
            </a:r>
            <a:r>
              <a:rPr lang="en-US" sz="4800" b="1" dirty="0" err="1">
                <a:solidFill>
                  <a:srgbClr val="0070C0"/>
                </a:solidFill>
                <a:effectLst/>
              </a:rPr>
              <a:t>Subword</a:t>
            </a:r>
            <a:r>
              <a:rPr lang="en-US" sz="4800" b="1" dirty="0">
                <a:solidFill>
                  <a:srgbClr val="0070C0"/>
                </a:solidFill>
                <a:effectLst/>
              </a:rPr>
              <a:t> Tokenization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490152"/>
            <a:ext cx="937043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1. Word Tokenization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Splits text into individual words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Example:</a:t>
            </a:r>
          </a:p>
          <a:p>
            <a:pPr lvl="2">
              <a:defRPr sz="1800"/>
            </a:pPr>
            <a:r>
              <a:rPr lang="en-US" sz="2400" dirty="0">
                <a:solidFill>
                  <a:schemeClr val="bg1"/>
                </a:solidFill>
              </a:rPr>
              <a:t>"NLP is fun!" → ['NLP', 'is', 'fun']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Tools: </a:t>
            </a:r>
            <a:r>
              <a:rPr lang="en-US" sz="2400" dirty="0" err="1">
                <a:solidFill>
                  <a:schemeClr val="bg1"/>
                </a:solidFill>
              </a:rPr>
              <a:t>nltk.word_tokenize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spaCy</a:t>
            </a:r>
            <a:r>
              <a:rPr lang="en-US" sz="2400" dirty="0">
                <a:solidFill>
                  <a:schemeClr val="bg1"/>
                </a:solidFill>
              </a:rPr>
              <a:t>, etc.</a:t>
            </a:r>
          </a:p>
          <a:p>
            <a:pPr>
              <a:defRPr sz="1800"/>
            </a:pPr>
            <a:endParaRPr lang="en-US" sz="36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2. Sentence Tokenization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Splits text into individual sentences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Example:</a:t>
            </a:r>
          </a:p>
          <a:p>
            <a:pPr lvl="2">
              <a:defRPr sz="1800"/>
            </a:pPr>
            <a:r>
              <a:rPr lang="en-US" sz="2400" dirty="0">
                <a:solidFill>
                  <a:schemeClr val="bg1"/>
                </a:solidFill>
              </a:rPr>
              <a:t>"Hello. How are you?" → ['Hello.', 'How are you?']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Useful for tasks like summarization or document classification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41AC98A-25CC-412E-BA3E-4899148AD83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97B8EA-53F8-4D44-9CE7-6D26608E3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457" y="1291847"/>
            <a:ext cx="6506220" cy="372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35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FA507C-5C5D-44DC-840A-5821F069BB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6" r="13778"/>
          <a:stretch/>
        </p:blipFill>
        <p:spPr>
          <a:xfrm>
            <a:off x="7152640" y="2733578"/>
            <a:ext cx="4500880" cy="22783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0070C0"/>
                </a:solidFill>
                <a:effectLst/>
              </a:rPr>
              <a:t>Tokenization — Word, Sentence, and </a:t>
            </a:r>
            <a:r>
              <a:rPr lang="en-US" sz="4800" b="1" dirty="0" err="1">
                <a:solidFill>
                  <a:srgbClr val="0070C0"/>
                </a:solidFill>
                <a:effectLst/>
              </a:rPr>
              <a:t>Subword</a:t>
            </a:r>
            <a:r>
              <a:rPr lang="en-US" sz="4800" b="1" dirty="0">
                <a:solidFill>
                  <a:srgbClr val="0070C0"/>
                </a:solidFill>
                <a:effectLst/>
              </a:rPr>
              <a:t> Tokenization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490152"/>
            <a:ext cx="718603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3. </a:t>
            </a:r>
            <a:r>
              <a:rPr lang="en-US" sz="2800" dirty="0" err="1">
                <a:solidFill>
                  <a:schemeClr val="bg1"/>
                </a:solidFill>
              </a:rPr>
              <a:t>Subword</a:t>
            </a:r>
            <a:r>
              <a:rPr lang="en-US" sz="2800" dirty="0">
                <a:solidFill>
                  <a:schemeClr val="bg1"/>
                </a:solidFill>
              </a:rPr>
              <a:t> Tokenization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Splits words into meaningful subunits (</a:t>
            </a:r>
            <a:r>
              <a:rPr lang="en-US" sz="2400" dirty="0" err="1">
                <a:solidFill>
                  <a:schemeClr val="bg1"/>
                </a:solidFill>
              </a:rPr>
              <a:t>subwords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Handles rare words or morphologically complex languages</a:t>
            </a:r>
          </a:p>
          <a:p>
            <a:pPr lvl="1"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Example:</a:t>
            </a:r>
          </a:p>
          <a:p>
            <a:pPr lvl="2">
              <a:defRPr sz="1800"/>
            </a:pPr>
            <a:r>
              <a:rPr lang="en-US" sz="2400" dirty="0">
                <a:solidFill>
                  <a:schemeClr val="bg1"/>
                </a:solidFill>
              </a:rPr>
              <a:t>"unhappiness" → ['un', '</a:t>
            </a:r>
            <a:r>
              <a:rPr lang="en-US" sz="2400" dirty="0" err="1">
                <a:solidFill>
                  <a:schemeClr val="bg1"/>
                </a:solidFill>
              </a:rPr>
              <a:t>happi</a:t>
            </a:r>
            <a:r>
              <a:rPr lang="en-US" sz="2400" dirty="0">
                <a:solidFill>
                  <a:schemeClr val="bg1"/>
                </a:solidFill>
              </a:rPr>
              <a:t>', 'ness']</a:t>
            </a:r>
          </a:p>
          <a:p>
            <a:pPr lvl="1"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Tools: </a:t>
            </a:r>
            <a:r>
              <a:rPr lang="en-US" sz="2400" dirty="0">
                <a:solidFill>
                  <a:schemeClr val="bg1"/>
                </a:solidFill>
              </a:rPr>
              <a:t>Byte Pair Encoding (BPE), </a:t>
            </a:r>
            <a:r>
              <a:rPr lang="en-US" sz="2400" dirty="0" err="1">
                <a:solidFill>
                  <a:schemeClr val="bg1"/>
                </a:solidFill>
              </a:rPr>
              <a:t>WordPiece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SentencePiece</a:t>
            </a:r>
            <a:r>
              <a:rPr lang="en-US" sz="2400" dirty="0">
                <a:solidFill>
                  <a:schemeClr val="bg1"/>
                </a:solidFill>
              </a:rPr>
              <a:t> (used in BERT, GPT, etc.)</a:t>
            </a:r>
          </a:p>
          <a:p>
            <a:pPr lvl="1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Importance: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Accurate tokenization improves model performance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Choice of method depends on the task and language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41AC98A-25CC-412E-BA3E-4899148AD83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43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rgbClr val="0070C0"/>
                </a:solidFill>
                <a:effectLst/>
              </a:rPr>
              <a:t>Stemming and Lemmatization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378392"/>
            <a:ext cx="6972676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Overview</a:t>
            </a:r>
          </a:p>
          <a:p>
            <a:pPr>
              <a:defRPr sz="1800"/>
            </a:pPr>
            <a:r>
              <a:rPr lang="en-US" sz="2400" dirty="0">
                <a:solidFill>
                  <a:schemeClr val="bg1"/>
                </a:solidFill>
              </a:rPr>
              <a:t>Both techniques reduce words to their root forms, but they differ in method and accuracy.</a:t>
            </a:r>
          </a:p>
          <a:p>
            <a:pPr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1. Stemming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Removes suffixes/prefixes to get the root form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May produce non-dictionary words</a:t>
            </a:r>
          </a:p>
          <a:p>
            <a:pPr lvl="1"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Example:</a:t>
            </a:r>
          </a:p>
          <a:p>
            <a:pPr marL="1257300" lvl="2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"playing", "played", "plays" → "play"</a:t>
            </a:r>
          </a:p>
          <a:p>
            <a:pPr marL="1257300" lvl="2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"studies" → "</a:t>
            </a:r>
            <a:r>
              <a:rPr lang="en-US" sz="2400" dirty="0" err="1">
                <a:solidFill>
                  <a:schemeClr val="bg1"/>
                </a:solidFill>
              </a:rPr>
              <a:t>studi</a:t>
            </a:r>
            <a:r>
              <a:rPr lang="en-US" sz="2400" dirty="0">
                <a:solidFill>
                  <a:schemeClr val="bg1"/>
                </a:solidFill>
              </a:rPr>
              <a:t>"</a:t>
            </a:r>
          </a:p>
          <a:p>
            <a:pPr lvl="1"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Tools: </a:t>
            </a:r>
            <a:r>
              <a:rPr lang="en-US" sz="2400" dirty="0" err="1">
                <a:solidFill>
                  <a:schemeClr val="bg1"/>
                </a:solidFill>
              </a:rPr>
              <a:t>PorterStemmer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SnowballStemmer</a:t>
            </a:r>
            <a:r>
              <a:rPr lang="en-US" sz="2400" dirty="0">
                <a:solidFill>
                  <a:schemeClr val="bg1"/>
                </a:solidFill>
              </a:rPr>
              <a:t> (NLTK)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Faster but less accurate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EB50FA-A1B9-4CF6-89FD-A850F1D37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960" y="1930717"/>
            <a:ext cx="4278264" cy="429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79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rgbClr val="0070C0"/>
                </a:solidFill>
                <a:effectLst/>
              </a:rPr>
              <a:t>Stemming and Lemmatization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378392"/>
            <a:ext cx="7826116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2. Lemmatization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Converts words to their base or dictionary form (lemma)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Requires context (POS tagging)</a:t>
            </a:r>
          </a:p>
          <a:p>
            <a:pPr lvl="1"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Example: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	"running" → "run"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	"better" → "good"</a:t>
            </a:r>
          </a:p>
          <a:p>
            <a:pPr lvl="1"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Tools: </a:t>
            </a:r>
            <a:r>
              <a:rPr lang="en-US" sz="2400" dirty="0" err="1">
                <a:solidFill>
                  <a:schemeClr val="bg1"/>
                </a:solidFill>
              </a:rPr>
              <a:t>WordNetLemmatizer</a:t>
            </a:r>
            <a:r>
              <a:rPr lang="en-US" sz="2400" dirty="0">
                <a:solidFill>
                  <a:schemeClr val="bg1"/>
                </a:solidFill>
              </a:rPr>
              <a:t> (NLTK), </a:t>
            </a:r>
            <a:r>
              <a:rPr lang="en-US" sz="2400" dirty="0" err="1">
                <a:solidFill>
                  <a:schemeClr val="bg1"/>
                </a:solidFill>
              </a:rPr>
              <a:t>spaCy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Slower but more accurate</a:t>
            </a:r>
          </a:p>
          <a:p>
            <a:pPr lvl="1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Use Case:</a:t>
            </a:r>
          </a:p>
          <a:p>
            <a:pPr>
              <a:defRPr sz="1800"/>
            </a:pPr>
            <a:r>
              <a:rPr lang="en-US" sz="2400" dirty="0">
                <a:solidFill>
                  <a:schemeClr val="bg1"/>
                </a:solidFill>
              </a:rPr>
              <a:t>Choose stemming for speed-sensitive tasks, and lemmatization for accuracy-sensitive NLP tasks.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FF6C0-B1D7-4F73-9580-3007567C8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400" y="1920557"/>
            <a:ext cx="3754926" cy="375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1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rgbClr val="0070C0"/>
                </a:solidFill>
                <a:effectLst/>
              </a:rPr>
              <a:t>Stemming and Lemmatization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020F97-B31A-4A74-917E-FF2D5F751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268995"/>
              </p:ext>
            </p:extLst>
          </p:nvPr>
        </p:nvGraphicFramePr>
        <p:xfrm>
          <a:off x="1818640" y="1544320"/>
          <a:ext cx="829056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sz="2000" dirty="0"/>
                        <a:t>Feature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sz="2000" dirty="0"/>
                        <a:t>Stemming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sz="2000" dirty="0"/>
                        <a:t>Lemmatization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 dirty="0"/>
                        <a:t>Output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/>
                        <a:t>Root (may be invalid)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/>
                        <a:t>Dictionary word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/>
                        <a:t>Accuracy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 dirty="0"/>
                        <a:t>Lower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/>
                        <a:t>Higher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/>
                        <a:t>Speed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 dirty="0"/>
                        <a:t>Faster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/>
                        <a:t>Slower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/>
                        <a:t>Context needed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 dirty="0"/>
                        <a:t>No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 dirty="0"/>
                        <a:t>Yes</a:t>
                      </a:r>
                    </a:p>
                  </a:txBody>
                  <a:tcPr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AD46C39-AC5A-49C5-8B32-1A24C7BDD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132" y="3931920"/>
            <a:ext cx="6333020" cy="26463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35427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rgbClr val="0070C0"/>
                </a:solidFill>
                <a:effectLst/>
              </a:rPr>
              <a:t>Stop Word Removal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40924" y="1845752"/>
            <a:ext cx="795819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What are Stop Words?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Commonly used words in a language that carry little meaningful information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Examples: "the", "is", "in", "and", "to", "of“</a:t>
            </a:r>
          </a:p>
          <a:p>
            <a:pPr lvl="1">
              <a:defRPr sz="1800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Why Remove Stop Words?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Reduce noise in text data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Improve performance of NLP models by focusing on important words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Reduce dimensionality of data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B61F8-35A5-4130-998E-42C80203ED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44"/>
          <a:stretch/>
        </p:blipFill>
        <p:spPr>
          <a:xfrm>
            <a:off x="6438006" y="2706357"/>
            <a:ext cx="5513070" cy="218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68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rgbClr val="0070C0"/>
                </a:solidFill>
                <a:effectLst/>
              </a:rPr>
              <a:t>Stop Word Removal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378392"/>
            <a:ext cx="1076235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How to Remove Stop Words?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Use predefined stop word lists available in NLP libraries like NLTK, </a:t>
            </a:r>
            <a:r>
              <a:rPr lang="en-US" sz="2400" dirty="0" err="1">
                <a:solidFill>
                  <a:schemeClr val="bg1"/>
                </a:solidFill>
              </a:rPr>
              <a:t>spaCy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Customize stop word lists based on domain or task</a:t>
            </a: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Example:</a:t>
            </a:r>
          </a:p>
          <a:p>
            <a:pPr lvl="1"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Original sentence:</a:t>
            </a:r>
          </a:p>
          <a:p>
            <a:pPr lvl="2">
              <a:defRPr sz="1800"/>
            </a:pPr>
            <a:r>
              <a:rPr lang="en-US" sz="2400" dirty="0">
                <a:solidFill>
                  <a:schemeClr val="bg1"/>
                </a:solidFill>
              </a:rPr>
              <a:t>"The quick brown fox jumps over the lazy dog."</a:t>
            </a:r>
          </a:p>
          <a:p>
            <a:pPr lvl="1"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After stop word removal:</a:t>
            </a:r>
          </a:p>
          <a:p>
            <a:pPr lvl="2">
              <a:defRPr sz="1800"/>
            </a:pPr>
            <a:r>
              <a:rPr lang="en-US" sz="2400" dirty="0">
                <a:solidFill>
                  <a:schemeClr val="bg1"/>
                </a:solidFill>
              </a:rPr>
              <a:t>"quick brown fox jumps lazy dog."</a:t>
            </a: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Considerations: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Sometimes stop words carry important context (e.g., negations like "not")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Always evaluate impact on your specific task before removal</a:t>
            </a: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Common Tools: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NLTK's </a:t>
            </a:r>
            <a:r>
              <a:rPr lang="en-US" sz="2400" dirty="0" err="1">
                <a:solidFill>
                  <a:schemeClr val="bg1"/>
                </a:solidFill>
              </a:rPr>
              <a:t>stopwords</a:t>
            </a:r>
            <a:r>
              <a:rPr lang="en-US" sz="2400" dirty="0">
                <a:solidFill>
                  <a:schemeClr val="bg1"/>
                </a:solidFill>
              </a:rPr>
              <a:t> corpus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 err="1">
                <a:solidFill>
                  <a:schemeClr val="bg1"/>
                </a:solidFill>
              </a:rPr>
              <a:t>spaCy’s</a:t>
            </a:r>
            <a:r>
              <a:rPr lang="en-US" sz="2400" dirty="0">
                <a:solidFill>
                  <a:schemeClr val="bg1"/>
                </a:solidFill>
              </a:rPr>
              <a:t> default stop words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50718E-5861-4098-89EF-37A6419D8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635" y="2290685"/>
            <a:ext cx="4128405" cy="239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945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rgbClr val="0070C0"/>
                </a:solidFill>
                <a:effectLst/>
              </a:rPr>
              <a:t>Text Normalization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490152"/>
            <a:ext cx="7440036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What is Text Normalization?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Process of transforming text into a standard, consistent format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Helps improve accuracy of NLP tasks by reducing variation</a:t>
            </a: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Key Aspects: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Handling Contractions: Expanding shortened forms</a:t>
            </a:r>
          </a:p>
          <a:p>
            <a:pPr lvl="2">
              <a:defRPr sz="1800"/>
            </a:pPr>
            <a:r>
              <a:rPr lang="en-US" sz="2400" dirty="0">
                <a:solidFill>
                  <a:schemeClr val="bg1"/>
                </a:solidFill>
              </a:rPr>
              <a:t>- e.g., "don't" → "do not"</a:t>
            </a:r>
          </a:p>
          <a:p>
            <a:pPr lvl="2">
              <a:defRPr sz="1800"/>
            </a:pPr>
            <a:r>
              <a:rPr lang="en-US" sz="2400" dirty="0">
                <a:solidFill>
                  <a:schemeClr val="bg1"/>
                </a:solidFill>
              </a:rPr>
              <a:t>- "I'm" → "I am"</a:t>
            </a:r>
          </a:p>
          <a:p>
            <a:pPr lvl="1">
              <a:defRPr sz="1800"/>
            </a:pPr>
            <a:r>
              <a:rPr lang="en-US" sz="2400" dirty="0">
                <a:solidFill>
                  <a:schemeClr val="bg1"/>
                </a:solidFill>
              </a:rPr>
              <a:t>Managing Slang and Informal Language</a:t>
            </a:r>
          </a:p>
          <a:p>
            <a:pPr lvl="2">
              <a:defRPr sz="1800"/>
            </a:pPr>
            <a:r>
              <a:rPr lang="en-US" sz="2400" dirty="0">
                <a:solidFill>
                  <a:schemeClr val="bg1"/>
                </a:solidFill>
              </a:rPr>
              <a:t>- e.g., "</a:t>
            </a:r>
            <a:r>
              <a:rPr lang="en-US" sz="2400" dirty="0" err="1">
                <a:solidFill>
                  <a:schemeClr val="bg1"/>
                </a:solidFill>
              </a:rPr>
              <a:t>gonna</a:t>
            </a:r>
            <a:r>
              <a:rPr lang="en-US" sz="2400" dirty="0">
                <a:solidFill>
                  <a:schemeClr val="bg1"/>
                </a:solidFill>
              </a:rPr>
              <a:t>" → "going to"</a:t>
            </a:r>
          </a:p>
          <a:p>
            <a:pPr lvl="2">
              <a:defRPr sz="1800"/>
            </a:pPr>
            <a:r>
              <a:rPr lang="en-US" sz="2400" dirty="0">
                <a:solidFill>
                  <a:schemeClr val="bg1"/>
                </a:solidFill>
              </a:rPr>
              <a:t>- "lol" → "laughing out loud"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2AF6B-E999-4742-9027-74C627BA3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676" y="2327964"/>
            <a:ext cx="4881324" cy="323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39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rgbClr val="0070C0"/>
                </a:solidFill>
                <a:effectLst/>
              </a:rPr>
              <a:t>Text Normalization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378392"/>
            <a:ext cx="869987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Why Normalize Text?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Reduces vocabulary size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Helps models better understand meaning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Essential for noisy user-generated content (tweets, chats)</a:t>
            </a: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Techniques: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Rule-based replacement dictionaries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Regular expressions for pattern matching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Pre-trained normalization models</a:t>
            </a: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Example:</a:t>
            </a:r>
          </a:p>
          <a:p>
            <a:pPr lvl="1"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Original: </a:t>
            </a:r>
            <a:r>
              <a:rPr lang="en-US" sz="2400" dirty="0">
                <a:solidFill>
                  <a:schemeClr val="bg1"/>
                </a:solidFill>
              </a:rPr>
              <a:t>"I'm </a:t>
            </a:r>
            <a:r>
              <a:rPr lang="en-US" sz="2400" dirty="0" err="1">
                <a:solidFill>
                  <a:schemeClr val="bg1"/>
                </a:solidFill>
              </a:rPr>
              <a:t>gonna</a:t>
            </a:r>
            <a:r>
              <a:rPr lang="en-US" sz="2400" dirty="0">
                <a:solidFill>
                  <a:schemeClr val="bg1"/>
                </a:solidFill>
              </a:rPr>
              <a:t> grab some food, lol!"</a:t>
            </a:r>
          </a:p>
          <a:p>
            <a:pPr lvl="1"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Normalized: </a:t>
            </a:r>
            <a:r>
              <a:rPr lang="en-US" sz="2400" dirty="0">
                <a:solidFill>
                  <a:schemeClr val="bg1"/>
                </a:solidFill>
              </a:rPr>
              <a:t>"I am going to grab some food, laughing out loud!"</a:t>
            </a: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Tools: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Python libraries: contractions, </a:t>
            </a:r>
            <a:r>
              <a:rPr lang="en-US" sz="2400" dirty="0" err="1">
                <a:solidFill>
                  <a:schemeClr val="bg1"/>
                </a:solidFill>
              </a:rPr>
              <a:t>textblob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Custom mappings for domain-specific slang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C68F3D-ABF8-430B-B135-09C646323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520" y="1268387"/>
            <a:ext cx="2995295" cy="19932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B7FD06-BB46-40C6-9A71-13D28F95A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3254057"/>
            <a:ext cx="3793173" cy="20453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9031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rgbClr val="0070C0"/>
                </a:solidFill>
                <a:effectLst/>
              </a:rPr>
              <a:t>Regular Expressions for Text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490152"/>
            <a:ext cx="6688196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What are Regular Expressions (Regex)?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Powerful patterns used to search, match, and manipulate text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Essential tool for text cleaning and preprocessing in NLP</a:t>
            </a:r>
          </a:p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Common Uses in NLP: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Finding specific words or patterns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Extracting email addresses, URLs, phone numbers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Removing unwanted characters or symbols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Splitting text into tokens based on patterns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53EB4-532C-4A29-84A7-68A612BA9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143" y="1402080"/>
            <a:ext cx="5152573" cy="28854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A27ADD-C60D-4505-92D8-EFC4F66EE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121" y="4287521"/>
            <a:ext cx="4421760" cy="24761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4279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rgbClr val="0070C0"/>
                </a:solidFill>
                <a:effectLst/>
              </a:rPr>
              <a:t>Regular Expressions for Text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490152"/>
            <a:ext cx="1177835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Basic Regex Syntax: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. : Any character (</a:t>
            </a:r>
            <a:r>
              <a:rPr lang="en-US" sz="2400" dirty="0" err="1">
                <a:solidFill>
                  <a:schemeClr val="bg1"/>
                </a:solidFill>
              </a:rPr>
              <a:t>a.b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acb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, a9b, a-b)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\d : Digit (0-9) (\d\d\d 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 123, 231, 987)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\w : Word character (letters, digits, underscore) (\w\w\w 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abc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, a98, </a:t>
            </a:r>
            <a:r>
              <a:rPr lang="en-US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Zb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_)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* : Zero or more repetitions (lo*l 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ll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, lol, </a:t>
            </a:r>
            <a:r>
              <a:rPr lang="en-US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loool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)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+ : One or more repetitions (</a:t>
            </a:r>
            <a:r>
              <a:rPr lang="en-US" sz="2400" dirty="0" err="1">
                <a:solidFill>
                  <a:schemeClr val="bg1"/>
                </a:solidFill>
              </a:rPr>
              <a:t>lo+l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 lol, </a:t>
            </a:r>
            <a:r>
              <a:rPr lang="en-US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looool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)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[] : Character set (e.g., [</a:t>
            </a:r>
            <a:r>
              <a:rPr lang="en-US" sz="2400" dirty="0" err="1">
                <a:solidFill>
                  <a:schemeClr val="bg1"/>
                </a:solidFill>
              </a:rPr>
              <a:t>aeiou</a:t>
            </a:r>
            <a:r>
              <a:rPr lang="en-US" sz="2400" dirty="0">
                <a:solidFill>
                  <a:schemeClr val="bg1"/>
                </a:solidFill>
              </a:rPr>
              <a:t>]) (gr[</a:t>
            </a:r>
            <a:r>
              <a:rPr lang="en-US" sz="2400" dirty="0" err="1">
                <a:solidFill>
                  <a:schemeClr val="bg1"/>
                </a:solidFill>
              </a:rPr>
              <a:t>ea</a:t>
            </a:r>
            <a:r>
              <a:rPr lang="en-US" sz="2400" dirty="0">
                <a:solidFill>
                  <a:schemeClr val="bg1"/>
                </a:solidFill>
              </a:rPr>
              <a:t>]y 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 gray, grey)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^ : Start of string (^Hello 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 Hello World)</a:t>
            </a: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$ : End of string (end$ 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 the very end)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Example:</a:t>
            </a:r>
          </a:p>
          <a:p>
            <a:pPr lvl="1"/>
            <a:r>
              <a:rPr lang="en-US" sz="2400" b="1" dirty="0">
                <a:solidFill>
                  <a:schemeClr val="bg1"/>
                </a:solidFill>
              </a:rPr>
              <a:t>Pattern to find all email addresses: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	\b[A-Za-z0-9._%+-]+@[A-Za-z0-9.-]+\.[A-Za-z]{2,}\b</a:t>
            </a:r>
          </a:p>
          <a:p>
            <a:pPr lvl="1"/>
            <a:r>
              <a:rPr lang="en-US" sz="2400" b="1" dirty="0">
                <a:solidFill>
                  <a:schemeClr val="bg1"/>
                </a:solidFill>
              </a:rPr>
              <a:t>Remove all digits from text: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	</a:t>
            </a:r>
            <a:r>
              <a:rPr lang="en-US" sz="2400" dirty="0" err="1">
                <a:solidFill>
                  <a:schemeClr val="bg1"/>
                </a:solidFill>
              </a:rPr>
              <a:t>re.sub</a:t>
            </a:r>
            <a:r>
              <a:rPr lang="en-US" sz="2400" dirty="0">
                <a:solidFill>
                  <a:schemeClr val="bg1"/>
                </a:solidFill>
              </a:rPr>
              <a:t>(r'\d+', '', text)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4A86DF-28BE-486A-9B8D-AB89942D8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557" y="3252452"/>
            <a:ext cx="3691525" cy="250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46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300" b="1" dirty="0">
                <a:solidFill>
                  <a:srgbClr val="0070C0"/>
                </a:solidFill>
                <a:effectLst/>
              </a:rPr>
              <a:t>Regular Expressions for Text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0284" y="1490152"/>
            <a:ext cx="937043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Python Regex Module: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import re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Functions: </a:t>
            </a:r>
            <a:r>
              <a:rPr lang="en-US" sz="2400" dirty="0" err="1">
                <a:solidFill>
                  <a:schemeClr val="bg1"/>
                </a:solidFill>
              </a:rPr>
              <a:t>re.search</a:t>
            </a:r>
            <a:r>
              <a:rPr lang="en-US" sz="2400" dirty="0">
                <a:solidFill>
                  <a:schemeClr val="bg1"/>
                </a:solidFill>
              </a:rPr>
              <a:t>(), </a:t>
            </a:r>
            <a:r>
              <a:rPr lang="en-US" sz="2400" dirty="0" err="1">
                <a:solidFill>
                  <a:schemeClr val="bg1"/>
                </a:solidFill>
              </a:rPr>
              <a:t>re.match</a:t>
            </a:r>
            <a:r>
              <a:rPr lang="en-US" sz="2400" dirty="0">
                <a:solidFill>
                  <a:schemeClr val="bg1"/>
                </a:solidFill>
              </a:rPr>
              <a:t>(), </a:t>
            </a:r>
            <a:r>
              <a:rPr lang="en-US" sz="2400" dirty="0" err="1">
                <a:solidFill>
                  <a:schemeClr val="bg1"/>
                </a:solidFill>
              </a:rPr>
              <a:t>re.findall</a:t>
            </a:r>
            <a:r>
              <a:rPr lang="en-US" sz="2400" dirty="0">
                <a:solidFill>
                  <a:schemeClr val="bg1"/>
                </a:solidFill>
              </a:rPr>
              <a:t>(), </a:t>
            </a:r>
            <a:r>
              <a:rPr lang="en-US" sz="2400" dirty="0" err="1">
                <a:solidFill>
                  <a:schemeClr val="bg1"/>
                </a:solidFill>
              </a:rPr>
              <a:t>re.sub</a:t>
            </a:r>
            <a:r>
              <a:rPr lang="en-US" sz="2400" dirty="0">
                <a:solidFill>
                  <a:schemeClr val="bg1"/>
                </a:solidFill>
              </a:rPr>
              <a:t>()</a:t>
            </a:r>
          </a:p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pPr>
              <a:defRPr sz="2000" b="1"/>
            </a:pPr>
            <a:r>
              <a:rPr lang="en-US" sz="2800" dirty="0">
                <a:solidFill>
                  <a:schemeClr val="bg1"/>
                </a:solidFill>
              </a:rPr>
              <a:t>Why Use Regex?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Flexible and efficient text pattern matching</a:t>
            </a:r>
          </a:p>
          <a:p>
            <a:pPr marL="800100" lvl="1" indent="-342900">
              <a:buFont typeface="Goudy Old Style" panose="02020502050305020303" pitchFamily="18" charset="0"/>
              <a:buChar char="–"/>
              <a:defRPr sz="1800"/>
            </a:pPr>
            <a:r>
              <a:rPr lang="en-US" sz="2400" dirty="0">
                <a:solidFill>
                  <a:schemeClr val="bg1"/>
                </a:solidFill>
              </a:rPr>
              <a:t>Speeds up preprocessing steps for NLP pipelines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081D14-C963-4B56-98F1-779FE6704A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36"/>
          <a:stretch/>
        </p:blipFill>
        <p:spPr>
          <a:xfrm>
            <a:off x="7188361" y="2092960"/>
            <a:ext cx="5133716" cy="33527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5050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E9C5C-6569-4C5C-98FD-4514941A1A59}"/>
              </a:ext>
            </a:extLst>
          </p:cNvPr>
          <p:cNvSpPr/>
          <p:nvPr/>
        </p:nvSpPr>
        <p:spPr>
          <a:xfrm rot="2700000">
            <a:off x="4776987" y="1498228"/>
            <a:ext cx="2013391" cy="2013391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6BA146-A655-415F-8DCE-ED10500F28D3}"/>
              </a:ext>
            </a:extLst>
          </p:cNvPr>
          <p:cNvSpPr/>
          <p:nvPr/>
        </p:nvSpPr>
        <p:spPr>
          <a:xfrm rot="2700000">
            <a:off x="6838259" y="3069049"/>
            <a:ext cx="1719112" cy="17191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C243C-8AFA-48C1-BC37-34FA15F457A4}"/>
              </a:ext>
            </a:extLst>
          </p:cNvPr>
          <p:cNvSpPr/>
          <p:nvPr/>
        </p:nvSpPr>
        <p:spPr>
          <a:xfrm rot="2700000" flipV="1">
            <a:off x="4540879" y="4118095"/>
            <a:ext cx="952612" cy="9526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236F8A-92A8-462D-9C5C-EBB0391EE255}"/>
              </a:ext>
            </a:extLst>
          </p:cNvPr>
          <p:cNvSpPr/>
          <p:nvPr/>
        </p:nvSpPr>
        <p:spPr>
          <a:xfrm rot="2700000">
            <a:off x="4873774" y="2476034"/>
            <a:ext cx="2632087" cy="2632087"/>
          </a:xfrm>
          <a:prstGeom prst="roundRect">
            <a:avLst>
              <a:gd name="adj" fmla="val 1912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742A2-6260-4172-8D34-B3FEEEF9BC92}"/>
              </a:ext>
            </a:extLst>
          </p:cNvPr>
          <p:cNvSpPr txBox="1">
            <a:spLocks/>
          </p:cNvSpPr>
          <p:nvPr/>
        </p:nvSpPr>
        <p:spPr>
          <a:xfrm>
            <a:off x="5052519" y="3279223"/>
            <a:ext cx="2274595" cy="1239069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A43068-9F93-4923-849F-C40C2616E5FD}"/>
              </a:ext>
            </a:extLst>
          </p:cNvPr>
          <p:cNvSpPr/>
          <p:nvPr/>
        </p:nvSpPr>
        <p:spPr>
          <a:xfrm rot="2700000">
            <a:off x="6514438" y="5459984"/>
            <a:ext cx="1597667" cy="1597667"/>
          </a:xfrm>
          <a:custGeom>
            <a:avLst/>
            <a:gdLst>
              <a:gd name="connsiteX0" fmla="*/ 89500 w 1597666"/>
              <a:gd name="connsiteY0" fmla="*/ 89500 h 1597666"/>
              <a:gd name="connsiteX1" fmla="*/ 305570 w 1597666"/>
              <a:gd name="connsiteY1" fmla="*/ 0 h 1597666"/>
              <a:gd name="connsiteX2" fmla="*/ 1292096 w 1597666"/>
              <a:gd name="connsiteY2" fmla="*/ 0 h 1597666"/>
              <a:gd name="connsiteX3" fmla="*/ 1597666 w 1597666"/>
              <a:gd name="connsiteY3" fmla="*/ 305570 h 1597666"/>
              <a:gd name="connsiteX4" fmla="*/ 1597666 w 1597666"/>
              <a:gd name="connsiteY4" fmla="*/ 828667 h 1597666"/>
              <a:gd name="connsiteX5" fmla="*/ 828667 w 1597666"/>
              <a:gd name="connsiteY5" fmla="*/ 1597666 h 1597666"/>
              <a:gd name="connsiteX6" fmla="*/ 305570 w 1597666"/>
              <a:gd name="connsiteY6" fmla="*/ 1597666 h 1597666"/>
              <a:gd name="connsiteX7" fmla="*/ 0 w 1597666"/>
              <a:gd name="connsiteY7" fmla="*/ 1292096 h 1597666"/>
              <a:gd name="connsiteX8" fmla="*/ 0 w 1597666"/>
              <a:gd name="connsiteY8" fmla="*/ 305570 h 1597666"/>
              <a:gd name="connsiteX9" fmla="*/ 89500 w 1597666"/>
              <a:gd name="connsiteY9" fmla="*/ 89500 h 159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7666" h="1597666">
                <a:moveTo>
                  <a:pt x="89500" y="89500"/>
                </a:moveTo>
                <a:cubicBezTo>
                  <a:pt x="144796" y="34202"/>
                  <a:pt x="221189" y="0"/>
                  <a:pt x="305570" y="0"/>
                </a:cubicBezTo>
                <a:lnTo>
                  <a:pt x="1292096" y="0"/>
                </a:lnTo>
                <a:cubicBezTo>
                  <a:pt x="1460858" y="0"/>
                  <a:pt x="1597666" y="136808"/>
                  <a:pt x="1597666" y="305570"/>
                </a:cubicBezTo>
                <a:lnTo>
                  <a:pt x="1597666" y="828667"/>
                </a:lnTo>
                <a:lnTo>
                  <a:pt x="828667" y="1597666"/>
                </a:lnTo>
                <a:lnTo>
                  <a:pt x="305570" y="1597666"/>
                </a:lnTo>
                <a:cubicBezTo>
                  <a:pt x="136808" y="1597666"/>
                  <a:pt x="0" y="1460858"/>
                  <a:pt x="0" y="1292096"/>
                </a:cubicBezTo>
                <a:lnTo>
                  <a:pt x="0" y="305570"/>
                </a:lnTo>
                <a:cubicBezTo>
                  <a:pt x="0" y="221189"/>
                  <a:pt x="34202" y="144796"/>
                  <a:pt x="89500" y="89500"/>
                </a:cubicBezTo>
                <a:close/>
              </a:path>
            </a:pathLst>
          </a:cu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0C82F-60D6-4E8E-8658-1945239ECDC7}"/>
              </a:ext>
            </a:extLst>
          </p:cNvPr>
          <p:cNvSpPr/>
          <p:nvPr/>
        </p:nvSpPr>
        <p:spPr>
          <a:xfrm rot="2700000">
            <a:off x="6510290" y="359620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2F3FE-74FC-4251-9C8C-0D58948AEC51}"/>
              </a:ext>
            </a:extLst>
          </p:cNvPr>
          <p:cNvSpPr/>
          <p:nvPr/>
        </p:nvSpPr>
        <p:spPr>
          <a:xfrm rot="2700000">
            <a:off x="2631201" y="2321567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389667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2010</Words>
  <Application>Microsoft Office PowerPoint</Application>
  <PresentationFormat>Widescreen</PresentationFormat>
  <Paragraphs>326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Courier New</vt:lpstr>
      <vt:lpstr>Goudy Old Style</vt:lpstr>
      <vt:lpstr>Lato</vt:lpstr>
      <vt:lpstr>Roboto</vt:lpstr>
      <vt:lpstr>Wingdings 2</vt:lpstr>
      <vt:lpstr>SlateVTI</vt:lpstr>
      <vt:lpstr>Natural Language Processing</vt:lpstr>
      <vt:lpstr>Training Objectives &amp; Outcomes</vt:lpstr>
      <vt:lpstr>What is Natural Language Processing (NLP)?</vt:lpstr>
      <vt:lpstr>What is Natural Language Processing (NLP)?</vt:lpstr>
      <vt:lpstr>Brief History of NLP</vt:lpstr>
      <vt:lpstr>Brief History of NLP</vt:lpstr>
      <vt:lpstr>Challenges and Ambiguities in Natural Language</vt:lpstr>
      <vt:lpstr>Challenges and Ambiguities in Natural Language</vt:lpstr>
      <vt:lpstr>Challenges and Ambiguities in Natural Language</vt:lpstr>
      <vt:lpstr>The NLP Pipeline – Overview of Common Steps</vt:lpstr>
      <vt:lpstr>The NLP Pipeline – Overview of Common Steps</vt:lpstr>
      <vt:lpstr>The NLP Pipeline – Overview of Common Steps</vt:lpstr>
      <vt:lpstr>Introduction to Core NLP Libraries</vt:lpstr>
      <vt:lpstr>Introduction to Core NLP Libraries</vt:lpstr>
      <vt:lpstr>Introduction to Core NLP Libraries</vt:lpstr>
      <vt:lpstr>Introduction to Core NLP Libraries</vt:lpstr>
      <vt:lpstr>Text Cleaning — Case Folding, Punctuation, Numbers</vt:lpstr>
      <vt:lpstr>Text Cleaning — Case Folding, Punctuation, Numbers</vt:lpstr>
      <vt:lpstr>Tokenization — Word, Sentence, and Subword Tokenization</vt:lpstr>
      <vt:lpstr>Tokenization — Word, Sentence, and Subword Tokenization</vt:lpstr>
      <vt:lpstr>Tokenization — Word, Sentence, and Subword Tokenization</vt:lpstr>
      <vt:lpstr>Stemming and Lemmatization</vt:lpstr>
      <vt:lpstr>Stemming and Lemmatization</vt:lpstr>
      <vt:lpstr>Stemming and Lemmatization</vt:lpstr>
      <vt:lpstr>Stop Word Removal</vt:lpstr>
      <vt:lpstr>Stop Word Removal</vt:lpstr>
      <vt:lpstr>Text Normalization</vt:lpstr>
      <vt:lpstr>Text Normalization</vt:lpstr>
      <vt:lpstr>Regular Expressions for Text Processing</vt:lpstr>
      <vt:lpstr>Regular Expressions for Text Processing</vt:lpstr>
      <vt:lpstr>Regular Expressions for Text Processing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2025-07-14T07:40:57Z</dcterms:modified>
</cp:coreProperties>
</file>