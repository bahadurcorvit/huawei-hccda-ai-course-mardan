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60" r:id="rId2"/>
    <p:sldId id="361" r:id="rId3"/>
    <p:sldId id="378" r:id="rId4"/>
    <p:sldId id="362" r:id="rId5"/>
    <p:sldId id="323" r:id="rId6"/>
    <p:sldId id="379" r:id="rId7"/>
    <p:sldId id="363" r:id="rId8"/>
    <p:sldId id="325" r:id="rId9"/>
    <p:sldId id="380" r:id="rId10"/>
    <p:sldId id="365" r:id="rId11"/>
    <p:sldId id="366" r:id="rId12"/>
    <p:sldId id="374" r:id="rId13"/>
    <p:sldId id="375" r:id="rId14"/>
    <p:sldId id="367" r:id="rId15"/>
    <p:sldId id="368" r:id="rId16"/>
    <p:sldId id="370" r:id="rId17"/>
    <p:sldId id="347" r:id="rId18"/>
    <p:sldId id="371" r:id="rId19"/>
    <p:sldId id="369" r:id="rId20"/>
    <p:sldId id="326" r:id="rId21"/>
    <p:sldId id="348" r:id="rId22"/>
    <p:sldId id="349" r:id="rId23"/>
    <p:sldId id="350" r:id="rId24"/>
    <p:sldId id="351" r:id="rId25"/>
    <p:sldId id="324" r:id="rId26"/>
    <p:sldId id="327" r:id="rId27"/>
    <p:sldId id="328" r:id="rId28"/>
    <p:sldId id="329" r:id="rId29"/>
    <p:sldId id="330" r:id="rId30"/>
    <p:sldId id="333" r:id="rId31"/>
    <p:sldId id="331" r:id="rId32"/>
    <p:sldId id="359" r:id="rId33"/>
    <p:sldId id="358" r:id="rId34"/>
    <p:sldId id="357" r:id="rId35"/>
    <p:sldId id="356" r:id="rId36"/>
    <p:sldId id="320" r:id="rId37"/>
    <p:sldId id="26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578"/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https://github.com/bahadurCorvi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2E6578"/>
                </a:solidFill>
                <a:cs typeface="+mn-cs"/>
              </a:rPr>
              <a:t>Mastering Pandas: From Basics to Expert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19512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Powerful Data Analysis &amp; Manipulation with Python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9E5B43-B18D-44FE-8AAE-BA6DAFA542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5091089" y="5223442"/>
            <a:ext cx="1999240" cy="739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2A204A-0FFA-4309-A5D6-1E3324840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423"/>
            <a:ext cx="12192000" cy="313372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60DC9DD-E6A9-4818-A085-912766B07BDC}"/>
              </a:ext>
            </a:extLst>
          </p:cNvPr>
          <p:cNvGrpSpPr/>
          <p:nvPr/>
        </p:nvGrpSpPr>
        <p:grpSpPr>
          <a:xfrm>
            <a:off x="172720" y="6159025"/>
            <a:ext cx="11897360" cy="835104"/>
            <a:chOff x="172720" y="6159025"/>
            <a:chExt cx="12405360" cy="835104"/>
          </a:xfrm>
        </p:grpSpPr>
        <p:sp>
          <p:nvSpPr>
            <p:cNvPr id="12" name="Subtitle 2">
              <a:extLst>
                <a:ext uri="{FF2B5EF4-FFF2-40B4-BE49-F238E27FC236}">
                  <a16:creationId xmlns:a16="http://schemas.microsoft.com/office/drawing/2014/main" id="{534E8425-12DF-4C21-AE61-D7DF59D67E7A}"/>
                </a:ext>
              </a:extLst>
            </p:cNvPr>
            <p:cNvSpPr txBox="1">
              <a:spLocks/>
            </p:cNvSpPr>
            <p:nvPr/>
          </p:nvSpPr>
          <p:spPr>
            <a:xfrm>
              <a:off x="7741222" y="6159025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000" dirty="0">
                  <a:solidFill>
                    <a:schemeClr val="bg1"/>
                  </a:solidFill>
                </a:rPr>
                <a:t>Instructor : Fawad Bahadur</a:t>
              </a:r>
            </a:p>
          </p:txBody>
        </p:sp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DFB9D05-6E04-40DE-AFF6-DCACC1FE41B6}"/>
                </a:ext>
              </a:extLst>
            </p:cNvPr>
            <p:cNvSpPr txBox="1">
              <a:spLocks/>
            </p:cNvSpPr>
            <p:nvPr/>
          </p:nvSpPr>
          <p:spPr>
            <a:xfrm>
              <a:off x="172720" y="6159025"/>
              <a:ext cx="2397760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chemeClr val="bg1"/>
                  </a:solidFill>
                </a:rPr>
                <a:t>Dated: 14 June 2025</a:t>
              </a: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B8B0891-38A1-45E9-8445-AAACB88AD656}"/>
                </a:ext>
              </a:extLst>
            </p:cNvPr>
            <p:cNvSpPr txBox="1">
              <a:spLocks/>
            </p:cNvSpPr>
            <p:nvPr/>
          </p:nvSpPr>
          <p:spPr>
            <a:xfrm>
              <a:off x="3672281" y="6437393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 err="1">
                  <a:solidFill>
                    <a:schemeClr val="accent3"/>
                  </a:solidFill>
                </a:rPr>
                <a:t>Github</a:t>
              </a:r>
              <a:r>
                <a:rPr lang="en-US" sz="2000" dirty="0">
                  <a:solidFill>
                    <a:schemeClr val="accent3"/>
                  </a:solidFill>
                </a:rPr>
                <a:t>: </a:t>
              </a:r>
              <a:r>
                <a:rPr lang="en-US" sz="2000" dirty="0" err="1">
                  <a:solidFill>
                    <a:schemeClr val="accent3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bahadurCorvit</a:t>
              </a:r>
              <a:endParaRPr lang="en-US" sz="2800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Introduction to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21604" y="1199311"/>
            <a:ext cx="88090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What is Pandas?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Open</a:t>
            </a:r>
            <a:r>
              <a:rPr lang="en-US" sz="2400" dirty="0">
                <a:solidFill>
                  <a:schemeClr val="bg1"/>
                </a:solidFill>
                <a:latin typeface="Agency FB" panose="020B0503020202020204" pitchFamily="34" charset="0"/>
              </a:rPr>
              <a:t>-</a:t>
            </a:r>
            <a:r>
              <a:rPr lang="en-US" sz="2400" dirty="0">
                <a:solidFill>
                  <a:schemeClr val="bg1"/>
                </a:solidFill>
              </a:rPr>
              <a:t>source Python library for </a:t>
            </a:r>
            <a:r>
              <a:rPr lang="en-US" sz="2400" b="1" dirty="0">
                <a:solidFill>
                  <a:schemeClr val="bg1"/>
                </a:solidFill>
              </a:rPr>
              <a:t>data manipulation and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Provides powerful data structures: </a:t>
            </a:r>
            <a:r>
              <a:rPr lang="en-US" sz="2400" b="1" dirty="0">
                <a:solidFill>
                  <a:schemeClr val="bg1"/>
                </a:solidFill>
              </a:rPr>
              <a:t>Series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 err="1">
                <a:solidFill>
                  <a:schemeClr val="bg1"/>
                </a:solidFill>
              </a:rPr>
              <a:t>DataFrame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Built on top of </a:t>
            </a:r>
            <a:r>
              <a:rPr lang="en-US" sz="2400" b="1" dirty="0">
                <a:solidFill>
                  <a:schemeClr val="bg1"/>
                </a:solidFill>
              </a:rPr>
              <a:t>NumPy</a:t>
            </a:r>
            <a:r>
              <a:rPr lang="en-US" sz="2400" dirty="0">
                <a:solidFill>
                  <a:schemeClr val="bg1"/>
                </a:solidFill>
              </a:rPr>
              <a:t>, designed for working with </a:t>
            </a:r>
            <a:r>
              <a:rPr lang="en-US" sz="2400" b="1" dirty="0">
                <a:solidFill>
                  <a:schemeClr val="bg1"/>
                </a:solidFill>
              </a:rPr>
              <a:t>structured data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36970" y="3046807"/>
            <a:ext cx="482260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Why Use Pandas?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Easy handling of missing data.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Flexible reshaping and pivoting.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Powerful group</a:t>
            </a:r>
            <a:r>
              <a:rPr lang="en-US" sz="2400" dirty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-</a:t>
            </a:r>
            <a:r>
              <a:rPr lang="en-US" sz="2400" dirty="0">
                <a:solidFill>
                  <a:schemeClr val="bg1"/>
                </a:solidFill>
              </a:rPr>
              <a:t>by functionality.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Supports time series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57290" y="5139836"/>
            <a:ext cx="71018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 data = {'Name': ['Alice', 'Bob', 'Charlie'], 'Age': [25, 30, 35]}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pd.DataFrame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(data)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E1B84-4119-48B1-A97B-D7B097854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A71AAB-49CE-4BDB-9B68-18CCF624CB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A074D36-F9BA-4A3E-AAC1-8FCDD5DD4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301" y="1204678"/>
            <a:ext cx="2900331" cy="19125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44ACCDD-AD88-463D-88C1-9511A71CAE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720" y="3872873"/>
            <a:ext cx="5039359" cy="192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61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06308-E77C-4EBD-A0E9-08D6A2544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91847"/>
            <a:ext cx="5298758" cy="32494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2E6578"/>
                </a:solidFill>
                <a:effectLst/>
              </a:rPr>
              <a:t>Setting Up Pandas in Your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00622" y="1760423"/>
            <a:ext cx="5492177" cy="121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Prerequisites-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Python installed (preferably 3.6 or above)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pip (Python package installer)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00622" y="3513064"/>
            <a:ext cx="3942080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Installation Using pip: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pip install pandas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E1B84-4119-48B1-A97B-D7B097854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A71AAB-49CE-4BDB-9B68-18CCF624CB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35E064-4A78-48C6-8F08-340770FAFD60}"/>
              </a:ext>
            </a:extLst>
          </p:cNvPr>
          <p:cNvSpPr txBox="1"/>
          <p:nvPr/>
        </p:nvSpPr>
        <p:spPr>
          <a:xfrm>
            <a:off x="400622" y="5008743"/>
            <a:ext cx="3881120" cy="1341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Verify Installation: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pd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pd</a:t>
            </a:r>
            <a:r>
              <a:rPr lang="en-US" sz="3200" dirty="0" err="1">
                <a:solidFill>
                  <a:schemeClr val="bg1"/>
                </a:solidFill>
                <a:highlight>
                  <a:srgbClr val="C0C0C0"/>
                </a:highlight>
              </a:rPr>
              <a:t>.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_version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_)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6D8C3D-39D7-48BD-8927-8049406C2A0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4114800" y="4896373"/>
            <a:ext cx="4236720" cy="156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9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Pandas Series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290" y="1084318"/>
            <a:ext cx="7335520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is a Series?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One-dimensional labeled array.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Can hold any data type (integers, strings, floats, etc.).</a:t>
            </a:r>
          </a:p>
          <a:p>
            <a:r>
              <a:rPr lang="en-US" sz="2400" dirty="0">
                <a:solidFill>
                  <a:schemeClr val="bg1"/>
                </a:solidFill>
              </a:rPr>
              <a:t>- Labels (index) identify each element.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82964" y="5681084"/>
            <a:ext cx="5240876" cy="121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Series Attributes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Values: </a:t>
            </a:r>
            <a:r>
              <a:rPr lang="en-US" sz="2400" dirty="0">
                <a:solidFill>
                  <a:schemeClr val="bg1"/>
                </a:solidFill>
              </a:rPr>
              <a:t>returns the data as NumPy array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Index:</a:t>
            </a:r>
            <a:r>
              <a:rPr lang="en-US" sz="2400" dirty="0">
                <a:solidFill>
                  <a:schemeClr val="bg1"/>
                </a:solidFill>
              </a:rPr>
              <a:t> returns the index labels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82964" y="4386113"/>
            <a:ext cx="4330188" cy="121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Accessing Data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print(s['b'])    # 20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print(s[1])      # 20 (by position)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82964" y="2698345"/>
            <a:ext cx="6408613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Creating a Series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pd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 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pd.Series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([10, 20, 30, 40], index=['a', 'b', 'c', 'd'])</a:t>
            </a:r>
          </a:p>
          <a:p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print(s)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FA7619-D879-4E5C-B6E6-3D3C3B57E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A43D0C-E0F5-44CC-86E6-561B2AB26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D734F0-0CAF-49A3-B9F2-79C2749078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47A7428-2BAC-45FF-B7C7-F1099811CB88}"/>
              </a:ext>
            </a:extLst>
          </p:cNvPr>
          <p:cNvSpPr txBox="1"/>
          <p:nvPr/>
        </p:nvSpPr>
        <p:spPr>
          <a:xfrm>
            <a:off x="8305282" y="577093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Series is the building block for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columns.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7E4113-E897-47FF-9628-4BBE49327A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220" y="3050938"/>
            <a:ext cx="3208384" cy="22758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A4A7A8-E4E4-41D0-8BD9-B04126C6E51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5" t="25042" r="16191" b="18027"/>
          <a:stretch/>
        </p:blipFill>
        <p:spPr>
          <a:xfrm>
            <a:off x="8514080" y="1186616"/>
            <a:ext cx="3199365" cy="156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3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32652A-E2C6-42E6-B495-CE11E2F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196" y="1991359"/>
            <a:ext cx="6154803" cy="3318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Pandas </a:t>
            </a:r>
            <a:r>
              <a:rPr lang="en-US" b="1" dirty="0" err="1">
                <a:solidFill>
                  <a:srgbClr val="2E6578"/>
                </a:solidFill>
                <a:cs typeface="+mn-cs"/>
              </a:rPr>
              <a:t>DataFrame</a:t>
            </a:r>
            <a:r>
              <a:rPr lang="en-US" b="1" dirty="0">
                <a:solidFill>
                  <a:srgbClr val="2E6578"/>
                </a:solidFill>
                <a:cs typeface="+mn-cs"/>
              </a:rPr>
              <a:t>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47040" y="1098014"/>
            <a:ext cx="4978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is a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DataFrame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Two-dimensional labeled data structure with columns of potentially different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Like a spreadsheet or SQL table.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01875" y="2438517"/>
            <a:ext cx="49588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Creating a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DataFrame</a:t>
            </a:r>
            <a:endParaRPr lang="en-US" sz="24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2E6578"/>
              </a:solidFill>
              <a:latin typeface="+mj-lt"/>
              <a:ea typeface="+mj-ea"/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pd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 data = {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'Name': ['Alice', 'Bob', 'Charlie'], 'Age': [25, 30, 35],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    'Salary': [50000, 60000, 70000]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}</a:t>
            </a:r>
          </a:p>
          <a:p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pd.DataFrame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(data)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371392" y="5696749"/>
            <a:ext cx="34957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Accessing Rows By</a:t>
            </a:r>
          </a:p>
          <a:p>
            <a:r>
              <a:rPr lang="en-US" sz="2000" dirty="0">
                <a:solidFill>
                  <a:schemeClr val="bg1"/>
                </a:solidFill>
              </a:rPr>
              <a:t>index label: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df.loc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[0]  </a:t>
            </a:r>
          </a:p>
          <a:p>
            <a:r>
              <a:rPr lang="en-US" sz="2000" dirty="0">
                <a:solidFill>
                  <a:schemeClr val="bg1"/>
                </a:solidFill>
              </a:rPr>
              <a:t>By integer position: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df.iloc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[0]</a:t>
            </a:r>
            <a:endParaRPr lang="en-US" sz="2000" dirty="0">
              <a:solidFill>
                <a:srgbClr val="92D050"/>
              </a:solidFill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371392" y="4881387"/>
            <a:ext cx="4587399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Accessing Columns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['Name'])  # Returns Series of names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2A6195-9D9B-4CA4-8B28-1429E978A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2AAA77-F801-4408-BA26-0EF5678593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C74B83CC-3CBB-4487-B678-916151D982D6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900299-484E-48F1-BDD7-E009F13C2D5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01431DF-C55A-45DE-A7EC-0CB2784A905F}"/>
              </a:ext>
            </a:extLst>
          </p:cNvPr>
          <p:cNvSpPr txBox="1"/>
          <p:nvPr/>
        </p:nvSpPr>
        <p:spPr>
          <a:xfrm>
            <a:off x="4145282" y="5825164"/>
            <a:ext cx="396240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is the core structure for data analysis in Pandas.</a:t>
            </a:r>
          </a:p>
        </p:txBody>
      </p:sp>
    </p:spTree>
    <p:extLst>
      <p:ext uri="{BB962C8B-B14F-4D97-AF65-F5344CB8AC3E}">
        <p14:creationId xmlns:p14="http://schemas.microsoft.com/office/powerpoint/2010/main" val="3392727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Data Selection &amp; Indexing?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62559" y="1280894"/>
            <a:ext cx="7031399" cy="121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Selecting Columns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df</a:t>
            </a:r>
            <a:r>
              <a:rPr lang="en-US" sz="2400" dirty="0">
                <a:solidFill>
                  <a:schemeClr val="bg1"/>
                </a:solidFill>
              </a:rPr>
              <a:t>['Age']          # Single column (Series)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df</a:t>
            </a:r>
            <a:r>
              <a:rPr lang="en-US" sz="2400" dirty="0">
                <a:solidFill>
                  <a:schemeClr val="bg1"/>
                </a:solidFill>
              </a:rPr>
              <a:t>[['Name', 'Age']] # Multiple columns (</a:t>
            </a:r>
            <a:r>
              <a:rPr lang="en-US" sz="2400" dirty="0" err="1">
                <a:solidFill>
                  <a:schemeClr val="bg1"/>
                </a:solidFill>
              </a:rPr>
              <a:t>DataFrame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62560" y="2642128"/>
            <a:ext cx="5496560" cy="3065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Selecting Rows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Using .loc (label-based)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df.loc</a:t>
            </a:r>
            <a:r>
              <a:rPr lang="en-US" sz="2400" dirty="0">
                <a:solidFill>
                  <a:schemeClr val="bg1"/>
                </a:solidFill>
              </a:rPr>
              <a:t>[0]           # First row by index label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df.loc</a:t>
            </a:r>
            <a:r>
              <a:rPr lang="en-US" sz="2400" dirty="0">
                <a:solidFill>
                  <a:schemeClr val="bg1"/>
                </a:solidFill>
              </a:rPr>
              <a:t>[0:2]         # Rows 0 to 2 inclusive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Using .</a:t>
            </a:r>
            <a:r>
              <a:rPr lang="en-US" sz="2400" b="1" dirty="0" err="1">
                <a:solidFill>
                  <a:schemeClr val="bg1"/>
                </a:solidFill>
              </a:rPr>
              <a:t>iloc</a:t>
            </a:r>
            <a:r>
              <a:rPr lang="en-US" sz="2400" b="1" dirty="0">
                <a:solidFill>
                  <a:schemeClr val="bg1"/>
                </a:solidFill>
              </a:rPr>
              <a:t> (integer position-based)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df.iloc</a:t>
            </a:r>
            <a:r>
              <a:rPr lang="en-US" sz="2400" dirty="0">
                <a:solidFill>
                  <a:schemeClr val="bg1"/>
                </a:solidFill>
              </a:rPr>
              <a:t>[0]          # First row by position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df.iloc</a:t>
            </a:r>
            <a:r>
              <a:rPr lang="en-US" sz="2400" dirty="0">
                <a:solidFill>
                  <a:schemeClr val="bg1"/>
                </a:solidFill>
              </a:rPr>
              <a:t>[0:2]        # Rows 0 and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82879" y="5964696"/>
            <a:ext cx="3699355" cy="849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Setting Values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df.loc</a:t>
            </a:r>
            <a:r>
              <a:rPr lang="en-US" sz="2400" dirty="0">
                <a:solidFill>
                  <a:schemeClr val="bg1"/>
                </a:solidFill>
              </a:rPr>
              <a:t>[1, 'Salary'] = 65000</a:t>
            </a:r>
            <a:endParaRPr lang="en-US" sz="2400" dirty="0">
              <a:solidFill>
                <a:srgbClr val="00B05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38908D-C088-41CA-876E-B65D551A3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7497EE-8504-43CB-9A5F-760F4183A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60D4C4-E631-491A-B1FA-B0A0DCDC2F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0BBFF1F-6685-430C-A757-C7D330A5B739}"/>
              </a:ext>
            </a:extLst>
          </p:cNvPr>
          <p:cNvSpPr txBox="1"/>
          <p:nvPr/>
        </p:nvSpPr>
        <p:spPr>
          <a:xfrm>
            <a:off x="4714242" y="5742488"/>
            <a:ext cx="34035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 .loc for label indexing and .</a:t>
            </a:r>
            <a:r>
              <a:rPr lang="en-US" sz="2000" dirty="0" err="1">
                <a:solidFill>
                  <a:schemeClr val="bg1"/>
                </a:solidFill>
              </a:rPr>
              <a:t>iloc</a:t>
            </a:r>
            <a:r>
              <a:rPr lang="en-US" sz="2000" dirty="0">
                <a:solidFill>
                  <a:schemeClr val="bg1"/>
                </a:solidFill>
              </a:rPr>
              <a:t> for positional indexing.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61E388-D2CA-40E9-8B6A-9170D51DE68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31" t="31556" r="13111" b="9098"/>
          <a:stretch/>
        </p:blipFill>
        <p:spPr>
          <a:xfrm>
            <a:off x="6555824" y="2404473"/>
            <a:ext cx="5478697" cy="24520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6805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Conti…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06400" y="1759901"/>
            <a:ext cx="479552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Aditional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 Selection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df[df['Age'] &gt; 25]  # Filter rows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38908D-C088-41CA-876E-B65D551A3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7497EE-8504-43CB-9A5F-760F4183A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60D4C4-E631-491A-B1FA-B0A0DCDC2F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EB4B580-D828-4254-A6FE-BD8F8E924B76}"/>
              </a:ext>
            </a:extLst>
          </p:cNvPr>
          <p:cNvSpPr txBox="1"/>
          <p:nvPr/>
        </p:nvSpPr>
        <p:spPr>
          <a:xfrm>
            <a:off x="406400" y="3478812"/>
            <a:ext cx="479552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Sort Ascending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df.sort_values</a:t>
            </a:r>
            <a:r>
              <a:rPr lang="en-US" sz="2000" dirty="0">
                <a:solidFill>
                  <a:schemeClr val="bg1"/>
                </a:solidFill>
              </a:rPr>
              <a:t>(‘Age’)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964679-4146-4211-9E47-12BE0EE75C1F}"/>
              </a:ext>
            </a:extLst>
          </p:cNvPr>
          <p:cNvSpPr txBox="1"/>
          <p:nvPr/>
        </p:nvSpPr>
        <p:spPr>
          <a:xfrm>
            <a:off x="406400" y="5319643"/>
            <a:ext cx="479552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Sort Descending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df.sort_values</a:t>
            </a:r>
            <a:r>
              <a:rPr lang="en-US" sz="2000" dirty="0">
                <a:solidFill>
                  <a:schemeClr val="bg1"/>
                </a:solidFill>
              </a:rPr>
              <a:t>(‘Age’, ascending=False)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2A2B4-E12E-4C97-964F-40DEA906BC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530" y="4277360"/>
            <a:ext cx="4558030" cy="2552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4E66CB-086B-4D37-B0EA-E22BF6A18B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4226"/>
            <a:ext cx="4351655" cy="290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1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Handling Missing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31460" y="1498680"/>
            <a:ext cx="7335520" cy="4973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Detecting Missing Data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df.isnull</a:t>
            </a:r>
            <a:r>
              <a:rPr lang="en-US" sz="2000" dirty="0">
                <a:solidFill>
                  <a:schemeClr val="bg1"/>
                </a:solidFill>
              </a:rPr>
              <a:t>()          # Returns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of True/False for missing values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Count missing values per column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df.isnull</a:t>
            </a:r>
            <a:r>
              <a:rPr lang="en-US" sz="2000" dirty="0">
                <a:solidFill>
                  <a:schemeClr val="bg1"/>
                </a:solidFill>
              </a:rPr>
              <a:t>().sum()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Remove </a:t>
            </a:r>
            <a:r>
              <a:rPr lang="en-US" sz="28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NaNs</a:t>
            </a: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2E6578"/>
              </a:solidFill>
              <a:latin typeface="+mj-lt"/>
              <a:ea typeface="+mj-ea"/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Df.dropna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Replace </a:t>
            </a:r>
            <a:r>
              <a:rPr lang="en-US" sz="28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NaNs</a:t>
            </a:r>
            <a:endParaRPr lang="en-US" sz="28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2E6578"/>
              </a:solidFill>
              <a:latin typeface="+mj-lt"/>
              <a:ea typeface="+mj-ea"/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Df.fillna</a:t>
            </a:r>
            <a:r>
              <a:rPr lang="en-US" sz="2000" dirty="0">
                <a:solidFill>
                  <a:schemeClr val="bg1"/>
                </a:solidFill>
              </a:rPr>
              <a:t>(0)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Drop Columns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Df.drop</a:t>
            </a:r>
            <a:r>
              <a:rPr lang="en-US" sz="2000" dirty="0">
                <a:solidFill>
                  <a:schemeClr val="bg1"/>
                </a:solidFill>
              </a:rPr>
              <a:t>(‘col’, axis=1)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356CAE-6691-4DF0-85EE-582D89F1D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B3A514-32FF-4D20-B7F1-C852BCA94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99EFC2-33B1-433C-82A5-0145DD13D6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2DB2DF-46BB-4D38-947B-C38B74416BE5}"/>
              </a:ext>
            </a:extLst>
          </p:cNvPr>
          <p:cNvSpPr txBox="1"/>
          <p:nvPr/>
        </p:nvSpPr>
        <p:spPr>
          <a:xfrm>
            <a:off x="4145282" y="5764204"/>
            <a:ext cx="34035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Clean and transform your data to prepare it for analysis.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2ECE62-5187-44C1-9C61-5416E8A73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326" y="1658118"/>
            <a:ext cx="4124676" cy="14034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430ED9-E2AE-4FB0-BD5D-42AE7006187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55"/>
          <a:stretch/>
        </p:blipFill>
        <p:spPr>
          <a:xfrm>
            <a:off x="6048596" y="3655295"/>
            <a:ext cx="6070428" cy="201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50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Conti…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43220" y="1234520"/>
            <a:ext cx="733552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Rename</a:t>
            </a:r>
          </a:p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000" dirty="0" err="1">
                <a:solidFill>
                  <a:schemeClr val="bg1"/>
                </a:solidFill>
              </a:rPr>
              <a:t>Df.rename</a:t>
            </a:r>
            <a:r>
              <a:rPr lang="en-US" sz="2000" dirty="0">
                <a:solidFill>
                  <a:schemeClr val="bg1"/>
                </a:solidFill>
              </a:rPr>
              <a:t>(columns={‘</a:t>
            </a:r>
            <a:r>
              <a:rPr lang="en-US" sz="2000" dirty="0" err="1">
                <a:solidFill>
                  <a:schemeClr val="bg1"/>
                </a:solidFill>
              </a:rPr>
              <a:t>old’:‘new</a:t>
            </a:r>
            <a:r>
              <a:rPr lang="en-US" sz="2000" dirty="0">
                <a:solidFill>
                  <a:schemeClr val="bg1"/>
                </a:solidFill>
              </a:rPr>
              <a:t>’}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43220" y="2995484"/>
            <a:ext cx="3478540" cy="78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Changing Data Types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df['Age'] = df['Age'].</a:t>
            </a:r>
            <a:r>
              <a:rPr lang="en-US" sz="2000" dirty="0" err="1">
                <a:solidFill>
                  <a:schemeClr val="bg1"/>
                </a:solidFill>
              </a:rPr>
              <a:t>astype</a:t>
            </a:r>
            <a:r>
              <a:rPr lang="en-US" sz="2000" dirty="0">
                <a:solidFill>
                  <a:schemeClr val="bg1"/>
                </a:solidFill>
              </a:rPr>
              <a:t>(float)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47040" y="4594831"/>
            <a:ext cx="5963920" cy="109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Removing Duplicates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df.drop_duplicates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df.drop_duplicates</a:t>
            </a:r>
            <a:r>
              <a:rPr lang="en-US" sz="2000" dirty="0">
                <a:solidFill>
                  <a:schemeClr val="bg1"/>
                </a:solidFill>
              </a:rPr>
              <a:t>(subset=['ID', 'Email'], 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356CAE-6691-4DF0-85EE-582D89F1D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B3A514-32FF-4D20-B7F1-C852BCA94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99EFC2-33B1-433C-82A5-0145DD13D6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2DB2DF-46BB-4D38-947B-C38B74416BE5}"/>
              </a:ext>
            </a:extLst>
          </p:cNvPr>
          <p:cNvSpPr txBox="1"/>
          <p:nvPr/>
        </p:nvSpPr>
        <p:spPr>
          <a:xfrm>
            <a:off x="4145282" y="5764204"/>
            <a:ext cx="34035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Clean and transform your data to prepare it for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1063D-D128-417F-A216-7B70AA2D3EB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588" b="25964"/>
          <a:stretch/>
        </p:blipFill>
        <p:spPr>
          <a:xfrm>
            <a:off x="7360823" y="3722968"/>
            <a:ext cx="4231737" cy="1775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909CDE-0A2B-433D-9066-62EF120AFB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794" y="1868748"/>
            <a:ext cx="1294315" cy="12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4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777C6AB-363C-4988-86FD-5B068E8B8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2710"/>
            <a:ext cx="5325406" cy="39889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Data Aggregation &amp; Grouping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7" y="1130988"/>
            <a:ext cx="5038472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GroupBy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 Basics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Split data into groups based on column values.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Apply aggregation functions.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7" y="4139780"/>
            <a:ext cx="36825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Example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grouped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df.groupby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AgeGroup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')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print(grouped['Income'].mean())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2167897"/>
            <a:ext cx="437574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Common Aggregation Functions</a:t>
            </a:r>
            <a:r>
              <a:rPr lang="en-US" sz="2400" b="1" dirty="0">
                <a:solidFill>
                  <a:schemeClr val="accent1"/>
                </a:solidFill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.sum()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.mean()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.count()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.min()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.max()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19B33F-20D7-4D98-9FAC-FDA25DD83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47313"/>
            <a:ext cx="1186184" cy="531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162700-0407-4487-8F00-ABB731E47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29609"/>
            <a:ext cx="721043" cy="7210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ECAB653-9AF2-4777-BC16-CED66C9C1443}"/>
              </a:ext>
            </a:extLst>
          </p:cNvPr>
          <p:cNvSpPr txBox="1"/>
          <p:nvPr/>
        </p:nvSpPr>
        <p:spPr>
          <a:xfrm>
            <a:off x="4394201" y="5806362"/>
            <a:ext cx="34035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GroupBy</a:t>
            </a:r>
            <a:r>
              <a:rPr lang="en-US" sz="2000" dirty="0">
                <a:solidFill>
                  <a:schemeClr val="bg1"/>
                </a:solidFill>
              </a:rPr>
              <a:t> is powerful for summarizing data by categories.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E780A1-B9BF-4F0A-A3B4-3755B8AEBE9B}"/>
              </a:ext>
            </a:extLst>
          </p:cNvPr>
          <p:cNvSpPr txBox="1"/>
          <p:nvPr/>
        </p:nvSpPr>
        <p:spPr>
          <a:xfrm>
            <a:off x="296602" y="5220925"/>
            <a:ext cx="4659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Multiple Aggregations</a:t>
            </a:r>
          </a:p>
          <a:p>
            <a:pPr marL="0" lvl="2"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grouped['Income'].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agg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(['mean', 'max', 'min'])</a:t>
            </a:r>
          </a:p>
        </p:txBody>
      </p:sp>
    </p:spTree>
    <p:extLst>
      <p:ext uri="{BB962C8B-B14F-4D97-AF65-F5344CB8AC3E}">
        <p14:creationId xmlns:p14="http://schemas.microsoft.com/office/powerpoint/2010/main" val="3424768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F56497-52C8-4AB0-A821-7BF166DCA9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05"/>
          <a:stretch/>
        </p:blipFill>
        <p:spPr>
          <a:xfrm>
            <a:off x="8286634" y="2336468"/>
            <a:ext cx="3905366" cy="2374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Concatenation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82880" y="1106641"/>
            <a:ext cx="5415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Purpose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Used to stack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or Series vertically or horizontally along an axis.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57290" y="2151262"/>
            <a:ext cx="901719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Combines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by appending them along a specified axis (rows or columns).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Does not perform any relational operations or key-based joining.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handle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with different columns or indices.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result in duplicate indices if not handled properly.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66942" y="3787722"/>
            <a:ext cx="78797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Use Case</a:t>
            </a:r>
          </a:p>
          <a:p>
            <a:pPr fontAlgn="ctr"/>
            <a:r>
              <a:rPr lang="en-US" sz="2000" dirty="0">
                <a:solidFill>
                  <a:schemeClr val="bg1"/>
                </a:solidFill>
              </a:rPr>
              <a:t>When you want to combine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with similar structures or append new data to existing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without considering common keys.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690BAD-F4F2-44BC-AFD7-A93C9BB48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B3C635-AB47-4D09-A5F5-526EC5843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07F690-7EDA-4BBF-A269-B69C65C2EA6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EE905B-B31E-4E9A-A79B-7E85F1132402}"/>
              </a:ext>
            </a:extLst>
          </p:cNvPr>
          <p:cNvSpPr txBox="1"/>
          <p:nvPr/>
        </p:nvSpPr>
        <p:spPr>
          <a:xfrm>
            <a:off x="182880" y="4869451"/>
            <a:ext cx="5496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Code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pd.concat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([df1, df2], axis=0)  # Vertical (rows)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pd.concat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([df1, df2], axis=1)  # Horizontal (columns)</a:t>
            </a:r>
          </a:p>
        </p:txBody>
      </p:sp>
    </p:spTree>
    <p:extLst>
      <p:ext uri="{BB962C8B-B14F-4D97-AF65-F5344CB8AC3E}">
        <p14:creationId xmlns:p14="http://schemas.microsoft.com/office/powerpoint/2010/main" val="3375973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Merge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82880" y="1000065"/>
            <a:ext cx="5181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Purpose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Used to combine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common columns or indices, similar to SQL joins.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57290" y="2095486"/>
            <a:ext cx="68531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Functionality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Merges two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specified columns or indices.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Supports different types of joins: inner, outer, left, right.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handle complex merging scenarios with multiple keys.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result in duplicate columns if not handled properly.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66943" y="3797882"/>
            <a:ext cx="77273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Use Case</a:t>
            </a:r>
          </a:p>
          <a:p>
            <a:pPr fontAlgn="ctr"/>
            <a:r>
              <a:rPr lang="en-US" sz="2000" dirty="0">
                <a:solidFill>
                  <a:schemeClr val="bg1"/>
                </a:solidFill>
              </a:rPr>
              <a:t>When you want to combine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related columns, similar to joining tables in a database. 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690BAD-F4F2-44BC-AFD7-A93C9BB48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B3C635-AB47-4D09-A5F5-526EC5843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07F690-7EDA-4BBF-A269-B69C65C2EA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5976FF-A99E-4783-AD39-7FD28C0CB7E7}"/>
              </a:ext>
            </a:extLst>
          </p:cNvPr>
          <p:cNvSpPr txBox="1"/>
          <p:nvPr/>
        </p:nvSpPr>
        <p:spPr>
          <a:xfrm>
            <a:off x="6089238" y="5444872"/>
            <a:ext cx="3220718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merging and joining to combine related datasets effectively.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40764-5D68-4614-B386-167AE62CBE60}"/>
              </a:ext>
            </a:extLst>
          </p:cNvPr>
          <p:cNvSpPr txBox="1"/>
          <p:nvPr/>
        </p:nvSpPr>
        <p:spPr>
          <a:xfrm>
            <a:off x="172720" y="4853392"/>
            <a:ext cx="5630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Code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pd.merge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(df1, df2, on='key', how='inner')  # Inner join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pd.merge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(df1, df2, on='key', how='left')   # Left join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21DFC6-86B1-434F-95C5-0A1D97067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59951"/>
              </p:ext>
            </p:extLst>
          </p:nvPr>
        </p:nvGraphicFramePr>
        <p:xfrm>
          <a:off x="7010400" y="1738394"/>
          <a:ext cx="5136576" cy="22001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57540">
                  <a:extLst>
                    <a:ext uri="{9D8B030D-6E8A-4147-A177-3AD203B41FA5}">
                      <a16:colId xmlns:a16="http://schemas.microsoft.com/office/drawing/2014/main" val="1224509705"/>
                    </a:ext>
                  </a:extLst>
                </a:gridCol>
                <a:gridCol w="1321258">
                  <a:extLst>
                    <a:ext uri="{9D8B030D-6E8A-4147-A177-3AD203B41FA5}">
                      <a16:colId xmlns:a16="http://schemas.microsoft.com/office/drawing/2014/main" val="3833766748"/>
                    </a:ext>
                  </a:extLst>
                </a:gridCol>
                <a:gridCol w="2857778">
                  <a:extLst>
                    <a:ext uri="{9D8B030D-6E8A-4147-A177-3AD203B41FA5}">
                      <a16:colId xmlns:a16="http://schemas.microsoft.com/office/drawing/2014/main" val="3383430382"/>
                    </a:ext>
                  </a:extLst>
                </a:gridCol>
              </a:tblGrid>
              <a:tr h="341598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600" kern="1200" dirty="0">
                          <a:effectLst/>
                        </a:rPr>
                        <a:t>Join Type</a:t>
                      </a:r>
                      <a:endParaRPr lang="en-US" sz="16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Syntax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Returns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227022"/>
                  </a:ext>
                </a:extLst>
              </a:tr>
              <a:tr h="341598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Inner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how='inner'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Only matching rows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790105"/>
                  </a:ext>
                </a:extLst>
              </a:tr>
              <a:tr h="513317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Left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how='left'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left rows + matching right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228887"/>
                  </a:ext>
                </a:extLst>
              </a:tr>
              <a:tr h="51331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Right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how='right'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right rows + matching left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16238"/>
                  </a:ext>
                </a:extLst>
              </a:tr>
              <a:tr h="34159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Outer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how='outer'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rows from both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835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609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9ECDBB5-A928-4C17-B827-79A45584B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555428"/>
              </p:ext>
            </p:extLst>
          </p:nvPr>
        </p:nvGraphicFramePr>
        <p:xfrm>
          <a:off x="7055424" y="1910734"/>
          <a:ext cx="5136576" cy="22001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57540">
                  <a:extLst>
                    <a:ext uri="{9D8B030D-6E8A-4147-A177-3AD203B41FA5}">
                      <a16:colId xmlns:a16="http://schemas.microsoft.com/office/drawing/2014/main" val="1224509705"/>
                    </a:ext>
                  </a:extLst>
                </a:gridCol>
                <a:gridCol w="1321258">
                  <a:extLst>
                    <a:ext uri="{9D8B030D-6E8A-4147-A177-3AD203B41FA5}">
                      <a16:colId xmlns:a16="http://schemas.microsoft.com/office/drawing/2014/main" val="3833766748"/>
                    </a:ext>
                  </a:extLst>
                </a:gridCol>
                <a:gridCol w="2857778">
                  <a:extLst>
                    <a:ext uri="{9D8B030D-6E8A-4147-A177-3AD203B41FA5}">
                      <a16:colId xmlns:a16="http://schemas.microsoft.com/office/drawing/2014/main" val="3383430382"/>
                    </a:ext>
                  </a:extLst>
                </a:gridCol>
              </a:tblGrid>
              <a:tr h="341598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600" kern="1200" dirty="0">
                          <a:effectLst/>
                        </a:rPr>
                        <a:t>Join Type</a:t>
                      </a:r>
                      <a:endParaRPr lang="en-US" sz="16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Syntax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Returns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227022"/>
                  </a:ext>
                </a:extLst>
              </a:tr>
              <a:tr h="341598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Inner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how='inner'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Only matching rows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790105"/>
                  </a:ext>
                </a:extLst>
              </a:tr>
              <a:tr h="513317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Left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how='left'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left rows + matching right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228887"/>
                  </a:ext>
                </a:extLst>
              </a:tr>
              <a:tr h="51331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Right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how='right'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right rows + matching left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16238"/>
                  </a:ext>
                </a:extLst>
              </a:tr>
              <a:tr h="34159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Outer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how='outer'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rows from both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83567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Join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0480" y="1177761"/>
            <a:ext cx="6309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Purpose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A specialized version of merge() optimized for joining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their indices or key columns.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890" y="2323982"/>
            <a:ext cx="77573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Combines two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indices or specified key columns.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By default, performs a left join, but other types can be specified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be more efficient than merge() when joining on indices.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890" y="3697599"/>
            <a:ext cx="78797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Case</a:t>
            </a:r>
          </a:p>
          <a:p>
            <a:pPr fontAlgn="ctr"/>
            <a:r>
              <a:rPr lang="en-US" sz="2000" dirty="0">
                <a:solidFill>
                  <a:schemeClr val="bg1"/>
                </a:solidFill>
              </a:rPr>
              <a:t>When you want to combine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their indices or specific key columns, similar to joining tables in a database but with a focus on index-based joins.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690BAD-F4F2-44BC-AFD7-A93C9BB48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B3C635-AB47-4D09-A5F5-526EC5843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07F690-7EDA-4BBF-A269-B69C65C2EA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5976FF-A99E-4783-AD39-7FD28C0CB7E7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merging and joining to combine related datasets effectively.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FD1EC0-298D-4F53-B3B9-FD81A02252D1}"/>
              </a:ext>
            </a:extLst>
          </p:cNvPr>
          <p:cNvSpPr txBox="1"/>
          <p:nvPr/>
        </p:nvSpPr>
        <p:spPr>
          <a:xfrm>
            <a:off x="4890" y="5100797"/>
            <a:ext cx="274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Code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df1.join(df2, how='outer')</a:t>
            </a:r>
          </a:p>
        </p:txBody>
      </p:sp>
    </p:spTree>
    <p:extLst>
      <p:ext uri="{BB962C8B-B14F-4D97-AF65-F5344CB8AC3E}">
        <p14:creationId xmlns:p14="http://schemas.microsoft.com/office/powerpoint/2010/main" val="2743057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Working with Time Series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7" y="1119357"/>
            <a:ext cx="56489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DateTime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 Index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pd.to_datetime</a:t>
            </a:r>
            <a:r>
              <a:rPr lang="en-US" sz="2000" dirty="0">
                <a:solidFill>
                  <a:schemeClr val="bg1"/>
                </a:solidFill>
              </a:rPr>
              <a:t>() to convert columns to datetime.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['Date']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pd.to_datetime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['Date'])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df.set_index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('Date',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inplace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7" y="2764802"/>
            <a:ext cx="5328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Resampling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Aggregate time series data at different frequencies.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df.resample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('M').mean()  # Monthly average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4011992"/>
            <a:ext cx="3373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Time-based Selection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df.loc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['2023-01-01':'2023-01-31']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5037449"/>
            <a:ext cx="35231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Shifting Data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PrevDay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'] = df['Value'].shift(1)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32CBC2-426C-4E76-A53F-D9ADED165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C6199E-F649-41FB-8164-9F35E781D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A5A427-4837-48E5-9908-24FD0AD6E8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8A8BE29-AF34-4A0B-87C8-A3AB89F64A2A}"/>
              </a:ext>
            </a:extLst>
          </p:cNvPr>
          <p:cNvSpPr txBox="1"/>
          <p:nvPr/>
        </p:nvSpPr>
        <p:spPr>
          <a:xfrm>
            <a:off x="4145282" y="5742488"/>
            <a:ext cx="397255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Pandas makes time series manipulation intuitive and powerful.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5EBAD4-B152-4667-8F34-3BAF55EA72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5" t="25042" r="16191" b="18027"/>
          <a:stretch/>
        </p:blipFill>
        <p:spPr>
          <a:xfrm>
            <a:off x="6679526" y="2346457"/>
            <a:ext cx="4572991" cy="22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9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Handling Text Data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7" y="1362731"/>
            <a:ext cx="515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String Methods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Use .</a:t>
            </a:r>
            <a:r>
              <a:rPr lang="en-US" sz="2000" dirty="0" err="1">
                <a:solidFill>
                  <a:schemeClr val="bg1"/>
                </a:solidFill>
              </a:rPr>
              <a:t>str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accessor</a:t>
            </a:r>
            <a:r>
              <a:rPr lang="en-US" sz="2000" dirty="0">
                <a:solidFill>
                  <a:schemeClr val="bg1"/>
                </a:solidFill>
              </a:rPr>
              <a:t> for </a:t>
            </a:r>
            <a:r>
              <a:rPr lang="en-US" sz="2000" dirty="0" err="1">
                <a:solidFill>
                  <a:schemeClr val="bg1"/>
                </a:solidFill>
              </a:rPr>
              <a:t>vectorized</a:t>
            </a:r>
            <a:r>
              <a:rPr lang="en-US" sz="2000" dirty="0">
                <a:solidFill>
                  <a:schemeClr val="bg1"/>
                </a:solidFill>
              </a:rPr>
              <a:t> string operations.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</a:t>
            </a:r>
            <a:r>
              <a:rPr lang="en-US" sz="2000" dirty="0">
                <a:solidFill>
                  <a:schemeClr val="bg1"/>
                </a:solidFill>
              </a:rPr>
              <a:t>['Name'].</a:t>
            </a:r>
            <a:r>
              <a:rPr lang="en-US" sz="2000" dirty="0" err="1">
                <a:solidFill>
                  <a:schemeClr val="bg1"/>
                </a:solidFill>
              </a:rPr>
              <a:t>str.lower</a:t>
            </a:r>
            <a:r>
              <a:rPr lang="en-US" sz="2000" dirty="0">
                <a:solidFill>
                  <a:schemeClr val="bg1"/>
                </a:solidFill>
              </a:rPr>
              <a:t>()       # Convert to lowercase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df['Name'].</a:t>
            </a:r>
            <a:r>
              <a:rPr lang="en-US" sz="2000" dirty="0" err="1">
                <a:solidFill>
                  <a:schemeClr val="bg1"/>
                </a:solidFill>
              </a:rPr>
              <a:t>str.contains</a:t>
            </a:r>
            <a:r>
              <a:rPr lang="en-US" sz="2000" dirty="0">
                <a:solidFill>
                  <a:schemeClr val="bg1"/>
                </a:solidFill>
              </a:rPr>
              <a:t>('a') # Check if 'a' in 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7" y="2989364"/>
            <a:ext cx="3093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Extracting Substrings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</a:t>
            </a:r>
            <a:r>
              <a:rPr lang="en-US" sz="2000" dirty="0">
                <a:solidFill>
                  <a:schemeClr val="bg1"/>
                </a:solidFill>
              </a:rPr>
              <a:t>['Initial'] = </a:t>
            </a:r>
            <a:r>
              <a:rPr lang="en-US" sz="2000" dirty="0" err="1">
                <a:solidFill>
                  <a:schemeClr val="bg1"/>
                </a:solidFill>
              </a:rPr>
              <a:t>df</a:t>
            </a:r>
            <a:r>
              <a:rPr lang="en-US" sz="2000" dirty="0">
                <a:solidFill>
                  <a:schemeClr val="bg1"/>
                </a:solidFill>
              </a:rPr>
              <a:t>['Name'].</a:t>
            </a:r>
            <a:r>
              <a:rPr lang="en-US" sz="2000" dirty="0" err="1">
                <a:solidFill>
                  <a:schemeClr val="bg1"/>
                </a:solidFill>
              </a:rPr>
              <a:t>str</a:t>
            </a:r>
            <a:r>
              <a:rPr lang="en-US" sz="2000" dirty="0">
                <a:solidFill>
                  <a:schemeClr val="bg1"/>
                </a:solidFill>
              </a:rPr>
              <a:t>[0]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3957384"/>
            <a:ext cx="2377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Splitting Strings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df['Name'].</a:t>
            </a:r>
            <a:r>
              <a:rPr lang="en-US" sz="2000" dirty="0" err="1">
                <a:solidFill>
                  <a:schemeClr val="bg1"/>
                </a:solidFill>
              </a:rPr>
              <a:t>str.split</a:t>
            </a:r>
            <a:r>
              <a:rPr lang="en-US" sz="2000" dirty="0">
                <a:solidFill>
                  <a:schemeClr val="bg1"/>
                </a:solidFill>
              </a:rPr>
              <a:t>(' ')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4973047"/>
            <a:ext cx="515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Replacing Text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df['Name'] = df['Name'].</a:t>
            </a:r>
            <a:r>
              <a:rPr lang="en-US" sz="2000" dirty="0" err="1">
                <a:solidFill>
                  <a:schemeClr val="bg1"/>
                </a:solidFill>
              </a:rPr>
              <a:t>str.replace</a:t>
            </a:r>
            <a:r>
              <a:rPr lang="en-US" sz="2000" dirty="0">
                <a:solidFill>
                  <a:schemeClr val="bg1"/>
                </a:solidFill>
              </a:rPr>
              <a:t>('Alice', 'Alicia')</a:t>
            </a:r>
            <a:r>
              <a:rPr lang="en-US" sz="2000" dirty="0">
                <a:solidFill>
                  <a:srgbClr val="00B050"/>
                </a:solidFill>
              </a:rPr>
              <a:t> 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92F6A3-D958-48F7-AF77-76EF71374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714212-0CF8-440E-BC74-DBC68AB96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BDA754-49F4-40B0-A4CA-0DF8C43AD4C1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Text processing in Pandas is efficient and easy with .str methods.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72C890-2DF5-470F-A32B-AA9B01566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583" y="2247254"/>
            <a:ext cx="5127455" cy="22536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00829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9DB10D-D799-4CD1-8AA4-348DA28117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Pivot Tables &amp; Crosstabs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65989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Pivot Tables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Summarize data with multiple aggregation levels.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pd.pivot_table</a:t>
            </a:r>
            <a:r>
              <a:rPr lang="en-US" sz="2000" dirty="0">
                <a:solidFill>
                  <a:schemeClr val="bg1"/>
                </a:solidFill>
              </a:rPr>
              <a:t>(df, values='Income', index='</a:t>
            </a:r>
            <a:r>
              <a:rPr lang="en-US" sz="2000" dirty="0" err="1">
                <a:solidFill>
                  <a:schemeClr val="bg1"/>
                </a:solidFill>
              </a:rPr>
              <a:t>AgeGroup</a:t>
            </a:r>
            <a:r>
              <a:rPr lang="en-US" sz="2000" dirty="0">
                <a:solidFill>
                  <a:schemeClr val="bg1"/>
                </a:solidFill>
              </a:rPr>
              <a:t>', columns='Gender', </a:t>
            </a:r>
            <a:r>
              <a:rPr lang="en-US" sz="2000" dirty="0" err="1">
                <a:solidFill>
                  <a:schemeClr val="bg1"/>
                </a:solidFill>
              </a:rPr>
              <a:t>aggfunc</a:t>
            </a:r>
            <a:r>
              <a:rPr lang="en-US" sz="2000" dirty="0">
                <a:solidFill>
                  <a:schemeClr val="bg1"/>
                </a:solidFill>
              </a:rPr>
              <a:t>='mean')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98119" y="2958035"/>
            <a:ext cx="38464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Crosstabs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Compute frequency tables.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pd.crosstab</a:t>
            </a:r>
            <a:r>
              <a:rPr lang="en-US" sz="2000" dirty="0">
                <a:solidFill>
                  <a:schemeClr val="bg1"/>
                </a:solidFill>
              </a:rPr>
              <a:t>(df['</a:t>
            </a:r>
            <a:r>
              <a:rPr lang="en-US" sz="2000" dirty="0" err="1">
                <a:solidFill>
                  <a:schemeClr val="bg1"/>
                </a:solidFill>
              </a:rPr>
              <a:t>AgeGroup</a:t>
            </a:r>
            <a:r>
              <a:rPr lang="en-US" sz="2000" dirty="0">
                <a:solidFill>
                  <a:schemeClr val="bg1"/>
                </a:solidFill>
              </a:rPr>
              <a:t>'], df['Gender'])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3896360" y="5734973"/>
            <a:ext cx="439928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Pivot tables help you quickly understand relationships between variables.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BCAA1-8D48-4BCC-BE34-46B792A4D12F}"/>
              </a:ext>
            </a:extLst>
          </p:cNvPr>
          <p:cNvSpPr txBox="1"/>
          <p:nvPr/>
        </p:nvSpPr>
        <p:spPr>
          <a:xfrm>
            <a:off x="198119" y="4657755"/>
            <a:ext cx="45669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Benefits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Easy multi-dimensional summaries.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Useful for exploratory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84027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71B5A28-D508-4375-BE86-E71A7B4D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54102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Reading Data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CSV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pd.read_csv</a:t>
            </a:r>
            <a:r>
              <a:rPr lang="en-US" sz="2000" dirty="0">
                <a:solidFill>
                  <a:schemeClr val="bg1"/>
                </a:solidFill>
              </a:rPr>
              <a:t>('data.csv’)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Excel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pd.read_excel</a:t>
            </a:r>
            <a:r>
              <a:rPr lang="en-US" sz="2000" dirty="0">
                <a:solidFill>
                  <a:schemeClr val="bg1"/>
                </a:solidFill>
              </a:rPr>
              <a:t>('data.xlsx', </a:t>
            </a:r>
            <a:r>
              <a:rPr lang="en-US" sz="2000" dirty="0" err="1">
                <a:solidFill>
                  <a:schemeClr val="bg1"/>
                </a:solidFill>
              </a:rPr>
              <a:t>sheet_name</a:t>
            </a:r>
            <a:r>
              <a:rPr lang="en-US" sz="2000" dirty="0">
                <a:solidFill>
                  <a:schemeClr val="bg1"/>
                </a:solidFill>
              </a:rPr>
              <a:t>='Sheet1’)</a:t>
            </a:r>
          </a:p>
          <a:p>
            <a:pPr algn="just"/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JSON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pd.read_json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data.json</a:t>
            </a:r>
            <a:r>
              <a:rPr lang="en-US" sz="2000" dirty="0">
                <a:solidFill>
                  <a:schemeClr val="bg1"/>
                </a:solidFill>
              </a:rPr>
              <a:t>’)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Pandas supports many file formats for easy data import/export.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F5B2CD-0E2F-40AC-9269-FB20A03B2D6C}"/>
              </a:ext>
            </a:extLst>
          </p:cNvPr>
          <p:cNvSpPr txBox="1"/>
          <p:nvPr/>
        </p:nvSpPr>
        <p:spPr>
          <a:xfrm>
            <a:off x="6492239" y="1331767"/>
            <a:ext cx="541020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Writing Data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CSV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df.to_csv</a:t>
            </a:r>
            <a:r>
              <a:rPr lang="en-US" sz="2000" dirty="0">
                <a:solidFill>
                  <a:schemeClr val="bg1"/>
                </a:solidFill>
              </a:rPr>
              <a:t>('output.csv',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Excel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df.to_excel</a:t>
            </a:r>
            <a:r>
              <a:rPr lang="en-US" sz="2000" dirty="0">
                <a:solidFill>
                  <a:schemeClr val="bg1"/>
                </a:solidFill>
              </a:rPr>
              <a:t>('output.xlsx', index=False)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FBFB98-DB19-4A28-B680-DB9DC71CD6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Reading &amp; Writing Data with Pandas</a:t>
            </a:r>
          </a:p>
        </p:txBody>
      </p:sp>
    </p:spTree>
    <p:extLst>
      <p:ext uri="{BB962C8B-B14F-4D97-AF65-F5344CB8AC3E}">
        <p14:creationId xmlns:p14="http://schemas.microsoft.com/office/powerpoint/2010/main" val="321301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71B5A28-D508-4375-BE86-E71A7B4D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Advanced Indexing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65989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Setting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MultiIndex</a:t>
            </a:r>
            <a:endParaRPr lang="en-US" sz="24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2E6578"/>
              </a:solidFill>
              <a:latin typeface="+mj-lt"/>
              <a:ea typeface="+mj-ea"/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df.set_index</a:t>
            </a:r>
            <a:r>
              <a:rPr lang="en-US" sz="2000" dirty="0">
                <a:solidFill>
                  <a:schemeClr val="bg1"/>
                </a:solidFill>
              </a:rPr>
              <a:t>(['</a:t>
            </a:r>
            <a:r>
              <a:rPr lang="en-US" sz="2000" dirty="0" err="1">
                <a:solidFill>
                  <a:schemeClr val="bg1"/>
                </a:solidFill>
              </a:rPr>
              <a:t>AgeGroup</a:t>
            </a:r>
            <a:r>
              <a:rPr lang="en-US" sz="2000" dirty="0">
                <a:solidFill>
                  <a:schemeClr val="bg1"/>
                </a:solidFill>
              </a:rPr>
              <a:t>', 'Gender'], 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98119" y="3294824"/>
            <a:ext cx="38464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Resetting Index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df.reset_index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198119" y="2222970"/>
            <a:ext cx="51663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Accessing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MultiIndex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 Data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[('Adult', 'Male')]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Advanced indexing allows for powerful, flexible data selection.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BCAA1-8D48-4BCC-BE34-46B792A4D12F}"/>
              </a:ext>
            </a:extLst>
          </p:cNvPr>
          <p:cNvSpPr txBox="1"/>
          <p:nvPr/>
        </p:nvSpPr>
        <p:spPr>
          <a:xfrm>
            <a:off x="198118" y="4281192"/>
            <a:ext cx="50342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Using .at and .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iat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 for Fast Scalar Access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df.at[0, 'Name']   # Access by label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df.iat</a:t>
            </a:r>
            <a:r>
              <a:rPr lang="en-US" sz="2000" dirty="0">
                <a:solidFill>
                  <a:schemeClr val="bg1"/>
                </a:solidFill>
              </a:rPr>
              <a:t>[0, 1]      # Access by position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6538C7-D0EC-4053-B2AF-50E3DE7B1A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35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71B5A28-D508-4375-BE86-E71A7B4D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Categorical Data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65989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are Categorical Variables?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Variables with a fixed number of possible values (categories).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Saves memory and improves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98119" y="3406584"/>
            <a:ext cx="38464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Benefits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Efficient storage.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Faster operations.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Useful for grouping and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198119" y="2578570"/>
            <a:ext cx="51663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Converting to Category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df['Gender'] = df['Gender'].</a:t>
            </a:r>
            <a:r>
              <a:rPr lang="en-US" sz="2000" dirty="0" err="1">
                <a:solidFill>
                  <a:schemeClr val="bg1"/>
                </a:solidFill>
              </a:rPr>
              <a:t>astype</a:t>
            </a:r>
            <a:r>
              <a:rPr lang="en-US" sz="2000" dirty="0">
                <a:solidFill>
                  <a:schemeClr val="bg1"/>
                </a:solidFill>
              </a:rPr>
              <a:t>('category')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categorical </a:t>
            </a:r>
            <a:r>
              <a:rPr lang="en-US" sz="2000" dirty="0" err="1">
                <a:solidFill>
                  <a:schemeClr val="bg1"/>
                </a:solidFill>
              </a:rPr>
              <a:t>dtype</a:t>
            </a:r>
            <a:r>
              <a:rPr lang="en-US" sz="2000" dirty="0">
                <a:solidFill>
                  <a:schemeClr val="bg1"/>
                </a:solidFill>
              </a:rPr>
              <a:t> for columns with repeated values.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BCAA1-8D48-4BCC-BE34-46B792A4D12F}"/>
              </a:ext>
            </a:extLst>
          </p:cNvPr>
          <p:cNvSpPr txBox="1"/>
          <p:nvPr/>
        </p:nvSpPr>
        <p:spPr>
          <a:xfrm>
            <a:off x="198119" y="4850152"/>
            <a:ext cx="38464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Categories and Codes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print(df['Gender'].</a:t>
            </a:r>
            <a:r>
              <a:rPr lang="en-US" sz="2000" dirty="0" err="1">
                <a:solidFill>
                  <a:schemeClr val="bg1"/>
                </a:solidFill>
              </a:rPr>
              <a:t>cat.categories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print(df['Gender'].</a:t>
            </a:r>
            <a:r>
              <a:rPr lang="en-US" sz="2000" dirty="0" err="1">
                <a:solidFill>
                  <a:schemeClr val="bg1"/>
                </a:solidFill>
              </a:rPr>
              <a:t>cat.codes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F2C4AF-CD6F-4F64-AD49-DD60644776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70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sv-SE" b="1" dirty="0">
                <a:solidFill>
                  <a:srgbClr val="2E6578"/>
                </a:solidFill>
                <a:cs typeface="+mn-cs"/>
              </a:rPr>
              <a:t>Handling Large Datasets in Pandas</a:t>
            </a:r>
            <a:endParaRPr lang="en-US" b="1" dirty="0">
              <a:solidFill>
                <a:srgbClr val="2E6578"/>
              </a:solidFill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12623" y="1259840"/>
            <a:ext cx="480641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Techniques to Handle Big Data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chunksize</a:t>
            </a:r>
            <a:r>
              <a:rPr lang="en-US" sz="2000" dirty="0">
                <a:solidFill>
                  <a:schemeClr val="bg1"/>
                </a:solidFill>
              </a:rPr>
              <a:t> parameter while reading files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for chunk in </a:t>
            </a:r>
            <a:r>
              <a:rPr lang="en-US" sz="2000" dirty="0" err="1">
                <a:solidFill>
                  <a:schemeClr val="bg1"/>
                </a:solidFill>
              </a:rPr>
              <a:t>pd.read_csv</a:t>
            </a:r>
            <a:r>
              <a:rPr lang="en-US" sz="2000" dirty="0">
                <a:solidFill>
                  <a:schemeClr val="bg1"/>
                </a:solidFill>
              </a:rPr>
              <a:t>('large_data.csv', </a:t>
            </a:r>
            <a:r>
              <a:rPr lang="en-US" sz="2000" dirty="0" err="1">
                <a:solidFill>
                  <a:schemeClr val="bg1"/>
                </a:solidFill>
              </a:rPr>
              <a:t>chunksize</a:t>
            </a:r>
            <a:r>
              <a:rPr lang="en-US" sz="2000" dirty="0">
                <a:solidFill>
                  <a:schemeClr val="bg1"/>
                </a:solidFill>
              </a:rPr>
              <a:t>=10000):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process(chunk)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6440861" y="1291847"/>
            <a:ext cx="50705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Filter Early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Filter data before heavy processing to reduce size.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202462" y="3831628"/>
            <a:ext cx="58935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Use Efficient Data Types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Convert object columns to categorical.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Downcast numeric types.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df['Age'] = </a:t>
            </a:r>
            <a:r>
              <a:rPr lang="en-US" sz="2000" dirty="0" err="1">
                <a:solidFill>
                  <a:schemeClr val="bg1"/>
                </a:solidFill>
              </a:rPr>
              <a:t>pd.to_numeric</a:t>
            </a:r>
            <a:r>
              <a:rPr lang="en-US" sz="2000" dirty="0">
                <a:solidFill>
                  <a:schemeClr val="bg1"/>
                </a:solidFill>
              </a:rPr>
              <a:t>(df['Age'], downcast='integer')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F892F-4166-4795-A83E-7B5AAE0CA9FA}"/>
              </a:ext>
            </a:extLst>
          </p:cNvPr>
          <p:cNvSpPr txBox="1"/>
          <p:nvPr/>
        </p:nvSpPr>
        <p:spPr>
          <a:xfrm>
            <a:off x="6440861" y="3831628"/>
            <a:ext cx="51721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Use .query() for Faster Filtering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df.query</a:t>
            </a:r>
            <a:r>
              <a:rPr lang="en-US" sz="2000" dirty="0">
                <a:solidFill>
                  <a:schemeClr val="bg1"/>
                </a:solidFill>
              </a:rPr>
              <a:t>('Age &gt; 30 &amp; Gender == "Male“’)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76533A-FEDF-4F00-87BE-795505F2C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3A763A-9047-4FC1-82D0-50C3E8CB3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ED009E-4AAB-4DB1-9C30-79212D3DE666}"/>
              </a:ext>
            </a:extLst>
          </p:cNvPr>
          <p:cNvSpPr txBox="1"/>
          <p:nvPr/>
        </p:nvSpPr>
        <p:spPr>
          <a:xfrm>
            <a:off x="4175760" y="5717664"/>
            <a:ext cx="3667759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Optimize memory and processing to work with large data smoothly.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5FCED9-7DEB-4A27-938F-8D30B14FFD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150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47446" y="1350484"/>
            <a:ext cx="5746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Interpolation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Fill missing values using interpolation methods.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df['Value'].interpolate(method='linear', 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47446" y="5017091"/>
            <a:ext cx="46006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Detecting Missing Data with .info()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df.info()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175760" y="5717664"/>
            <a:ext cx="3667759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Choose the appropriate method based on data context.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EB960-654D-432B-9CC0-39D4369A31E8}"/>
              </a:ext>
            </a:extLst>
          </p:cNvPr>
          <p:cNvSpPr txBox="1"/>
          <p:nvPr/>
        </p:nvSpPr>
        <p:spPr>
          <a:xfrm>
            <a:off x="247446" y="2660322"/>
            <a:ext cx="58485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Forward &amp; Backward Fill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df.fillna</a:t>
            </a:r>
            <a:r>
              <a:rPr lang="en-US" sz="2000" dirty="0">
                <a:solidFill>
                  <a:schemeClr val="bg1"/>
                </a:solidFill>
              </a:rPr>
              <a:t>(method='</a:t>
            </a:r>
            <a:r>
              <a:rPr lang="en-US" sz="2000" dirty="0" err="1">
                <a:solidFill>
                  <a:schemeClr val="bg1"/>
                </a:solidFill>
              </a:rPr>
              <a:t>ffill</a:t>
            </a:r>
            <a:r>
              <a:rPr lang="en-US" sz="2000" dirty="0">
                <a:solidFill>
                  <a:schemeClr val="bg1"/>
                </a:solidFill>
              </a:rPr>
              <a:t>', 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  # Forward fill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df.fillna</a:t>
            </a:r>
            <a:r>
              <a:rPr lang="en-US" sz="2000" dirty="0">
                <a:solidFill>
                  <a:schemeClr val="bg1"/>
                </a:solidFill>
              </a:rPr>
              <a:t>(method='</a:t>
            </a:r>
            <a:r>
              <a:rPr lang="en-US" sz="2000" dirty="0" err="1">
                <a:solidFill>
                  <a:schemeClr val="bg1"/>
                </a:solidFill>
              </a:rPr>
              <a:t>bfill</a:t>
            </a:r>
            <a:r>
              <a:rPr lang="en-US" sz="2000" dirty="0">
                <a:solidFill>
                  <a:schemeClr val="bg1"/>
                </a:solidFill>
              </a:rPr>
              <a:t>', 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  # Backward fill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F5E145-3754-4C71-AF1D-F719E5EAF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A8F648-4C27-4384-8FBA-11F72295F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D565A9-9AFC-4BE6-A313-5D69624C9D0F}"/>
              </a:ext>
            </a:extLst>
          </p:cNvPr>
          <p:cNvSpPr txBox="1"/>
          <p:nvPr/>
        </p:nvSpPr>
        <p:spPr>
          <a:xfrm>
            <a:off x="296987" y="3992595"/>
            <a:ext cx="58485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Filling Missing with Conditional Values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[df['Value'].</a:t>
            </a:r>
            <a:r>
              <a:rPr lang="en-US" sz="2000" dirty="0" err="1">
                <a:solidFill>
                  <a:schemeClr val="bg1"/>
                </a:solidFill>
              </a:rPr>
              <a:t>isnull</a:t>
            </a:r>
            <a:r>
              <a:rPr lang="en-US" sz="2000" dirty="0">
                <a:solidFill>
                  <a:schemeClr val="bg1"/>
                </a:solidFill>
              </a:rPr>
              <a:t>(), 'Value'] = df['Value'].mean()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55DB0B-B66F-45E8-B5EF-21F301F952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040" y="99849"/>
            <a:ext cx="1129792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Advanced Missing Data Techniques</a:t>
            </a:r>
          </a:p>
        </p:txBody>
      </p:sp>
    </p:spTree>
    <p:extLst>
      <p:ext uri="{BB962C8B-B14F-4D97-AF65-F5344CB8AC3E}">
        <p14:creationId xmlns:p14="http://schemas.microsoft.com/office/powerpoint/2010/main" val="3165327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9FBC352-5CDF-48D8-88CC-F10FFE2FD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8EA5F0-2CB5-40D2-B65E-BAABC030E7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77560" y="1257669"/>
            <a:ext cx="6299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.apply()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Apply a function along axis of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or Series.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Income_K</a:t>
            </a:r>
            <a:r>
              <a:rPr lang="en-US" sz="2000" dirty="0">
                <a:solidFill>
                  <a:schemeClr val="bg1"/>
                </a:solidFill>
              </a:rPr>
              <a:t>'] = df['Income'].apply(lambda x: x / 1000)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7" y="4972693"/>
            <a:ext cx="55063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Using .</a:t>
            </a:r>
            <a:r>
              <a:rPr lang="en-US" sz="2400" b="1" dirty="0" err="1">
                <a:solidFill>
                  <a:schemeClr val="accent1"/>
                </a:solidFill>
              </a:rPr>
              <a:t>agg</a:t>
            </a:r>
            <a:r>
              <a:rPr lang="en-US" sz="2400" b="1" dirty="0">
                <a:solidFill>
                  <a:schemeClr val="accent1"/>
                </a:solidFill>
              </a:rPr>
              <a:t>() for Multiple Aggregations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df.groupby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AgeGroup</a:t>
            </a:r>
            <a:r>
              <a:rPr lang="en-US" sz="2000" dirty="0">
                <a:solidFill>
                  <a:schemeClr val="bg1"/>
                </a:solidFill>
              </a:rPr>
              <a:t>')['Income'].</a:t>
            </a:r>
            <a:r>
              <a:rPr lang="en-US" sz="2000" dirty="0" err="1">
                <a:solidFill>
                  <a:schemeClr val="bg1"/>
                </a:solidFill>
              </a:rPr>
              <a:t>agg</a:t>
            </a:r>
            <a:r>
              <a:rPr lang="en-US" sz="2000" dirty="0">
                <a:solidFill>
                  <a:schemeClr val="bg1"/>
                </a:solidFill>
              </a:rPr>
              <a:t>(['mean', 'max'])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175760" y="5717664"/>
            <a:ext cx="42297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Vectorized and built-in functions outperform custom Python loops.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EB960-654D-432B-9CC0-39D4369A31E8}"/>
              </a:ext>
            </a:extLst>
          </p:cNvPr>
          <p:cNvSpPr txBox="1"/>
          <p:nvPr/>
        </p:nvSpPr>
        <p:spPr>
          <a:xfrm>
            <a:off x="277560" y="3955770"/>
            <a:ext cx="4782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Vectorized Operations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Prefer built-in vectorized functions for speed.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5D2E5-5E0F-4083-95E1-16873EFD8D7B}"/>
              </a:ext>
            </a:extLst>
          </p:cNvPr>
          <p:cNvSpPr txBox="1"/>
          <p:nvPr/>
        </p:nvSpPr>
        <p:spPr>
          <a:xfrm>
            <a:off x="296987" y="2442671"/>
            <a:ext cx="64886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.map()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Map values of a Series according to an input correspondence.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AgeGroup</a:t>
            </a:r>
            <a:r>
              <a:rPr lang="en-US" sz="2000" dirty="0">
                <a:solidFill>
                  <a:schemeClr val="bg1"/>
                </a:solidFill>
              </a:rPr>
              <a:t>'] = df['Age'].map(lambda x: 'Adult' if x &gt;= 18 else 'Minor')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F92B35-6DAF-41B6-B133-BC73372C81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539" y="11175"/>
            <a:ext cx="1157224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2E6578"/>
                </a:solidFill>
                <a:cs typeface="+mn-cs"/>
              </a:rPr>
              <a:t>Efficient Function Application in Pandas</a:t>
            </a:r>
          </a:p>
        </p:txBody>
      </p:sp>
    </p:spTree>
    <p:extLst>
      <p:ext uri="{BB962C8B-B14F-4D97-AF65-F5344CB8AC3E}">
        <p14:creationId xmlns:p14="http://schemas.microsoft.com/office/powerpoint/2010/main" val="2518033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539" y="285495"/>
            <a:ext cx="1157224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Reshaping Data: Melt &amp; Pivot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16600" y="1440549"/>
            <a:ext cx="6299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Melt (Wide to Long Format)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Converts wide data into long format.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pd.melt</a:t>
            </a:r>
            <a:r>
              <a:rPr lang="en-US" sz="2000" dirty="0">
                <a:solidFill>
                  <a:schemeClr val="bg1"/>
                </a:solidFill>
              </a:rPr>
              <a:t>(df, </a:t>
            </a:r>
            <a:r>
              <a:rPr lang="en-US" sz="2000" dirty="0" err="1">
                <a:solidFill>
                  <a:schemeClr val="bg1"/>
                </a:solidFill>
              </a:rPr>
              <a:t>id_vars</a:t>
            </a:r>
            <a:r>
              <a:rPr lang="en-US" sz="2000" dirty="0">
                <a:solidFill>
                  <a:schemeClr val="bg1"/>
                </a:solidFill>
              </a:rPr>
              <a:t>=['Name'], </a:t>
            </a:r>
            <a:r>
              <a:rPr lang="en-US" sz="2000" dirty="0" err="1">
                <a:solidFill>
                  <a:schemeClr val="bg1"/>
                </a:solidFill>
              </a:rPr>
              <a:t>value_vars</a:t>
            </a:r>
            <a:r>
              <a:rPr lang="en-US" sz="2000" dirty="0">
                <a:solidFill>
                  <a:schemeClr val="bg1"/>
                </a:solidFill>
              </a:rPr>
              <a:t>=['Age', 'Income'])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804578" y="5742488"/>
            <a:ext cx="342392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Master reshaping to handle diverse data formats efficiently.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EB960-654D-432B-9CC0-39D4369A31E8}"/>
              </a:ext>
            </a:extLst>
          </p:cNvPr>
          <p:cNvSpPr txBox="1"/>
          <p:nvPr/>
        </p:nvSpPr>
        <p:spPr>
          <a:xfrm>
            <a:off x="216600" y="4789044"/>
            <a:ext cx="5879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Cases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Useful for preparing data for analysis or visualization.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5D2E5-5E0F-4083-95E1-16873EFD8D7B}"/>
              </a:ext>
            </a:extLst>
          </p:cNvPr>
          <p:cNvSpPr txBox="1"/>
          <p:nvPr/>
        </p:nvSpPr>
        <p:spPr>
          <a:xfrm>
            <a:off x="216600" y="3115594"/>
            <a:ext cx="69766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Pivot (Long to Wide Format)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Converts long data back to wide format.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df.pivot</a:t>
            </a:r>
            <a:r>
              <a:rPr lang="en-US" sz="2000" dirty="0">
                <a:solidFill>
                  <a:schemeClr val="bg1"/>
                </a:solidFill>
              </a:rPr>
              <a:t>(index='Name', columns='variable', values='value')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323273-93EA-49EB-A10C-CF2499FF4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9A2280-318A-4D8C-AE5E-9A6CFFEAC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D07A4F-C72A-4272-ADE1-848C899BB3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26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539" y="285495"/>
            <a:ext cx="11572240" cy="1191998"/>
          </a:xfrm>
        </p:spPr>
        <p:txBody>
          <a:bodyPr>
            <a:noAutofit/>
          </a:bodyPr>
          <a:lstStyle/>
          <a:p>
            <a:r>
              <a:rPr lang="en-US" b="1" dirty="0" err="1">
                <a:solidFill>
                  <a:srgbClr val="2E6578"/>
                </a:solidFill>
                <a:cs typeface="+mn-cs"/>
              </a:rPr>
              <a:t>MultiIndex</a:t>
            </a:r>
            <a:r>
              <a:rPr lang="en-US" b="1" dirty="0">
                <a:solidFill>
                  <a:srgbClr val="2E6578"/>
                </a:solidFill>
                <a:cs typeface="+mn-cs"/>
              </a:rPr>
              <a:t> </a:t>
            </a:r>
            <a:r>
              <a:rPr lang="en-US" b="1" dirty="0" err="1">
                <a:solidFill>
                  <a:srgbClr val="2E6578"/>
                </a:solidFill>
                <a:cs typeface="+mn-cs"/>
              </a:rPr>
              <a:t>DataFrames</a:t>
            </a:r>
            <a:r>
              <a:rPr lang="en-US" b="1" dirty="0">
                <a:solidFill>
                  <a:srgbClr val="2E6578"/>
                </a:solidFill>
                <a:cs typeface="+mn-cs"/>
              </a:rPr>
              <a:t>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6280" y="1684389"/>
            <a:ext cx="532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</a:t>
            </a:r>
            <a:r>
              <a:rPr lang="en-US" sz="2400" b="1" dirty="0" err="1">
                <a:solidFill>
                  <a:schemeClr val="accent1"/>
                </a:solidFill>
              </a:rPr>
              <a:t>MultiIndex</a:t>
            </a:r>
            <a:r>
              <a:rPr lang="en-US" sz="2400" b="1" dirty="0">
                <a:solidFill>
                  <a:schemeClr val="accent1"/>
                </a:solidFill>
              </a:rPr>
              <a:t>?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Hierarchical indexing with multiple levels of rows and/or columns.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6675121" y="1684389"/>
            <a:ext cx="55063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Accessing Data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['A']           # All rows under 'A’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[('A', 'one')]  # Specific row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3893011" y="5534561"/>
            <a:ext cx="404195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MultiIndex</a:t>
            </a:r>
            <a:r>
              <a:rPr lang="en-US" sz="2000" dirty="0">
                <a:solidFill>
                  <a:schemeClr val="bg1"/>
                </a:solidFill>
              </a:rPr>
              <a:t> is powerful for representing complex datasets.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EB960-654D-432B-9CC0-39D4369A31E8}"/>
              </a:ext>
            </a:extLst>
          </p:cNvPr>
          <p:cNvSpPr txBox="1"/>
          <p:nvPr/>
        </p:nvSpPr>
        <p:spPr>
          <a:xfrm>
            <a:off x="6675120" y="3522544"/>
            <a:ext cx="44805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Resetting </a:t>
            </a:r>
            <a:r>
              <a:rPr lang="en-US" sz="2400" b="1" dirty="0" err="1">
                <a:solidFill>
                  <a:schemeClr val="accent1"/>
                </a:solidFill>
              </a:rPr>
              <a:t>MultiIndex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df.reset_index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5D2E5-5E0F-4083-95E1-16873EFD8D7B}"/>
              </a:ext>
            </a:extLst>
          </p:cNvPr>
          <p:cNvSpPr txBox="1"/>
          <p:nvPr/>
        </p:nvSpPr>
        <p:spPr>
          <a:xfrm>
            <a:off x="216600" y="3496394"/>
            <a:ext cx="549332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Creating </a:t>
            </a:r>
            <a:r>
              <a:rPr lang="en-US" sz="2400" b="1" dirty="0" err="1">
                <a:solidFill>
                  <a:schemeClr val="accent1"/>
                </a:solidFill>
              </a:rPr>
              <a:t>MultiIndex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arrays = [['A', 'A', 'B', 'B'], ['one', 'two', 'one', 'two’]]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index = </a:t>
            </a:r>
            <a:r>
              <a:rPr lang="en-US" sz="2000" dirty="0" err="1">
                <a:solidFill>
                  <a:schemeClr val="bg1"/>
                </a:solidFill>
              </a:rPr>
              <a:t>pd.MultiIndex.from_arrays</a:t>
            </a:r>
            <a:r>
              <a:rPr lang="en-US" sz="2000" dirty="0">
                <a:solidFill>
                  <a:schemeClr val="bg1"/>
                </a:solidFill>
              </a:rPr>
              <a:t>(arrays, names=('Letter', 'Number’))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pd.DataFrame</a:t>
            </a:r>
            <a:r>
              <a:rPr lang="en-US" sz="2000" dirty="0">
                <a:solidFill>
                  <a:schemeClr val="bg1"/>
                </a:solidFill>
              </a:rPr>
              <a:t>({'Data': [1, 2, 3, 4]}, index=index)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8C475F-6639-4F37-83A9-E60B90A20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4BD101-D12F-4FD9-94AB-693FCF639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03C3CD-5BCE-42B1-A1BB-A5CA93EED0B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397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Optimizing Pandas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40943" y="1335507"/>
            <a:ext cx="4429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Vectorized Operations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Avoid loops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 built-in Pandas/NumPy functions.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7253503" y="1335510"/>
            <a:ext cx="48572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Use .query() and .eval()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Faster filtering and evaluation.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df.query</a:t>
            </a:r>
            <a:r>
              <a:rPr lang="en-US" sz="2000" dirty="0">
                <a:solidFill>
                  <a:schemeClr val="bg1"/>
                </a:solidFill>
              </a:rPr>
              <a:t>('Age &gt; 30 &amp; Income &gt; 50000')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713944" y="2821050"/>
            <a:ext cx="556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Categorical Data Type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Reduce memory and speed up operations on repeated values.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A6CF4B-BABE-4766-9C41-2AFD49AD1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F7C3F7-E8F5-4339-B775-D630792B7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199BCE0-21FE-4869-BC27-DB90579E7C1F}"/>
              </a:ext>
            </a:extLst>
          </p:cNvPr>
          <p:cNvSpPr txBox="1"/>
          <p:nvPr/>
        </p:nvSpPr>
        <p:spPr>
          <a:xfrm>
            <a:off x="713943" y="4152010"/>
            <a:ext cx="5829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Downcast Numeric Types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df['Age'] = </a:t>
            </a:r>
            <a:r>
              <a:rPr lang="en-US" sz="2000" dirty="0" err="1">
                <a:solidFill>
                  <a:schemeClr val="bg1"/>
                </a:solidFill>
              </a:rPr>
              <a:t>pd.to_numeric</a:t>
            </a:r>
            <a:r>
              <a:rPr lang="en-US" sz="2000" dirty="0">
                <a:solidFill>
                  <a:schemeClr val="bg1"/>
                </a:solidFill>
              </a:rPr>
              <a:t>(df['Age'], downcast='integer')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1E3112-942F-4194-90DE-DE2FB7928E36}"/>
              </a:ext>
            </a:extLst>
          </p:cNvPr>
          <p:cNvSpPr txBox="1"/>
          <p:nvPr/>
        </p:nvSpPr>
        <p:spPr>
          <a:xfrm>
            <a:off x="7253503" y="2774148"/>
            <a:ext cx="5068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Avoid Chained Indexing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Use .loc instead for safe and efficient assignment.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61938-1C89-4F2F-9281-7D3098A8E2DD}"/>
              </a:ext>
            </a:extLst>
          </p:cNvPr>
          <p:cNvSpPr txBox="1"/>
          <p:nvPr/>
        </p:nvSpPr>
        <p:spPr>
          <a:xfrm>
            <a:off x="4371907" y="5742488"/>
            <a:ext cx="353257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Efficient coding drastically improves speed on large data..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F3DE5B-B412-438F-B93B-BF0071F91A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56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797BA64-E706-48C4-B4E9-B189B46E9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2986F9-5A47-485D-97A6-973CFD0CD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34542" y="1268640"/>
            <a:ext cx="5293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Display Options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pd.set_option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display.max_rows</a:t>
            </a:r>
            <a:r>
              <a:rPr lang="en-US" sz="2000" dirty="0">
                <a:solidFill>
                  <a:schemeClr val="bg1"/>
                </a:solidFill>
              </a:rPr>
              <a:t>', 100)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pd.set_option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display.max_columns</a:t>
            </a:r>
            <a:r>
              <a:rPr lang="en-US" sz="2000" dirty="0">
                <a:solidFill>
                  <a:schemeClr val="bg1"/>
                </a:solidFill>
              </a:rPr>
              <a:t>', 20)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pd.set_option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display.float_format</a:t>
            </a:r>
            <a:r>
              <a:rPr lang="en-US" sz="2000" dirty="0">
                <a:solidFill>
                  <a:schemeClr val="bg1"/>
                </a:solidFill>
              </a:rPr>
              <a:t>', '{:.2f}'.format)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334542" y="5100797"/>
            <a:ext cx="43898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Reset to Default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pd.reset_option</a:t>
            </a:r>
            <a:r>
              <a:rPr lang="en-US" sz="2000" dirty="0">
                <a:solidFill>
                  <a:schemeClr val="bg1"/>
                </a:solidFill>
              </a:rPr>
              <a:t>('all')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343966" y="4004629"/>
            <a:ext cx="53855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Memory Usage Display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df.info(</a:t>
            </a:r>
            <a:r>
              <a:rPr lang="en-US" sz="2000" dirty="0" err="1">
                <a:solidFill>
                  <a:schemeClr val="bg1"/>
                </a:solidFill>
              </a:rPr>
              <a:t>memory_usage</a:t>
            </a:r>
            <a:r>
              <a:rPr lang="en-US" sz="2000" dirty="0">
                <a:solidFill>
                  <a:schemeClr val="bg1"/>
                </a:solidFill>
              </a:rPr>
              <a:t>='deep')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F892F-4166-4795-A83E-7B5AAE0CA9FA}"/>
              </a:ext>
            </a:extLst>
          </p:cNvPr>
          <p:cNvSpPr txBox="1"/>
          <p:nvPr/>
        </p:nvSpPr>
        <p:spPr>
          <a:xfrm>
            <a:off x="343966" y="2980362"/>
            <a:ext cx="5293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Performance-related Options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</a:t>
            </a:r>
            <a:r>
              <a:rPr lang="en-US" sz="2000">
                <a:solidFill>
                  <a:schemeClr val="bg1"/>
                </a:solidFill>
              </a:rPr>
              <a:t>ontrol </a:t>
            </a:r>
            <a:r>
              <a:rPr lang="en-US" sz="2000" dirty="0">
                <a:solidFill>
                  <a:schemeClr val="bg1"/>
                </a:solidFill>
              </a:rPr>
              <a:t>chunk size, engine type in reading files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774860-C48C-4528-BFED-CDD393D94959}"/>
              </a:ext>
            </a:extLst>
          </p:cNvPr>
          <p:cNvSpPr txBox="1"/>
          <p:nvPr/>
        </p:nvSpPr>
        <p:spPr>
          <a:xfrm>
            <a:off x="4371907" y="5742488"/>
            <a:ext cx="353257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Customize options to make data viewing and processing easier.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AC0808-3721-470A-9C60-EAA27C0949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Customizing Pandas Display &amp; Behavior</a:t>
            </a:r>
          </a:p>
        </p:txBody>
      </p:sp>
    </p:spTree>
    <p:extLst>
      <p:ext uri="{BB962C8B-B14F-4D97-AF65-F5344CB8AC3E}">
        <p14:creationId xmlns:p14="http://schemas.microsoft.com/office/powerpoint/2010/main" val="1649073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84FA6EC-768D-4C78-9772-A8D330CC9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1BC77E-FF4F-45B4-BDF4-9FBD1141AB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E22E37-D105-4F5A-9100-914F0AC52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Pandas Integration with Other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95503" y="1402080"/>
            <a:ext cx="4429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NumPy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Pandas is built on NumPy arrays, enabling fast numerical operations.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import </a:t>
            </a:r>
            <a:r>
              <a:rPr lang="en-US" sz="2000" dirty="0" err="1">
                <a:solidFill>
                  <a:schemeClr val="bg1"/>
                </a:solidFill>
              </a:rPr>
              <a:t>numpy</a:t>
            </a:r>
            <a:r>
              <a:rPr lang="en-US" sz="2000" dirty="0">
                <a:solidFill>
                  <a:schemeClr val="bg1"/>
                </a:solidFill>
              </a:rPr>
              <a:t> as np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arr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np.array</a:t>
            </a:r>
            <a:r>
              <a:rPr lang="en-US" sz="2000" dirty="0">
                <a:solidFill>
                  <a:schemeClr val="bg1"/>
                </a:solidFill>
              </a:rPr>
              <a:t>([1, 2, 3])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pd.DataFrame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arr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6" y="3869690"/>
            <a:ext cx="529336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Matplotlib &amp; Seaborn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For data visualization.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df['Age'].plot(kind='hist’)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import seaborn as </a:t>
            </a:r>
            <a:r>
              <a:rPr lang="en-US" sz="2000" dirty="0" err="1">
                <a:solidFill>
                  <a:schemeClr val="bg1"/>
                </a:solidFill>
              </a:rPr>
              <a:t>sns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sns.boxplot</a:t>
            </a:r>
            <a:r>
              <a:rPr lang="en-US" sz="2000" dirty="0">
                <a:solidFill>
                  <a:schemeClr val="bg1"/>
                </a:solidFill>
              </a:rPr>
              <a:t>(data=df, x='Age')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F892F-4166-4795-A83E-7B5AAE0CA9FA}"/>
              </a:ext>
            </a:extLst>
          </p:cNvPr>
          <p:cNvSpPr txBox="1"/>
          <p:nvPr/>
        </p:nvSpPr>
        <p:spPr>
          <a:xfrm>
            <a:off x="5958840" y="1442720"/>
            <a:ext cx="623316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solidFill>
                  <a:schemeClr val="accent1"/>
                </a:solidFill>
              </a:rPr>
              <a:t>Scikit</a:t>
            </a:r>
            <a:r>
              <a:rPr lang="en-US" sz="2400" b="1" dirty="0">
                <a:solidFill>
                  <a:schemeClr val="accent1"/>
                </a:solidFill>
              </a:rPr>
              <a:t>-learn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For machine learning pipelines.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from </a:t>
            </a:r>
            <a:r>
              <a:rPr lang="en-US" sz="2000" dirty="0" err="1">
                <a:solidFill>
                  <a:schemeClr val="bg1"/>
                </a:solidFill>
              </a:rPr>
              <a:t>sklearn.model_selection</a:t>
            </a:r>
            <a:r>
              <a:rPr lang="en-US" sz="2000" dirty="0">
                <a:solidFill>
                  <a:schemeClr val="bg1"/>
                </a:solidFill>
              </a:rPr>
              <a:t> import </a:t>
            </a:r>
            <a:r>
              <a:rPr lang="en-US" sz="2000" dirty="0" err="1">
                <a:solidFill>
                  <a:schemeClr val="bg1"/>
                </a:solidFill>
              </a:rPr>
              <a:t>train_test_split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X_train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X_test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y_train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y_test</a:t>
            </a:r>
            <a:r>
              <a:rPr lang="en-US" sz="2000" dirty="0">
                <a:solidFill>
                  <a:schemeClr val="bg1"/>
                </a:solidFill>
              </a:rPr>
              <a:t> =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train_test_split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df.drop</a:t>
            </a:r>
            <a:r>
              <a:rPr lang="en-US" sz="2000" dirty="0">
                <a:solidFill>
                  <a:schemeClr val="bg1"/>
                </a:solidFill>
              </a:rPr>
              <a:t>('target', axis=1), df['target'])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C2938-5482-425A-80EB-F20A2549D9D7}"/>
              </a:ext>
            </a:extLst>
          </p:cNvPr>
          <p:cNvSpPr txBox="1"/>
          <p:nvPr/>
        </p:nvSpPr>
        <p:spPr>
          <a:xfrm>
            <a:off x="5958840" y="4019805"/>
            <a:ext cx="56337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solidFill>
                  <a:schemeClr val="accent1"/>
                </a:solidFill>
              </a:rPr>
              <a:t>SQLAlchemy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Read/write data from SQL databases.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from </a:t>
            </a:r>
            <a:r>
              <a:rPr lang="en-US" sz="2000" dirty="0" err="1">
                <a:solidFill>
                  <a:schemeClr val="bg1"/>
                </a:solidFill>
              </a:rPr>
              <a:t>sqlalchemy</a:t>
            </a:r>
            <a:r>
              <a:rPr lang="en-US" sz="2000" dirty="0">
                <a:solidFill>
                  <a:schemeClr val="bg1"/>
                </a:solidFill>
              </a:rPr>
              <a:t> import </a:t>
            </a:r>
            <a:r>
              <a:rPr lang="en-US" sz="2000" dirty="0" err="1">
                <a:solidFill>
                  <a:schemeClr val="bg1"/>
                </a:solidFill>
              </a:rPr>
              <a:t>create_engine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engine = </a:t>
            </a:r>
            <a:r>
              <a:rPr lang="en-US" sz="2000" dirty="0" err="1">
                <a:solidFill>
                  <a:schemeClr val="bg1"/>
                </a:solidFill>
              </a:rPr>
              <a:t>create_engine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sqlite</a:t>
            </a:r>
            <a:r>
              <a:rPr lang="en-US" sz="2000" dirty="0">
                <a:solidFill>
                  <a:schemeClr val="bg1"/>
                </a:solidFill>
              </a:rPr>
              <a:t>:///:memory:’)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df.to_sql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table_name</a:t>
            </a:r>
            <a:r>
              <a:rPr lang="en-US" sz="2000" dirty="0">
                <a:solidFill>
                  <a:schemeClr val="bg1"/>
                </a:solidFill>
              </a:rPr>
              <a:t>', engine)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CF1813-B324-415B-9A89-FE90E55EA6CF}"/>
              </a:ext>
            </a:extLst>
          </p:cNvPr>
          <p:cNvSpPr txBox="1"/>
          <p:nvPr/>
        </p:nvSpPr>
        <p:spPr>
          <a:xfrm>
            <a:off x="4371907" y="5742488"/>
            <a:ext cx="331921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Pandas works seamlessly with the Python data ecosystem.</a:t>
            </a:r>
          </a:p>
        </p:txBody>
      </p:sp>
    </p:spTree>
    <p:extLst>
      <p:ext uri="{BB962C8B-B14F-4D97-AF65-F5344CB8AC3E}">
        <p14:creationId xmlns:p14="http://schemas.microsoft.com/office/powerpoint/2010/main" val="3421544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C39C88F-F188-47F1-8990-8D93A71F2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B809FF-4279-4ECD-A7C2-4E37F573A8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FE9546-76ED-400C-94A3-28F195F44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2E6578"/>
                </a:solidFill>
                <a:cs typeface="+mn-cs"/>
              </a:rPr>
              <a:t>Advanced Time Series Techniques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02462" y="1261367"/>
            <a:ext cx="62592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Rolling Windows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Calculate rolling statistics.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RollingMean</a:t>
            </a:r>
            <a:r>
              <a:rPr lang="en-US" sz="2000" dirty="0">
                <a:solidFill>
                  <a:schemeClr val="bg1"/>
                </a:solidFill>
              </a:rPr>
              <a:t>'] = df['Value'].rolling(window=3).mean()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02462" y="4820227"/>
            <a:ext cx="5293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Time Shifts &amp; Lags</a:t>
            </a:r>
          </a:p>
          <a:p>
            <a:pPr algn="just"/>
            <a:r>
              <a:rPr lang="nn-NO" sz="2000" dirty="0">
                <a:solidFill>
                  <a:schemeClr val="bg1"/>
                </a:solidFill>
              </a:rPr>
              <a:t>df['Lag1'] = df['Value'].shift(1)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202462" y="3045981"/>
            <a:ext cx="59646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Expanding Windows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Cumulative calculations.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ExpandingSum</a:t>
            </a:r>
            <a:r>
              <a:rPr lang="en-US" sz="2000" dirty="0">
                <a:solidFill>
                  <a:schemeClr val="bg1"/>
                </a:solidFill>
              </a:rPr>
              <a:t>'] = df['Value'].expanding().sum()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F892F-4166-4795-A83E-7B5AAE0CA9FA}"/>
              </a:ext>
            </a:extLst>
          </p:cNvPr>
          <p:cNvSpPr txBox="1"/>
          <p:nvPr/>
        </p:nvSpPr>
        <p:spPr>
          <a:xfrm>
            <a:off x="6634478" y="1291847"/>
            <a:ext cx="555752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Time Zone Handling</a:t>
            </a:r>
          </a:p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df.index</a:t>
            </a:r>
            <a:r>
              <a:rPr lang="en-US" sz="2000" dirty="0">
                <a:solidFill>
                  <a:schemeClr val="bg1"/>
                </a:solidFill>
              </a:rPr>
              <a:t> =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df.index.tz_localize</a:t>
            </a:r>
            <a:r>
              <a:rPr lang="en-US" sz="2000" dirty="0">
                <a:solidFill>
                  <a:schemeClr val="bg1"/>
                </a:solidFill>
              </a:rPr>
              <a:t>('UTC').</a:t>
            </a:r>
            <a:r>
              <a:rPr lang="en-US" sz="2000" dirty="0" err="1">
                <a:solidFill>
                  <a:schemeClr val="bg1"/>
                </a:solidFill>
              </a:rPr>
              <a:t>tz_convert</a:t>
            </a:r>
            <a:r>
              <a:rPr lang="en-US" sz="2000" dirty="0">
                <a:solidFill>
                  <a:schemeClr val="bg1"/>
                </a:solidFill>
              </a:rPr>
              <a:t>('Asia/Karachi')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54960-F421-426A-8BCF-753C49812BE6}"/>
              </a:ext>
            </a:extLst>
          </p:cNvPr>
          <p:cNvSpPr txBox="1"/>
          <p:nvPr/>
        </p:nvSpPr>
        <p:spPr>
          <a:xfrm>
            <a:off x="4371907" y="5742488"/>
            <a:ext cx="3012121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Master these for complex time series analysis.</a:t>
            </a:r>
          </a:p>
        </p:txBody>
      </p:sp>
    </p:spTree>
    <p:extLst>
      <p:ext uri="{BB962C8B-B14F-4D97-AF65-F5344CB8AC3E}">
        <p14:creationId xmlns:p14="http://schemas.microsoft.com/office/powerpoint/2010/main" val="1755353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023687-6634-4E21-A9B2-BAD9FF5D9B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64751" y="139769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2E6578"/>
                </a:solidFill>
                <a:cs typeface="+mn-cs"/>
              </a:rPr>
              <a:t>Handling JSON &amp; Nested Data in Pandas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41BD4-5A1C-4D1F-9E50-54875BC9A373}"/>
              </a:ext>
            </a:extLst>
          </p:cNvPr>
          <p:cNvSpPr txBox="1"/>
          <p:nvPr/>
        </p:nvSpPr>
        <p:spPr>
          <a:xfrm>
            <a:off x="296986" y="1241047"/>
            <a:ext cx="43085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Reading JSON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pd.read_json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data.json</a:t>
            </a:r>
            <a:r>
              <a:rPr lang="en-US" sz="2000" dirty="0">
                <a:solidFill>
                  <a:schemeClr val="bg1"/>
                </a:solidFill>
              </a:rPr>
              <a:t>')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90026-1A6C-4FFC-8AF2-8A1270508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4D9AD31-5759-4CCC-A00C-B3DA01252BF0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66FD8-0B71-42CD-89A8-B24DC20EE3F1}"/>
              </a:ext>
            </a:extLst>
          </p:cNvPr>
          <p:cNvSpPr txBox="1"/>
          <p:nvPr/>
        </p:nvSpPr>
        <p:spPr>
          <a:xfrm>
            <a:off x="296986" y="2218510"/>
            <a:ext cx="45798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Normalizing Nested JSON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from pandas import </a:t>
            </a:r>
            <a:r>
              <a:rPr lang="en-US" sz="2000" dirty="0" err="1">
                <a:solidFill>
                  <a:schemeClr val="bg1"/>
                </a:solidFill>
              </a:rPr>
              <a:t>json_normalize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data = [{'id': 1, 'info': {'name': 'A', 'age': 30}}]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json_normalize</a:t>
            </a:r>
            <a:r>
              <a:rPr lang="en-US" sz="2000" dirty="0">
                <a:solidFill>
                  <a:schemeClr val="bg1"/>
                </a:solidFill>
              </a:rPr>
              <a:t>(data, </a:t>
            </a:r>
            <a:r>
              <a:rPr lang="en-US" sz="2000" dirty="0" err="1">
                <a:solidFill>
                  <a:schemeClr val="bg1"/>
                </a:solidFill>
              </a:rPr>
              <a:t>sep</a:t>
            </a:r>
            <a:r>
              <a:rPr lang="en-US" sz="2000" dirty="0">
                <a:solidFill>
                  <a:schemeClr val="bg1"/>
                </a:solidFill>
              </a:rPr>
              <a:t>='_')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323510-A154-4FFD-991B-16C9E8175EAB}"/>
              </a:ext>
            </a:extLst>
          </p:cNvPr>
          <p:cNvSpPr txBox="1"/>
          <p:nvPr/>
        </p:nvSpPr>
        <p:spPr>
          <a:xfrm>
            <a:off x="296986" y="3837657"/>
            <a:ext cx="45798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Flattening Nested Columns</a:t>
            </a:r>
          </a:p>
          <a:p>
            <a:r>
              <a:rPr lang="en-US" sz="2000" dirty="0">
                <a:solidFill>
                  <a:schemeClr val="bg1"/>
                </a:solidFill>
              </a:rPr>
              <a:t>Access nested fields as separate columns.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df[['</a:t>
            </a:r>
            <a:r>
              <a:rPr lang="en-US" sz="2000" dirty="0" err="1">
                <a:solidFill>
                  <a:schemeClr val="bg1"/>
                </a:solidFill>
              </a:rPr>
              <a:t>info_name</a:t>
            </a:r>
            <a:r>
              <a:rPr lang="en-US" sz="2000" dirty="0">
                <a:solidFill>
                  <a:schemeClr val="bg1"/>
                </a:solidFill>
              </a:rPr>
              <a:t>', '</a:t>
            </a:r>
            <a:r>
              <a:rPr lang="en-US" sz="2000" dirty="0" err="1">
                <a:solidFill>
                  <a:schemeClr val="bg1"/>
                </a:solidFill>
              </a:rPr>
              <a:t>info_age</a:t>
            </a:r>
            <a:r>
              <a:rPr lang="en-US" sz="2000" dirty="0">
                <a:solidFill>
                  <a:schemeClr val="bg1"/>
                </a:solidFill>
              </a:rPr>
              <a:t>']]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744438-0D73-4DE4-AEA4-249277257182}"/>
              </a:ext>
            </a:extLst>
          </p:cNvPr>
          <p:cNvSpPr txBox="1"/>
          <p:nvPr/>
        </p:nvSpPr>
        <p:spPr>
          <a:xfrm>
            <a:off x="307146" y="5127977"/>
            <a:ext cx="54434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Writing JSON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df.to_json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output.json</a:t>
            </a:r>
            <a:r>
              <a:rPr lang="en-US" sz="2000" dirty="0">
                <a:solidFill>
                  <a:schemeClr val="bg1"/>
                </a:solidFill>
              </a:rPr>
              <a:t>', orient='records', lines=True)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359474-1B5A-4AE7-8880-689D457C1C5C}"/>
              </a:ext>
            </a:extLst>
          </p:cNvPr>
          <p:cNvSpPr txBox="1"/>
          <p:nvPr/>
        </p:nvSpPr>
        <p:spPr>
          <a:xfrm>
            <a:off x="4371907" y="5742488"/>
            <a:ext cx="398977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json_normalize</a:t>
            </a:r>
            <a:r>
              <a:rPr lang="en-US" sz="2000" dirty="0">
                <a:solidFill>
                  <a:schemeClr val="bg1"/>
                </a:solidFill>
              </a:rPr>
              <a:t> to convert complex JSON into flat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0075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0B1F6D5-E7BE-4A0F-BD85-445B73F73A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Advanced Strategies for Missing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6" y="1282168"/>
            <a:ext cx="51683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Detect Missing Data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df.isnull</a:t>
            </a:r>
            <a:r>
              <a:rPr lang="en-US" sz="2000" dirty="0">
                <a:solidFill>
                  <a:schemeClr val="bg1"/>
                </a:solidFill>
              </a:rPr>
              <a:t>().sum()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0D543D-770D-4C74-98B3-294E3B8B868F}"/>
              </a:ext>
            </a:extLst>
          </p:cNvPr>
          <p:cNvSpPr txBox="1"/>
          <p:nvPr/>
        </p:nvSpPr>
        <p:spPr>
          <a:xfrm>
            <a:off x="296986" y="2645177"/>
            <a:ext cx="51683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Dropping Missing Values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df.dropna</a:t>
            </a:r>
            <a:r>
              <a:rPr lang="en-US" sz="2000" dirty="0">
                <a:solidFill>
                  <a:schemeClr val="bg1"/>
                </a:solidFill>
              </a:rPr>
              <a:t>(subset=['</a:t>
            </a:r>
            <a:r>
              <a:rPr lang="en-US" sz="2000" dirty="0" err="1">
                <a:solidFill>
                  <a:schemeClr val="bg1"/>
                </a:solidFill>
              </a:rPr>
              <a:t>ColumnName</a:t>
            </a:r>
            <a:r>
              <a:rPr lang="en-US" sz="2000" dirty="0">
                <a:solidFill>
                  <a:schemeClr val="bg1"/>
                </a:solidFill>
              </a:rPr>
              <a:t>'], 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B21EA-9BC8-4266-8DCD-D273F33E57E8}"/>
              </a:ext>
            </a:extLst>
          </p:cNvPr>
          <p:cNvSpPr txBox="1"/>
          <p:nvPr/>
        </p:nvSpPr>
        <p:spPr>
          <a:xfrm>
            <a:off x="5465343" y="1291847"/>
            <a:ext cx="62186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Conditional </a:t>
            </a:r>
            <a:r>
              <a:rPr lang="en-US" sz="2400" b="1" dirty="0" err="1">
                <a:solidFill>
                  <a:schemeClr val="accent1"/>
                </a:solidFill>
              </a:rPr>
              <a:t>Fillin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[df['</a:t>
            </a:r>
            <a:r>
              <a:rPr lang="en-US" sz="2000" dirty="0" err="1">
                <a:solidFill>
                  <a:schemeClr val="bg1"/>
                </a:solidFill>
              </a:rPr>
              <a:t>ColumnName</a:t>
            </a:r>
            <a:r>
              <a:rPr lang="en-US" sz="2000" dirty="0">
                <a:solidFill>
                  <a:schemeClr val="bg1"/>
                </a:solidFill>
              </a:rPr>
              <a:t>'].</a:t>
            </a:r>
            <a:r>
              <a:rPr lang="en-US" sz="2000" dirty="0" err="1">
                <a:solidFill>
                  <a:schemeClr val="bg1"/>
                </a:solidFill>
              </a:rPr>
              <a:t>isnull</a:t>
            </a:r>
            <a:r>
              <a:rPr lang="en-US" sz="2000" dirty="0">
                <a:solidFill>
                  <a:schemeClr val="bg1"/>
                </a:solidFill>
              </a:rPr>
              <a:t>(), '</a:t>
            </a:r>
            <a:r>
              <a:rPr lang="en-US" sz="2000" dirty="0" err="1">
                <a:solidFill>
                  <a:schemeClr val="bg1"/>
                </a:solidFill>
              </a:rPr>
              <a:t>ColumnName</a:t>
            </a:r>
            <a:r>
              <a:rPr lang="en-US" sz="2000" dirty="0">
                <a:solidFill>
                  <a:schemeClr val="bg1"/>
                </a:solidFill>
              </a:rPr>
              <a:t>'] = df['</a:t>
            </a:r>
            <a:r>
              <a:rPr lang="en-US" sz="2000" dirty="0" err="1">
                <a:solidFill>
                  <a:schemeClr val="bg1"/>
                </a:solidFill>
              </a:rPr>
              <a:t>ColumnName</a:t>
            </a:r>
            <a:r>
              <a:rPr lang="en-US" sz="2000" dirty="0">
                <a:solidFill>
                  <a:schemeClr val="bg1"/>
                </a:solidFill>
              </a:rPr>
              <a:t>'].mean()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313513-0507-40F9-BA7E-930CE124B35C}"/>
              </a:ext>
            </a:extLst>
          </p:cNvPr>
          <p:cNvSpPr txBox="1"/>
          <p:nvPr/>
        </p:nvSpPr>
        <p:spPr>
          <a:xfrm>
            <a:off x="5465342" y="3100366"/>
            <a:ext cx="6218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Advanced Imputation Techniques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- Use libraries like </a:t>
            </a:r>
            <a:r>
              <a:rPr lang="en-US" sz="2000" dirty="0" err="1">
                <a:solidFill>
                  <a:schemeClr val="bg1"/>
                </a:solidFill>
              </a:rPr>
              <a:t>sklearn.impute</a:t>
            </a:r>
            <a:r>
              <a:rPr lang="en-US" sz="2000" dirty="0">
                <a:solidFill>
                  <a:schemeClr val="bg1"/>
                </a:solidFill>
              </a:rPr>
              <a:t> for sophisticated filling.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C68CBB-3D18-4232-9D92-4C731FEF4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C5E459E7-3E87-4FA2-9019-9A32AA01C4C9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361FF2-BFB2-4BBC-BBF2-63749D71C889}"/>
              </a:ext>
            </a:extLst>
          </p:cNvPr>
          <p:cNvSpPr txBox="1"/>
          <p:nvPr/>
        </p:nvSpPr>
        <p:spPr>
          <a:xfrm>
            <a:off x="296986" y="4047257"/>
            <a:ext cx="51683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Filling with Statistical Values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ColumnName</a:t>
            </a:r>
            <a:r>
              <a:rPr lang="en-US" sz="2000" dirty="0">
                <a:solidFill>
                  <a:schemeClr val="bg1"/>
                </a:solidFill>
              </a:rPr>
              <a:t>'].</a:t>
            </a:r>
            <a:r>
              <a:rPr lang="en-US" sz="2000" dirty="0" err="1">
                <a:solidFill>
                  <a:schemeClr val="bg1"/>
                </a:solidFill>
              </a:rPr>
              <a:t>fillna</a:t>
            </a:r>
            <a:r>
              <a:rPr lang="en-US" sz="2000" dirty="0">
                <a:solidFill>
                  <a:schemeClr val="bg1"/>
                </a:solidFill>
              </a:rPr>
              <a:t>(df['</a:t>
            </a:r>
            <a:r>
              <a:rPr lang="en-US" sz="2000" dirty="0" err="1">
                <a:solidFill>
                  <a:schemeClr val="bg1"/>
                </a:solidFill>
              </a:rPr>
              <a:t>ColumnName</a:t>
            </a:r>
            <a:r>
              <a:rPr lang="en-US" sz="2000" dirty="0">
                <a:solidFill>
                  <a:schemeClr val="bg1"/>
                </a:solidFill>
              </a:rPr>
              <a:t>'].median(), 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E8AB89-DBE9-4030-AD49-74396455649B}"/>
              </a:ext>
            </a:extLst>
          </p:cNvPr>
          <p:cNvSpPr txBox="1"/>
          <p:nvPr/>
        </p:nvSpPr>
        <p:spPr>
          <a:xfrm>
            <a:off x="4371907" y="5742488"/>
            <a:ext cx="366465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Proper handling of missing data ensures better analysis results.</a:t>
            </a:r>
          </a:p>
        </p:txBody>
      </p:sp>
    </p:spTree>
    <p:extLst>
      <p:ext uri="{BB962C8B-B14F-4D97-AF65-F5344CB8AC3E}">
        <p14:creationId xmlns:p14="http://schemas.microsoft.com/office/powerpoint/2010/main" val="782759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3D6B005-7012-432C-968C-177FCDAD3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D794D3E-C973-4801-8D98-F15AC6392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Using Custom Functions &amp; Lambda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71983" y="1127760"/>
            <a:ext cx="60059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Applying Custom Functions with .apply()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def </a:t>
            </a:r>
            <a:r>
              <a:rPr lang="en-US" sz="2000" dirty="0" err="1">
                <a:solidFill>
                  <a:schemeClr val="bg1"/>
                </a:solidFill>
              </a:rPr>
              <a:t>categorize_age</a:t>
            </a:r>
            <a:r>
              <a:rPr lang="en-US" sz="2000" dirty="0">
                <a:solidFill>
                  <a:schemeClr val="bg1"/>
                </a:solidFill>
              </a:rPr>
              <a:t>(age):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if age &lt; 18: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   return 'Minor’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else: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   return 'Adult’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AgeGroup</a:t>
            </a:r>
            <a:r>
              <a:rPr lang="en-US" sz="2000" dirty="0">
                <a:solidFill>
                  <a:schemeClr val="bg1"/>
                </a:solidFill>
              </a:rPr>
              <a:t>'] = df['Age'].apply(</a:t>
            </a:r>
            <a:r>
              <a:rPr lang="en-US" sz="2000" dirty="0" err="1">
                <a:solidFill>
                  <a:schemeClr val="bg1"/>
                </a:solidFill>
              </a:rPr>
              <a:t>categorize_age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83D19-102D-48C4-98BA-ADE424EF02F6}"/>
              </a:ext>
            </a:extLst>
          </p:cNvPr>
          <p:cNvSpPr txBox="1"/>
          <p:nvPr/>
        </p:nvSpPr>
        <p:spPr>
          <a:xfrm>
            <a:off x="151663" y="3696672"/>
            <a:ext cx="60059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Lambda Functions for Quick Operations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Income_k</a:t>
            </a:r>
            <a:r>
              <a:rPr lang="en-US" sz="2000" dirty="0">
                <a:solidFill>
                  <a:schemeClr val="bg1"/>
                </a:solidFill>
              </a:rPr>
              <a:t>'] = df['Income'].apply(lambda x: x / 1000)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4F6EF0-CBC3-4E71-9D8A-7C90A13BA3B7}"/>
              </a:ext>
            </a:extLst>
          </p:cNvPr>
          <p:cNvSpPr txBox="1"/>
          <p:nvPr/>
        </p:nvSpPr>
        <p:spPr>
          <a:xfrm>
            <a:off x="182142" y="4661088"/>
            <a:ext cx="67977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.</a:t>
            </a:r>
            <a:r>
              <a:rPr lang="en-US" sz="2400" b="1" dirty="0" err="1">
                <a:solidFill>
                  <a:schemeClr val="accent1"/>
                </a:solidFill>
              </a:rPr>
              <a:t>applymap</a:t>
            </a:r>
            <a:r>
              <a:rPr lang="en-US" sz="2400" b="1" dirty="0">
                <a:solidFill>
                  <a:schemeClr val="accent1"/>
                </a:solidFill>
              </a:rPr>
              <a:t>() for Element-wise </a:t>
            </a:r>
            <a:r>
              <a:rPr lang="en-US" sz="2400" b="1" dirty="0" err="1">
                <a:solidFill>
                  <a:schemeClr val="accent1"/>
                </a:solidFill>
              </a:rPr>
              <a:t>DataFrame</a:t>
            </a:r>
            <a:r>
              <a:rPr lang="en-US" sz="2400" b="1" dirty="0">
                <a:solidFill>
                  <a:schemeClr val="accent1"/>
                </a:solidFill>
              </a:rPr>
              <a:t> Ops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df_numeric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df.select_dtypes</a:t>
            </a:r>
            <a:r>
              <a:rPr lang="en-US" sz="2000" dirty="0">
                <a:solidFill>
                  <a:schemeClr val="bg1"/>
                </a:solidFill>
              </a:rPr>
              <a:t>(include='number’)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df_numeric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df_numeric.applymap</a:t>
            </a:r>
            <a:r>
              <a:rPr lang="en-US" sz="2000" dirty="0">
                <a:solidFill>
                  <a:schemeClr val="bg1"/>
                </a:solidFill>
              </a:rPr>
              <a:t>(lambda x: x*2)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ABEEE5EC-ABF6-4780-9C89-00C84EF6BDC7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20D09-9EC3-4113-9A70-0D74E6CEBCEB}"/>
              </a:ext>
            </a:extLst>
          </p:cNvPr>
          <p:cNvSpPr txBox="1"/>
          <p:nvPr/>
        </p:nvSpPr>
        <p:spPr>
          <a:xfrm>
            <a:off x="4371907" y="5742488"/>
            <a:ext cx="366465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custom and lambda functions to flexibly manipulate data.</a:t>
            </a:r>
          </a:p>
        </p:txBody>
      </p:sp>
    </p:spTree>
    <p:extLst>
      <p:ext uri="{BB962C8B-B14F-4D97-AF65-F5344CB8AC3E}">
        <p14:creationId xmlns:p14="http://schemas.microsoft.com/office/powerpoint/2010/main" val="15162404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1EADE60-9206-4078-88E6-AA80928CB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88426" y="1291847"/>
            <a:ext cx="4691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Swapping Level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df.swaplevel</a:t>
            </a:r>
            <a:r>
              <a:rPr lang="en-US" sz="2000" dirty="0">
                <a:solidFill>
                  <a:schemeClr val="bg1"/>
                </a:solidFill>
              </a:rPr>
              <a:t>('Level_1', 'Level_0', axis=0)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4DB23B-E766-47D2-962D-0C2FC1D5CCFF}"/>
              </a:ext>
            </a:extLst>
          </p:cNvPr>
          <p:cNvSpPr txBox="1"/>
          <p:nvPr/>
        </p:nvSpPr>
        <p:spPr>
          <a:xfrm>
            <a:off x="4371907" y="5742488"/>
            <a:ext cx="3481009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Master these to handle complex, hierarchical datasets with ease.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CB0E88D-E1CC-4648-989A-EB37A810AB4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2D1B8-031C-4768-9127-726D5F55D473}"/>
              </a:ext>
            </a:extLst>
          </p:cNvPr>
          <p:cNvSpPr txBox="1"/>
          <p:nvPr/>
        </p:nvSpPr>
        <p:spPr>
          <a:xfrm>
            <a:off x="388426" y="2443502"/>
            <a:ext cx="4691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Sorting by Index Levels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df.sort_index</a:t>
            </a:r>
            <a:r>
              <a:rPr lang="en-US" sz="2000" dirty="0">
                <a:solidFill>
                  <a:schemeClr val="bg1"/>
                </a:solidFill>
              </a:rPr>
              <a:t>(level=1, ascending=False)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8E28A2-0992-4158-A23E-C6A5745E9B7A}"/>
              </a:ext>
            </a:extLst>
          </p:cNvPr>
          <p:cNvSpPr txBox="1"/>
          <p:nvPr/>
        </p:nvSpPr>
        <p:spPr>
          <a:xfrm>
            <a:off x="388426" y="3584997"/>
            <a:ext cx="4691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Indexing with </a:t>
            </a:r>
            <a:r>
              <a:rPr lang="en-US" sz="2400" b="1" dirty="0" err="1">
                <a:solidFill>
                  <a:schemeClr val="accent1"/>
                </a:solidFill>
              </a:rPr>
              <a:t>pd.IndexSlic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idx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pd.IndexSlice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</a:t>
            </a:r>
            <a:r>
              <a:rPr lang="en-US" sz="2000" dirty="0" err="1">
                <a:solidFill>
                  <a:schemeClr val="bg1"/>
                </a:solidFill>
              </a:rPr>
              <a:t>idx</a:t>
            </a:r>
            <a:r>
              <a:rPr lang="en-US" sz="2000" dirty="0">
                <a:solidFill>
                  <a:schemeClr val="bg1"/>
                </a:solidFill>
              </a:rPr>
              <a:t>[:, 'B'], :]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E9765B-94B8-4B60-8570-C1163C30275F}"/>
              </a:ext>
            </a:extLst>
          </p:cNvPr>
          <p:cNvSpPr txBox="1"/>
          <p:nvPr/>
        </p:nvSpPr>
        <p:spPr>
          <a:xfrm>
            <a:off x="388426" y="4970332"/>
            <a:ext cx="46915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Aggregations on </a:t>
            </a:r>
            <a:r>
              <a:rPr lang="en-US" sz="2400" b="1" dirty="0" err="1">
                <a:solidFill>
                  <a:schemeClr val="accent1"/>
                </a:solidFill>
              </a:rPr>
              <a:t>MultiIndex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df.groupby</a:t>
            </a:r>
            <a:r>
              <a:rPr lang="en-US" sz="2000" dirty="0">
                <a:solidFill>
                  <a:schemeClr val="bg1"/>
                </a:solidFill>
              </a:rPr>
              <a:t>(level='Level_0').sum()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626B96-40AF-4844-B4AE-8DC31F080B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Advanced </a:t>
            </a:r>
            <a:r>
              <a:rPr lang="en-US" b="1" dirty="0" err="1">
                <a:solidFill>
                  <a:srgbClr val="2E6578"/>
                </a:solidFill>
                <a:cs typeface="+mn-cs"/>
              </a:rPr>
              <a:t>MultiIndex</a:t>
            </a:r>
            <a:r>
              <a:rPr lang="en-US" b="1" dirty="0">
                <a:solidFill>
                  <a:srgbClr val="2E6578"/>
                </a:solidFill>
                <a:cs typeface="+mn-cs"/>
              </a:rPr>
              <a:t> Operations</a:t>
            </a:r>
          </a:p>
        </p:txBody>
      </p:sp>
    </p:spTree>
    <p:extLst>
      <p:ext uri="{BB962C8B-B14F-4D97-AF65-F5344CB8AC3E}">
        <p14:creationId xmlns:p14="http://schemas.microsoft.com/office/powerpoint/2010/main" val="3011447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303FC31-6C65-49E6-97A5-29E360CCE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C57F68-EA70-4BD0-8787-204395E5E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88426" y="1206189"/>
            <a:ext cx="61342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Basic Plotting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df['Age'].plot(kind='hist', bins=20, title='Age Distribution')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AFA9DC-9831-4253-AB8F-CDFD8F5A47CD}"/>
              </a:ext>
            </a:extLst>
          </p:cNvPr>
          <p:cNvSpPr txBox="1"/>
          <p:nvPr/>
        </p:nvSpPr>
        <p:spPr>
          <a:xfrm>
            <a:off x="388426" y="2120804"/>
            <a:ext cx="5992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Line Plot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(x='Date', y='Sales', kind='line')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57152-0B96-434B-AD40-F3F8E11C5E99}"/>
              </a:ext>
            </a:extLst>
          </p:cNvPr>
          <p:cNvSpPr txBox="1"/>
          <p:nvPr/>
        </p:nvSpPr>
        <p:spPr>
          <a:xfrm>
            <a:off x="371557" y="3952074"/>
            <a:ext cx="41574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Scatter Plot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df.plot.scatter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(x='Age', y='Income')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029FC-EA15-467F-B6C6-CA4FAB356B1E}"/>
              </a:ext>
            </a:extLst>
          </p:cNvPr>
          <p:cNvSpPr txBox="1"/>
          <p:nvPr/>
        </p:nvSpPr>
        <p:spPr>
          <a:xfrm>
            <a:off x="375377" y="3044279"/>
            <a:ext cx="48134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Bar Plot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df['Category'].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value_counts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().plot(kind='bar')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BADAC-DE63-4014-9DF0-F988E5B88760}"/>
              </a:ext>
            </a:extLst>
          </p:cNvPr>
          <p:cNvSpPr txBox="1"/>
          <p:nvPr/>
        </p:nvSpPr>
        <p:spPr>
          <a:xfrm>
            <a:off x="384063" y="4859869"/>
            <a:ext cx="7465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matplotlib and seaborn for Enhanced Visualization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sns.boxplot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(x='Category', y='Income', data=df)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0D421CB-F3C3-450A-8677-0D293D68B4CB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87BDF6-B03A-4A47-BF1F-2255714F15B1}"/>
              </a:ext>
            </a:extLst>
          </p:cNvPr>
          <p:cNvSpPr txBox="1"/>
          <p:nvPr/>
        </p:nvSpPr>
        <p:spPr>
          <a:xfrm>
            <a:off x="4001849" y="5783344"/>
            <a:ext cx="4188301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Pandas integrates well with visualization libraries for exploratory analysis.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A6C975-BFCD-487D-8C06-DED50A94C00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Data Visualization Using Pandas</a:t>
            </a:r>
          </a:p>
        </p:txBody>
      </p:sp>
    </p:spTree>
    <p:extLst>
      <p:ext uri="{BB962C8B-B14F-4D97-AF65-F5344CB8AC3E}">
        <p14:creationId xmlns:p14="http://schemas.microsoft.com/office/powerpoint/2010/main" val="19966091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08E192-9341-449E-8C4D-73F3DEACF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672" y="1612307"/>
            <a:ext cx="2584959" cy="17201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98D79B-A82F-499F-9D40-0436E643FB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2E6578"/>
                </a:solidFill>
                <a:cs typeface="+mn-cs"/>
              </a:rPr>
              <a:t>Exporting Data &amp; Automation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88426" y="1291847"/>
            <a:ext cx="469157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Export Data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To CSV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df.to_csv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('output.csv',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Excel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df.to_excel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('output.xlsx',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JSON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df.to_json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output.json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', orient='records')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57152-0B96-434B-AD40-F3F8E11C5E99}"/>
              </a:ext>
            </a:extLst>
          </p:cNvPr>
          <p:cNvSpPr txBox="1"/>
          <p:nvPr/>
        </p:nvSpPr>
        <p:spPr>
          <a:xfrm>
            <a:off x="6309362" y="1331767"/>
            <a:ext cx="576071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Automate Tasks with 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Schedule scripts using </a:t>
            </a:r>
            <a:r>
              <a:rPr lang="en-US" sz="2000" dirty="0" err="1">
                <a:solidFill>
                  <a:schemeClr val="bg1"/>
                </a:solidFill>
              </a:rPr>
              <a:t>cron</a:t>
            </a:r>
            <a:r>
              <a:rPr lang="en-US" sz="2000" dirty="0">
                <a:solidFill>
                  <a:schemeClr val="bg1"/>
                </a:solidFill>
              </a:rPr>
              <a:t> (Linux) or Task Scheduler (Windows).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Python scripts to automate data cleaning and reporting.</a:t>
            </a:r>
          </a:p>
          <a:p>
            <a:pPr marL="342900" indent="-342900" algn="just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Example: Save filtered data daily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filtered = df[df['Age'] &gt; 30]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filtered.to_csv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('filtered_data.csv', index=False)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029FC-EA15-467F-B6C6-CA4FAB356B1E}"/>
              </a:ext>
            </a:extLst>
          </p:cNvPr>
          <p:cNvSpPr txBox="1"/>
          <p:nvPr/>
        </p:nvSpPr>
        <p:spPr>
          <a:xfrm>
            <a:off x="388426" y="4439206"/>
            <a:ext cx="5453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Converting Between NumPy and Tensors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TensorFlow and PyTorch tensors can be converted to/from NumPy arrays seamlessly.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C35830-FF9D-4637-A3BF-A6853F820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DFFC90EC-2877-45EB-8A0B-FD4A55CF8E7D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36029-4885-451A-991C-238FDE654790}"/>
              </a:ext>
            </a:extLst>
          </p:cNvPr>
          <p:cNvSpPr txBox="1"/>
          <p:nvPr/>
        </p:nvSpPr>
        <p:spPr>
          <a:xfrm>
            <a:off x="4439901" y="5742488"/>
            <a:ext cx="3345021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Automating pandas workflows saves time and reduces errors.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EE7BB8-5BFF-4DBE-B16F-5547E1ADA5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826" y="4366087"/>
            <a:ext cx="3595334" cy="2013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3370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F34548-C121-4A82-99BD-E6FF2E0A4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018346" y="1971368"/>
            <a:ext cx="59310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Summary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Covered Pandas basics to advanced topics: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 structures &amp; indexing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 cleaning &amp; manipulation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Grouping, merging &amp; reshaping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Time series &amp; categorical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Performance optimization &amp; visualization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Integration &amp; automation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2F405E7-14D3-4788-9BF6-A725E38845C3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019B63-3DCE-47AB-BE7A-8E8EA69446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46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83DFC6-C495-4594-BDF5-357CB55B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9181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Q &amp; 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EE147-9E86-4B73-9018-E0D465602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233" y="1878719"/>
            <a:ext cx="4587317" cy="44862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9E39623-061D-4662-97EA-077035D18C1B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96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3472</Words>
  <Application>Microsoft Office PowerPoint</Application>
  <PresentationFormat>Widescreen</PresentationFormat>
  <Paragraphs>534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Agency FB</vt:lpstr>
      <vt:lpstr>Andalus</vt:lpstr>
      <vt:lpstr>Arial</vt:lpstr>
      <vt:lpstr>Goudy Old Style</vt:lpstr>
      <vt:lpstr>Wingdings 2</vt:lpstr>
      <vt:lpstr>SlateVTI</vt:lpstr>
      <vt:lpstr>Mastering Pandas: From Basics to Expert Level</vt:lpstr>
      <vt:lpstr>Introduction to Pandas</vt:lpstr>
      <vt:lpstr>Setting Up Pandas in Your Environment</vt:lpstr>
      <vt:lpstr>Pandas Series</vt:lpstr>
      <vt:lpstr>Pandas DataFrame Basics</vt:lpstr>
      <vt:lpstr>Data Selection &amp; Indexing?</vt:lpstr>
      <vt:lpstr>Conti…</vt:lpstr>
      <vt:lpstr>Handling Missing Data?</vt:lpstr>
      <vt:lpstr>Conti…</vt:lpstr>
      <vt:lpstr>Data Aggregation &amp; Grouping</vt:lpstr>
      <vt:lpstr>Concatenation in Pandas</vt:lpstr>
      <vt:lpstr>Merge in Pandas</vt:lpstr>
      <vt:lpstr>Join in Pandas</vt:lpstr>
      <vt:lpstr>Working with Time Series Data</vt:lpstr>
      <vt:lpstr>Handling Text Data in Pandas</vt:lpstr>
      <vt:lpstr>Pivot Tables &amp; Crosstabs in Pandas</vt:lpstr>
      <vt:lpstr>Reading &amp; Writing Data with Pandas</vt:lpstr>
      <vt:lpstr>Advanced Indexing in Pandas</vt:lpstr>
      <vt:lpstr>Categorical Data in Pandas</vt:lpstr>
      <vt:lpstr>Handling Large Datasets in Pandas</vt:lpstr>
      <vt:lpstr>Advanced Missing Data Techniques</vt:lpstr>
      <vt:lpstr>Efficient Function Application in Pandas</vt:lpstr>
      <vt:lpstr>Reshaping Data: Melt &amp; Pivot</vt:lpstr>
      <vt:lpstr>MultiIndex DataFrames in Pandas</vt:lpstr>
      <vt:lpstr>Optimizing Pandas Performance</vt:lpstr>
      <vt:lpstr>Customizing Pandas Display &amp; Behavior</vt:lpstr>
      <vt:lpstr>Pandas Integration with Other Libraries</vt:lpstr>
      <vt:lpstr>Advanced Time Series Techniques in Pandas</vt:lpstr>
      <vt:lpstr>Handling JSON &amp; Nested Data in Pandas</vt:lpstr>
      <vt:lpstr>Advanced Strategies for Missing Data</vt:lpstr>
      <vt:lpstr>Using Custom Functions &amp; Lambda</vt:lpstr>
      <vt:lpstr>Advanced MultiIndex Operations</vt:lpstr>
      <vt:lpstr>Data Visualization Using Pandas</vt:lpstr>
      <vt:lpstr>Exporting Data &amp; Automation in Pandas</vt:lpstr>
      <vt:lpstr>Summary</vt:lpstr>
      <vt:lpstr>Q &amp; 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2025-07-24T09:21:43Z</dcterms:modified>
</cp:coreProperties>
</file>