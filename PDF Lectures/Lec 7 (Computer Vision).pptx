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05" r:id="rId1"/>
  </p:sldMasterIdLst>
  <p:sldIdLst>
    <p:sldId id="259" r:id="rId2"/>
    <p:sldId id="360" r:id="rId3"/>
    <p:sldId id="393" r:id="rId4"/>
    <p:sldId id="361" r:id="rId5"/>
    <p:sldId id="379" r:id="rId6"/>
    <p:sldId id="380" r:id="rId7"/>
    <p:sldId id="381" r:id="rId8"/>
    <p:sldId id="382" r:id="rId9"/>
    <p:sldId id="383" r:id="rId10"/>
    <p:sldId id="384" r:id="rId11"/>
    <p:sldId id="385" r:id="rId12"/>
    <p:sldId id="386" r:id="rId13"/>
    <p:sldId id="387" r:id="rId14"/>
    <p:sldId id="388" r:id="rId15"/>
    <p:sldId id="389" r:id="rId16"/>
    <p:sldId id="390" r:id="rId17"/>
    <p:sldId id="391" r:id="rId18"/>
    <p:sldId id="394" r:id="rId19"/>
    <p:sldId id="395" r:id="rId20"/>
    <p:sldId id="396" r:id="rId21"/>
    <p:sldId id="397" r:id="rId22"/>
    <p:sldId id="398" r:id="rId23"/>
    <p:sldId id="399" r:id="rId24"/>
    <p:sldId id="400" r:id="rId25"/>
    <p:sldId id="403" r:id="rId26"/>
    <p:sldId id="402" r:id="rId27"/>
    <p:sldId id="392" r:id="rId28"/>
    <p:sldId id="378" r:id="rId29"/>
    <p:sldId id="26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6578"/>
    <a:srgbClr val="D3074B"/>
    <a:srgbClr val="26B481"/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12CEC21-FD8E-4D6C-A2FA-43FC25C629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835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  <p:sldLayoutId id="2147483717" r:id="rId18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1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webp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32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jpg"/><Relationship Id="rId4" Type="http://schemas.openxmlformats.org/officeDocument/2006/relationships/image" Target="../media/image2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4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jp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jpg"/><Relationship Id="rId4" Type="http://schemas.openxmlformats.org/officeDocument/2006/relationships/image" Target="../media/image50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jpg"/><Relationship Id="rId4" Type="http://schemas.openxmlformats.org/officeDocument/2006/relationships/image" Target="../media/image5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jpg"/><Relationship Id="rId4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jpg"/><Relationship Id="rId5" Type="http://schemas.openxmlformats.org/officeDocument/2006/relationships/image" Target="../media/image58.jpg"/><Relationship Id="rId4" Type="http://schemas.openxmlformats.org/officeDocument/2006/relationships/image" Target="../media/image57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jpg"/><Relationship Id="rId5" Type="http://schemas.openxmlformats.org/officeDocument/2006/relationships/image" Target="../media/image57.jpg"/><Relationship Id="rId4" Type="http://schemas.openxmlformats.org/officeDocument/2006/relationships/image" Target="../media/image60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6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jpg"/><Relationship Id="rId5" Type="http://schemas.openxmlformats.org/officeDocument/2006/relationships/image" Target="../media/image66.jpg"/><Relationship Id="rId4" Type="http://schemas.openxmlformats.org/officeDocument/2006/relationships/image" Target="../media/image65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1.jpg"/><Relationship Id="rId4" Type="http://schemas.openxmlformats.org/officeDocument/2006/relationships/image" Target="../media/image7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680" y="1087120"/>
            <a:ext cx="11440160" cy="2648381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rgbClr val="2E6578"/>
                </a:solidFill>
                <a:cs typeface="+mn-cs"/>
              </a:rPr>
              <a:t>Huawei HCCDA-AI certification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Instructor : Fawad Bahadur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480" y="911972"/>
            <a:ext cx="1555039" cy="1555039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C65A546-6983-47B1-B200-0DD172AAA774}"/>
              </a:ext>
            </a:extLst>
          </p:cNvPr>
          <p:cNvSpPr/>
          <p:nvPr/>
        </p:nvSpPr>
        <p:spPr>
          <a:xfrm>
            <a:off x="5709709" y="4907280"/>
            <a:ext cx="762000" cy="762000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87120"/>
            <a:ext cx="12192000" cy="2648381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7030A0"/>
                </a:solidFill>
                <a:cs typeface="+mn-cs"/>
              </a:rPr>
              <a:t>Computer Vision: From Basics to Expert Level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8545" y="3910648"/>
            <a:ext cx="10404327" cy="1397951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tx1">
                    <a:lumMod val="50000"/>
                  </a:schemeClr>
                </a:solidFill>
                <a:effectLst/>
              </a:rPr>
              <a:t>Advanced Computer Vision &amp; Image Processing with Python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B66FD8F-78E2-4D71-A6AD-762061E9053D}"/>
              </a:ext>
            </a:extLst>
          </p:cNvPr>
          <p:cNvSpPr txBox="1">
            <a:spLocks/>
          </p:cNvSpPr>
          <p:nvPr/>
        </p:nvSpPr>
        <p:spPr>
          <a:xfrm>
            <a:off x="7121462" y="6077745"/>
            <a:ext cx="4836858" cy="55673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Instructor : Fawad Bahadur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E0B58F5-D20E-4FB6-BC0A-C191F415E89F}"/>
              </a:ext>
            </a:extLst>
          </p:cNvPr>
          <p:cNvSpPr txBox="1">
            <a:spLocks/>
          </p:cNvSpPr>
          <p:nvPr/>
        </p:nvSpPr>
        <p:spPr>
          <a:xfrm>
            <a:off x="172720" y="6159025"/>
            <a:ext cx="2397760" cy="55673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bg1"/>
                </a:solidFill>
              </a:rPr>
              <a:t>Dated: 28 June 2025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23C091-AD80-44CD-9B47-887162A62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480" y="911972"/>
            <a:ext cx="1555039" cy="15550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C39EFF-E98B-41D8-9834-59231F2B55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2197" y="4439921"/>
            <a:ext cx="1994869" cy="189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784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Training Objectives &amp; Outcomes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624A34-06DE-4878-9929-0013D17BE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97" y="1381136"/>
            <a:ext cx="6631823" cy="9326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11CBF0-81B9-4631-AE34-980217627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057" y="2268341"/>
            <a:ext cx="7190623" cy="9337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B2E902-C06E-4586-9C7F-01C43D567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7296" y="3160371"/>
            <a:ext cx="6713103" cy="9233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9E08D8-FCE4-4849-9C19-EE9F91DA1D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616" y="4073780"/>
            <a:ext cx="6713103" cy="9233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8A5E51-B21F-4B3E-A3FD-CDEFE7C057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1537" y="5019965"/>
            <a:ext cx="7087925" cy="9968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B6CBDD7-1FC5-4B8E-8B01-1DE35AF093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3057" y="5961860"/>
            <a:ext cx="7444623" cy="97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731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83240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cs typeface="+mn-cs"/>
              </a:rPr>
              <a:t>Introduction to OpenCV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5707" y="1549938"/>
            <a:ext cx="782828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What is OpenCV? 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OpenCV stands for Open-Source Computer Vision Library 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A powerful library for </a:t>
            </a:r>
            <a:r>
              <a:rPr lang="en-US" sz="2400" b="1" dirty="0">
                <a:solidFill>
                  <a:schemeClr val="bg1"/>
                </a:solidFill>
              </a:rPr>
              <a:t>image processing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b="1" dirty="0">
                <a:solidFill>
                  <a:schemeClr val="bg1"/>
                </a:solidFill>
              </a:rPr>
              <a:t>computer vision</a:t>
            </a:r>
            <a:r>
              <a:rPr lang="en-US" sz="2400" dirty="0">
                <a:solidFill>
                  <a:schemeClr val="bg1"/>
                </a:solidFill>
              </a:rPr>
              <a:t>, and </a:t>
            </a:r>
            <a:r>
              <a:rPr lang="en-US" sz="2400" b="1" dirty="0">
                <a:solidFill>
                  <a:schemeClr val="bg1"/>
                </a:solidFill>
              </a:rPr>
              <a:t>machine learning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Enables real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400" dirty="0">
                <a:solidFill>
                  <a:schemeClr val="bg1"/>
                </a:solidFill>
              </a:rPr>
              <a:t>time image and video analysis across platforms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93747" y="3890150"/>
            <a:ext cx="7417916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History &amp; Background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Developed by Intel in 1999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Became open-source and is now maintained by </a:t>
            </a:r>
            <a:r>
              <a:rPr lang="en-US" sz="2400" u="sng" dirty="0">
                <a:solidFill>
                  <a:srgbClr val="0070C0"/>
                </a:solidFill>
              </a:rPr>
              <a:t>OpenCV.org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Key tool in AI, robotics, automation, and deep learning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20FF8FD-7E32-493C-A544-0E931AE90F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7031" y="1624203"/>
            <a:ext cx="3610719" cy="210011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81CA72F-38D3-40FF-86BC-2F27EDA95C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3290" y="4055613"/>
            <a:ext cx="2210277" cy="13261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2B12B53-C097-4499-AC4B-A2F124FD78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113" y="4046501"/>
            <a:ext cx="2210277" cy="12377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CE711154-22F0-4CC8-942B-795FD80CF09D}"/>
              </a:ext>
            </a:extLst>
          </p:cNvPr>
          <p:cNvGrpSpPr/>
          <p:nvPr/>
        </p:nvGrpSpPr>
        <p:grpSpPr>
          <a:xfrm>
            <a:off x="1882137" y="6165398"/>
            <a:ext cx="8610605" cy="508000"/>
            <a:chOff x="482595" y="5577840"/>
            <a:chExt cx="8610605" cy="508000"/>
          </a:xfrm>
        </p:grpSpPr>
        <p:sp>
          <p:nvSpPr>
            <p:cNvPr id="27" name="Arrow: Pentagon 26">
              <a:extLst>
                <a:ext uri="{FF2B5EF4-FFF2-40B4-BE49-F238E27FC236}">
                  <a16:creationId xmlns:a16="http://schemas.microsoft.com/office/drawing/2014/main" id="{91AEEC05-0D49-4FFB-B359-CF97AF5CDAFD}"/>
                </a:ext>
              </a:extLst>
            </p:cNvPr>
            <p:cNvSpPr/>
            <p:nvPr/>
          </p:nvSpPr>
          <p:spPr>
            <a:xfrm>
              <a:off x="482595" y="5577840"/>
              <a:ext cx="1965965" cy="508000"/>
            </a:xfrm>
            <a:prstGeom prst="homePlat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1999</a:t>
              </a:r>
            </a:p>
          </p:txBody>
        </p:sp>
        <p:sp>
          <p:nvSpPr>
            <p:cNvPr id="28" name="Arrow: Pentagon 27">
              <a:extLst>
                <a:ext uri="{FF2B5EF4-FFF2-40B4-BE49-F238E27FC236}">
                  <a16:creationId xmlns:a16="http://schemas.microsoft.com/office/drawing/2014/main" id="{DCC14CBC-5FC3-496F-8557-C65E32AC84B2}"/>
                </a:ext>
              </a:extLst>
            </p:cNvPr>
            <p:cNvSpPr/>
            <p:nvPr/>
          </p:nvSpPr>
          <p:spPr>
            <a:xfrm>
              <a:off x="2697475" y="5577840"/>
              <a:ext cx="1965965" cy="508000"/>
            </a:xfrm>
            <a:prstGeom prst="homePlat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OpenCV</a:t>
              </a:r>
            </a:p>
          </p:txBody>
        </p:sp>
        <p:sp>
          <p:nvSpPr>
            <p:cNvPr id="29" name="Arrow: Pentagon 28">
              <a:extLst>
                <a:ext uri="{FF2B5EF4-FFF2-40B4-BE49-F238E27FC236}">
                  <a16:creationId xmlns:a16="http://schemas.microsoft.com/office/drawing/2014/main" id="{7A591D34-CE06-406D-92AD-536656E9CD55}"/>
                </a:ext>
              </a:extLst>
            </p:cNvPr>
            <p:cNvSpPr/>
            <p:nvPr/>
          </p:nvSpPr>
          <p:spPr>
            <a:xfrm>
              <a:off x="4912355" y="5577840"/>
              <a:ext cx="1965965" cy="508000"/>
            </a:xfrm>
            <a:prstGeom prst="homePlat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Open-Source </a:t>
              </a:r>
            </a:p>
          </p:txBody>
        </p:sp>
        <p:sp>
          <p:nvSpPr>
            <p:cNvPr id="30" name="Arrow: Pentagon 29">
              <a:extLst>
                <a:ext uri="{FF2B5EF4-FFF2-40B4-BE49-F238E27FC236}">
                  <a16:creationId xmlns:a16="http://schemas.microsoft.com/office/drawing/2014/main" id="{307CE49D-9645-46B5-B74A-DB9625D0C513}"/>
                </a:ext>
              </a:extLst>
            </p:cNvPr>
            <p:cNvSpPr/>
            <p:nvPr/>
          </p:nvSpPr>
          <p:spPr>
            <a:xfrm>
              <a:off x="7127235" y="5577840"/>
              <a:ext cx="1965965" cy="508000"/>
            </a:xfrm>
            <a:prstGeom prst="homePlat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Widely Used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1261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83240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cs typeface="+mn-cs"/>
              </a:rPr>
              <a:t>Core Features of OpenCV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30200" y="1582420"/>
            <a:ext cx="73355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Image Processing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Resize, filter, blur, rotate, transform, and enhance images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15108C7-23E6-4D9C-A01D-208E337B60D7}"/>
              </a:ext>
            </a:extLst>
          </p:cNvPr>
          <p:cNvSpPr txBox="1"/>
          <p:nvPr/>
        </p:nvSpPr>
        <p:spPr>
          <a:xfrm>
            <a:off x="330200" y="2674047"/>
            <a:ext cx="73355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Video Analysis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Read, write, and process videos frame-by-frame in real-time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8840F7-55E5-45CF-9329-07CBD15D5D5A}"/>
              </a:ext>
            </a:extLst>
          </p:cNvPr>
          <p:cNvSpPr txBox="1"/>
          <p:nvPr/>
        </p:nvSpPr>
        <p:spPr>
          <a:xfrm>
            <a:off x="330200" y="3765674"/>
            <a:ext cx="73355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Object Detection &amp; Recognition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Face detection, motion tracking, and feature matching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8DBDF1-4933-4FF9-B277-6392A369B9DE}"/>
              </a:ext>
            </a:extLst>
          </p:cNvPr>
          <p:cNvSpPr txBox="1"/>
          <p:nvPr/>
        </p:nvSpPr>
        <p:spPr>
          <a:xfrm>
            <a:off x="330200" y="4857301"/>
            <a:ext cx="73355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Camera Integration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Access and process webcam/video stream feeds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6D46A2-3A9F-4813-B919-C9A37476CD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1209546"/>
            <a:ext cx="2790825" cy="16383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D75BF8-68DB-46A8-9987-A23276920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2847846"/>
            <a:ext cx="3724275" cy="2008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8199CAF-6C34-454C-BCE1-B390E79B4E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068" y="5091228"/>
            <a:ext cx="2529898" cy="16835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5C92E51-4309-4C06-815B-F662244551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020" y="5075429"/>
            <a:ext cx="2667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282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83240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cs typeface="+mn-cs"/>
              </a:rPr>
              <a:t>Conti…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56592" y="3012440"/>
            <a:ext cx="769868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Deep Learning Support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Run pre-trained models (TensorFlow, Caffe, PyTorch, ONNX)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15108C7-23E6-4D9C-A01D-208E337B60D7}"/>
              </a:ext>
            </a:extLst>
          </p:cNvPr>
          <p:cNvSpPr txBox="1"/>
          <p:nvPr/>
        </p:nvSpPr>
        <p:spPr>
          <a:xfrm>
            <a:off x="256593" y="4487699"/>
            <a:ext cx="73355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Platform Independence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Works on Windows, macOS, Linux, Android, and iOS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8CB19E-10DD-4439-A42D-3CDF1BDD29BB}"/>
              </a:ext>
            </a:extLst>
          </p:cNvPr>
          <p:cNvSpPr txBox="1"/>
          <p:nvPr/>
        </p:nvSpPr>
        <p:spPr>
          <a:xfrm>
            <a:off x="330200" y="1529328"/>
            <a:ext cx="73355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Machine Learning Module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Includes built-in classifiers (SVM, KNN, Decision Trees)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839A71-0990-4B8A-8719-72CD0AAF0C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591" y="3012440"/>
            <a:ext cx="3089816" cy="20585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1B06D3-0CE1-433A-A0D7-43BC21B986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2664" y="4567364"/>
            <a:ext cx="1875543" cy="19873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4CDBB0E-9399-49A7-893F-A0DD246C1E0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68"/>
          <a:stretch/>
        </p:blipFill>
        <p:spPr>
          <a:xfrm>
            <a:off x="7922748" y="1296942"/>
            <a:ext cx="3089816" cy="139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872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83240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cs typeface="+mn-cs"/>
              </a:rPr>
              <a:t>Applications of OpenCV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30200" y="1582420"/>
            <a:ext cx="73355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Face &amp; Object Detection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Used in surveillance, biometrics, and camera apps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15108C7-23E6-4D9C-A01D-208E337B60D7}"/>
              </a:ext>
            </a:extLst>
          </p:cNvPr>
          <p:cNvSpPr txBox="1"/>
          <p:nvPr/>
        </p:nvSpPr>
        <p:spPr>
          <a:xfrm>
            <a:off x="330200" y="2674047"/>
            <a:ext cx="73355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Autonomous Vehicles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 Lane detection, object recognition, and navigation systems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8840F7-55E5-45CF-9329-07CBD15D5D5A}"/>
              </a:ext>
            </a:extLst>
          </p:cNvPr>
          <p:cNvSpPr txBox="1"/>
          <p:nvPr/>
        </p:nvSpPr>
        <p:spPr>
          <a:xfrm>
            <a:off x="330200" y="3765674"/>
            <a:ext cx="73355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Robotics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Vision-based navigation, gesture control, and automation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8DBDF1-4933-4FF9-B277-6392A369B9DE}"/>
              </a:ext>
            </a:extLst>
          </p:cNvPr>
          <p:cNvSpPr txBox="1"/>
          <p:nvPr/>
        </p:nvSpPr>
        <p:spPr>
          <a:xfrm>
            <a:off x="330200" y="4857301"/>
            <a:ext cx="73355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Augmented Reality (AR)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 Real-time marker tracking and image overlay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9180DB-F64E-41E2-9C86-7949E98419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6478" y="999470"/>
            <a:ext cx="3898482" cy="21831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4B6FCC-3FE0-45E2-BFF7-247CB1E141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4488" y="3162739"/>
            <a:ext cx="1857375" cy="24669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ECD35D-D3F9-4F50-ACA5-766B55E11FE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05"/>
          <a:stretch/>
        </p:blipFill>
        <p:spPr>
          <a:xfrm>
            <a:off x="6827520" y="4722084"/>
            <a:ext cx="5443288" cy="18717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4686E7-62E8-4520-B7B0-165644771F1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689"/>
          <a:stretch/>
        </p:blipFill>
        <p:spPr>
          <a:xfrm>
            <a:off x="9218680" y="3321278"/>
            <a:ext cx="3052128" cy="12416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81554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83240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cs typeface="+mn-cs"/>
              </a:rPr>
              <a:t>Conti…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56593" y="3012440"/>
            <a:ext cx="73355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Industrial Automation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Quality inspection, motion analysis, barcode scanning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15108C7-23E6-4D9C-A01D-208E337B60D7}"/>
              </a:ext>
            </a:extLst>
          </p:cNvPr>
          <p:cNvSpPr txBox="1"/>
          <p:nvPr/>
        </p:nvSpPr>
        <p:spPr>
          <a:xfrm>
            <a:off x="256593" y="4487699"/>
            <a:ext cx="73355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Gaming &amp; Gesture Recognition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Interactive gaming using motion or facial input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8CB19E-10DD-4439-A42D-3CDF1BDD29BB}"/>
              </a:ext>
            </a:extLst>
          </p:cNvPr>
          <p:cNvSpPr txBox="1"/>
          <p:nvPr/>
        </p:nvSpPr>
        <p:spPr>
          <a:xfrm>
            <a:off x="330200" y="1529328"/>
            <a:ext cx="73355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Healthcare &amp; Medical Imaging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Image enhancement, tumor detection, diagnostic tools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A0F393-6D96-4483-98F9-3A753392FB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7919" y="1062852"/>
            <a:ext cx="2189701" cy="24802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3347B1-F86B-4B98-8D2F-DF86559C9B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320" y="1382295"/>
            <a:ext cx="2900045" cy="19474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BE3518-7EB8-4AA9-A5C4-FFAF3CC914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0242" y="3429000"/>
            <a:ext cx="2962275" cy="15430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D9E0DE-1337-484D-9DDD-22FEE09B85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7917" y="4910525"/>
            <a:ext cx="4047490" cy="194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809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83240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cs typeface="+mn-cs"/>
              </a:rPr>
              <a:t>Installing OpenCV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20040" y="1582420"/>
            <a:ext cx="801116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Method 1: Using pip (Recommended for most users)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Bash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!pip install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opencv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-python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48840F7-55E5-45CF-9329-07CBD15D5D5A}"/>
              </a:ext>
            </a:extLst>
          </p:cNvPr>
          <p:cNvSpPr txBox="1"/>
          <p:nvPr/>
        </p:nvSpPr>
        <p:spPr>
          <a:xfrm>
            <a:off x="320040" y="4156958"/>
            <a:ext cx="733552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Method 2: Using Anaconda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Bash</a:t>
            </a:r>
          </a:p>
          <a:p>
            <a:pPr algn="just"/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conda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install -c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conda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-forge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opencv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745D34-2957-451E-A059-E6ED987564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5927" y="4385999"/>
            <a:ext cx="4227513" cy="23454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15396B-938D-4790-B75F-F8306E71A8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014" y="2589309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296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5560" y="1358900"/>
            <a:ext cx="29616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AutoNum type="arabicPeriod"/>
            </a:pPr>
            <a:r>
              <a:rPr lang="en-US" sz="2400" b="1" dirty="0">
                <a:solidFill>
                  <a:srgbClr val="7030A0"/>
                </a:solidFill>
              </a:rPr>
              <a:t>Import OpenCV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import cv2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48840F7-55E5-45CF-9329-07CBD15D5D5A}"/>
              </a:ext>
            </a:extLst>
          </p:cNvPr>
          <p:cNvSpPr txBox="1"/>
          <p:nvPr/>
        </p:nvSpPr>
        <p:spPr>
          <a:xfrm>
            <a:off x="35560" y="2447301"/>
            <a:ext cx="63550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7030A0"/>
                </a:solidFill>
              </a:rPr>
              <a:t>2. Read an Image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= cv2.imread("image.jpg")  # Reads image in BGR format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832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Reading and Displaying Images with OpenCV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471327-F356-4F06-8005-24C848BB02B7}"/>
              </a:ext>
            </a:extLst>
          </p:cNvPr>
          <p:cNvSpPr txBox="1"/>
          <p:nvPr/>
        </p:nvSpPr>
        <p:spPr>
          <a:xfrm>
            <a:off x="35560" y="3556968"/>
            <a:ext cx="32766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7030A0"/>
                </a:solidFill>
              </a:rPr>
              <a:t>3. Display the Image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cv2.imshow("My Image",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cv2.waitKey(0)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cv2.destroyAllWindows()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BF708D-C4D4-46F5-BFF1-538606F255B2}"/>
              </a:ext>
            </a:extLst>
          </p:cNvPr>
          <p:cNvSpPr txBox="1"/>
          <p:nvPr/>
        </p:nvSpPr>
        <p:spPr>
          <a:xfrm>
            <a:off x="-2" y="5249485"/>
            <a:ext cx="857504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Notes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cv2.imread() can return None if the file path is incorrect  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cv2.waitKey(0) waits for a key press  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Always use cv2.destroyAllWindows() to close display windows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DEF8FA-F487-4482-AB9F-FF89CC731A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4379" y="1450469"/>
            <a:ext cx="4160581" cy="46806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81817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5560" y="1358900"/>
            <a:ext cx="565404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Saving Images to Disk</a:t>
            </a:r>
          </a:p>
          <a:p>
            <a:pPr algn="just"/>
            <a:endParaRPr lang="en-US" sz="2400" b="1" dirty="0">
              <a:solidFill>
                <a:schemeClr val="bg1"/>
              </a:solidFill>
            </a:endParaRPr>
          </a:p>
          <a:p>
            <a:pPr algn="just"/>
            <a:r>
              <a:rPr lang="en-US" sz="2400" b="1" dirty="0">
                <a:solidFill>
                  <a:schemeClr val="bg1"/>
                </a:solidFill>
              </a:rPr>
              <a:t>1. Import and Read Image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import cv2img = cv2.imread("input.jpg")</a:t>
            </a:r>
          </a:p>
          <a:p>
            <a:pPr algn="just"/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400" b="1" dirty="0">
                <a:solidFill>
                  <a:schemeClr val="bg1"/>
                </a:solidFill>
              </a:rPr>
              <a:t>2. Save Image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cv2.imwrite("output.jpg",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832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Writing and Saving Images in OpenCV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1BB0A-537E-431D-A198-D900EF5985B7}"/>
              </a:ext>
            </a:extLst>
          </p:cNvPr>
          <p:cNvSpPr txBox="1"/>
          <p:nvPr/>
        </p:nvSpPr>
        <p:spPr>
          <a:xfrm>
            <a:off x="-1" y="5229165"/>
            <a:ext cx="738632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Notes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Format depends on file extension: .jpg, .</a:t>
            </a:r>
            <a:r>
              <a:rPr lang="en-US" sz="2400" dirty="0" err="1">
                <a:solidFill>
                  <a:schemeClr val="bg1"/>
                </a:solidFill>
              </a:rPr>
              <a:t>png</a:t>
            </a:r>
            <a:r>
              <a:rPr lang="en-US" sz="2400" dirty="0">
                <a:solidFill>
                  <a:schemeClr val="bg1"/>
                </a:solidFill>
              </a:rPr>
              <a:t>, .bmp, etc.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Ensure destination folder exists or use full path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Returns True if saved successfully, otherwise False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668F3E-C390-477E-86E7-EC8C420733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280" y="4689723"/>
            <a:ext cx="3876586" cy="19463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327E3F-AD2F-4670-8107-211E3665DE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975" y="2012693"/>
            <a:ext cx="3876585" cy="21702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B32C4E7-EAD2-4F54-A54D-29A6F0848A2B}"/>
              </a:ext>
            </a:extLst>
          </p:cNvPr>
          <p:cNvSpPr txBox="1"/>
          <p:nvPr/>
        </p:nvSpPr>
        <p:spPr>
          <a:xfrm>
            <a:off x="9435826" y="1418770"/>
            <a:ext cx="1198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bg2">
                    <a:lumMod val="40000"/>
                    <a:lumOff val="60000"/>
                  </a:schemeClr>
                </a:solidFill>
                <a:highlight>
                  <a:srgbClr val="008080"/>
                </a:highlight>
              </a:rPr>
              <a:t>Before</a:t>
            </a:r>
            <a:endParaRPr lang="en-US" sz="2400" dirty="0">
              <a:solidFill>
                <a:schemeClr val="bg2">
                  <a:lumMod val="40000"/>
                  <a:lumOff val="60000"/>
                </a:schemeClr>
              </a:solidFill>
              <a:highlight>
                <a:srgbClr val="00808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746B67-F666-4172-9C8D-14F13069F729}"/>
              </a:ext>
            </a:extLst>
          </p:cNvPr>
          <p:cNvSpPr txBox="1"/>
          <p:nvPr/>
        </p:nvSpPr>
        <p:spPr>
          <a:xfrm>
            <a:off x="9537425" y="4166503"/>
            <a:ext cx="1198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bg2">
                    <a:lumMod val="40000"/>
                    <a:lumOff val="60000"/>
                  </a:schemeClr>
                </a:solidFill>
                <a:highlight>
                  <a:srgbClr val="008080"/>
                </a:highlight>
              </a:rPr>
              <a:t>After</a:t>
            </a:r>
            <a:endParaRPr lang="en-US" sz="2400" dirty="0">
              <a:solidFill>
                <a:schemeClr val="bg2">
                  <a:lumMod val="40000"/>
                  <a:lumOff val="60000"/>
                </a:schemeClr>
              </a:solidFill>
              <a:highlight>
                <a:srgbClr val="008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88936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5707" y="1176020"/>
            <a:ext cx="498348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7030A0"/>
                </a:solidFill>
              </a:rPr>
              <a:t>1. Open Video Source</a:t>
            </a:r>
            <a:endParaRPr lang="en-US" sz="2000" b="1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import cv2cap = cv2.VideoCapture(0)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# 0 for webcam, or path to video file</a:t>
            </a:r>
          </a:p>
          <a:p>
            <a:pPr algn="just"/>
            <a:endParaRPr lang="en-US" dirty="0"/>
          </a:p>
          <a:p>
            <a:pPr algn="just"/>
            <a:r>
              <a:rPr lang="en-US" sz="2400" b="1" dirty="0">
                <a:solidFill>
                  <a:srgbClr val="7030A0"/>
                </a:solidFill>
              </a:rPr>
              <a:t>2. Read &amp; Display Frames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while True: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   ret, frame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cap.read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   if not ret: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       break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   cv2.imshow("Video", frame)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   if cv2.waitKey(1) &amp; 0xFF ==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ord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('q’):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       break</a:t>
            </a:r>
          </a:p>
          <a:p>
            <a:pPr algn="just"/>
            <a:endParaRPr lang="en-US" dirty="0"/>
          </a:p>
          <a:p>
            <a:pPr algn="just"/>
            <a:r>
              <a:rPr lang="en-US" sz="2400" b="1" dirty="0">
                <a:solidFill>
                  <a:srgbClr val="7030A0"/>
                </a:solidFill>
              </a:rPr>
              <a:t>3. Release Resources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pythoncap.release</a:t>
            </a:r>
            <a:r>
              <a:rPr lang="en-US" sz="2000" dirty="0">
                <a:solidFill>
                  <a:schemeClr val="bg1"/>
                </a:solidFill>
              </a:rPr>
              <a:t>()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cv2.destroyAllWindows()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832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Working with Video in OpenCV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1BB0A-537E-431D-A198-D900EF5985B7}"/>
              </a:ext>
            </a:extLst>
          </p:cNvPr>
          <p:cNvSpPr txBox="1"/>
          <p:nvPr/>
        </p:nvSpPr>
        <p:spPr>
          <a:xfrm>
            <a:off x="6497011" y="5389765"/>
            <a:ext cx="56692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7030A0"/>
                </a:solidFill>
              </a:rPr>
              <a:t>Notes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Use 0 for default webcam, 1 or file path for others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cv2.waitKey(1) controls frame speed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Press ‘q’ to exit video window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8300F0-7454-4A04-8A95-54A0A847347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505"/>
          <a:stretch/>
        </p:blipFill>
        <p:spPr>
          <a:xfrm>
            <a:off x="5538455" y="1551996"/>
            <a:ext cx="4807024" cy="356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278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5706" y="1176020"/>
            <a:ext cx="5917893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400" b="1" dirty="0">
                <a:solidFill>
                  <a:srgbClr val="7030A0"/>
                </a:solidFill>
              </a:rPr>
              <a:t>Line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cv2.line(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, (50, 50), (200, 50), (255, 0, 0), 3)</a:t>
            </a:r>
            <a:endParaRPr lang="en-US" dirty="0">
              <a:highlight>
                <a:srgbClr val="C0C0C0"/>
              </a:highlight>
            </a:endParaRPr>
          </a:p>
          <a:p>
            <a:pPr algn="just"/>
            <a:endParaRPr lang="en-US" sz="2400" b="1" dirty="0">
              <a:solidFill>
                <a:srgbClr val="7030A0"/>
              </a:solidFill>
            </a:endParaRPr>
          </a:p>
          <a:p>
            <a:pPr algn="just"/>
            <a:r>
              <a:rPr lang="en-US" sz="2400" b="1" dirty="0">
                <a:solidFill>
                  <a:srgbClr val="7030A0"/>
                </a:solidFill>
              </a:rPr>
              <a:t>2. Rectangle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cv2.rectangle(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, (60, 60), (200, 150), (0, 255, 0), 2)</a:t>
            </a:r>
          </a:p>
          <a:p>
            <a:pPr algn="just"/>
            <a:endParaRPr lang="en-US" sz="2400" b="1" dirty="0">
              <a:solidFill>
                <a:srgbClr val="7030A0"/>
              </a:solidFill>
            </a:endParaRPr>
          </a:p>
          <a:p>
            <a:pPr algn="just"/>
            <a:r>
              <a:rPr lang="en-US" sz="2400" b="1" dirty="0">
                <a:solidFill>
                  <a:srgbClr val="7030A0"/>
                </a:solidFill>
              </a:rPr>
              <a:t>3. Circle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cv2.circle(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, (150, 150), 40, (0, 0, 255), -1)  # -1 = filled</a:t>
            </a:r>
          </a:p>
          <a:p>
            <a:pPr algn="just"/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algn="just"/>
            <a:r>
              <a:rPr lang="en-US" sz="2400" b="1" dirty="0">
                <a:solidFill>
                  <a:srgbClr val="7030A0"/>
                </a:solidFill>
              </a:rPr>
              <a:t>4. Put Text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cv2.putText(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, "OpenCV", (50, 250), cv2.FONT_HERSHEY_SIMPLEX, 1, (255, 255, 255), 2)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832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Drawing Shapes and Text on Images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1BB0A-537E-431D-A198-D900EF5985B7}"/>
              </a:ext>
            </a:extLst>
          </p:cNvPr>
          <p:cNvSpPr txBox="1"/>
          <p:nvPr/>
        </p:nvSpPr>
        <p:spPr>
          <a:xfrm>
            <a:off x="8025783" y="5389765"/>
            <a:ext cx="41405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7030A0"/>
                </a:solidFill>
              </a:rPr>
              <a:t>Notes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Coordinates are in (x, y) format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Color is in BGR (Blue, Green, Red)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Thickness: use -1 for filled shapes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C533EF-EDE7-4E2D-B965-96B7D691F62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54"/>
          <a:stretch/>
        </p:blipFill>
        <p:spPr>
          <a:xfrm>
            <a:off x="5907774" y="1176020"/>
            <a:ext cx="3147171" cy="20318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EF50D9-6FC5-47BB-ADE1-6F05621651A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65"/>
          <a:stretch/>
        </p:blipFill>
        <p:spPr>
          <a:xfrm>
            <a:off x="9054945" y="1179320"/>
            <a:ext cx="2959252" cy="224734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77967CF-139F-4E5B-8898-BD799E80EDA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54"/>
          <a:stretch/>
        </p:blipFill>
        <p:spPr>
          <a:xfrm>
            <a:off x="6128176" y="3207862"/>
            <a:ext cx="2387377" cy="21395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9E2E8D0-459C-4E54-848E-91A6CE427D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7093" y="3426661"/>
            <a:ext cx="1963067" cy="21738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62420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5706" y="1115060"/>
            <a:ext cx="591789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400" b="1" dirty="0">
                <a:solidFill>
                  <a:srgbClr val="7030A0"/>
                </a:solidFill>
              </a:rPr>
              <a:t>Resizing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resized = cv2.resize(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, (300, 200))  # Width x Height</a:t>
            </a:r>
            <a:endParaRPr lang="en-US" sz="2400" b="1" dirty="0">
              <a:solidFill>
                <a:srgbClr val="7030A0"/>
              </a:solidFill>
              <a:highlight>
                <a:srgbClr val="C0C0C0"/>
              </a:highlight>
            </a:endParaRPr>
          </a:p>
          <a:p>
            <a:pPr algn="just"/>
            <a:endParaRPr lang="en-US" dirty="0"/>
          </a:p>
          <a:p>
            <a:pPr algn="just"/>
            <a:r>
              <a:rPr lang="en-US" sz="2400" b="1" dirty="0">
                <a:solidFill>
                  <a:srgbClr val="7030A0"/>
                </a:solidFill>
              </a:rPr>
              <a:t>Maintain aspect ratio using scaling: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resized = cv2.resize(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, None,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fx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=0.5,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fy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=0.5)</a:t>
            </a:r>
          </a:p>
          <a:p>
            <a:pPr algn="just"/>
            <a:endParaRPr lang="en-US" dirty="0"/>
          </a:p>
          <a:p>
            <a:pPr algn="just"/>
            <a:r>
              <a:rPr lang="en-US" sz="2400" b="1" dirty="0">
                <a:solidFill>
                  <a:srgbClr val="7030A0"/>
                </a:solidFill>
              </a:rPr>
              <a:t>2. Cropping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cropped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[50:200, 100:300]  #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[y1:y2, x1:x2]</a:t>
            </a:r>
          </a:p>
          <a:p>
            <a:pPr algn="just"/>
            <a:endParaRPr lang="en-US" dirty="0"/>
          </a:p>
          <a:p>
            <a:pPr algn="just"/>
            <a:r>
              <a:rPr lang="en-US" sz="2400" b="1" dirty="0">
                <a:solidFill>
                  <a:srgbClr val="7030A0"/>
                </a:solidFill>
              </a:rPr>
              <a:t>3. Rotation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(h, w)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img.shape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[:2]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center = (w // 2, h // 2)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M = cv2.getRotationMatrix2D(center, 45, 1.0) 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# 45°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rotationrotated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= cv2.warpAffine(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, M, (w, h))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832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Image Resizing, Cropping, and Rotation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1BB0A-537E-431D-A198-D900EF5985B7}"/>
              </a:ext>
            </a:extLst>
          </p:cNvPr>
          <p:cNvSpPr txBox="1"/>
          <p:nvPr/>
        </p:nvSpPr>
        <p:spPr>
          <a:xfrm>
            <a:off x="5943599" y="5389765"/>
            <a:ext cx="65023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7030A0"/>
                </a:solidFill>
              </a:rPr>
              <a:t>Notes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Resizing can distort images if aspect ratio not maintained 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Cropping is simply slicing the NumPy array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Rotation uses affine transform centered on the image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9A1E5D-3581-4990-8695-0E374AEC02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0219" y="1275238"/>
            <a:ext cx="4208342" cy="14643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CD0881-0649-4C2F-8C8F-AAB9B89A3A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477" y="2537876"/>
            <a:ext cx="3888837" cy="15993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DE1FE8-1187-4E6B-A59E-192FA9ADB3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3" y="3950628"/>
            <a:ext cx="4547863" cy="14856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46169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5707" y="1115060"/>
            <a:ext cx="569437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7030A0"/>
                </a:solidFill>
              </a:rPr>
              <a:t>What is a Color Space?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A way to represent colors. Different color spaces are used for different computer vision tasks.</a:t>
            </a:r>
          </a:p>
          <a:p>
            <a:pPr algn="just"/>
            <a:endParaRPr lang="en-US" dirty="0"/>
          </a:p>
          <a:p>
            <a:pPr algn="just"/>
            <a:r>
              <a:rPr lang="en-US" sz="2400" b="1" dirty="0">
                <a:solidFill>
                  <a:srgbClr val="7030A0"/>
                </a:solidFill>
              </a:rPr>
              <a:t>Common Color Conversions:</a:t>
            </a:r>
          </a:p>
          <a:p>
            <a:pPr algn="just"/>
            <a:endParaRPr lang="en-US" dirty="0"/>
          </a:p>
          <a:p>
            <a:pPr marL="457200" indent="-457200" algn="just">
              <a:buAutoNum type="arabicPeriod"/>
            </a:pPr>
            <a:r>
              <a:rPr lang="en-US" sz="2000" b="1" dirty="0">
                <a:solidFill>
                  <a:schemeClr val="bg1"/>
                </a:solidFill>
              </a:rPr>
              <a:t>BGR to Grayscale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gray = cv2.cvtColor(</a:t>
            </a:r>
            <a:r>
              <a:rPr lang="en-US" sz="2000" dirty="0" err="1">
                <a:solidFill>
                  <a:schemeClr val="bg1"/>
                </a:solidFill>
              </a:rPr>
              <a:t>img</a:t>
            </a:r>
            <a:r>
              <a:rPr lang="en-US" sz="2000" dirty="0">
                <a:solidFill>
                  <a:schemeClr val="bg1"/>
                </a:solidFill>
              </a:rPr>
              <a:t>, cv2.COLOR_BGR2GRAY)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2. BGR to RGB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rgb</a:t>
            </a:r>
            <a:r>
              <a:rPr lang="en-US" sz="2000" dirty="0">
                <a:solidFill>
                  <a:schemeClr val="bg1"/>
                </a:solidFill>
              </a:rPr>
              <a:t> = cv2.cvtColor(</a:t>
            </a:r>
            <a:r>
              <a:rPr lang="en-US" sz="2000" dirty="0" err="1">
                <a:solidFill>
                  <a:schemeClr val="bg1"/>
                </a:solidFill>
              </a:rPr>
              <a:t>img</a:t>
            </a:r>
            <a:r>
              <a:rPr lang="en-US" sz="2000" dirty="0">
                <a:solidFill>
                  <a:schemeClr val="bg1"/>
                </a:solidFill>
              </a:rPr>
              <a:t>, cv2.COLOR_BGR2RGB)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3. BGR to HSV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hsv</a:t>
            </a:r>
            <a:r>
              <a:rPr lang="en-US" sz="2000" dirty="0">
                <a:solidFill>
                  <a:schemeClr val="bg1"/>
                </a:solidFill>
              </a:rPr>
              <a:t> = cv2.cvtColor(</a:t>
            </a:r>
            <a:r>
              <a:rPr lang="en-US" sz="2000" dirty="0" err="1">
                <a:solidFill>
                  <a:schemeClr val="bg1"/>
                </a:solidFill>
              </a:rPr>
              <a:t>img</a:t>
            </a:r>
            <a:r>
              <a:rPr lang="en-US" sz="2000" dirty="0">
                <a:solidFill>
                  <a:schemeClr val="bg1"/>
                </a:solidFill>
              </a:rPr>
              <a:t>, cv2.COLOR_BGR2HSV)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4. BGR to LAB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lab = cv2.cvtColor(</a:t>
            </a:r>
            <a:r>
              <a:rPr lang="en-US" dirty="0" err="1">
                <a:solidFill>
                  <a:schemeClr val="bg1"/>
                </a:solidFill>
              </a:rPr>
              <a:t>img</a:t>
            </a:r>
            <a:r>
              <a:rPr lang="en-US" dirty="0">
                <a:solidFill>
                  <a:schemeClr val="bg1"/>
                </a:solidFill>
              </a:rPr>
              <a:t>, cv2.COLOR_BGR2LAB)</a:t>
            </a:r>
            <a:endParaRPr lang="en-US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6916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Color Spaces and Conversions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1BB0A-537E-431D-A198-D900EF5985B7}"/>
              </a:ext>
            </a:extLst>
          </p:cNvPr>
          <p:cNvSpPr txBox="1"/>
          <p:nvPr/>
        </p:nvSpPr>
        <p:spPr>
          <a:xfrm>
            <a:off x="6004559" y="4777601"/>
            <a:ext cx="476504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7030A0"/>
                </a:solidFill>
              </a:rPr>
              <a:t>Use Cases</a:t>
            </a:r>
          </a:p>
          <a:p>
            <a:pPr marL="342900" indent="-342900" algn="just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Grayscale: </a:t>
            </a:r>
            <a:r>
              <a:rPr lang="en-US" sz="2000" dirty="0">
                <a:solidFill>
                  <a:schemeClr val="bg1"/>
                </a:solidFill>
              </a:rPr>
              <a:t>Simplifies processing</a:t>
            </a:r>
          </a:p>
          <a:p>
            <a:pPr marL="342900" indent="-342900" algn="just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HSV: </a:t>
            </a:r>
            <a:r>
              <a:rPr lang="en-US" sz="2000" dirty="0">
                <a:solidFill>
                  <a:schemeClr val="bg1"/>
                </a:solidFill>
              </a:rPr>
              <a:t>Better for color filtering</a:t>
            </a:r>
          </a:p>
          <a:p>
            <a:pPr marL="342900" indent="-342900" algn="just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RGB: </a:t>
            </a:r>
            <a:r>
              <a:rPr lang="en-US" sz="2000" dirty="0">
                <a:solidFill>
                  <a:schemeClr val="bg1"/>
                </a:solidFill>
              </a:rPr>
              <a:t>For displaying with matplotlib</a:t>
            </a:r>
          </a:p>
          <a:p>
            <a:pPr marL="342900" indent="-342900" algn="just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LAB: </a:t>
            </a:r>
            <a:r>
              <a:rPr lang="en-US" sz="2000" dirty="0">
                <a:solidFill>
                  <a:schemeClr val="bg1"/>
                </a:solidFill>
              </a:rPr>
              <a:t>For lighting-independent processing 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222674-685D-4CBE-973A-2ADC944F3D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567" y="1069741"/>
            <a:ext cx="5197239" cy="14776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2FC347-3CC4-4B5C-A57D-8822252CE9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3040" y="2922928"/>
            <a:ext cx="5001059" cy="14776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38206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A6162A-42F4-4683-A3D4-30F248504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413" y="2853862"/>
            <a:ext cx="7845834" cy="19923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5706" y="1023620"/>
            <a:ext cx="791941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7030A0"/>
                </a:solidFill>
              </a:rPr>
              <a:t>What is Thresholding?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A method to segment an image by converting it to binary form (black &amp; white) based on pixel intensity.</a:t>
            </a:r>
          </a:p>
          <a:p>
            <a:pPr algn="just"/>
            <a:endParaRPr lang="en-US" dirty="0"/>
          </a:p>
          <a:p>
            <a:pPr marL="457200" indent="-457200" algn="just">
              <a:buAutoNum type="arabicPeriod"/>
            </a:pPr>
            <a:r>
              <a:rPr lang="en-US" sz="2000" b="1" dirty="0">
                <a:solidFill>
                  <a:schemeClr val="bg1"/>
                </a:solidFill>
              </a:rPr>
              <a:t>Simple Thresholding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_, thresh = cv2.threshold(gray, 127, 255, cv2.THRESH_BINARY)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Other Modes: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-cv2.THRESH_BINARY_INV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cv2.THRESH_TRUNC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cv2.THRESH_TOZERO</a:t>
            </a:r>
          </a:p>
          <a:p>
            <a:pPr marL="457200" indent="-457200" algn="just">
              <a:buFont typeface="+mj-lt"/>
              <a:buAutoNum type="arabicPeriod"/>
            </a:pPr>
            <a:endParaRPr lang="en-US" dirty="0"/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2. Adaptive Thresholding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adaptive = cv2.adaptiveThreshold(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   gray, 255,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   cv2.ADAPTIVE_THRESH_MEAN_C,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   cv2.THRESH_BINARY,     11, 2)</a:t>
            </a:r>
          </a:p>
          <a:p>
            <a:pPr algn="just"/>
            <a:endParaRPr lang="en-US" dirty="0"/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 3. Otsu's </a:t>
            </a:r>
            <a:r>
              <a:rPr lang="en-US" sz="2000" b="1" dirty="0" err="1">
                <a:solidFill>
                  <a:schemeClr val="bg1"/>
                </a:solidFill>
              </a:rPr>
              <a:t>Binarizatio</a:t>
            </a:r>
            <a:endParaRPr lang="en-US" sz="2000" b="1" dirty="0">
              <a:solidFill>
                <a:schemeClr val="bg1"/>
              </a:solidFill>
            </a:endParaRPr>
          </a:p>
          <a:p>
            <a:pPr algn="just"/>
            <a:r>
              <a:rPr lang="en-US" dirty="0">
                <a:solidFill>
                  <a:schemeClr val="bg1"/>
                </a:solidFill>
              </a:rPr>
              <a:t>_, </a:t>
            </a:r>
            <a:r>
              <a:rPr lang="en-US" dirty="0" err="1">
                <a:solidFill>
                  <a:schemeClr val="bg1"/>
                </a:solidFill>
              </a:rPr>
              <a:t>otsu</a:t>
            </a:r>
            <a:r>
              <a:rPr lang="en-US" dirty="0">
                <a:solidFill>
                  <a:schemeClr val="bg1"/>
                </a:solidFill>
              </a:rPr>
              <a:t> = cv2.threshold(gray, 0, 255, cv2.THRESH_BINARY + cv2.THRESH_OTSU)</a:t>
            </a:r>
            <a:endParaRPr lang="en-US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488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Image Thresholding Techniques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1BB0A-537E-431D-A198-D900EF5985B7}"/>
              </a:ext>
            </a:extLst>
          </p:cNvPr>
          <p:cNvSpPr txBox="1"/>
          <p:nvPr/>
        </p:nvSpPr>
        <p:spPr>
          <a:xfrm>
            <a:off x="9367519" y="5389765"/>
            <a:ext cx="27127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7030A0"/>
                </a:solidFill>
              </a:rPr>
              <a:t>Use Cases</a:t>
            </a:r>
          </a:p>
          <a:p>
            <a:pPr marL="342900" indent="-342900" algn="just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Object detection</a:t>
            </a:r>
          </a:p>
          <a:p>
            <a:pPr marL="342900" indent="-342900" algn="just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Text extraction</a:t>
            </a:r>
          </a:p>
          <a:p>
            <a:pPr marL="342900" indent="-342900" algn="just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Background removal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6AA50F-EB48-48E2-A20B-C94A0E4EF4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163" y="4759975"/>
            <a:ext cx="3173526" cy="169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350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5706" y="1023620"/>
            <a:ext cx="791941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What is Edge Detection?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Edge detection highlights the boundaries and outlines within an image — essential for object detection, shape analysis, etc.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488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Edge Detection Techniques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1BB0A-537E-431D-A198-D900EF5985B7}"/>
              </a:ext>
            </a:extLst>
          </p:cNvPr>
          <p:cNvSpPr txBox="1"/>
          <p:nvPr/>
        </p:nvSpPr>
        <p:spPr>
          <a:xfrm>
            <a:off x="0" y="2464148"/>
            <a:ext cx="45869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Use Cases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Contour detection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Preprocessing for segmentation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Shape/feature recognition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54E3BE-9A74-41C7-8F95-27C1924214C5}"/>
              </a:ext>
            </a:extLst>
          </p:cNvPr>
          <p:cNvSpPr txBox="1"/>
          <p:nvPr/>
        </p:nvSpPr>
        <p:spPr>
          <a:xfrm>
            <a:off x="25706" y="4235603"/>
            <a:ext cx="7919414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 algn="just"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Canny Edge Detection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edges = cv2.Canny(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100, 200)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Low threshold: 100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High threshold: 200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Most widely used and accurate edge detection 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900B6B3-FCA0-411C-9128-000361EBAB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517" y="4235604"/>
            <a:ext cx="5292730" cy="23698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555D723-E1A4-43BC-95E6-2DFC567075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5876" y="1845202"/>
            <a:ext cx="4146698" cy="203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745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11760" y="4518660"/>
            <a:ext cx="791941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3. Laplacian Operator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400" dirty="0" err="1">
                <a:solidFill>
                  <a:schemeClr val="bg1"/>
                </a:solidFill>
              </a:rPr>
              <a:t>laplacian</a:t>
            </a:r>
            <a:r>
              <a:rPr lang="en-US" sz="2400" dirty="0">
                <a:solidFill>
                  <a:schemeClr val="bg1"/>
                </a:solidFill>
              </a:rPr>
              <a:t> = cv2.Laplacian(gray, cv2.CV_64F)</a:t>
            </a:r>
          </a:p>
          <a:p>
            <a:pPr algn="just"/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- Captures all-direction edges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488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Conti…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493F48-E6B6-406B-9CD8-DD4EBA37E74F}"/>
              </a:ext>
            </a:extLst>
          </p:cNvPr>
          <p:cNvSpPr txBox="1"/>
          <p:nvPr/>
        </p:nvSpPr>
        <p:spPr>
          <a:xfrm>
            <a:off x="218746" y="1490008"/>
            <a:ext cx="7919414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2. Sobel Operator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400" dirty="0" err="1">
                <a:solidFill>
                  <a:schemeClr val="bg1"/>
                </a:solidFill>
              </a:rPr>
              <a:t>sobelx</a:t>
            </a:r>
            <a:r>
              <a:rPr lang="en-US" sz="2400" dirty="0">
                <a:solidFill>
                  <a:schemeClr val="bg1"/>
                </a:solidFill>
              </a:rPr>
              <a:t> = cv2.Sobel(gray, cv2.CV_64F, 1, 0, </a:t>
            </a:r>
            <a:r>
              <a:rPr lang="en-US" sz="2400" dirty="0" err="1">
                <a:solidFill>
                  <a:schemeClr val="bg1"/>
                </a:solidFill>
              </a:rPr>
              <a:t>ksize</a:t>
            </a:r>
            <a:r>
              <a:rPr lang="en-US" sz="2400" dirty="0">
                <a:solidFill>
                  <a:schemeClr val="bg1"/>
                </a:solidFill>
              </a:rPr>
              <a:t>=5)</a:t>
            </a:r>
          </a:p>
          <a:p>
            <a:pPr algn="just"/>
            <a:r>
              <a:rPr lang="en-US" sz="2400" dirty="0" err="1">
                <a:solidFill>
                  <a:schemeClr val="bg1"/>
                </a:solidFill>
              </a:rPr>
              <a:t>sobely</a:t>
            </a:r>
            <a:r>
              <a:rPr lang="en-US" sz="2400" dirty="0">
                <a:solidFill>
                  <a:schemeClr val="bg1"/>
                </a:solidFill>
              </a:rPr>
              <a:t> = cv2.Sobel(gray, cv2.CV_64F, 0, 1, </a:t>
            </a:r>
            <a:r>
              <a:rPr lang="en-US" sz="2400" dirty="0" err="1">
                <a:solidFill>
                  <a:schemeClr val="bg1"/>
                </a:solidFill>
              </a:rPr>
              <a:t>ksize</a:t>
            </a:r>
            <a:r>
              <a:rPr lang="en-US" sz="2400" dirty="0">
                <a:solidFill>
                  <a:schemeClr val="bg1"/>
                </a:solidFill>
              </a:rPr>
              <a:t>=5)</a:t>
            </a:r>
          </a:p>
          <a:p>
            <a:pPr algn="just"/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Detects edges in horizontal and vertical directions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EC2D0A-AC92-4100-8252-461E721E5D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4153" y="4518660"/>
            <a:ext cx="4526009" cy="20265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968BE1-5A27-42B2-87E5-4E6748B78C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357" y="1637753"/>
            <a:ext cx="4632805" cy="20743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51952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5706" y="1023620"/>
            <a:ext cx="791941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What are Contours?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Contours are continuous curves joining all the points along a boundary with the same color or intensity — useful for shape analysis and object detection.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488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Contour Detection and Drawing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1BB0A-537E-431D-A198-D900EF5985B7}"/>
              </a:ext>
            </a:extLst>
          </p:cNvPr>
          <p:cNvSpPr txBox="1"/>
          <p:nvPr/>
        </p:nvSpPr>
        <p:spPr>
          <a:xfrm>
            <a:off x="0" y="2972148"/>
            <a:ext cx="45869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Use Cases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Object counting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Shape recognition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Measuring object area/perimeter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54E3BE-9A74-41C7-8F95-27C1924214C5}"/>
              </a:ext>
            </a:extLst>
          </p:cNvPr>
          <p:cNvSpPr txBox="1"/>
          <p:nvPr/>
        </p:nvSpPr>
        <p:spPr>
          <a:xfrm>
            <a:off x="25706" y="4794403"/>
            <a:ext cx="791941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Drawing Contours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fr-FR" sz="2400" dirty="0">
                <a:solidFill>
                  <a:schemeClr val="bg1"/>
                </a:solidFill>
                <a:highlight>
                  <a:srgbClr val="C0C0C0"/>
                </a:highlight>
              </a:rPr>
              <a:t>cv2.drawContours(</a:t>
            </a:r>
            <a:r>
              <a:rPr lang="fr-FR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fr-FR" sz="2400" dirty="0">
                <a:solidFill>
                  <a:schemeClr val="bg1"/>
                </a:solidFill>
                <a:highlight>
                  <a:srgbClr val="C0C0C0"/>
                </a:highlight>
              </a:rPr>
              <a:t>, contours, -1, (0, 255, 0), 2)</a:t>
            </a:r>
          </a:p>
          <a:p>
            <a:pPr algn="just"/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Draws all contours in green with line thickness of 2.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714900-5DAB-499B-9753-FAF158B275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800" y="2451912"/>
            <a:ext cx="4221537" cy="316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8708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5707" y="1797784"/>
            <a:ext cx="6141413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What are Morphological Operations?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Morphological transformations apply a structuring element to process images based on shapes. Common in noise removal and shape manipulation.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488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Morphological Transformations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1BB0A-537E-431D-A198-D900EF5985B7}"/>
              </a:ext>
            </a:extLst>
          </p:cNvPr>
          <p:cNvSpPr txBox="1"/>
          <p:nvPr/>
        </p:nvSpPr>
        <p:spPr>
          <a:xfrm>
            <a:off x="-1" y="4203164"/>
            <a:ext cx="45869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Applications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Noise cleaning 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Filling gaps  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Object separation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7BEC68-BC7C-4FFB-89FF-CBBB11B7D4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9545" y="3546382"/>
            <a:ext cx="9592455" cy="25779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0FAD25-D6EA-4C7A-B02F-3E7CCA6959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73" y="1293108"/>
            <a:ext cx="4298821" cy="213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721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5707" y="1797784"/>
            <a:ext cx="6141413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 algn="just">
              <a:buAutoNum type="arabicPeriod"/>
            </a:pPr>
            <a:r>
              <a:rPr lang="en-US" sz="2800" b="1" dirty="0">
                <a:solidFill>
                  <a:srgbClr val="7030A0"/>
                </a:solidFill>
              </a:rPr>
              <a:t>Erosion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erosion = cv2.erode(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kernel, iterations=1)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Removes boundaries of objects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Useful for removing small white noises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488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Morphological Transformations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1BB0A-537E-431D-A198-D900EF5985B7}"/>
              </a:ext>
            </a:extLst>
          </p:cNvPr>
          <p:cNvSpPr txBox="1"/>
          <p:nvPr/>
        </p:nvSpPr>
        <p:spPr>
          <a:xfrm>
            <a:off x="-2" y="4447004"/>
            <a:ext cx="5872481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2. Dilation</a:t>
            </a:r>
          </a:p>
          <a:p>
            <a:pPr algn="just"/>
            <a:r>
              <a:rPr lang="fr-FR" sz="24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fr-FR" sz="2400" dirty="0">
                <a:solidFill>
                  <a:schemeClr val="bg1"/>
                </a:solidFill>
                <a:highlight>
                  <a:srgbClr val="C0C0C0"/>
                </a:highlight>
              </a:rPr>
              <a:t>dilation = cv2.dilate(</a:t>
            </a:r>
            <a:r>
              <a:rPr lang="fr-FR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fr-FR" sz="2400" dirty="0">
                <a:solidFill>
                  <a:schemeClr val="bg1"/>
                </a:solidFill>
                <a:highlight>
                  <a:srgbClr val="C0C0C0"/>
                </a:highlight>
              </a:rPr>
              <a:t>, kernel, </a:t>
            </a:r>
            <a:r>
              <a:rPr lang="fr-FR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iterations</a:t>
            </a:r>
            <a:r>
              <a:rPr lang="fr-FR" sz="2400" dirty="0">
                <a:solidFill>
                  <a:schemeClr val="bg1"/>
                </a:solidFill>
                <a:highlight>
                  <a:srgbClr val="C0C0C0"/>
                </a:highlight>
              </a:rPr>
              <a:t>=1)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Adds pixels to object boundaries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Enhances object size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438450D-502B-4DE1-8912-4D50989516F2}"/>
              </a:ext>
            </a:extLst>
          </p:cNvPr>
          <p:cNvGrpSpPr/>
          <p:nvPr/>
        </p:nvGrpSpPr>
        <p:grpSpPr>
          <a:xfrm>
            <a:off x="7312602" y="4270002"/>
            <a:ext cx="3590814" cy="2577365"/>
            <a:chOff x="6201772" y="3732629"/>
            <a:chExt cx="4179702" cy="30124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4D7ADB3-1950-49C9-856F-6BC076EB3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90599" y="3732629"/>
              <a:ext cx="3190875" cy="142875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38E8A5A-2F00-4641-92B1-19E04E9F3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90599" y="5316279"/>
              <a:ext cx="3190875" cy="1428750"/>
            </a:xfrm>
            <a:prstGeom prst="rect">
              <a:avLst/>
            </a:prstGeom>
          </p:spPr>
        </p:pic>
        <p:sp>
          <p:nvSpPr>
            <p:cNvPr id="10" name="Arrow: Curved Right 9">
              <a:extLst>
                <a:ext uri="{FF2B5EF4-FFF2-40B4-BE49-F238E27FC236}">
                  <a16:creationId xmlns:a16="http://schemas.microsoft.com/office/drawing/2014/main" id="{61AD3599-BC9E-45A7-B5BA-3DA7020F0EAF}"/>
                </a:ext>
              </a:extLst>
            </p:cNvPr>
            <p:cNvSpPr/>
            <p:nvPr/>
          </p:nvSpPr>
          <p:spPr>
            <a:xfrm>
              <a:off x="6201772" y="4657061"/>
              <a:ext cx="988828" cy="1428750"/>
            </a:xfrm>
            <a:prstGeom prst="curvedRight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4FE7D52-D849-432C-9196-5E6D978BA214}"/>
              </a:ext>
            </a:extLst>
          </p:cNvPr>
          <p:cNvGrpSpPr/>
          <p:nvPr/>
        </p:nvGrpSpPr>
        <p:grpSpPr>
          <a:xfrm>
            <a:off x="7312602" y="1143158"/>
            <a:ext cx="3508744" cy="2863132"/>
            <a:chOff x="8070112" y="1139390"/>
            <a:chExt cx="4146703" cy="307498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C4254A0-6898-4086-9362-7F2EBEE45D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25940" y="1139390"/>
              <a:ext cx="3190875" cy="142875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84E71B6-4CC7-4A67-BA86-8DE159BDD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25940" y="2785620"/>
              <a:ext cx="3190875" cy="1428750"/>
            </a:xfrm>
            <a:prstGeom prst="rect">
              <a:avLst/>
            </a:prstGeom>
          </p:spPr>
        </p:pic>
        <p:sp>
          <p:nvSpPr>
            <p:cNvPr id="18" name="Arrow: Curved Right 17">
              <a:extLst>
                <a:ext uri="{FF2B5EF4-FFF2-40B4-BE49-F238E27FC236}">
                  <a16:creationId xmlns:a16="http://schemas.microsoft.com/office/drawing/2014/main" id="{2E238E06-05FC-43A1-AE88-3181A3A4B477}"/>
                </a:ext>
              </a:extLst>
            </p:cNvPr>
            <p:cNvSpPr/>
            <p:nvPr/>
          </p:nvSpPr>
          <p:spPr>
            <a:xfrm>
              <a:off x="8070112" y="2197959"/>
              <a:ext cx="955828" cy="1428750"/>
            </a:xfrm>
            <a:prstGeom prst="curvedRightArrow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09029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5707" y="1797784"/>
            <a:ext cx="7187893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3. Opening (Erosion followed by Dilation)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nl-NL" sz="2400" dirty="0">
                <a:solidFill>
                  <a:schemeClr val="bg1"/>
                </a:solidFill>
                <a:highlight>
                  <a:srgbClr val="C0C0C0"/>
                </a:highlight>
              </a:rPr>
              <a:t>opening = cv2.morphologyEx(img, cv2.MORPH_OPEN, kernel)</a:t>
            </a:r>
          </a:p>
          <a:p>
            <a:pPr algn="just"/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Removes noise while preserving shape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488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Morphological Transformations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1BB0A-537E-431D-A198-D900EF5985B7}"/>
              </a:ext>
            </a:extLst>
          </p:cNvPr>
          <p:cNvSpPr txBox="1"/>
          <p:nvPr/>
        </p:nvSpPr>
        <p:spPr>
          <a:xfrm>
            <a:off x="-2" y="4447004"/>
            <a:ext cx="7924802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4. Closing (Dilation followed by Erosion)</a:t>
            </a:r>
          </a:p>
          <a:p>
            <a:pPr algn="just"/>
            <a:r>
              <a:rPr lang="fr-FR" sz="24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closing = cv2.morphologyEx(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cv2.MORPH_CLOSE, kernel)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Closes small holes inside objects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9562456-7CA4-4BB6-AB43-1D71727AB988}"/>
              </a:ext>
            </a:extLst>
          </p:cNvPr>
          <p:cNvGrpSpPr/>
          <p:nvPr/>
        </p:nvGrpSpPr>
        <p:grpSpPr>
          <a:xfrm>
            <a:off x="9346659" y="3978416"/>
            <a:ext cx="2782741" cy="2847333"/>
            <a:chOff x="8649226" y="3870898"/>
            <a:chExt cx="2782741" cy="2847333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6518670-D050-4A34-BA0E-B1263D204F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49227" y="5472228"/>
              <a:ext cx="2782740" cy="1246003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CAFEE52-DCEB-42A4-9142-BA39919BF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49226" y="3870898"/>
              <a:ext cx="2782740" cy="1246003"/>
            </a:xfrm>
            <a:prstGeom prst="rect">
              <a:avLst/>
            </a:prstGeom>
          </p:spPr>
        </p:pic>
        <p:sp>
          <p:nvSpPr>
            <p:cNvPr id="23" name="Arrow: Down 22">
              <a:extLst>
                <a:ext uri="{FF2B5EF4-FFF2-40B4-BE49-F238E27FC236}">
                  <a16:creationId xmlns:a16="http://schemas.microsoft.com/office/drawing/2014/main" id="{9BC6C25A-8BBF-47C3-8021-DB414646A104}"/>
                </a:ext>
              </a:extLst>
            </p:cNvPr>
            <p:cNvSpPr/>
            <p:nvPr/>
          </p:nvSpPr>
          <p:spPr>
            <a:xfrm>
              <a:off x="9847417" y="5113400"/>
              <a:ext cx="386358" cy="36232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E4206F9-3A8F-4CD5-AA42-319F792EBBBC}"/>
              </a:ext>
            </a:extLst>
          </p:cNvPr>
          <p:cNvGrpSpPr/>
          <p:nvPr/>
        </p:nvGrpSpPr>
        <p:grpSpPr>
          <a:xfrm>
            <a:off x="7762750" y="1328709"/>
            <a:ext cx="2782740" cy="2369880"/>
            <a:chOff x="8422163" y="651956"/>
            <a:chExt cx="3213870" cy="317658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9FB4541-F04D-4FA3-8391-9B0943B28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2163" y="651956"/>
              <a:ext cx="3190875" cy="1428750"/>
            </a:xfrm>
            <a:prstGeom prst="rect">
              <a:avLst/>
            </a:prstGeom>
          </p:spPr>
        </p:pic>
        <p:sp>
          <p:nvSpPr>
            <p:cNvPr id="24" name="Arrow: Down 23">
              <a:extLst>
                <a:ext uri="{FF2B5EF4-FFF2-40B4-BE49-F238E27FC236}">
                  <a16:creationId xmlns:a16="http://schemas.microsoft.com/office/drawing/2014/main" id="{9DE0FC11-9779-4A57-9BFF-A0AD88DB7E99}"/>
                </a:ext>
              </a:extLst>
            </p:cNvPr>
            <p:cNvSpPr/>
            <p:nvPr/>
          </p:nvSpPr>
          <p:spPr>
            <a:xfrm>
              <a:off x="9805123" y="2041036"/>
              <a:ext cx="386358" cy="36232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83148AC1-2BEF-4BA3-9378-339A5765A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5158" y="2399787"/>
              <a:ext cx="3190875" cy="14287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64661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-1" y="1907698"/>
            <a:ext cx="718789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What are </a:t>
            </a:r>
            <a:r>
              <a:rPr lang="en-US" sz="2800" b="1" dirty="0" err="1">
                <a:solidFill>
                  <a:srgbClr val="7030A0"/>
                </a:solidFill>
              </a:rPr>
              <a:t>Haar</a:t>
            </a:r>
            <a:r>
              <a:rPr lang="en-US" sz="2800" b="1" dirty="0">
                <a:solidFill>
                  <a:srgbClr val="7030A0"/>
                </a:solidFill>
              </a:rPr>
              <a:t> Cascades?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A machine learning–based approach used for object detection, especially faces, using features like edges, lines, and rectangles.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488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Face Detection with </a:t>
            </a:r>
            <a:r>
              <a:rPr lang="en-US" sz="4400" b="1" dirty="0" err="1">
                <a:solidFill>
                  <a:srgbClr val="7030A0"/>
                </a:solidFill>
                <a:cs typeface="+mn-cs"/>
              </a:rPr>
              <a:t>Haar</a:t>
            </a:r>
            <a:r>
              <a:rPr lang="en-US" sz="4400" b="1" dirty="0">
                <a:solidFill>
                  <a:srgbClr val="7030A0"/>
                </a:solidFill>
                <a:cs typeface="+mn-cs"/>
              </a:rPr>
              <a:t> Cascades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1BB0A-537E-431D-A198-D900EF5985B7}"/>
              </a:ext>
            </a:extLst>
          </p:cNvPr>
          <p:cNvSpPr txBox="1"/>
          <p:nvPr/>
        </p:nvSpPr>
        <p:spPr>
          <a:xfrm>
            <a:off x="25707" y="4303454"/>
            <a:ext cx="792480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How It Works: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Haar</a:t>
            </a:r>
            <a:r>
              <a:rPr lang="en-US" sz="2400" dirty="0">
                <a:solidFill>
                  <a:schemeClr val="bg1"/>
                </a:solidFill>
              </a:rPr>
              <a:t> features extracted from the image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Trained classifiers detect patterns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Cascade classifier improves detection speed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470B02-E33F-4A33-ABDA-01057C0987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892" y="2242472"/>
            <a:ext cx="3657450" cy="33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2994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57787" y="1143158"/>
            <a:ext cx="936213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Steps in OpenCV: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face_cascade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= cv2.CascadeClassifier('haarcascade_frontalface_default.xml’)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gray = cv2.cvtColor(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cv2.COLOR_BGR2GRAY)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faces = 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face_cascade.detectMultiScale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(gray, 1.3, 5)</a:t>
            </a:r>
          </a:p>
          <a:p>
            <a:pPr algn="just"/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for (x, y, w, h) in faces: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    cv2.rectangle(</a:t>
            </a:r>
            <a:r>
              <a:rPr lang="en-US" sz="2400" dirty="0" err="1">
                <a:solidFill>
                  <a:schemeClr val="bg1"/>
                </a:solidFill>
                <a:highlight>
                  <a:srgbClr val="C0C0C0"/>
                </a:highlight>
              </a:rPr>
              <a:t>img</a:t>
            </a:r>
            <a:r>
              <a:rPr lang="en-US" sz="2400" dirty="0">
                <a:solidFill>
                  <a:schemeClr val="bg1"/>
                </a:solidFill>
                <a:highlight>
                  <a:srgbClr val="C0C0C0"/>
                </a:highlight>
              </a:rPr>
              <a:t>, (x, y), (x + w, y + h), (255, 0, 0), 2)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488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Conti…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E2F2F0-EA40-4DCC-A6ED-429683DD0377}"/>
              </a:ext>
            </a:extLst>
          </p:cNvPr>
          <p:cNvSpPr txBox="1"/>
          <p:nvPr/>
        </p:nvSpPr>
        <p:spPr>
          <a:xfrm>
            <a:off x="157787" y="5013424"/>
            <a:ext cx="61617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Notes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Use grayscale images for detection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Parameters: </a:t>
            </a:r>
            <a:r>
              <a:rPr lang="en-US" sz="2400" dirty="0" err="1">
                <a:solidFill>
                  <a:schemeClr val="bg1"/>
                </a:solidFill>
              </a:rPr>
              <a:t>scaleFactor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minNeighbors</a:t>
            </a:r>
            <a:endParaRPr lang="en-US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Pre-trained XML models available in OpenCV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06A520-2125-41AE-9132-5E583C10E2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3570" y="2785584"/>
            <a:ext cx="2615500" cy="240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7697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57787" y="1227772"/>
            <a:ext cx="613125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What is Object Detection?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Object detection involves locating and classifying multiple objects in an image or video stream.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488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Object Detection with Pre-trained Models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E2F2F0-EA40-4DCC-A6ED-429683DD0377}"/>
              </a:ext>
            </a:extLst>
          </p:cNvPr>
          <p:cNvSpPr txBox="1"/>
          <p:nvPr/>
        </p:nvSpPr>
        <p:spPr>
          <a:xfrm>
            <a:off x="8722667" y="5087015"/>
            <a:ext cx="415005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Use Cases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Real-time surveillance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Smart cameras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Traffic monitoring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7126C4-A27C-4332-8A81-54AD77EB5F84}"/>
              </a:ext>
            </a:extLst>
          </p:cNvPr>
          <p:cNvSpPr txBox="1"/>
          <p:nvPr/>
        </p:nvSpPr>
        <p:spPr>
          <a:xfrm>
            <a:off x="91746" y="5087015"/>
            <a:ext cx="62633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Popular Pre-trained Models in OpenCV: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MobileNet</a:t>
            </a:r>
            <a:r>
              <a:rPr lang="en-US" sz="2400" dirty="0">
                <a:solidFill>
                  <a:schemeClr val="bg1"/>
                </a:solidFill>
              </a:rPr>
              <a:t>-SSD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YOLO (You Only Look Once)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Faster R-CNN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4BD675-1A5D-4B4A-9B44-FF4DBBCA2861}"/>
              </a:ext>
            </a:extLst>
          </p:cNvPr>
          <p:cNvSpPr txBox="1"/>
          <p:nvPr/>
        </p:nvSpPr>
        <p:spPr>
          <a:xfrm>
            <a:off x="157787" y="3158825"/>
            <a:ext cx="62633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Components of Object Detection</a:t>
            </a:r>
          </a:p>
          <a:p>
            <a:pPr algn="just"/>
            <a:r>
              <a:rPr lang="en-US" sz="2400" b="1" dirty="0">
                <a:solidFill>
                  <a:schemeClr val="bg1"/>
                </a:solidFill>
              </a:rPr>
              <a:t>Classification:</a:t>
            </a:r>
            <a:r>
              <a:rPr lang="en-US" sz="2400" dirty="0">
                <a:solidFill>
                  <a:schemeClr val="bg1"/>
                </a:solidFill>
              </a:rPr>
              <a:t> What is in the image? </a:t>
            </a:r>
          </a:p>
          <a:p>
            <a:pPr algn="just"/>
            <a:r>
              <a:rPr lang="en-US" sz="2400" b="1" dirty="0">
                <a:solidFill>
                  <a:schemeClr val="bg1"/>
                </a:solidFill>
              </a:rPr>
              <a:t>Localization:</a:t>
            </a:r>
            <a:r>
              <a:rPr lang="en-US" sz="2400" dirty="0">
                <a:solidFill>
                  <a:schemeClr val="bg1"/>
                </a:solidFill>
              </a:rPr>
              <a:t> Where is the object? </a:t>
            </a:r>
          </a:p>
          <a:p>
            <a:pPr algn="just"/>
            <a:r>
              <a:rPr lang="en-US" sz="2400" b="1" dirty="0">
                <a:solidFill>
                  <a:schemeClr val="bg1"/>
                </a:solidFill>
              </a:rPr>
              <a:t>Detection:</a:t>
            </a:r>
            <a:r>
              <a:rPr lang="en-US" sz="2400" dirty="0">
                <a:solidFill>
                  <a:schemeClr val="bg1"/>
                </a:solidFill>
              </a:rPr>
              <a:t> What &amp; where together!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969FC0-C1B9-4059-B865-F8F3A67BE8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168" y="1419799"/>
            <a:ext cx="5375392" cy="301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868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57787" y="1227772"/>
            <a:ext cx="600933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What is Image Blending?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Combining two images to produce a visually smooth transition or overlay effect.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488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Image Blending Techniques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E2F2F0-EA40-4DCC-A6ED-429683DD0377}"/>
              </a:ext>
            </a:extLst>
          </p:cNvPr>
          <p:cNvSpPr txBox="1"/>
          <p:nvPr/>
        </p:nvSpPr>
        <p:spPr>
          <a:xfrm>
            <a:off x="157787" y="4857452"/>
            <a:ext cx="4332933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Use Cases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Overlaying logos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Transition effects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Panorama stitching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Exposure fusion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7126C4-A27C-4332-8A81-54AD77EB5F84}"/>
              </a:ext>
            </a:extLst>
          </p:cNvPr>
          <p:cNvSpPr txBox="1"/>
          <p:nvPr/>
        </p:nvSpPr>
        <p:spPr>
          <a:xfrm>
            <a:off x="157787" y="2978239"/>
            <a:ext cx="62633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Types of Blending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Simple Addition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Weighted Blending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Mask-Based Blending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20386F-D59E-4BA5-8929-D8D612F102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8112" y="2028178"/>
            <a:ext cx="8503597" cy="458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9448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52C9FC-7EEE-4B0C-BF38-B2F593C21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" y="83240"/>
            <a:ext cx="913776" cy="866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5707" y="1143158"/>
            <a:ext cx="5775653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What is Image Segmentation?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Image segmentation is the process of dividing an image into meaningful regions or segments for easier analysis.</a:t>
            </a:r>
          </a:p>
          <a:p>
            <a:pPr algn="just"/>
            <a:endParaRPr lang="en-US" sz="2000" dirty="0"/>
          </a:p>
          <a:p>
            <a:pPr algn="just"/>
            <a:r>
              <a:rPr lang="en-US" sz="2800" b="1" dirty="0">
                <a:solidFill>
                  <a:srgbClr val="7030A0"/>
                </a:solidFill>
              </a:rPr>
              <a:t>Purpose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Isolate objects from background 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Aid in object detection &amp; recognition 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solidFill>
                  <a:schemeClr val="bg1"/>
                </a:solidFill>
              </a:rPr>
              <a:t>Used in medical imaging, self-driving cars, etc.</a:t>
            </a:r>
          </a:p>
          <a:p>
            <a:pPr marL="342900" indent="-342900" algn="just">
              <a:buFontTx/>
              <a:buChar char="-"/>
            </a:pPr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800" b="1" dirty="0">
                <a:solidFill>
                  <a:srgbClr val="7030A0"/>
                </a:solidFill>
              </a:rPr>
              <a:t>Use Cases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Medical image analysis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Face &amp; object recognition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Lane detection in autonomous driving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-48840"/>
            <a:ext cx="12166293" cy="11919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Image Segmentation in Computer Vision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0850B5-D7B8-4975-A945-F594E47CCB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642" y="1202010"/>
            <a:ext cx="4946968" cy="32919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E2F023-371B-4759-BF1B-39442E553A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4832" y="4797337"/>
            <a:ext cx="1948903" cy="19489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DC25D0-50C9-4D09-9376-AB4300AFA8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2378" y="4789553"/>
            <a:ext cx="2010062" cy="19489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BA51EF-9A60-43AC-8CF4-2183F28959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726" y="4781771"/>
            <a:ext cx="2495119" cy="19644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635002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rgbClr val="7030A0"/>
                </a:solidFill>
                <a:cs typeface="+mn-cs"/>
              </a:rPr>
              <a:t>Feature Detection in Images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57290" y="1295698"/>
            <a:ext cx="6604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7030A0"/>
                </a:solidFill>
              </a:rPr>
              <a:t>What is Feature Detection? </a:t>
            </a:r>
          </a:p>
          <a:p>
            <a:pPr algn="just" defTabSz="457200">
              <a:lnSpc>
                <a:spcPct val="9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</a:rPr>
              <a:t>Feature detection identifies key points or areas of interest in an image that are unique and can be tracked or matched across images.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3E1B84-4119-48B1-A97B-D7B097854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9A71AAB-49CE-4BDB-9B68-18CCF624CB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0E0CDB5-3F85-48BF-A695-2865E78437A2}"/>
              </a:ext>
            </a:extLst>
          </p:cNvPr>
          <p:cNvSpPr txBox="1"/>
          <p:nvPr/>
        </p:nvSpPr>
        <p:spPr>
          <a:xfrm>
            <a:off x="157787" y="4857452"/>
            <a:ext cx="4332933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Use Cases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Image stitching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Object recognition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Motion tracking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Augmented reality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B101F7-4946-43B0-80D6-202D132AF174}"/>
              </a:ext>
            </a:extLst>
          </p:cNvPr>
          <p:cNvSpPr txBox="1"/>
          <p:nvPr/>
        </p:nvSpPr>
        <p:spPr>
          <a:xfrm>
            <a:off x="91746" y="2892455"/>
            <a:ext cx="6263333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rgbClr val="7030A0"/>
                </a:solidFill>
              </a:rPr>
              <a:t>Popular Feature Detection Algorithms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Harris Corner Detector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Shi-</a:t>
            </a:r>
            <a:r>
              <a:rPr lang="en-US" sz="2400" dirty="0" err="1">
                <a:solidFill>
                  <a:schemeClr val="bg1"/>
                </a:solidFill>
              </a:rPr>
              <a:t>Tomasi</a:t>
            </a:r>
            <a:r>
              <a:rPr lang="en-US" sz="2400" dirty="0">
                <a:solidFill>
                  <a:schemeClr val="bg1"/>
                </a:solidFill>
              </a:rPr>
              <a:t> (Good Features to Track)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SIFT (Scale-Invariant Feature Transform)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ORB (Oriented FAST and Rotated BRIEF) 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F24172-1AB4-41B6-A5E7-D00D4FC286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177" y="2595229"/>
            <a:ext cx="5719454" cy="382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2987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BE9C5C-6569-4C5C-98FD-4514941A1A59}"/>
              </a:ext>
            </a:extLst>
          </p:cNvPr>
          <p:cNvSpPr/>
          <p:nvPr/>
        </p:nvSpPr>
        <p:spPr>
          <a:xfrm rot="2700000">
            <a:off x="4776987" y="1498228"/>
            <a:ext cx="2013391" cy="2013391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06BA146-A655-415F-8DCE-ED10500F28D3}"/>
              </a:ext>
            </a:extLst>
          </p:cNvPr>
          <p:cNvSpPr/>
          <p:nvPr/>
        </p:nvSpPr>
        <p:spPr>
          <a:xfrm rot="2700000">
            <a:off x="6838259" y="3069049"/>
            <a:ext cx="1719112" cy="1719112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5C243C-8AFA-48C1-BC37-34FA15F457A4}"/>
              </a:ext>
            </a:extLst>
          </p:cNvPr>
          <p:cNvSpPr/>
          <p:nvPr/>
        </p:nvSpPr>
        <p:spPr>
          <a:xfrm rot="2700000" flipV="1">
            <a:off x="4540879" y="4118095"/>
            <a:ext cx="952612" cy="952612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236F8A-92A8-462D-9C5C-EBB0391EE255}"/>
              </a:ext>
            </a:extLst>
          </p:cNvPr>
          <p:cNvSpPr/>
          <p:nvPr/>
        </p:nvSpPr>
        <p:spPr>
          <a:xfrm rot="2700000">
            <a:off x="4873774" y="2476034"/>
            <a:ext cx="2632087" cy="2632087"/>
          </a:xfrm>
          <a:prstGeom prst="roundRect">
            <a:avLst>
              <a:gd name="adj" fmla="val 19126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72742A2-6260-4172-8D34-B3FEEEF9BC92}"/>
              </a:ext>
            </a:extLst>
          </p:cNvPr>
          <p:cNvSpPr txBox="1">
            <a:spLocks/>
          </p:cNvSpPr>
          <p:nvPr/>
        </p:nvSpPr>
        <p:spPr>
          <a:xfrm>
            <a:off x="5052519" y="3279223"/>
            <a:ext cx="2274595" cy="1239069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IN" sz="4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THANK YOU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2A43068-9F93-4923-849F-C40C2616E5FD}"/>
              </a:ext>
            </a:extLst>
          </p:cNvPr>
          <p:cNvSpPr/>
          <p:nvPr/>
        </p:nvSpPr>
        <p:spPr>
          <a:xfrm rot="2700000">
            <a:off x="6514438" y="5459984"/>
            <a:ext cx="1597667" cy="1597667"/>
          </a:xfrm>
          <a:custGeom>
            <a:avLst/>
            <a:gdLst>
              <a:gd name="connsiteX0" fmla="*/ 89500 w 1597666"/>
              <a:gd name="connsiteY0" fmla="*/ 89500 h 1597666"/>
              <a:gd name="connsiteX1" fmla="*/ 305570 w 1597666"/>
              <a:gd name="connsiteY1" fmla="*/ 0 h 1597666"/>
              <a:gd name="connsiteX2" fmla="*/ 1292096 w 1597666"/>
              <a:gd name="connsiteY2" fmla="*/ 0 h 1597666"/>
              <a:gd name="connsiteX3" fmla="*/ 1597666 w 1597666"/>
              <a:gd name="connsiteY3" fmla="*/ 305570 h 1597666"/>
              <a:gd name="connsiteX4" fmla="*/ 1597666 w 1597666"/>
              <a:gd name="connsiteY4" fmla="*/ 828667 h 1597666"/>
              <a:gd name="connsiteX5" fmla="*/ 828667 w 1597666"/>
              <a:gd name="connsiteY5" fmla="*/ 1597666 h 1597666"/>
              <a:gd name="connsiteX6" fmla="*/ 305570 w 1597666"/>
              <a:gd name="connsiteY6" fmla="*/ 1597666 h 1597666"/>
              <a:gd name="connsiteX7" fmla="*/ 0 w 1597666"/>
              <a:gd name="connsiteY7" fmla="*/ 1292096 h 1597666"/>
              <a:gd name="connsiteX8" fmla="*/ 0 w 1597666"/>
              <a:gd name="connsiteY8" fmla="*/ 305570 h 1597666"/>
              <a:gd name="connsiteX9" fmla="*/ 89500 w 1597666"/>
              <a:gd name="connsiteY9" fmla="*/ 89500 h 1597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97666" h="1597666">
                <a:moveTo>
                  <a:pt x="89500" y="89500"/>
                </a:moveTo>
                <a:cubicBezTo>
                  <a:pt x="144796" y="34202"/>
                  <a:pt x="221189" y="0"/>
                  <a:pt x="305570" y="0"/>
                </a:cubicBezTo>
                <a:lnTo>
                  <a:pt x="1292096" y="0"/>
                </a:lnTo>
                <a:cubicBezTo>
                  <a:pt x="1460858" y="0"/>
                  <a:pt x="1597666" y="136808"/>
                  <a:pt x="1597666" y="305570"/>
                </a:cubicBezTo>
                <a:lnTo>
                  <a:pt x="1597666" y="828667"/>
                </a:lnTo>
                <a:lnTo>
                  <a:pt x="828667" y="1597666"/>
                </a:lnTo>
                <a:lnTo>
                  <a:pt x="305570" y="1597666"/>
                </a:lnTo>
                <a:cubicBezTo>
                  <a:pt x="136808" y="1597666"/>
                  <a:pt x="0" y="1460858"/>
                  <a:pt x="0" y="1292096"/>
                </a:cubicBezTo>
                <a:lnTo>
                  <a:pt x="0" y="305570"/>
                </a:lnTo>
                <a:cubicBezTo>
                  <a:pt x="0" y="221189"/>
                  <a:pt x="34202" y="144796"/>
                  <a:pt x="89500" y="89500"/>
                </a:cubicBezTo>
                <a:close/>
              </a:path>
            </a:pathLst>
          </a:cu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14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F0C82F-60D6-4E8E-8658-1945239ECDC7}"/>
              </a:ext>
            </a:extLst>
          </p:cNvPr>
          <p:cNvSpPr/>
          <p:nvPr/>
        </p:nvSpPr>
        <p:spPr>
          <a:xfrm rot="2700000">
            <a:off x="6510290" y="359620"/>
            <a:ext cx="1597667" cy="1597667"/>
          </a:xfrm>
          <a:prstGeom prst="roundRect">
            <a:avLst>
              <a:gd name="adj" fmla="val 19126"/>
            </a:avLst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632F3FE-74FC-4251-9C8C-0D58948AEC51}"/>
              </a:ext>
            </a:extLst>
          </p:cNvPr>
          <p:cNvSpPr/>
          <p:nvPr/>
        </p:nvSpPr>
        <p:spPr>
          <a:xfrm rot="2700000">
            <a:off x="2631201" y="2321567"/>
            <a:ext cx="1597667" cy="1597667"/>
          </a:xfrm>
          <a:prstGeom prst="roundRect">
            <a:avLst>
              <a:gd name="adj" fmla="val 19126"/>
            </a:avLst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1B9AA9D-A8FA-472A-8829-35C9E7182704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671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Earthy inspiration</Template>
  <TotalTime>0</TotalTime>
  <Words>2008</Words>
  <Application>Microsoft Office PowerPoint</Application>
  <PresentationFormat>Widescreen</PresentationFormat>
  <Paragraphs>346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Goudy Old Style</vt:lpstr>
      <vt:lpstr>Wingdings 2</vt:lpstr>
      <vt:lpstr>SlateVTI</vt:lpstr>
      <vt:lpstr>Huawei HCCDA-AI certification </vt:lpstr>
      <vt:lpstr>Computer Vision: From Basics to Expert Level</vt:lpstr>
      <vt:lpstr>Training Objectives &amp; Outcomes</vt:lpstr>
      <vt:lpstr>Introduction to OpenCV</vt:lpstr>
      <vt:lpstr>Core Features of OpenCV</vt:lpstr>
      <vt:lpstr>Conti…</vt:lpstr>
      <vt:lpstr>Applications of OpenCV</vt:lpstr>
      <vt:lpstr>Conti…</vt:lpstr>
      <vt:lpstr>Installing OpenCV</vt:lpstr>
      <vt:lpstr>Reading and Displaying Images with OpenCV</vt:lpstr>
      <vt:lpstr>Writing and Saving Images in OpenCV</vt:lpstr>
      <vt:lpstr>Working with Video in OpenCV</vt:lpstr>
      <vt:lpstr>Drawing Shapes and Text on Images</vt:lpstr>
      <vt:lpstr>Image Resizing, Cropping, and Rotation</vt:lpstr>
      <vt:lpstr>Color Spaces and Conversions</vt:lpstr>
      <vt:lpstr>Image Thresholding Techniques</vt:lpstr>
      <vt:lpstr>Edge Detection Techniques</vt:lpstr>
      <vt:lpstr>Conti…</vt:lpstr>
      <vt:lpstr>Contour Detection and Drawing</vt:lpstr>
      <vt:lpstr>Morphological Transformations</vt:lpstr>
      <vt:lpstr>Morphological Transformations</vt:lpstr>
      <vt:lpstr>Morphological Transformations</vt:lpstr>
      <vt:lpstr>Face Detection with Haar Cascades</vt:lpstr>
      <vt:lpstr>Conti…</vt:lpstr>
      <vt:lpstr>Object Detection with Pre-trained Models</vt:lpstr>
      <vt:lpstr>Image Blending Techniques</vt:lpstr>
      <vt:lpstr>Image Segmentation in Computer Vision</vt:lpstr>
      <vt:lpstr>Feature Detection in Images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2025-05-18T04:39:12Z</dcterms:created>
  <dcterms:modified xsi:type="dcterms:W3CDTF">2025-08-04T08:31:21Z</dcterms:modified>
</cp:coreProperties>
</file>