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265" r:id="rId3"/>
    <p:sldId id="266" r:id="rId4"/>
    <p:sldId id="320" r:id="rId5"/>
    <p:sldId id="282" r:id="rId6"/>
    <p:sldId id="289" r:id="rId7"/>
    <p:sldId id="284" r:id="rId8"/>
    <p:sldId id="287" r:id="rId9"/>
    <p:sldId id="288" r:id="rId10"/>
    <p:sldId id="297" r:id="rId11"/>
    <p:sldId id="298" r:id="rId12"/>
    <p:sldId id="301" r:id="rId13"/>
    <p:sldId id="290" r:id="rId14"/>
    <p:sldId id="295" r:id="rId15"/>
    <p:sldId id="294" r:id="rId16"/>
    <p:sldId id="291" r:id="rId17"/>
    <p:sldId id="293" r:id="rId18"/>
    <p:sldId id="316" r:id="rId19"/>
    <p:sldId id="303" r:id="rId20"/>
    <p:sldId id="312" r:id="rId21"/>
    <p:sldId id="313" r:id="rId22"/>
    <p:sldId id="307" r:id="rId23"/>
    <p:sldId id="318" r:id="rId24"/>
    <p:sldId id="315" r:id="rId25"/>
    <p:sldId id="310" r:id="rId26"/>
    <p:sldId id="31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jp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/>
              </a:rPr>
              <a:t>Huawei HCCDA-AI certification 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Trainer: Fawad Bahadur Marwat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Training Objective &amp; Outcomes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C4CAF4-B772-4042-9055-BF8B03321A92}"/>
              </a:ext>
            </a:extLst>
          </p:cNvPr>
          <p:cNvGrpSpPr/>
          <p:nvPr/>
        </p:nvGrpSpPr>
        <p:grpSpPr>
          <a:xfrm>
            <a:off x="296987" y="2194560"/>
            <a:ext cx="3218751" cy="1847890"/>
            <a:chOff x="443610" y="2194560"/>
            <a:chExt cx="3218751" cy="184789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047067-2DF0-4996-8E99-CB68D966536E}"/>
                </a:ext>
              </a:extLst>
            </p:cNvPr>
            <p:cNvSpPr txBox="1"/>
            <p:nvPr/>
          </p:nvSpPr>
          <p:spPr>
            <a:xfrm>
              <a:off x="650240" y="2194560"/>
              <a:ext cx="30121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AI/ML Fundamentals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74B1752-833D-4F07-8544-9627CF444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610" y="2569250"/>
              <a:ext cx="2619022" cy="147320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76D3CA-6DB7-45FF-822F-781EBEAB7359}"/>
              </a:ext>
            </a:extLst>
          </p:cNvPr>
          <p:cNvGrpSpPr/>
          <p:nvPr/>
        </p:nvGrpSpPr>
        <p:grpSpPr>
          <a:xfrm>
            <a:off x="5070969" y="2194560"/>
            <a:ext cx="2619022" cy="2000012"/>
            <a:chOff x="4786489" y="2194560"/>
            <a:chExt cx="2619022" cy="200001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611A68-14EE-4EE9-991E-E87462591346}"/>
                </a:ext>
              </a:extLst>
            </p:cNvPr>
            <p:cNvSpPr txBox="1"/>
            <p:nvPr/>
          </p:nvSpPr>
          <p:spPr>
            <a:xfrm>
              <a:off x="4786489" y="2194560"/>
              <a:ext cx="26190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Huawei Cloud AI services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DF9B95E-E5DC-4A03-A7CF-B719028B9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44796" y="2558812"/>
              <a:ext cx="1635760" cy="163576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6856FAF-FFF1-4CCF-A5DA-53035D62E843}"/>
              </a:ext>
            </a:extLst>
          </p:cNvPr>
          <p:cNvGrpSpPr/>
          <p:nvPr/>
        </p:nvGrpSpPr>
        <p:grpSpPr>
          <a:xfrm>
            <a:off x="10241778" y="2194560"/>
            <a:ext cx="1245297" cy="1538533"/>
            <a:chOff x="9570720" y="2194560"/>
            <a:chExt cx="1245297" cy="153853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277BF6-5231-4B87-BB6C-6968A40EF69B}"/>
                </a:ext>
              </a:extLst>
            </p:cNvPr>
            <p:cNvSpPr txBox="1"/>
            <p:nvPr/>
          </p:nvSpPr>
          <p:spPr>
            <a:xfrm>
              <a:off x="9601200" y="2194560"/>
              <a:ext cx="12148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bg1"/>
                  </a:solidFill>
                </a:rPr>
                <a:t>ModelArts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B1BD016-217D-4D93-8E93-81430EF7C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0720" y="2518276"/>
              <a:ext cx="1214817" cy="1214817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37A2471-547D-4D23-A9AD-484B8F32E128}"/>
              </a:ext>
            </a:extLst>
          </p:cNvPr>
          <p:cNvGrpSpPr/>
          <p:nvPr/>
        </p:nvGrpSpPr>
        <p:grpSpPr>
          <a:xfrm>
            <a:off x="2595417" y="4120381"/>
            <a:ext cx="2660043" cy="1911946"/>
            <a:chOff x="2595417" y="4120381"/>
            <a:chExt cx="2660043" cy="191194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CFD0DA-CB5C-4863-87E0-EAA65B77FD67}"/>
                </a:ext>
              </a:extLst>
            </p:cNvPr>
            <p:cNvSpPr txBox="1"/>
            <p:nvPr/>
          </p:nvSpPr>
          <p:spPr>
            <a:xfrm>
              <a:off x="2595417" y="4120381"/>
              <a:ext cx="26600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Deep learning frameworks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C40EF54-53F3-4B1F-9584-29B7E1497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0792" y="4480437"/>
              <a:ext cx="2329291" cy="155189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84632F9-2A66-44F6-AC5D-770E5DB286CF}"/>
              </a:ext>
            </a:extLst>
          </p:cNvPr>
          <p:cNvGrpSpPr/>
          <p:nvPr/>
        </p:nvGrpSpPr>
        <p:grpSpPr>
          <a:xfrm>
            <a:off x="7426574" y="3924777"/>
            <a:ext cx="2886075" cy="2146086"/>
            <a:chOff x="7426574" y="3924777"/>
            <a:chExt cx="2886075" cy="214608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3AB61C-E9C1-4F58-A2D8-AE2579D6AF86}"/>
                </a:ext>
              </a:extLst>
            </p:cNvPr>
            <p:cNvSpPr txBox="1"/>
            <p:nvPr/>
          </p:nvSpPr>
          <p:spPr>
            <a:xfrm>
              <a:off x="7579225" y="3924777"/>
              <a:ext cx="2580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Real-world AI application development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D1ABF12-09F0-43EB-B027-7983C0365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6574" y="4489713"/>
              <a:ext cx="2886075" cy="158115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extLst>
      <p:ext uri="{BB962C8B-B14F-4D97-AF65-F5344CB8AC3E}">
        <p14:creationId xmlns:p14="http://schemas.microsoft.com/office/powerpoint/2010/main" val="224327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36E6601-07FC-4D5A-9AC8-9C1A6302E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171733"/>
              </p:ext>
            </p:extLst>
          </p:nvPr>
        </p:nvGraphicFramePr>
        <p:xfrm>
          <a:off x="6096000" y="1428916"/>
          <a:ext cx="5440054" cy="1463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20027">
                  <a:extLst>
                    <a:ext uri="{9D8B030D-6E8A-4147-A177-3AD203B41FA5}">
                      <a16:colId xmlns:a16="http://schemas.microsoft.com/office/drawing/2014/main" val="54983093"/>
                    </a:ext>
                  </a:extLst>
                </a:gridCol>
                <a:gridCol w="2720027">
                  <a:extLst>
                    <a:ext uri="{9D8B030D-6E8A-4147-A177-3AD203B41FA5}">
                      <a16:colId xmlns:a16="http://schemas.microsoft.com/office/drawing/2014/main" val="696688872"/>
                    </a:ext>
                  </a:extLst>
                </a:gridCol>
              </a:tblGrid>
              <a:tr h="360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Traditional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Artificial Intelligence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216170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Data-driven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76142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Learns and adapts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50250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Improves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33628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Artificial Intelligence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6513A5-8506-4AB5-AEE5-C1D843042887}"/>
              </a:ext>
            </a:extLst>
          </p:cNvPr>
          <p:cNvGrpSpPr/>
          <p:nvPr/>
        </p:nvGrpSpPr>
        <p:grpSpPr>
          <a:xfrm>
            <a:off x="133068" y="1119127"/>
            <a:ext cx="5658132" cy="1449566"/>
            <a:chOff x="464631" y="2143864"/>
            <a:chExt cx="5658132" cy="144956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611A68-14EE-4EE9-991E-E87462591346}"/>
                </a:ext>
              </a:extLst>
            </p:cNvPr>
            <p:cNvSpPr txBox="1"/>
            <p:nvPr/>
          </p:nvSpPr>
          <p:spPr>
            <a:xfrm>
              <a:off x="464632" y="2143864"/>
              <a:ext cx="1636498" cy="4616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accent6"/>
                  </a:solidFill>
                </a:rPr>
                <a:t>Definition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CDF5CA-4901-4942-9FDE-9415D9C93207}"/>
                </a:ext>
              </a:extLst>
            </p:cNvPr>
            <p:cNvSpPr txBox="1"/>
            <p:nvPr/>
          </p:nvSpPr>
          <p:spPr>
            <a:xfrm>
              <a:off x="464631" y="2577767"/>
              <a:ext cx="56581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Artificial Intelligence (AI) is the simulation of human intelligence in machines that are programmed to think, learn, and make decisions.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EFA0E8-F031-496D-8891-24D7F168D028}"/>
              </a:ext>
            </a:extLst>
          </p:cNvPr>
          <p:cNvGrpSpPr/>
          <p:nvPr/>
        </p:nvGrpSpPr>
        <p:grpSpPr>
          <a:xfrm>
            <a:off x="6096000" y="3225651"/>
            <a:ext cx="5834568" cy="2062181"/>
            <a:chOff x="474792" y="2146802"/>
            <a:chExt cx="5834568" cy="206218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6FCD30-8004-4BB6-8401-DF3D5F6F4931}"/>
                </a:ext>
              </a:extLst>
            </p:cNvPr>
            <p:cNvSpPr txBox="1"/>
            <p:nvPr/>
          </p:nvSpPr>
          <p:spPr>
            <a:xfrm>
              <a:off x="474792" y="2146802"/>
              <a:ext cx="2012418" cy="4616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accent6"/>
                  </a:solidFill>
                </a:rPr>
                <a:t>Core Abilities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2D23587-45C7-4E24-8C5A-A72DB7C0FA61}"/>
                </a:ext>
              </a:extLst>
            </p:cNvPr>
            <p:cNvSpPr txBox="1"/>
            <p:nvPr/>
          </p:nvSpPr>
          <p:spPr>
            <a:xfrm>
              <a:off x="484952" y="2577767"/>
              <a:ext cx="582440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Perception</a:t>
              </a:r>
              <a:r>
                <a:rPr lang="en-US" sz="2000" dirty="0">
                  <a:solidFill>
                    <a:schemeClr val="bg1"/>
                  </a:solidFill>
                </a:rPr>
                <a:t> – Understanding input (e.g., images, speech)</a:t>
              </a:r>
            </a:p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Reasoning</a:t>
              </a:r>
              <a:r>
                <a:rPr lang="en-US" sz="2000" dirty="0">
                  <a:solidFill>
                    <a:schemeClr val="bg1"/>
                  </a:solidFill>
                </a:rPr>
                <a:t> – Making decisions or solving problems</a:t>
              </a:r>
            </a:p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Learning</a:t>
              </a:r>
              <a:r>
                <a:rPr lang="en-US" sz="2000" dirty="0">
                  <a:solidFill>
                    <a:schemeClr val="bg1"/>
                  </a:solidFill>
                </a:rPr>
                <a:t> – Improving from data over time</a:t>
              </a:r>
            </a:p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Interaction</a:t>
              </a:r>
              <a:r>
                <a:rPr lang="en-US" sz="2000" b="1" u="sng" dirty="0">
                  <a:solidFill>
                    <a:schemeClr val="accent2"/>
                  </a:solidFill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</a:rPr>
                <a:t>– Communicating via speech, text, etc.</a:t>
              </a:r>
            </a:p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Autonomy</a:t>
              </a:r>
              <a:r>
                <a:rPr lang="en-US" sz="2000" dirty="0">
                  <a:solidFill>
                    <a:schemeClr val="bg1"/>
                  </a:solidFill>
                </a:rPr>
                <a:t> – Acting independently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34AEC26-D04F-47A9-8742-E77CD6AED0EC}"/>
              </a:ext>
            </a:extLst>
          </p:cNvPr>
          <p:cNvGrpSpPr/>
          <p:nvPr/>
        </p:nvGrpSpPr>
        <p:grpSpPr>
          <a:xfrm>
            <a:off x="478258" y="2655034"/>
            <a:ext cx="5191760" cy="3674875"/>
            <a:chOff x="5923187" y="2821232"/>
            <a:chExt cx="4358733" cy="2812625"/>
          </a:xfrm>
        </p:grpSpPr>
        <p:pic>
          <p:nvPicPr>
            <p:cNvPr id="15" name="videoplayback (1)">
              <a:hlinkClick r:id="" action="ppaction://media"/>
              <a:extLst>
                <a:ext uri="{FF2B5EF4-FFF2-40B4-BE49-F238E27FC236}">
                  <a16:creationId xmlns:a16="http://schemas.microsoft.com/office/drawing/2014/main" id="{23CC29DB-883F-4B20-A776-D4DF62213D5B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4"/>
            <a:stretch>
              <a:fillRect/>
            </a:stretch>
          </p:blipFill>
          <p:spPr>
            <a:xfrm>
              <a:off x="5923187" y="2821232"/>
              <a:ext cx="4358733" cy="245178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8B77BF7-374A-4301-9E9A-4AFB55151ADD}"/>
                </a:ext>
              </a:extLst>
            </p:cNvPr>
            <p:cNvSpPr txBox="1"/>
            <p:nvPr/>
          </p:nvSpPr>
          <p:spPr>
            <a:xfrm>
              <a:off x="6555191" y="5280514"/>
              <a:ext cx="3172290" cy="3533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Autonomous Vehicle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7678550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36E6601-07FC-4D5A-9AC8-9C1A6302E6A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096000" y="1428916"/>
          <a:ext cx="5440054" cy="1463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20027">
                  <a:extLst>
                    <a:ext uri="{9D8B030D-6E8A-4147-A177-3AD203B41FA5}">
                      <a16:colId xmlns:a16="http://schemas.microsoft.com/office/drawing/2014/main" val="54983093"/>
                    </a:ext>
                  </a:extLst>
                </a:gridCol>
                <a:gridCol w="2720027">
                  <a:extLst>
                    <a:ext uri="{9D8B030D-6E8A-4147-A177-3AD203B41FA5}">
                      <a16:colId xmlns:a16="http://schemas.microsoft.com/office/drawing/2014/main" val="696688872"/>
                    </a:ext>
                  </a:extLst>
                </a:gridCol>
              </a:tblGrid>
              <a:tr h="360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Traditional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Artificial Intelligence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216170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Data-driven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76142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Fixed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Learns and adapts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50250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Improves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33628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Artificial Intelligence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F6513A5-8506-4AB5-AEE5-C1D843042887}"/>
              </a:ext>
            </a:extLst>
          </p:cNvPr>
          <p:cNvGrpSpPr/>
          <p:nvPr/>
        </p:nvGrpSpPr>
        <p:grpSpPr>
          <a:xfrm>
            <a:off x="133068" y="1119127"/>
            <a:ext cx="5674039" cy="1449566"/>
            <a:chOff x="464631" y="2143864"/>
            <a:chExt cx="5674039" cy="144956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4611A68-14EE-4EE9-991E-E87462591346}"/>
                </a:ext>
              </a:extLst>
            </p:cNvPr>
            <p:cNvSpPr txBox="1"/>
            <p:nvPr/>
          </p:nvSpPr>
          <p:spPr>
            <a:xfrm>
              <a:off x="464632" y="2143864"/>
              <a:ext cx="1636498" cy="4616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accent6"/>
                  </a:solidFill>
                </a:rPr>
                <a:t>Definition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CDF5CA-4901-4942-9FDE-9415D9C93207}"/>
                </a:ext>
              </a:extLst>
            </p:cNvPr>
            <p:cNvSpPr txBox="1"/>
            <p:nvPr/>
          </p:nvSpPr>
          <p:spPr>
            <a:xfrm>
              <a:off x="464631" y="2577767"/>
              <a:ext cx="567403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dirty="0">
                  <a:solidFill>
                    <a:schemeClr val="bg1"/>
                  </a:solidFill>
                </a:rPr>
                <a:t>Artificial Intelligence (AI) is the simulation of human intelligence in machines that are programmed to think, learn, and make decisions.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EFA0E8-F031-496D-8891-24D7F168D028}"/>
              </a:ext>
            </a:extLst>
          </p:cNvPr>
          <p:cNvGrpSpPr/>
          <p:nvPr/>
        </p:nvGrpSpPr>
        <p:grpSpPr>
          <a:xfrm>
            <a:off x="6096000" y="3225651"/>
            <a:ext cx="5834568" cy="2062181"/>
            <a:chOff x="474792" y="2146802"/>
            <a:chExt cx="5834568" cy="206218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6FCD30-8004-4BB6-8401-DF3D5F6F4931}"/>
                </a:ext>
              </a:extLst>
            </p:cNvPr>
            <p:cNvSpPr txBox="1"/>
            <p:nvPr/>
          </p:nvSpPr>
          <p:spPr>
            <a:xfrm>
              <a:off x="474792" y="2146802"/>
              <a:ext cx="2012418" cy="4616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accent6"/>
                  </a:solidFill>
                </a:rPr>
                <a:t>Core Abilities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2D23587-45C7-4E24-8C5A-A72DB7C0FA61}"/>
                </a:ext>
              </a:extLst>
            </p:cNvPr>
            <p:cNvSpPr txBox="1"/>
            <p:nvPr/>
          </p:nvSpPr>
          <p:spPr>
            <a:xfrm>
              <a:off x="484952" y="2577767"/>
              <a:ext cx="5824408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Perception</a:t>
              </a:r>
              <a:r>
                <a:rPr lang="en-US" sz="2000" dirty="0">
                  <a:solidFill>
                    <a:schemeClr val="bg1"/>
                  </a:solidFill>
                </a:rPr>
                <a:t> – Understanding input (e.g., images, speech)</a:t>
              </a:r>
            </a:p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Reasoning</a:t>
              </a:r>
              <a:r>
                <a:rPr lang="en-US" sz="2000" dirty="0">
                  <a:solidFill>
                    <a:schemeClr val="bg1"/>
                  </a:solidFill>
                </a:rPr>
                <a:t> – Making decisions or solving problems</a:t>
              </a:r>
            </a:p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Learning</a:t>
              </a:r>
              <a:r>
                <a:rPr lang="en-US" sz="2000" dirty="0">
                  <a:solidFill>
                    <a:schemeClr val="bg1"/>
                  </a:solidFill>
                </a:rPr>
                <a:t> – Improving from data over time</a:t>
              </a:r>
            </a:p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Interaction</a:t>
              </a:r>
              <a:r>
                <a:rPr lang="en-US" sz="2000" b="1" u="sng" dirty="0">
                  <a:solidFill>
                    <a:schemeClr val="accent2"/>
                  </a:solidFill>
                </a:rPr>
                <a:t> </a:t>
              </a:r>
              <a:r>
                <a:rPr lang="en-US" sz="2000" dirty="0">
                  <a:solidFill>
                    <a:schemeClr val="bg1"/>
                  </a:solidFill>
                </a:rPr>
                <a:t>– Communicating via speech, text, etc.</a:t>
              </a:r>
            </a:p>
            <a:p>
              <a:pPr algn="just"/>
              <a:r>
                <a:rPr lang="en-US" sz="2000" b="1" dirty="0">
                  <a:solidFill>
                    <a:schemeClr val="accent2"/>
                  </a:solidFill>
                </a:rPr>
                <a:t>Autonomy</a:t>
              </a:r>
              <a:r>
                <a:rPr lang="en-US" sz="2000" dirty="0">
                  <a:solidFill>
                    <a:schemeClr val="bg1"/>
                  </a:solidFill>
                </a:rPr>
                <a:t> – Acting independently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AC911E-8517-42E9-825E-EC3DD2387F1E}"/>
              </a:ext>
            </a:extLst>
          </p:cNvPr>
          <p:cNvGrpSpPr/>
          <p:nvPr/>
        </p:nvGrpSpPr>
        <p:grpSpPr>
          <a:xfrm>
            <a:off x="283243" y="2673805"/>
            <a:ext cx="5523864" cy="3596838"/>
            <a:chOff x="6575510" y="1642119"/>
            <a:chExt cx="5523864" cy="3596838"/>
          </a:xfrm>
        </p:grpSpPr>
        <p:pic>
          <p:nvPicPr>
            <p:cNvPr id="19" name="GeoVision VD8700 Face Recognition IP Camera Demo Video">
              <a:hlinkClick r:id="" action="ppaction://media"/>
              <a:extLst>
                <a:ext uri="{FF2B5EF4-FFF2-40B4-BE49-F238E27FC236}">
                  <a16:creationId xmlns:a16="http://schemas.microsoft.com/office/drawing/2014/main" id="{D9E4DC66-9767-461D-B027-46F0432FAA39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4"/>
            <a:stretch>
              <a:fillRect/>
            </a:stretch>
          </p:blipFill>
          <p:spPr>
            <a:xfrm>
              <a:off x="6575510" y="1642119"/>
              <a:ext cx="5523864" cy="310717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7C4681-AEC0-429D-B758-51164CF96D40}"/>
                </a:ext>
              </a:extLst>
            </p:cNvPr>
            <p:cNvSpPr txBox="1"/>
            <p:nvPr/>
          </p:nvSpPr>
          <p:spPr>
            <a:xfrm>
              <a:off x="7980999" y="4777292"/>
              <a:ext cx="28479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Image Recognition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04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Weak VS Strong AI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2C9B36-EAEA-4A30-A7DD-66E6634FF2B2}"/>
              </a:ext>
            </a:extLst>
          </p:cNvPr>
          <p:cNvGrpSpPr/>
          <p:nvPr/>
        </p:nvGrpSpPr>
        <p:grpSpPr>
          <a:xfrm>
            <a:off x="85775" y="1689583"/>
            <a:ext cx="5532705" cy="3753135"/>
            <a:chOff x="400735" y="1669263"/>
            <a:chExt cx="5532705" cy="375313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FF97BBB-4AA7-428D-A8A6-C2D84AB634A1}"/>
                </a:ext>
              </a:extLst>
            </p:cNvPr>
            <p:cNvGrpSpPr/>
            <p:nvPr/>
          </p:nvGrpSpPr>
          <p:grpSpPr>
            <a:xfrm>
              <a:off x="400735" y="1669263"/>
              <a:ext cx="5532705" cy="3753135"/>
              <a:chOff x="400735" y="2004543"/>
              <a:chExt cx="5532705" cy="3753135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A8DBF91D-44F2-4C0B-B6D5-48141E408A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0735" y="4827952"/>
                <a:ext cx="1716308" cy="69725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DE2896A-AC44-47A5-BD68-AD997AEBCEF8}"/>
                  </a:ext>
                </a:extLst>
              </p:cNvPr>
              <p:cNvGrpSpPr/>
              <p:nvPr/>
            </p:nvGrpSpPr>
            <p:grpSpPr>
              <a:xfrm>
                <a:off x="464632" y="2004543"/>
                <a:ext cx="5468808" cy="2512216"/>
                <a:chOff x="464632" y="2004543"/>
                <a:chExt cx="5468808" cy="2512216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81516A0-053E-49CE-8E6F-CA3F0BBFC005}"/>
                    </a:ext>
                  </a:extLst>
                </p:cNvPr>
                <p:cNvSpPr txBox="1"/>
                <p:nvPr/>
              </p:nvSpPr>
              <p:spPr>
                <a:xfrm>
                  <a:off x="2554440" y="2004543"/>
                  <a:ext cx="1289191" cy="46166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chemeClr val="bg1"/>
                      </a:solidFill>
                    </a:rPr>
                    <a:t>Weak</a:t>
                  </a:r>
                  <a:endParaRPr 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8F924F8-A344-4B16-814B-EFB9913E3AB9}"/>
                    </a:ext>
                  </a:extLst>
                </p:cNvPr>
                <p:cNvSpPr txBox="1"/>
                <p:nvPr/>
              </p:nvSpPr>
              <p:spPr>
                <a:xfrm>
                  <a:off x="464632" y="2577767"/>
                  <a:ext cx="5468808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US" sz="2000" dirty="0">
                      <a:solidFill>
                        <a:schemeClr val="bg1"/>
                      </a:solidFill>
                    </a:rPr>
                    <a:t>AI designed for a specific task and operates within a limited context.</a:t>
                  </a:r>
                </a:p>
                <a:p>
                  <a:pPr algn="just"/>
                  <a:r>
                    <a:rPr lang="en-US" sz="2000" b="1" dirty="0">
                      <a:solidFill>
                        <a:schemeClr val="bg1"/>
                      </a:solidFill>
                    </a:rPr>
                    <a:t>Characteristics</a:t>
                  </a:r>
                </a:p>
                <a:p>
                  <a:pPr marL="285750" indent="-285750" algn="just">
                    <a:buFont typeface="Arial" panose="020B0604020202020204" pitchFamily="34" charset="0"/>
                    <a:buChar char="•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Excels at one particular function</a:t>
                  </a:r>
                </a:p>
                <a:p>
                  <a:pPr marL="285750" indent="-285750" algn="just">
                    <a:buFont typeface="Arial" panose="020B0604020202020204" pitchFamily="34" charset="0"/>
                    <a:buChar char="•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Does not possess consciousness or self-awareness.</a:t>
                  </a:r>
                </a:p>
                <a:p>
                  <a:pPr marL="285750" indent="-285750" algn="just">
                    <a:buFont typeface="Arial" panose="020B0604020202020204" pitchFamily="34" charset="0"/>
                    <a:buChar char="•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Cannot generalize beyond its trained domain.</a:t>
                  </a: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02DCB75F-9B15-4504-AF79-63E2DBE7C1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05838" y="4585621"/>
                <a:ext cx="2092958" cy="1172057"/>
              </a:xfrm>
              <a:prstGeom prst="rect">
                <a:avLst/>
              </a:prstGeom>
            </p:spPr>
          </p:pic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16B8FAE-9B7D-40DB-983D-FA5FE95D1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8372" y="4381116"/>
              <a:ext cx="1542668" cy="86830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74E007-35A8-43FC-B61E-821A08763E1B}"/>
              </a:ext>
            </a:extLst>
          </p:cNvPr>
          <p:cNvGrpSpPr/>
          <p:nvPr/>
        </p:nvGrpSpPr>
        <p:grpSpPr>
          <a:xfrm>
            <a:off x="5819016" y="1689584"/>
            <a:ext cx="6446832" cy="4368114"/>
            <a:chOff x="5778376" y="2024864"/>
            <a:chExt cx="6446832" cy="4368114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CABD4EC-966B-4C2C-99A2-E910188C8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15791" y="5294205"/>
              <a:ext cx="2089691" cy="109877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80D738E-193D-43E6-AEF1-451C2ED45CA2}"/>
                </a:ext>
              </a:extLst>
            </p:cNvPr>
            <p:cNvGrpSpPr/>
            <p:nvPr/>
          </p:nvGrpSpPr>
          <p:grpSpPr>
            <a:xfrm>
              <a:off x="5778376" y="2024864"/>
              <a:ext cx="6446832" cy="3117311"/>
              <a:chOff x="79686" y="1984224"/>
              <a:chExt cx="5396554" cy="3117311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971DF26-1F83-49A1-8BE1-1C8698DB1D9E}"/>
                  </a:ext>
                </a:extLst>
              </p:cNvPr>
              <p:cNvSpPr txBox="1"/>
              <p:nvPr/>
            </p:nvSpPr>
            <p:spPr>
              <a:xfrm>
                <a:off x="1952595" y="1984224"/>
                <a:ext cx="1289191" cy="4616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Strong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B7F6E6-F8AC-48DD-A1FD-1FD6A0D97486}"/>
                  </a:ext>
                </a:extLst>
              </p:cNvPr>
              <p:cNvSpPr txBox="1"/>
              <p:nvPr/>
            </p:nvSpPr>
            <p:spPr>
              <a:xfrm>
                <a:off x="79686" y="2577767"/>
                <a:ext cx="5396554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chemeClr val="bg1"/>
                    </a:solidFill>
                  </a:rPr>
                  <a:t>AI with human-like cognitive abilities, capable of reasoning, learning, and applying knowledge across various domains.</a:t>
                </a:r>
              </a:p>
              <a:p>
                <a:pPr algn="just"/>
                <a:r>
                  <a:rPr lang="en-US" sz="2000" b="1" dirty="0">
                    <a:solidFill>
                      <a:schemeClr val="bg1"/>
                    </a:solidFill>
                  </a:rPr>
                  <a:t>Characteristics</a:t>
                </a:r>
              </a:p>
              <a:p>
                <a:pPr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Can perform any intellectual task a human can.</a:t>
                </a:r>
              </a:p>
              <a:p>
                <a:pPr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Possesses self-awareness, consciousness, and understanding.</a:t>
                </a:r>
              </a:p>
              <a:p>
                <a:pPr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Adapts to new situations without explicit programming.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sz="2000" b="1" dirty="0">
                    <a:solidFill>
                      <a:schemeClr val="bg1"/>
                    </a:solidFill>
                  </a:rPr>
                  <a:t>Current Status: </a:t>
                </a:r>
                <a:r>
                  <a:rPr lang="en-US" sz="2000" dirty="0">
                    <a:solidFill>
                      <a:schemeClr val="bg1"/>
                    </a:solidFill>
                  </a:rPr>
                  <a:t>Does not yet exist; remains theoretical.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559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5B89182-F0BD-494B-92D5-EEAB723085E8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37C3E1D-2D81-48EA-827D-9C4996D746FC}"/>
              </a:ext>
            </a:extLst>
          </p:cNvPr>
          <p:cNvGrpSpPr/>
          <p:nvPr/>
        </p:nvGrpSpPr>
        <p:grpSpPr>
          <a:xfrm>
            <a:off x="1045204" y="2052320"/>
            <a:ext cx="3335032" cy="1571804"/>
            <a:chOff x="577844" y="2733040"/>
            <a:chExt cx="3335032" cy="157180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6047067-2DF0-4996-8E99-CB68D966536E}"/>
                </a:ext>
              </a:extLst>
            </p:cNvPr>
            <p:cNvSpPr txBox="1"/>
            <p:nvPr/>
          </p:nvSpPr>
          <p:spPr>
            <a:xfrm>
              <a:off x="577844" y="3658513"/>
              <a:ext cx="3335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Early Foundations </a:t>
              </a:r>
            </a:p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(1940–1950)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0DFEC51-79D9-49D4-9E56-EA897FA0ABCC}"/>
                </a:ext>
              </a:extLst>
            </p:cNvPr>
            <p:cNvSpPr/>
            <p:nvPr/>
          </p:nvSpPr>
          <p:spPr>
            <a:xfrm>
              <a:off x="1838960" y="2733040"/>
              <a:ext cx="812800" cy="8128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E70E25A-619C-420C-82C5-B283FBC8EB8C}"/>
              </a:ext>
            </a:extLst>
          </p:cNvPr>
          <p:cNvGrpSpPr/>
          <p:nvPr/>
        </p:nvGrpSpPr>
        <p:grpSpPr>
          <a:xfrm>
            <a:off x="4678128" y="1990259"/>
            <a:ext cx="3335032" cy="1565254"/>
            <a:chOff x="4332690" y="2739590"/>
            <a:chExt cx="3335032" cy="1565254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8BBCD1E-4887-49F6-805B-5A7081AD58BC}"/>
                </a:ext>
              </a:extLst>
            </p:cNvPr>
            <p:cNvSpPr txBox="1"/>
            <p:nvPr/>
          </p:nvSpPr>
          <p:spPr>
            <a:xfrm>
              <a:off x="4332690" y="3658513"/>
              <a:ext cx="3335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Golden Age &amp; Early Optimism (1950–1970)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680F8D2-19FD-4FEE-98F0-C4E9DFF41ABA}"/>
                </a:ext>
              </a:extLst>
            </p:cNvPr>
            <p:cNvSpPr/>
            <p:nvPr/>
          </p:nvSpPr>
          <p:spPr>
            <a:xfrm>
              <a:off x="5593806" y="2739590"/>
              <a:ext cx="812800" cy="8128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66C12DA-EA61-4E9C-BD04-271988095316}"/>
              </a:ext>
            </a:extLst>
          </p:cNvPr>
          <p:cNvGrpSpPr/>
          <p:nvPr/>
        </p:nvGrpSpPr>
        <p:grpSpPr>
          <a:xfrm>
            <a:off x="8124920" y="2047761"/>
            <a:ext cx="3335032" cy="1634718"/>
            <a:chOff x="8622760" y="2733040"/>
            <a:chExt cx="3335032" cy="1634718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AEF9297-BA1E-40EB-97EB-2EEF3951FE8F}"/>
                </a:ext>
              </a:extLst>
            </p:cNvPr>
            <p:cNvSpPr txBox="1"/>
            <p:nvPr/>
          </p:nvSpPr>
          <p:spPr>
            <a:xfrm>
              <a:off x="8622760" y="3721427"/>
              <a:ext cx="3335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First AI Winter </a:t>
              </a:r>
            </a:p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(1970–1980)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5F5075D-9193-49F6-808B-69F4EC13A31B}"/>
                </a:ext>
              </a:extLst>
            </p:cNvPr>
            <p:cNvSpPr/>
            <p:nvPr/>
          </p:nvSpPr>
          <p:spPr>
            <a:xfrm>
              <a:off x="9883876" y="2733040"/>
              <a:ext cx="812800" cy="8128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02E42FB-8D53-48FC-950B-18326B00541E}"/>
              </a:ext>
            </a:extLst>
          </p:cNvPr>
          <p:cNvGrpSpPr/>
          <p:nvPr/>
        </p:nvGrpSpPr>
        <p:grpSpPr>
          <a:xfrm>
            <a:off x="2474486" y="3980289"/>
            <a:ext cx="3335032" cy="1533783"/>
            <a:chOff x="533926" y="3157141"/>
            <a:chExt cx="3335032" cy="1533783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F0DFDBD-62C4-41D7-A08C-103C23571F12}"/>
                </a:ext>
              </a:extLst>
            </p:cNvPr>
            <p:cNvSpPr txBox="1"/>
            <p:nvPr/>
          </p:nvSpPr>
          <p:spPr>
            <a:xfrm>
              <a:off x="533926" y="4044593"/>
              <a:ext cx="3335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Rise of Machine Learning </a:t>
              </a:r>
              <a:br>
                <a:rPr lang="en-US" b="1" dirty="0">
                  <a:solidFill>
                    <a:schemeClr val="bg1"/>
                  </a:solidFill>
                </a:rPr>
              </a:br>
              <a:r>
                <a:rPr lang="en-US" b="1" dirty="0">
                  <a:solidFill>
                    <a:schemeClr val="bg1"/>
                  </a:solidFill>
                </a:rPr>
                <a:t>1980–1990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14EF633-8E66-4077-AAAB-8522B4298C7C}"/>
                </a:ext>
              </a:extLst>
            </p:cNvPr>
            <p:cNvSpPr/>
            <p:nvPr/>
          </p:nvSpPr>
          <p:spPr>
            <a:xfrm>
              <a:off x="1795042" y="3157141"/>
              <a:ext cx="812800" cy="8128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E738EE6-7661-451C-AD1D-90D56FFBF6EC}"/>
              </a:ext>
            </a:extLst>
          </p:cNvPr>
          <p:cNvGrpSpPr/>
          <p:nvPr/>
        </p:nvGrpSpPr>
        <p:grpSpPr>
          <a:xfrm>
            <a:off x="6863804" y="3980289"/>
            <a:ext cx="3335032" cy="1533783"/>
            <a:chOff x="4332690" y="3157141"/>
            <a:chExt cx="3335032" cy="153378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DF9D0D2-0010-406D-A701-45399B32E2B4}"/>
                </a:ext>
              </a:extLst>
            </p:cNvPr>
            <p:cNvSpPr txBox="1"/>
            <p:nvPr/>
          </p:nvSpPr>
          <p:spPr>
            <a:xfrm>
              <a:off x="4332690" y="4044593"/>
              <a:ext cx="33350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Modern AI Boom </a:t>
              </a:r>
            </a:p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2000–Present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A4C7408-43E7-4070-96DC-AC00B9EA3707}"/>
                </a:ext>
              </a:extLst>
            </p:cNvPr>
            <p:cNvSpPr/>
            <p:nvPr/>
          </p:nvSpPr>
          <p:spPr>
            <a:xfrm>
              <a:off x="5482046" y="3157141"/>
              <a:ext cx="812800" cy="8128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108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F511FF-180F-4437-81FE-6A1521920379}"/>
              </a:ext>
            </a:extLst>
          </p:cNvPr>
          <p:cNvSpPr txBox="1"/>
          <p:nvPr/>
        </p:nvSpPr>
        <p:spPr>
          <a:xfrm>
            <a:off x="1613438" y="2498960"/>
            <a:ext cx="340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Early Foundations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(1940s–1950s)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8ABE627-A646-4BDB-AC8E-A655E055D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311" y="1941689"/>
            <a:ext cx="2058670" cy="216720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7BBE33B-185B-4DF8-9F77-CBC84A88F63C}"/>
              </a:ext>
            </a:extLst>
          </p:cNvPr>
          <p:cNvSpPr txBox="1"/>
          <p:nvPr/>
        </p:nvSpPr>
        <p:spPr>
          <a:xfrm>
            <a:off x="6096000" y="4108894"/>
            <a:ext cx="43732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1943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McCulloch &amp; Pitts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Propose a computational model of neural networks, laying groundwork for AI.</a:t>
            </a:r>
          </a:p>
        </p:txBody>
      </p:sp>
    </p:spTree>
    <p:extLst>
      <p:ext uri="{BB962C8B-B14F-4D97-AF65-F5344CB8AC3E}">
        <p14:creationId xmlns:p14="http://schemas.microsoft.com/office/powerpoint/2010/main" val="242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305" y="2260470"/>
            <a:ext cx="2058670" cy="15499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6096000" y="4108894"/>
            <a:ext cx="5161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1950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Alan Turing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Publishes "computing machinery and intelligence", introducing the </a:t>
            </a:r>
            <a:r>
              <a:rPr lang="en-US" dirty="0" err="1">
                <a:solidFill>
                  <a:schemeClr val="bg1"/>
                </a:solidFill>
              </a:rPr>
              <a:t>turing</a:t>
            </a:r>
            <a:r>
              <a:rPr lang="en-US" dirty="0">
                <a:solidFill>
                  <a:schemeClr val="bg1"/>
                </a:solidFill>
              </a:rPr>
              <a:t> test for machine intelligence.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66712F-1F8A-4B59-A29B-655D8D04CE6F}"/>
              </a:ext>
            </a:extLst>
          </p:cNvPr>
          <p:cNvGrpSpPr/>
          <p:nvPr/>
        </p:nvGrpSpPr>
        <p:grpSpPr>
          <a:xfrm>
            <a:off x="-41746" y="3096272"/>
            <a:ext cx="1565377" cy="1620899"/>
            <a:chOff x="-41746" y="3096272"/>
            <a:chExt cx="1565377" cy="16208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7521DC8-3E47-49A8-8C77-B56E3B7C8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208" y="3096272"/>
              <a:ext cx="1013470" cy="1066901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2730F5-9DCF-4D38-8D64-1329FF58785C}"/>
                </a:ext>
              </a:extLst>
            </p:cNvPr>
            <p:cNvSpPr txBox="1"/>
            <p:nvPr/>
          </p:nvSpPr>
          <p:spPr>
            <a:xfrm>
              <a:off x="-41746" y="4163173"/>
              <a:ext cx="156537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1943</a:t>
              </a: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McCulloch &amp; Pitts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3F13D3A-099E-4842-8042-D07EC2397643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97E802-5E54-41DD-91D7-5CF5E2C25BF1}"/>
              </a:ext>
            </a:extLst>
          </p:cNvPr>
          <p:cNvSpPr txBox="1"/>
          <p:nvPr/>
        </p:nvSpPr>
        <p:spPr>
          <a:xfrm>
            <a:off x="1613438" y="2498960"/>
            <a:ext cx="3335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Early Foundations (1940s–1950s)</a:t>
            </a:r>
          </a:p>
        </p:txBody>
      </p:sp>
    </p:spTree>
    <p:extLst>
      <p:ext uri="{BB962C8B-B14F-4D97-AF65-F5344CB8AC3E}">
        <p14:creationId xmlns:p14="http://schemas.microsoft.com/office/powerpoint/2010/main" val="241056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295" y="1771456"/>
            <a:ext cx="3519800" cy="23374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6096000" y="4108894"/>
            <a:ext cx="5161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1956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Dartmouth conference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Coins the term "Artificial Intelligence" and establishes ai as a field.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ED3C4E-6464-4AED-88B4-E8CFB292EA23}"/>
              </a:ext>
            </a:extLst>
          </p:cNvPr>
          <p:cNvGrpSpPr/>
          <p:nvPr/>
        </p:nvGrpSpPr>
        <p:grpSpPr>
          <a:xfrm>
            <a:off x="2216139" y="3211020"/>
            <a:ext cx="1697458" cy="1478108"/>
            <a:chOff x="-62962" y="3248204"/>
            <a:chExt cx="1697458" cy="147810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1A321B0-9E39-413A-9059-CDE8205B0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208" y="3248204"/>
              <a:ext cx="1013470" cy="76303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4F852C-ABC5-46B1-BB37-A53146511118}"/>
                </a:ext>
              </a:extLst>
            </p:cNvPr>
            <p:cNvSpPr txBox="1"/>
            <p:nvPr/>
          </p:nvSpPr>
          <p:spPr>
            <a:xfrm>
              <a:off x="-62962" y="4187703"/>
              <a:ext cx="1697458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1950</a:t>
              </a:r>
            </a:p>
            <a:p>
              <a:pPr algn="ctr"/>
              <a:r>
                <a:rPr lang="en-US" sz="1100" b="1" dirty="0">
                  <a:solidFill>
                    <a:schemeClr val="bg1"/>
                  </a:solidFill>
                </a:rPr>
                <a:t>Alan Turing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99B259E1-F4D3-4684-A9F8-841F9070A6A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97099D-8B0D-4457-8069-8EBD1747A96A}"/>
              </a:ext>
            </a:extLst>
          </p:cNvPr>
          <p:cNvGrpSpPr/>
          <p:nvPr/>
        </p:nvGrpSpPr>
        <p:grpSpPr>
          <a:xfrm>
            <a:off x="324014" y="3096272"/>
            <a:ext cx="1565377" cy="1620899"/>
            <a:chOff x="-41746" y="3096272"/>
            <a:chExt cx="1565377" cy="162089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7B53612-667D-49F8-A7DE-ED136FA75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208" y="3096272"/>
              <a:ext cx="1013470" cy="1066901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B3717C-9174-4C33-8310-CA65865E474F}"/>
                </a:ext>
              </a:extLst>
            </p:cNvPr>
            <p:cNvSpPr txBox="1"/>
            <p:nvPr/>
          </p:nvSpPr>
          <p:spPr>
            <a:xfrm>
              <a:off x="-41746" y="4163173"/>
              <a:ext cx="156537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1943</a:t>
              </a: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McCulloch &amp; Pitts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40DD1BF-3543-4472-BBED-14568BDF9741}"/>
              </a:ext>
            </a:extLst>
          </p:cNvPr>
          <p:cNvSpPr txBox="1"/>
          <p:nvPr/>
        </p:nvSpPr>
        <p:spPr>
          <a:xfrm>
            <a:off x="1613438" y="2123040"/>
            <a:ext cx="3335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Early Foundations (1940s–1950s)</a:t>
            </a:r>
          </a:p>
        </p:txBody>
      </p:sp>
    </p:spTree>
    <p:extLst>
      <p:ext uri="{BB962C8B-B14F-4D97-AF65-F5344CB8AC3E}">
        <p14:creationId xmlns:p14="http://schemas.microsoft.com/office/powerpoint/2010/main" val="306879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311" y="2461364"/>
            <a:ext cx="2776932" cy="15213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5151120" y="4251134"/>
            <a:ext cx="6512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1956–1969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Logic-Based AI: </a:t>
            </a:r>
            <a:r>
              <a:rPr lang="en-US" dirty="0">
                <a:solidFill>
                  <a:schemeClr val="bg1"/>
                </a:solidFill>
              </a:rPr>
              <a:t>Programs like Logic Theorist (Newell &amp; Simon) prove mathematical theorems.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ELIZA (1966): </a:t>
            </a:r>
            <a:r>
              <a:rPr lang="en-US" dirty="0">
                <a:solidFill>
                  <a:schemeClr val="bg1"/>
                </a:solidFill>
              </a:rPr>
              <a:t>Early chatbot simulating a psychotherapist (Joseph </a:t>
            </a:r>
            <a:r>
              <a:rPr lang="en-US" dirty="0" err="1">
                <a:solidFill>
                  <a:schemeClr val="bg1"/>
                </a:solidFill>
              </a:rPr>
              <a:t>Weizenbaum</a:t>
            </a:r>
            <a:r>
              <a:rPr lang="en-US" dirty="0">
                <a:solidFill>
                  <a:schemeClr val="bg1"/>
                </a:solidFill>
              </a:rPr>
              <a:t>).</a:t>
            </a:r>
          </a:p>
          <a:p>
            <a:pPr algn="just"/>
            <a:r>
              <a:rPr lang="en-US" b="1" dirty="0" err="1">
                <a:solidFill>
                  <a:schemeClr val="bg1"/>
                </a:solidFill>
              </a:rPr>
              <a:t>Perceptrons</a:t>
            </a:r>
            <a:r>
              <a:rPr lang="en-US" b="1" dirty="0">
                <a:solidFill>
                  <a:schemeClr val="bg1"/>
                </a:solidFill>
              </a:rPr>
              <a:t> (1957): </a:t>
            </a:r>
            <a:r>
              <a:rPr lang="en-US" dirty="0">
                <a:solidFill>
                  <a:schemeClr val="bg1"/>
                </a:solidFill>
              </a:rPr>
              <a:t>Frank Rosenblatt’s early neural network model.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317D5-055D-4388-A9D0-C181B3792AF6}"/>
              </a:ext>
            </a:extLst>
          </p:cNvPr>
          <p:cNvSpPr txBox="1"/>
          <p:nvPr/>
        </p:nvSpPr>
        <p:spPr>
          <a:xfrm>
            <a:off x="533926" y="2606099"/>
            <a:ext cx="43022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Golden Age &amp; Early Optimism (1950s–1970s)</a:t>
            </a:r>
          </a:p>
        </p:txBody>
      </p:sp>
    </p:spTree>
    <p:extLst>
      <p:ext uri="{BB962C8B-B14F-4D97-AF65-F5344CB8AC3E}">
        <p14:creationId xmlns:p14="http://schemas.microsoft.com/office/powerpoint/2010/main" val="321546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736" y="2461364"/>
            <a:ext cx="2742082" cy="15213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5151120" y="4251134"/>
            <a:ext cx="651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1969 </a:t>
            </a:r>
          </a:p>
          <a:p>
            <a:pPr algn="ctr"/>
            <a:r>
              <a:rPr lang="en-US" b="1" dirty="0" err="1">
                <a:solidFill>
                  <a:schemeClr val="bg1"/>
                </a:solidFill>
              </a:rPr>
              <a:t>Shakey</a:t>
            </a:r>
            <a:r>
              <a:rPr lang="en-US" b="1" dirty="0">
                <a:solidFill>
                  <a:schemeClr val="bg1"/>
                </a:solidFill>
              </a:rPr>
              <a:t> the Robot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First general-purpose mobile robot using logic and planning.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317D5-055D-4388-A9D0-C181B3792AF6}"/>
              </a:ext>
            </a:extLst>
          </p:cNvPr>
          <p:cNvSpPr txBox="1"/>
          <p:nvPr/>
        </p:nvSpPr>
        <p:spPr>
          <a:xfrm>
            <a:off x="533926" y="2606099"/>
            <a:ext cx="42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Golden Age &amp; Early Optimism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(1950s–1970s)</a:t>
            </a:r>
          </a:p>
        </p:txBody>
      </p:sp>
    </p:spTree>
    <p:extLst>
      <p:ext uri="{BB962C8B-B14F-4D97-AF65-F5344CB8AC3E}">
        <p14:creationId xmlns:p14="http://schemas.microsoft.com/office/powerpoint/2010/main" val="230790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736" y="2461364"/>
            <a:ext cx="2742082" cy="15213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6060016" y="4065112"/>
            <a:ext cx="505152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1970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Marvin Minsky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Expert Systems (e.g., MYCIN for medical diagnosis) gain traction using rule-based logic.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Japan’s Fifth Generation Project (1982) reignites interest but eventually stalls.</a:t>
            </a:r>
          </a:p>
          <a:p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317D5-055D-4388-A9D0-C181B3792AF6}"/>
              </a:ext>
            </a:extLst>
          </p:cNvPr>
          <p:cNvSpPr txBox="1"/>
          <p:nvPr/>
        </p:nvSpPr>
        <p:spPr>
          <a:xfrm>
            <a:off x="533926" y="2606099"/>
            <a:ext cx="3335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First AI Winter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(1970s–1980s)</a:t>
            </a:r>
          </a:p>
        </p:txBody>
      </p:sp>
    </p:spTree>
    <p:extLst>
      <p:ext uri="{BB962C8B-B14F-4D97-AF65-F5344CB8AC3E}">
        <p14:creationId xmlns:p14="http://schemas.microsoft.com/office/powerpoint/2010/main" val="954967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709" y="2599558"/>
            <a:ext cx="2058670" cy="115285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6096000" y="4108894"/>
            <a:ext cx="43732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1986s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Backpropagation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Rumelhart</a:t>
            </a:r>
            <a:r>
              <a:rPr lang="en-US" dirty="0">
                <a:solidFill>
                  <a:schemeClr val="bg1"/>
                </a:solidFill>
              </a:rPr>
              <a:t>, Hinton, Williams) revives neural networks.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317D5-055D-4388-A9D0-C181B3792AF6}"/>
              </a:ext>
            </a:extLst>
          </p:cNvPr>
          <p:cNvSpPr txBox="1"/>
          <p:nvPr/>
        </p:nvSpPr>
        <p:spPr>
          <a:xfrm>
            <a:off x="533926" y="2606099"/>
            <a:ext cx="3997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Rise of Machine Learning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1980s–1990s</a:t>
            </a:r>
          </a:p>
        </p:txBody>
      </p:sp>
    </p:spTree>
    <p:extLst>
      <p:ext uri="{BB962C8B-B14F-4D97-AF65-F5344CB8AC3E}">
        <p14:creationId xmlns:p14="http://schemas.microsoft.com/office/powerpoint/2010/main" val="3409411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828" y="2606099"/>
            <a:ext cx="1732432" cy="11528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6096000" y="4108894"/>
            <a:ext cx="43732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1990s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Statistical ML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(e.g., SVMs, Bayesian networks) replaces symbolic AI in many domains..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317D5-055D-4388-A9D0-C181B3792AF6}"/>
              </a:ext>
            </a:extLst>
          </p:cNvPr>
          <p:cNvSpPr txBox="1"/>
          <p:nvPr/>
        </p:nvSpPr>
        <p:spPr>
          <a:xfrm>
            <a:off x="533926" y="2606099"/>
            <a:ext cx="3936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Rise of Machine Learning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1980s–1990s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9354A9-6025-41B2-BF9C-0DB9153C3BE4}"/>
              </a:ext>
            </a:extLst>
          </p:cNvPr>
          <p:cNvGrpSpPr/>
          <p:nvPr/>
        </p:nvGrpSpPr>
        <p:grpSpPr>
          <a:xfrm>
            <a:off x="234981" y="3575103"/>
            <a:ext cx="1216169" cy="1299905"/>
            <a:chOff x="234981" y="3575103"/>
            <a:chExt cx="1216169" cy="129990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A19402-3CC5-4C8F-A12A-E050728A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987" y="3575103"/>
              <a:ext cx="1154163" cy="646331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30FD30-D9C6-4706-978F-76E6E0C08AEC}"/>
                </a:ext>
              </a:extLst>
            </p:cNvPr>
            <p:cNvSpPr txBox="1"/>
            <p:nvPr/>
          </p:nvSpPr>
          <p:spPr>
            <a:xfrm>
              <a:off x="234981" y="4228677"/>
              <a:ext cx="11541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1986s</a:t>
              </a:r>
              <a:endParaRPr lang="en-US" sz="12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200" b="1" dirty="0">
                  <a:solidFill>
                    <a:schemeClr val="bg1"/>
                  </a:solidFill>
                </a:rPr>
                <a:t>Backpropagation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678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458" y="2403978"/>
            <a:ext cx="2757172" cy="15440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6096000" y="4108894"/>
            <a:ext cx="43732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2000s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Big Data &amp; GPUs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Cheap storage and parallel computing enable training complex models.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317D5-055D-4388-A9D0-C181B3792AF6}"/>
              </a:ext>
            </a:extLst>
          </p:cNvPr>
          <p:cNvSpPr txBox="1"/>
          <p:nvPr/>
        </p:nvSpPr>
        <p:spPr>
          <a:xfrm>
            <a:off x="533926" y="2606099"/>
            <a:ext cx="3335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Modern AI Boom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2000s–Present</a:t>
            </a:r>
          </a:p>
        </p:txBody>
      </p:sp>
    </p:spTree>
    <p:extLst>
      <p:ext uri="{BB962C8B-B14F-4D97-AF65-F5344CB8AC3E}">
        <p14:creationId xmlns:p14="http://schemas.microsoft.com/office/powerpoint/2010/main" val="4184243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174" y="1673840"/>
            <a:ext cx="2747980" cy="15440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5130801" y="3429000"/>
            <a:ext cx="530352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2010s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Deep Learning Revolution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r>
              <a:rPr lang="fr-FR" sz="1400" b="1" dirty="0">
                <a:solidFill>
                  <a:schemeClr val="bg1"/>
                </a:solidFill>
              </a:rPr>
              <a:t>2012: </a:t>
            </a:r>
            <a:r>
              <a:rPr lang="fr-FR" sz="1400" dirty="0" err="1">
                <a:solidFill>
                  <a:schemeClr val="bg1"/>
                </a:solidFill>
              </a:rPr>
              <a:t>AlexNet</a:t>
            </a:r>
            <a:r>
              <a:rPr lang="fr-FR" sz="1400" dirty="0">
                <a:solidFill>
                  <a:schemeClr val="bg1"/>
                </a:solidFill>
              </a:rPr>
              <a:t> (Hinton et al.) </a:t>
            </a:r>
            <a:r>
              <a:rPr lang="fr-FR" sz="1400" dirty="0" err="1">
                <a:solidFill>
                  <a:schemeClr val="bg1"/>
                </a:solidFill>
              </a:rPr>
              <a:t>dominates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ImageNet</a:t>
            </a:r>
            <a:r>
              <a:rPr lang="fr-FR" sz="1400" dirty="0">
                <a:solidFill>
                  <a:schemeClr val="bg1"/>
                </a:solidFill>
              </a:rPr>
              <a:t>, </a:t>
            </a:r>
            <a:r>
              <a:rPr lang="fr-FR" sz="1400" dirty="0" err="1">
                <a:solidFill>
                  <a:schemeClr val="bg1"/>
                </a:solidFill>
              </a:rPr>
              <a:t>popularizing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CNNs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  <a:p>
            <a:br>
              <a:rPr lang="fr-FR" sz="1400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2014: </a:t>
            </a:r>
            <a:r>
              <a:rPr lang="en-US" sz="1400" dirty="0">
                <a:solidFill>
                  <a:schemeClr val="bg1"/>
                </a:solidFill>
              </a:rPr>
              <a:t>GANs (Generative Adversarial Networks) emerge.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2017: </a:t>
            </a:r>
            <a:r>
              <a:rPr lang="en-US" sz="1400" dirty="0">
                <a:solidFill>
                  <a:schemeClr val="bg1"/>
                </a:solidFill>
              </a:rPr>
              <a:t>Transformer architecture (Vaswani et al.) revolutionizes NLP (later used in GPT, BERT).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317D5-055D-4388-A9D0-C181B3792AF6}"/>
              </a:ext>
            </a:extLst>
          </p:cNvPr>
          <p:cNvSpPr txBox="1"/>
          <p:nvPr/>
        </p:nvSpPr>
        <p:spPr>
          <a:xfrm>
            <a:off x="533926" y="2606099"/>
            <a:ext cx="3335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Modern AI Boom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2000s–Present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78BED2-54D9-4EF0-B3A0-A963CEB9D415}"/>
              </a:ext>
            </a:extLst>
          </p:cNvPr>
          <p:cNvGrpSpPr/>
          <p:nvPr/>
        </p:nvGrpSpPr>
        <p:grpSpPr>
          <a:xfrm>
            <a:off x="-142241" y="3429000"/>
            <a:ext cx="1899920" cy="1169551"/>
            <a:chOff x="-75892" y="4058920"/>
            <a:chExt cx="1899920" cy="116955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AB9C94B-5770-4889-81C4-B97A681FC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987" y="4058920"/>
              <a:ext cx="1154163" cy="646331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CA0ED9-1DF0-493E-8504-3BC5521C3165}"/>
                </a:ext>
              </a:extLst>
            </p:cNvPr>
            <p:cNvSpPr txBox="1"/>
            <p:nvPr/>
          </p:nvSpPr>
          <p:spPr>
            <a:xfrm>
              <a:off x="-75892" y="4705251"/>
              <a:ext cx="18999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2000s</a:t>
              </a:r>
              <a:endParaRPr lang="en-US" sz="1400" dirty="0">
                <a:solidFill>
                  <a:schemeClr val="bg1"/>
                </a:solidFill>
              </a:endParaRP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Big Data &amp; GPUs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994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1AD91-EE43-4469-A1A6-0A762D259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809" y="3442285"/>
            <a:ext cx="1107581" cy="6223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0F200B-90A4-4904-B6DA-E507E0AA67BC}"/>
              </a:ext>
            </a:extLst>
          </p:cNvPr>
          <p:cNvSpPr txBox="1"/>
          <p:nvPr/>
        </p:nvSpPr>
        <p:spPr>
          <a:xfrm>
            <a:off x="5130801" y="3429000"/>
            <a:ext cx="5303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2020s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Generative AI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 err="1">
                <a:solidFill>
                  <a:schemeClr val="bg1"/>
                </a:solidFill>
              </a:rPr>
              <a:t>ChatGPT</a:t>
            </a:r>
            <a:r>
              <a:rPr lang="en-US" dirty="0">
                <a:solidFill>
                  <a:schemeClr val="bg1"/>
                </a:solidFill>
              </a:rPr>
              <a:t> (2022), DALL-E, and multimodal models blur lines between human/machine creativity.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F62E9EFC-ED2E-4AD3-8192-15508D1ABD02}"/>
              </a:ext>
            </a:extLst>
          </p:cNvPr>
          <p:cNvSpPr txBox="1">
            <a:spLocks/>
          </p:cNvSpPr>
          <p:nvPr/>
        </p:nvSpPr>
        <p:spPr>
          <a:xfrm>
            <a:off x="987711" y="99849"/>
            <a:ext cx="10216577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900" b="1">
                <a:solidFill>
                  <a:schemeClr val="bg1"/>
                </a:solidFill>
                <a:effectLst/>
              </a:rPr>
              <a:t>Historical evolution of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317D5-055D-4388-A9D0-C181B3792AF6}"/>
              </a:ext>
            </a:extLst>
          </p:cNvPr>
          <p:cNvSpPr txBox="1"/>
          <p:nvPr/>
        </p:nvSpPr>
        <p:spPr>
          <a:xfrm>
            <a:off x="533926" y="2606099"/>
            <a:ext cx="3335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Modern AI Boom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2000s–Present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B9C94B-5770-4889-81C4-B97A681FC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37" y="3429000"/>
            <a:ext cx="1154163" cy="64633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CA0ED9-1DF0-493E-8504-3BC5521C3165}"/>
              </a:ext>
            </a:extLst>
          </p:cNvPr>
          <p:cNvSpPr txBox="1"/>
          <p:nvPr/>
        </p:nvSpPr>
        <p:spPr>
          <a:xfrm>
            <a:off x="-142241" y="4075331"/>
            <a:ext cx="1899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2000s</a:t>
            </a:r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Big Data &amp; GPUs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06565E-4AB6-426E-832F-10352BD8D764}"/>
              </a:ext>
            </a:extLst>
          </p:cNvPr>
          <p:cNvSpPr txBox="1"/>
          <p:nvPr/>
        </p:nvSpPr>
        <p:spPr>
          <a:xfrm>
            <a:off x="1590076" y="4075331"/>
            <a:ext cx="249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2010s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Deep Learning Revolution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4353FD-E0A3-41F6-AE39-902228C00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514" y="1673840"/>
            <a:ext cx="2069299" cy="154401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68852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Symbolic vs Machine Learning AI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56461D-05FC-4127-AF0F-98FFB3AAABDA}"/>
              </a:ext>
            </a:extLst>
          </p:cNvPr>
          <p:cNvGrpSpPr/>
          <p:nvPr/>
        </p:nvGrpSpPr>
        <p:grpSpPr>
          <a:xfrm>
            <a:off x="149672" y="2143864"/>
            <a:ext cx="5397688" cy="3661414"/>
            <a:chOff x="149672" y="2143864"/>
            <a:chExt cx="5397688" cy="366141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0747630-C099-491C-AEE3-4B87A2ABF01D}"/>
                </a:ext>
              </a:extLst>
            </p:cNvPr>
            <p:cNvGrpSpPr/>
            <p:nvPr/>
          </p:nvGrpSpPr>
          <p:grpSpPr>
            <a:xfrm>
              <a:off x="149672" y="2143864"/>
              <a:ext cx="5397688" cy="3295247"/>
              <a:chOff x="129352" y="2143864"/>
              <a:chExt cx="5397688" cy="3295247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1F069B90-7746-4CB6-9416-5F003FA3C4F2}"/>
                  </a:ext>
                </a:extLst>
              </p:cNvPr>
              <p:cNvGrpSpPr/>
              <p:nvPr/>
            </p:nvGrpSpPr>
            <p:grpSpPr>
              <a:xfrm>
                <a:off x="129352" y="2143864"/>
                <a:ext cx="5397688" cy="2118031"/>
                <a:chOff x="129352" y="2143864"/>
                <a:chExt cx="5397688" cy="2118031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F648B34-2BFE-4EC7-8A99-12ADA021F753}"/>
                    </a:ext>
                  </a:extLst>
                </p:cNvPr>
                <p:cNvSpPr txBox="1"/>
                <p:nvPr/>
              </p:nvSpPr>
              <p:spPr>
                <a:xfrm>
                  <a:off x="2074938" y="2143864"/>
                  <a:ext cx="19687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1" u="sng" dirty="0">
                      <a:solidFill>
                        <a:schemeClr val="bg1"/>
                      </a:solidFill>
                    </a:rPr>
                    <a:t>Symbolic AI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B24B2285-C239-4B74-9801-60E11F05587C}"/>
                    </a:ext>
                  </a:extLst>
                </p:cNvPr>
                <p:cNvSpPr txBox="1"/>
                <p:nvPr/>
              </p:nvSpPr>
              <p:spPr>
                <a:xfrm>
                  <a:off x="129352" y="2630679"/>
                  <a:ext cx="5397688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 algn="just">
                    <a:buAutoNum type="arabicPeriod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Uses predefined rules and knowledge representation</a:t>
                  </a:r>
                </a:p>
                <a:p>
                  <a:pPr marL="342900" indent="-342900" algn="just">
                    <a:buAutoNum type="arabicPeriod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Relies on human expertise and logic</a:t>
                  </a:r>
                </a:p>
                <a:p>
                  <a:pPr marL="342900" indent="-342900" algn="just">
                    <a:buAutoNum type="arabicPeriod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Suitable for well-defined problems</a:t>
                  </a:r>
                </a:p>
                <a:p>
                  <a:pPr algn="just"/>
                  <a:r>
                    <a:rPr lang="en-US" sz="2000" b="1" dirty="0">
                      <a:solidFill>
                        <a:schemeClr val="bg1"/>
                      </a:solidFill>
                    </a:rPr>
                    <a:t>Examples</a:t>
                  </a:r>
                  <a:endParaRPr lang="en-US" sz="2000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DA09FF40-2EAC-4676-9177-EF1D61707F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6201" y="4373280"/>
                <a:ext cx="1903270" cy="1065831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CDA3EC2-E201-40DE-A1D2-1CDBEB96C5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72080" y="4437744"/>
                <a:ext cx="2572861" cy="916922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2E2BFEB-182D-4649-8BC1-8F8258812EB1}"/>
                </a:ext>
              </a:extLst>
            </p:cNvPr>
            <p:cNvSpPr txBox="1"/>
            <p:nvPr/>
          </p:nvSpPr>
          <p:spPr>
            <a:xfrm>
              <a:off x="336201" y="5435946"/>
              <a:ext cx="218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Logic Based</a:t>
              </a:r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C9D8227-355F-491F-8F13-A6ED3F2FDFFF}"/>
                </a:ext>
              </a:extLst>
            </p:cNvPr>
            <p:cNvSpPr txBox="1"/>
            <p:nvPr/>
          </p:nvSpPr>
          <p:spPr>
            <a:xfrm>
              <a:off x="2953210" y="5416061"/>
              <a:ext cx="218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Rule-based systems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141FDD3-5DE6-4E6F-BA9D-A4D70E0367A8}"/>
              </a:ext>
            </a:extLst>
          </p:cNvPr>
          <p:cNvGrpSpPr/>
          <p:nvPr/>
        </p:nvGrpSpPr>
        <p:grpSpPr>
          <a:xfrm>
            <a:off x="6075680" y="2120920"/>
            <a:ext cx="5721082" cy="3318191"/>
            <a:chOff x="6075680" y="2120920"/>
            <a:chExt cx="5721082" cy="331819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F12DF24-6652-4B04-99D1-C3F518696632}"/>
                </a:ext>
              </a:extLst>
            </p:cNvPr>
            <p:cNvGrpSpPr/>
            <p:nvPr/>
          </p:nvGrpSpPr>
          <p:grpSpPr>
            <a:xfrm>
              <a:off x="6075680" y="2120920"/>
              <a:ext cx="5201920" cy="1780286"/>
              <a:chOff x="464632" y="2120920"/>
              <a:chExt cx="4354455" cy="1780286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CC89EF7-8FD0-49C3-899A-E5B7A774CB9C}"/>
                  </a:ext>
                </a:extLst>
              </p:cNvPr>
              <p:cNvSpPr txBox="1"/>
              <p:nvPr/>
            </p:nvSpPr>
            <p:spPr>
              <a:xfrm>
                <a:off x="1510722" y="2120920"/>
                <a:ext cx="25161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Machine Learning AI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3698F58-9740-439F-BC17-E0D2ED102C12}"/>
                  </a:ext>
                </a:extLst>
              </p:cNvPr>
              <p:cNvSpPr txBox="1"/>
              <p:nvPr/>
            </p:nvSpPr>
            <p:spPr>
              <a:xfrm>
                <a:off x="464632" y="2577767"/>
                <a:ext cx="435445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AutoNum type="arabicPeriod"/>
                </a:pPr>
                <a:r>
                  <a:rPr lang="en-US" sz="2000" dirty="0">
                    <a:solidFill>
                      <a:schemeClr val="bg1"/>
                    </a:solidFill>
                  </a:rPr>
                  <a:t>Learns from data and identifies patterns</a:t>
                </a:r>
              </a:p>
              <a:p>
                <a:pPr marL="342900" indent="-342900" algn="just">
                  <a:buAutoNum type="arabicPeriod"/>
                </a:pPr>
                <a:r>
                  <a:rPr lang="en-US" sz="2000" dirty="0">
                    <a:solidFill>
                      <a:schemeClr val="bg1"/>
                    </a:solidFill>
                  </a:rPr>
                  <a:t>Improves performance over time</a:t>
                </a:r>
              </a:p>
              <a:p>
                <a:pPr marL="342900" indent="-342900" algn="just">
                  <a:buAutoNum type="arabicPeriod"/>
                </a:pPr>
                <a:r>
                  <a:rPr lang="en-US" sz="2000" dirty="0">
                    <a:solidFill>
                      <a:schemeClr val="bg1"/>
                    </a:solidFill>
                  </a:rPr>
                  <a:t>Suitable for complex, data-driven problems</a:t>
                </a:r>
              </a:p>
              <a:p>
                <a:pPr algn="just"/>
                <a:r>
                  <a:rPr lang="en-US" sz="2000" b="1" dirty="0">
                    <a:solidFill>
                      <a:schemeClr val="bg1"/>
                    </a:solidFill>
                  </a:rPr>
                  <a:t>Examples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E6B215A-0A86-42FD-921D-86D10FD72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061" y="4072498"/>
              <a:ext cx="1485905" cy="109877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EE194C4-34E7-472E-9B3C-EB5AE0C81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98364" y="4072498"/>
              <a:ext cx="1831288" cy="109877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5707B01-6816-41BB-AA52-4D49B7DCA2E8}"/>
                </a:ext>
              </a:extLst>
            </p:cNvPr>
            <p:cNvSpPr txBox="1"/>
            <p:nvPr/>
          </p:nvSpPr>
          <p:spPr>
            <a:xfrm>
              <a:off x="6714958" y="5069779"/>
              <a:ext cx="218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Image Recognition</a:t>
              </a:r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4CF0BC9-254C-4F45-8836-6EAF3C5C54D1}"/>
                </a:ext>
              </a:extLst>
            </p:cNvPr>
            <p:cNvSpPr txBox="1"/>
            <p:nvPr/>
          </p:nvSpPr>
          <p:spPr>
            <a:xfrm>
              <a:off x="8865575" y="5069779"/>
              <a:ext cx="29311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Natural Language Processing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0438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Key Domains in AI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FA83FB-ACEC-40F8-99B6-80A5E6010137}"/>
              </a:ext>
            </a:extLst>
          </p:cNvPr>
          <p:cNvGrpSpPr/>
          <p:nvPr/>
        </p:nvGrpSpPr>
        <p:grpSpPr>
          <a:xfrm>
            <a:off x="296987" y="1630770"/>
            <a:ext cx="3783169" cy="3984485"/>
            <a:chOff x="296987" y="1630770"/>
            <a:chExt cx="3783169" cy="398448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CA983E-BD15-47C1-B19C-8B6C72DC53CE}"/>
                </a:ext>
              </a:extLst>
            </p:cNvPr>
            <p:cNvSpPr txBox="1"/>
            <p:nvPr/>
          </p:nvSpPr>
          <p:spPr>
            <a:xfrm>
              <a:off x="740943" y="1630770"/>
              <a:ext cx="33305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chemeClr val="bg1"/>
                  </a:solidFill>
                </a:rPr>
                <a:t>Natural Language Processing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C5DD48B-689B-448F-B955-3231DEF27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5983" y="2119519"/>
              <a:ext cx="1831288" cy="109877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4C83A8-7A6F-4BE3-BA2D-C0FCAF48E535}"/>
                </a:ext>
              </a:extLst>
            </p:cNvPr>
            <p:cNvSpPr txBox="1"/>
            <p:nvPr/>
          </p:nvSpPr>
          <p:spPr>
            <a:xfrm>
              <a:off x="296987" y="3306931"/>
              <a:ext cx="378316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solidFill>
                    <a:schemeClr val="bg1"/>
                  </a:solidFill>
                </a:rPr>
                <a:t>NLP deals with the interaction b/w </a:t>
              </a:r>
              <a:r>
                <a:rPr lang="en-US" b="1" dirty="0">
                  <a:solidFill>
                    <a:schemeClr val="bg1"/>
                  </a:solidFill>
                </a:rPr>
                <a:t>computers</a:t>
              </a:r>
              <a:r>
                <a:rPr lang="en-US" dirty="0">
                  <a:solidFill>
                    <a:schemeClr val="bg1"/>
                  </a:solidFill>
                </a:rPr>
                <a:t> and </a:t>
              </a:r>
              <a:r>
                <a:rPr lang="en-US" b="1" dirty="0">
                  <a:solidFill>
                    <a:schemeClr val="bg1"/>
                  </a:solidFill>
                </a:rPr>
                <a:t>human</a:t>
              </a:r>
              <a:r>
                <a:rPr lang="en-US" dirty="0">
                  <a:solidFill>
                    <a:schemeClr val="bg1"/>
                  </a:solidFill>
                </a:rPr>
                <a:t> (natural) language.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Natural Language Understanding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Natural Language Generation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Speech Recognition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Machine Translation etc.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C130E7-E276-4597-9171-F040893D81F6}"/>
              </a:ext>
            </a:extLst>
          </p:cNvPr>
          <p:cNvGrpSpPr/>
          <p:nvPr/>
        </p:nvGrpSpPr>
        <p:grpSpPr>
          <a:xfrm>
            <a:off x="4209442" y="1630770"/>
            <a:ext cx="3577058" cy="3984485"/>
            <a:chOff x="4209442" y="1630770"/>
            <a:chExt cx="3577058" cy="398448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DD82E1-B6C5-4ED2-BE5D-CC48776E63B5}"/>
                </a:ext>
              </a:extLst>
            </p:cNvPr>
            <p:cNvSpPr txBox="1"/>
            <p:nvPr/>
          </p:nvSpPr>
          <p:spPr>
            <a:xfrm>
              <a:off x="5082327" y="1630770"/>
              <a:ext cx="2027346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chemeClr val="bg1"/>
                  </a:solidFill>
                </a:rPr>
                <a:t>Computer Vision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B4A41F2-4838-40D7-A539-D66DC711E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2327" y="2154429"/>
              <a:ext cx="1831288" cy="102895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D59EF8-2455-4958-87F9-845D0FEF2744}"/>
                </a:ext>
              </a:extLst>
            </p:cNvPr>
            <p:cNvSpPr txBox="1"/>
            <p:nvPr/>
          </p:nvSpPr>
          <p:spPr>
            <a:xfrm>
              <a:off x="4209442" y="3306931"/>
              <a:ext cx="3577058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solidFill>
                    <a:schemeClr val="bg1"/>
                  </a:solidFill>
                </a:rPr>
                <a:t>Computer Vision enables computers to </a:t>
              </a:r>
              <a:r>
                <a:rPr lang="en-US" b="1" dirty="0">
                  <a:solidFill>
                    <a:schemeClr val="bg1"/>
                  </a:solidFill>
                </a:rPr>
                <a:t>see, interpret </a:t>
              </a:r>
              <a:r>
                <a:rPr lang="en-US" dirty="0">
                  <a:solidFill>
                    <a:schemeClr val="bg1"/>
                  </a:solidFill>
                </a:rPr>
                <a:t>and</a:t>
              </a:r>
              <a:r>
                <a:rPr lang="en-US" b="1" dirty="0">
                  <a:solidFill>
                    <a:schemeClr val="bg1"/>
                  </a:solidFill>
                </a:rPr>
                <a:t> understand </a:t>
              </a:r>
              <a:r>
                <a:rPr lang="en-US" dirty="0">
                  <a:solidFill>
                    <a:schemeClr val="bg1"/>
                  </a:solidFill>
                </a:rPr>
                <a:t>the visual world.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Image classification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Object Detection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Object Tracking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Facial Recognition etc.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817A71-51A3-4767-ACD5-7651B4D5A664}"/>
              </a:ext>
            </a:extLst>
          </p:cNvPr>
          <p:cNvGrpSpPr/>
          <p:nvPr/>
        </p:nvGrpSpPr>
        <p:grpSpPr>
          <a:xfrm>
            <a:off x="8111846" y="1635940"/>
            <a:ext cx="3937914" cy="4256314"/>
            <a:chOff x="8111846" y="1635940"/>
            <a:chExt cx="3937914" cy="425631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0094C8B-4D9B-477B-8281-4836C8CD3559}"/>
                </a:ext>
              </a:extLst>
            </p:cNvPr>
            <p:cNvSpPr txBox="1"/>
            <p:nvPr/>
          </p:nvSpPr>
          <p:spPr>
            <a:xfrm>
              <a:off x="9309956" y="1635940"/>
              <a:ext cx="11040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u="sng" dirty="0">
                  <a:solidFill>
                    <a:schemeClr val="bg1"/>
                  </a:solidFill>
                </a:rPr>
                <a:t>Robotics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DB21DEC-D75F-429E-B31F-509D385DA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0032" y="2154428"/>
              <a:ext cx="1714918" cy="102895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6ABE2C4-6950-4A9A-BD69-569A614D9A27}"/>
                </a:ext>
              </a:extLst>
            </p:cNvPr>
            <p:cNvSpPr txBox="1"/>
            <p:nvPr/>
          </p:nvSpPr>
          <p:spPr>
            <a:xfrm>
              <a:off x="8111846" y="3306931"/>
              <a:ext cx="3937914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dirty="0">
                  <a:solidFill>
                    <a:schemeClr val="bg1"/>
                  </a:solidFill>
                </a:rPr>
                <a:t>Robotics is a </a:t>
              </a:r>
              <a:r>
                <a:rPr lang="en-US" b="1" dirty="0">
                  <a:solidFill>
                    <a:schemeClr val="bg1"/>
                  </a:solidFill>
                </a:rPr>
                <a:t>multidisciplinary</a:t>
              </a:r>
              <a:r>
                <a:rPr lang="en-US" dirty="0">
                  <a:solidFill>
                    <a:schemeClr val="bg1"/>
                  </a:solidFill>
                </a:rPr>
                <a:t> field that integrates AI with </a:t>
              </a:r>
              <a:r>
                <a:rPr lang="en-US" b="1" dirty="0">
                  <a:solidFill>
                    <a:schemeClr val="bg1"/>
                  </a:solidFill>
                </a:rPr>
                <a:t>Physical</a:t>
              </a:r>
              <a:r>
                <a:rPr lang="en-US" dirty="0">
                  <a:solidFill>
                    <a:schemeClr val="bg1"/>
                  </a:solidFill>
                </a:rPr>
                <a:t> machines (robots) to enable them to perform tasks, often autonomously in the real world.</a:t>
              </a:r>
            </a:p>
            <a:p>
              <a:pPr algn="just"/>
              <a:endParaRPr lang="en-US" dirty="0">
                <a:solidFill>
                  <a:schemeClr val="bg1"/>
                </a:solidFill>
              </a:endParaRP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Perception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Motion Planning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Manipulation</a:t>
              </a:r>
            </a:p>
            <a:p>
              <a:pPr marL="285750" indent="-285750" algn="just">
                <a:buFontTx/>
                <a:buChar char="-"/>
              </a:pPr>
              <a:r>
                <a:rPr lang="en-US" dirty="0">
                  <a:solidFill>
                    <a:schemeClr val="bg1"/>
                  </a:solidFill>
                </a:rPr>
                <a:t>Human-robot interaction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50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82" y="99849"/>
            <a:ext cx="11692077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Artificial Intelligence in Different Fields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35F73D-6F4B-408C-BD25-1B08BD0AEA80}"/>
              </a:ext>
            </a:extLst>
          </p:cNvPr>
          <p:cNvGrpSpPr/>
          <p:nvPr/>
        </p:nvGrpSpPr>
        <p:grpSpPr>
          <a:xfrm>
            <a:off x="581202" y="2062729"/>
            <a:ext cx="4336237" cy="1600439"/>
            <a:chOff x="256082" y="1869421"/>
            <a:chExt cx="4336237" cy="160043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CA983E-BD15-47C1-B19C-8B6C72DC53CE}"/>
                </a:ext>
              </a:extLst>
            </p:cNvPr>
            <p:cNvSpPr txBox="1"/>
            <p:nvPr/>
          </p:nvSpPr>
          <p:spPr>
            <a:xfrm>
              <a:off x="292902" y="1869421"/>
              <a:ext cx="1484097" cy="40011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Healthcare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B5EA83-1DD0-47DF-BABC-D9E673BB8DFC}"/>
                </a:ext>
              </a:extLst>
            </p:cNvPr>
            <p:cNvSpPr txBox="1"/>
            <p:nvPr/>
          </p:nvSpPr>
          <p:spPr>
            <a:xfrm>
              <a:off x="256082" y="2269531"/>
              <a:ext cx="433623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Disease prediction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Medical imaging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AI in diagnostics</a:t>
              </a:r>
            </a:p>
            <a:p>
              <a:pPr algn="just"/>
              <a:r>
                <a:rPr lang="en-US" b="1" dirty="0">
                  <a:solidFill>
                    <a:schemeClr val="bg1"/>
                  </a:solidFill>
                </a:rPr>
                <a:t>Example: </a:t>
              </a:r>
              <a:r>
                <a:rPr lang="en-US" dirty="0">
                  <a:solidFill>
                    <a:schemeClr val="bg1"/>
                  </a:solidFill>
                </a:rPr>
                <a:t>Cancer detection using DL models</a:t>
              </a: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4932EE30-D1B9-42FF-A017-A29A23DE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538" y="1981200"/>
            <a:ext cx="2614628" cy="14641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F4AC22-4FE2-4237-8D7D-9B2C77CA0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160" y="1914075"/>
            <a:ext cx="2469760" cy="13830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535BF04-A040-4198-B17F-03266946DF50}"/>
              </a:ext>
            </a:extLst>
          </p:cNvPr>
          <p:cNvGrpSpPr/>
          <p:nvPr/>
        </p:nvGrpSpPr>
        <p:grpSpPr>
          <a:xfrm>
            <a:off x="6055362" y="2062729"/>
            <a:ext cx="4336237" cy="1600439"/>
            <a:chOff x="256082" y="1869421"/>
            <a:chExt cx="4336237" cy="160043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BB51589-2EC6-4950-ABEF-1D67FC82064E}"/>
                </a:ext>
              </a:extLst>
            </p:cNvPr>
            <p:cNvSpPr txBox="1"/>
            <p:nvPr/>
          </p:nvSpPr>
          <p:spPr>
            <a:xfrm>
              <a:off x="292902" y="1869421"/>
              <a:ext cx="1484097" cy="40011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Agriculture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EE26F19-5236-4239-BB8E-2F0E2B174466}"/>
                </a:ext>
              </a:extLst>
            </p:cNvPr>
            <p:cNvSpPr txBox="1"/>
            <p:nvPr/>
          </p:nvSpPr>
          <p:spPr>
            <a:xfrm>
              <a:off x="256082" y="2269531"/>
              <a:ext cx="433623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- Crop yield prediction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Pest and disease detection </a:t>
              </a:r>
              <a:r>
                <a:rPr lang="en-US" dirty="0"/>
                <a:t>using drones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Soil and weather analysis</a:t>
              </a:r>
            </a:p>
            <a:p>
              <a:pPr algn="just"/>
              <a:r>
                <a:rPr lang="en-US" b="1" dirty="0">
                  <a:solidFill>
                    <a:schemeClr val="bg1"/>
                  </a:solidFill>
                </a:rPr>
                <a:t>Example: </a:t>
              </a:r>
              <a:r>
                <a:rPr lang="en-US" dirty="0">
                  <a:solidFill>
                    <a:schemeClr val="bg1"/>
                  </a:solidFill>
                </a:rPr>
                <a:t>AI image analysis for plant diseases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3F2B00-3FB5-4FC5-86EE-F56FBB1F768F}"/>
              </a:ext>
            </a:extLst>
          </p:cNvPr>
          <p:cNvGrpSpPr/>
          <p:nvPr/>
        </p:nvGrpSpPr>
        <p:grpSpPr>
          <a:xfrm>
            <a:off x="678982" y="4033940"/>
            <a:ext cx="4427413" cy="1600439"/>
            <a:chOff x="296987" y="3972980"/>
            <a:chExt cx="4427413" cy="160043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6C35B4E-921F-492B-BCCD-2273593A1A0B}"/>
                </a:ext>
              </a:extLst>
            </p:cNvPr>
            <p:cNvSpPr txBox="1"/>
            <p:nvPr/>
          </p:nvSpPr>
          <p:spPr>
            <a:xfrm>
              <a:off x="296987" y="3972980"/>
              <a:ext cx="1484097" cy="40011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Finance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60F2790-9221-4665-BF2E-DA45F9A9E228}"/>
                </a:ext>
              </a:extLst>
            </p:cNvPr>
            <p:cNvSpPr txBox="1"/>
            <p:nvPr/>
          </p:nvSpPr>
          <p:spPr>
            <a:xfrm>
              <a:off x="296987" y="4373090"/>
              <a:ext cx="44274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Fraud detection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Credit scoring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Algorithmic trading</a:t>
              </a:r>
            </a:p>
            <a:p>
              <a:pPr algn="just"/>
              <a:r>
                <a:rPr lang="en-US" b="1" dirty="0">
                  <a:solidFill>
                    <a:schemeClr val="bg1"/>
                  </a:solidFill>
                </a:rPr>
                <a:t>Example: </a:t>
              </a:r>
              <a:r>
                <a:rPr lang="en-US" dirty="0">
                  <a:solidFill>
                    <a:schemeClr val="bg1"/>
                  </a:solidFill>
                </a:rPr>
                <a:t>Real-time transaction monitoring</a:t>
              </a: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463AECB3-DE1C-42A5-9EB2-C8B226E18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760" y="3914768"/>
            <a:ext cx="2215081" cy="14740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6BC6A8E3-2801-46A6-84CA-23964AB80702}"/>
              </a:ext>
            </a:extLst>
          </p:cNvPr>
          <p:cNvGrpSpPr/>
          <p:nvPr/>
        </p:nvGrpSpPr>
        <p:grpSpPr>
          <a:xfrm>
            <a:off x="6132820" y="4033940"/>
            <a:ext cx="4427413" cy="1600439"/>
            <a:chOff x="296987" y="3972980"/>
            <a:chExt cx="4427413" cy="160043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3AFCDC7-F832-46F7-98C3-C915497257C5}"/>
                </a:ext>
              </a:extLst>
            </p:cNvPr>
            <p:cNvSpPr txBox="1"/>
            <p:nvPr/>
          </p:nvSpPr>
          <p:spPr>
            <a:xfrm>
              <a:off x="296987" y="3972980"/>
              <a:ext cx="1958268" cy="400110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n w="0"/>
                  <a:solidFill>
                    <a:sysClr val="windowText" lastClr="0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Manufacturing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A982335-A538-4CAD-BEE6-751BBFA4F954}"/>
                </a:ext>
              </a:extLst>
            </p:cNvPr>
            <p:cNvSpPr txBox="1"/>
            <p:nvPr/>
          </p:nvSpPr>
          <p:spPr>
            <a:xfrm>
              <a:off x="296987" y="4373090"/>
              <a:ext cx="44274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Predictive maintenance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Robotics in assembly lines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Defect detection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Example: AI visual inspection systems</a:t>
              </a:r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581D2054-055E-457E-B3CF-86A487367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984" y="4015925"/>
            <a:ext cx="2438228" cy="13654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9297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82" y="99849"/>
            <a:ext cx="11692077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Conti…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0EA43F-AD1B-438F-B7D2-9A669B820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120" y="2045934"/>
            <a:ext cx="2469760" cy="13830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835F73D-6F4B-408C-BD25-1B08BD0AEA80}"/>
              </a:ext>
            </a:extLst>
          </p:cNvPr>
          <p:cNvGrpSpPr/>
          <p:nvPr/>
        </p:nvGrpSpPr>
        <p:grpSpPr>
          <a:xfrm>
            <a:off x="581202" y="2062729"/>
            <a:ext cx="4336237" cy="1600439"/>
            <a:chOff x="256082" y="1869421"/>
            <a:chExt cx="4336237" cy="160043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CA983E-BD15-47C1-B19C-8B6C72DC53CE}"/>
                </a:ext>
              </a:extLst>
            </p:cNvPr>
            <p:cNvSpPr txBox="1"/>
            <p:nvPr/>
          </p:nvSpPr>
          <p:spPr>
            <a:xfrm>
              <a:off x="292902" y="1869421"/>
              <a:ext cx="1484097" cy="400110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Education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B5EA83-1DD0-47DF-BABC-D9E673BB8DFC}"/>
                </a:ext>
              </a:extLst>
            </p:cNvPr>
            <p:cNvSpPr txBox="1"/>
            <p:nvPr/>
          </p:nvSpPr>
          <p:spPr>
            <a:xfrm>
              <a:off x="256082" y="2269531"/>
              <a:ext cx="433623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Adaptive learning systems 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Automated grading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Virtual tutors</a:t>
              </a:r>
            </a:p>
            <a:p>
              <a:pPr algn="just"/>
              <a:r>
                <a:rPr lang="en-US" b="1" dirty="0">
                  <a:solidFill>
                    <a:schemeClr val="bg1"/>
                  </a:solidFill>
                </a:rPr>
                <a:t>Example: </a:t>
              </a:r>
              <a:r>
                <a:rPr lang="en-US" dirty="0">
                  <a:solidFill>
                    <a:schemeClr val="bg1"/>
                  </a:solidFill>
                </a:rPr>
                <a:t>AI-based learning apps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BE07BE-1E87-4FC9-9B52-643202CEAE9A}"/>
              </a:ext>
            </a:extLst>
          </p:cNvPr>
          <p:cNvGrpSpPr/>
          <p:nvPr/>
        </p:nvGrpSpPr>
        <p:grpSpPr>
          <a:xfrm>
            <a:off x="6055362" y="1949358"/>
            <a:ext cx="5748476" cy="1713810"/>
            <a:chOff x="6055362" y="1949358"/>
            <a:chExt cx="5748476" cy="171381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71A17C3-7663-4166-BA50-2D6C67389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89210" y="1949358"/>
              <a:ext cx="2614628" cy="146419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8385FE8-188C-4C83-B98D-EC881A56FA29}"/>
                </a:ext>
              </a:extLst>
            </p:cNvPr>
            <p:cNvGrpSpPr/>
            <p:nvPr/>
          </p:nvGrpSpPr>
          <p:grpSpPr>
            <a:xfrm>
              <a:off x="6055362" y="2062729"/>
              <a:ext cx="4336237" cy="1600439"/>
              <a:chOff x="256082" y="1869421"/>
              <a:chExt cx="4336237" cy="160043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C483913-14A7-40DB-AF39-CB5869F1CBB3}"/>
                  </a:ext>
                </a:extLst>
              </p:cNvPr>
              <p:cNvSpPr txBox="1"/>
              <p:nvPr/>
            </p:nvSpPr>
            <p:spPr>
              <a:xfrm>
                <a:off x="292902" y="1869421"/>
                <a:ext cx="1791978" cy="40011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Cybersecurity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09E956D-54E8-4690-B65B-A5923B044594}"/>
                  </a:ext>
                </a:extLst>
              </p:cNvPr>
              <p:cNvSpPr txBox="1"/>
              <p:nvPr/>
            </p:nvSpPr>
            <p:spPr>
              <a:xfrm>
                <a:off x="256082" y="2269531"/>
                <a:ext cx="43362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Threat detection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Anomaly detection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Automated response systems.</a:t>
                </a:r>
              </a:p>
              <a:p>
                <a:pPr algn="just"/>
                <a:r>
                  <a:rPr lang="en-US" b="1" dirty="0">
                    <a:solidFill>
                      <a:schemeClr val="bg1"/>
                    </a:solidFill>
                  </a:rPr>
                  <a:t>Example: </a:t>
                </a:r>
                <a:r>
                  <a:rPr lang="en-US" dirty="0">
                    <a:solidFill>
                      <a:schemeClr val="bg1"/>
                    </a:solidFill>
                  </a:rPr>
                  <a:t>AI identifying malware patterns</a:t>
                </a: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F76629-3238-4A25-B3D2-6D68A2A2E38E}"/>
              </a:ext>
            </a:extLst>
          </p:cNvPr>
          <p:cNvGrpSpPr/>
          <p:nvPr/>
        </p:nvGrpSpPr>
        <p:grpSpPr>
          <a:xfrm>
            <a:off x="678982" y="3863968"/>
            <a:ext cx="5453838" cy="1770411"/>
            <a:chOff x="678982" y="3863968"/>
            <a:chExt cx="5453838" cy="177041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30FBE24-C77A-4C52-9C57-A4D58AF7D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0320" y="3863968"/>
              <a:ext cx="2215081" cy="147403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149B5F7-401D-4DA0-BF6C-AF97FAB9CE80}"/>
                </a:ext>
              </a:extLst>
            </p:cNvPr>
            <p:cNvGrpSpPr/>
            <p:nvPr/>
          </p:nvGrpSpPr>
          <p:grpSpPr>
            <a:xfrm>
              <a:off x="678982" y="4033940"/>
              <a:ext cx="5453838" cy="1600439"/>
              <a:chOff x="296987" y="3972980"/>
              <a:chExt cx="5453838" cy="1600439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6B9E98E-B92E-4B70-A8D4-C0E1544FD0CA}"/>
                  </a:ext>
                </a:extLst>
              </p:cNvPr>
              <p:cNvSpPr txBox="1"/>
              <p:nvPr/>
            </p:nvSpPr>
            <p:spPr>
              <a:xfrm>
                <a:off x="296987" y="3972980"/>
                <a:ext cx="1769578" cy="4001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Transportation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E389C83-215B-4B64-91B9-0D3F2D9A5BA6}"/>
                  </a:ext>
                </a:extLst>
              </p:cNvPr>
              <p:cNvSpPr txBox="1"/>
              <p:nvPr/>
            </p:nvSpPr>
            <p:spPr>
              <a:xfrm>
                <a:off x="296987" y="4373090"/>
                <a:ext cx="545383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Self-driving technology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Traffic prediction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Route optimization</a:t>
                </a:r>
              </a:p>
              <a:p>
                <a:pPr algn="just"/>
                <a:r>
                  <a:rPr lang="en-US" b="1" dirty="0">
                    <a:solidFill>
                      <a:schemeClr val="bg1"/>
                    </a:solidFill>
                  </a:rPr>
                  <a:t>Example: </a:t>
                </a:r>
                <a:r>
                  <a:rPr lang="en-US" dirty="0">
                    <a:solidFill>
                      <a:schemeClr val="bg1"/>
                    </a:solidFill>
                  </a:rPr>
                  <a:t>Tesla Autopilot, Google Maps traffic forecasting</a:t>
                </a: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3D92B4-0574-412B-BC25-E3D675975F1F}"/>
              </a:ext>
            </a:extLst>
          </p:cNvPr>
          <p:cNvGrpSpPr/>
          <p:nvPr/>
        </p:nvGrpSpPr>
        <p:grpSpPr>
          <a:xfrm>
            <a:off x="6132820" y="4033940"/>
            <a:ext cx="5714592" cy="1600439"/>
            <a:chOff x="6132820" y="4033940"/>
            <a:chExt cx="5714592" cy="1600439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D405014-887E-406E-AB80-C6156B5B7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09184" y="4087045"/>
              <a:ext cx="2438228" cy="136540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3BE6135-B7CB-4722-995A-89B2EFF507E3}"/>
                </a:ext>
              </a:extLst>
            </p:cNvPr>
            <p:cNvGrpSpPr/>
            <p:nvPr/>
          </p:nvGrpSpPr>
          <p:grpSpPr>
            <a:xfrm>
              <a:off x="6132820" y="4033940"/>
              <a:ext cx="4718060" cy="1600439"/>
              <a:chOff x="296987" y="3972980"/>
              <a:chExt cx="4718060" cy="1600439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C864E70-F8C4-453A-8696-61E984041105}"/>
                  </a:ext>
                </a:extLst>
              </p:cNvPr>
              <p:cNvSpPr txBox="1"/>
              <p:nvPr/>
            </p:nvSpPr>
            <p:spPr>
              <a:xfrm>
                <a:off x="296987" y="3972980"/>
                <a:ext cx="1958268" cy="400110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ln w="0"/>
                    <a:solidFill>
                      <a:sysClr val="windowText" lastClr="0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Manufacturing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2AB1E6A-7F95-4C01-8FCD-4DB98EF136AE}"/>
                  </a:ext>
                </a:extLst>
              </p:cNvPr>
              <p:cNvSpPr txBox="1"/>
              <p:nvPr/>
            </p:nvSpPr>
            <p:spPr>
              <a:xfrm>
                <a:off x="296987" y="4373090"/>
                <a:ext cx="47180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Content recommendations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AI-generated content (music, art)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Deepfake technology</a:t>
                </a:r>
              </a:p>
              <a:p>
                <a:pPr algn="just"/>
                <a:r>
                  <a:rPr lang="en-US" b="1" dirty="0">
                    <a:solidFill>
                      <a:schemeClr val="bg1"/>
                    </a:solidFill>
                  </a:rPr>
                  <a:t>Example:</a:t>
                </a:r>
                <a:r>
                  <a:rPr lang="en-US" dirty="0">
                    <a:solidFill>
                      <a:schemeClr val="bg1"/>
                    </a:solidFill>
                  </a:rPr>
                  <a:t> Netflix &amp; YouTube recommendations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049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48E06E2F-F5A9-4AE9-A697-6A2DA2D32CAF}"/>
              </a:ext>
            </a:extLst>
          </p:cNvPr>
          <p:cNvSpPr txBox="1">
            <a:spLocks/>
          </p:cNvSpPr>
          <p:nvPr/>
        </p:nvSpPr>
        <p:spPr>
          <a:xfrm>
            <a:off x="1375983" y="99849"/>
            <a:ext cx="9440034" cy="119199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effectLst/>
              </a:rPr>
              <a:t>Global AI Industry Landscape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D6BBAFB-0930-4A82-959A-19EC16B54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664" y="2481362"/>
            <a:ext cx="5755741" cy="271366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3098F56-8B3C-44D7-868F-9598FD16B486}"/>
              </a:ext>
            </a:extLst>
          </p:cNvPr>
          <p:cNvGrpSpPr/>
          <p:nvPr/>
        </p:nvGrpSpPr>
        <p:grpSpPr>
          <a:xfrm>
            <a:off x="7406640" y="2249925"/>
            <a:ext cx="4315216" cy="3296686"/>
            <a:chOff x="5782415" y="1740254"/>
            <a:chExt cx="6393025" cy="4883378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4FDAB0B-2C49-47A7-843C-A0464B250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19544" y="4757738"/>
              <a:ext cx="2375469" cy="1347162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0BA0DB1-26AC-4BAD-A64C-6DF245EB6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56466" y="4121289"/>
              <a:ext cx="2857500" cy="16002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32CB604-7BF0-4752-BF6A-9D1736E4C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6245" y="5586168"/>
              <a:ext cx="2074928" cy="103746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DD7828E-5182-4899-95F8-3C07F40CE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85216" y="2404725"/>
              <a:ext cx="1528763" cy="152876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CC48840-04E9-4C66-AFF1-D008565BC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6591" y="3417603"/>
              <a:ext cx="2718849" cy="91567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4C0060E-51CC-4C6A-8936-FB6393CD4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60729" y="1740254"/>
              <a:ext cx="1659527" cy="74307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0EBC998-5CB1-468E-A6C4-F61A1E2CF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6453" y="2111790"/>
              <a:ext cx="1528763" cy="84537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F33F2D6-D56A-4008-81A1-89C3F4A4D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82415" y="3349887"/>
              <a:ext cx="2743650" cy="7430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3965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8034CCA7-1521-439C-A60C-1AEBC6422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Artificial Intelligence Trends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87A030E-C244-4875-842F-47E6354A5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6678" y="6413175"/>
            <a:ext cx="3012121" cy="457275"/>
          </a:xfrm>
        </p:spPr>
        <p:txBody>
          <a:bodyPr>
            <a:normAutofit fontScale="925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Trainer: Fawad Bahadur Marwat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EFB0620-451E-4C41-8DD4-C5E28A2907A2}"/>
              </a:ext>
            </a:extLst>
          </p:cNvPr>
          <p:cNvGrpSpPr/>
          <p:nvPr/>
        </p:nvGrpSpPr>
        <p:grpSpPr>
          <a:xfrm>
            <a:off x="882590" y="1257181"/>
            <a:ext cx="4455374" cy="2361650"/>
            <a:chOff x="1024830" y="1775719"/>
            <a:chExt cx="4455374" cy="236165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3D9DBEF-9D4D-452D-8D0B-6EEAA2FD7DF1}"/>
                </a:ext>
              </a:extLst>
            </p:cNvPr>
            <p:cNvSpPr txBox="1"/>
            <p:nvPr/>
          </p:nvSpPr>
          <p:spPr>
            <a:xfrm>
              <a:off x="1644590" y="1775719"/>
              <a:ext cx="32158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Generative AI 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B5BD7F1-E96C-4805-AD46-70BF9F249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9594" y="2264514"/>
              <a:ext cx="1805846" cy="94952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4F3CC7F-89DD-4EA4-AE44-A560E64482C9}"/>
                </a:ext>
              </a:extLst>
            </p:cNvPr>
            <p:cNvSpPr txBox="1"/>
            <p:nvPr/>
          </p:nvSpPr>
          <p:spPr>
            <a:xfrm>
              <a:off x="1024830" y="3214039"/>
              <a:ext cx="445537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Creates new content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Text, images, music, code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Based on models like GPT, DALL-E, Sora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AF04E5B-D589-46B2-B06E-45063916CE0E}"/>
              </a:ext>
            </a:extLst>
          </p:cNvPr>
          <p:cNvGrpSpPr/>
          <p:nvPr/>
        </p:nvGrpSpPr>
        <p:grpSpPr>
          <a:xfrm>
            <a:off x="6322004" y="1222344"/>
            <a:ext cx="4455374" cy="2396487"/>
            <a:chOff x="6027364" y="1456024"/>
            <a:chExt cx="4455374" cy="239648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A950635-ED4B-4EB2-8B21-9648CAC83FA6}"/>
                </a:ext>
              </a:extLst>
            </p:cNvPr>
            <p:cNvGrpSpPr/>
            <p:nvPr/>
          </p:nvGrpSpPr>
          <p:grpSpPr>
            <a:xfrm>
              <a:off x="6027364" y="1456024"/>
              <a:ext cx="4455374" cy="2396487"/>
              <a:chOff x="1024830" y="1740882"/>
              <a:chExt cx="4455374" cy="2396487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6A7647F-1123-4531-809D-E8E2502720F9}"/>
                  </a:ext>
                </a:extLst>
              </p:cNvPr>
              <p:cNvSpPr txBox="1"/>
              <p:nvPr/>
            </p:nvSpPr>
            <p:spPr>
              <a:xfrm>
                <a:off x="1334710" y="1740882"/>
                <a:ext cx="3835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Large Language Models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276848E-FD55-4925-87BC-56204BE56611}"/>
                  </a:ext>
                </a:extLst>
              </p:cNvPr>
              <p:cNvSpPr txBox="1"/>
              <p:nvPr/>
            </p:nvSpPr>
            <p:spPr>
              <a:xfrm>
                <a:off x="1024830" y="3214039"/>
                <a:ext cx="445537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Trained on massive text data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Understand and generate human-like language</a:t>
                </a:r>
              </a:p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Example: </a:t>
                </a:r>
                <a:r>
                  <a:rPr lang="en-US" dirty="0">
                    <a:solidFill>
                      <a:schemeClr val="bg1"/>
                    </a:solidFill>
                  </a:rPr>
                  <a:t>GPT-4, Claude, Gemini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2152E9E-4347-4992-8304-724D3A1779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53" r="8890"/>
            <a:stretch/>
          </p:blipFill>
          <p:spPr>
            <a:xfrm>
              <a:off x="7199478" y="1950828"/>
              <a:ext cx="1934362" cy="1019927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B228CF6-B4D0-45DC-9F2D-AB4643716201}"/>
              </a:ext>
            </a:extLst>
          </p:cNvPr>
          <p:cNvGrpSpPr/>
          <p:nvPr/>
        </p:nvGrpSpPr>
        <p:grpSpPr>
          <a:xfrm>
            <a:off x="660400" y="3826388"/>
            <a:ext cx="5039360" cy="2361650"/>
            <a:chOff x="853440" y="3826388"/>
            <a:chExt cx="5039360" cy="236165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CAB0657-F7AA-4C9F-A73E-7EB854B85829}"/>
                </a:ext>
              </a:extLst>
            </p:cNvPr>
            <p:cNvGrpSpPr/>
            <p:nvPr/>
          </p:nvGrpSpPr>
          <p:grpSpPr>
            <a:xfrm>
              <a:off x="853440" y="3826388"/>
              <a:ext cx="5039360" cy="2361650"/>
              <a:chOff x="802640" y="1775719"/>
              <a:chExt cx="5039360" cy="2361650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F2F0E67-0D10-49A3-A748-224178923019}"/>
                  </a:ext>
                </a:extLst>
              </p:cNvPr>
              <p:cNvSpPr txBox="1"/>
              <p:nvPr/>
            </p:nvSpPr>
            <p:spPr>
              <a:xfrm>
                <a:off x="1644590" y="1775719"/>
                <a:ext cx="32158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Edge AI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7CA6EB-0C38-4629-8DB7-EC8E1A9DF804}"/>
                  </a:ext>
                </a:extLst>
              </p:cNvPr>
              <p:cNvSpPr txBox="1"/>
              <p:nvPr/>
            </p:nvSpPr>
            <p:spPr>
              <a:xfrm>
                <a:off x="802640" y="3214039"/>
                <a:ext cx="50393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AI than runs on device (not cloud)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Low latency, privacy-friendly, work offline</a:t>
                </a:r>
              </a:p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Example: </a:t>
                </a:r>
                <a:r>
                  <a:rPr lang="en-US" dirty="0">
                    <a:solidFill>
                      <a:schemeClr val="bg1"/>
                    </a:solidFill>
                  </a:rPr>
                  <a:t>AI in phones, smart cameras, wearables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B7B8F48C-9F30-4AB3-9C93-C8CEAAA24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5388" y="4250734"/>
              <a:ext cx="1878624" cy="1055548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9530416-2FD6-4761-B2FF-D5407BD4B9AC}"/>
              </a:ext>
            </a:extLst>
          </p:cNvPr>
          <p:cNvGrpSpPr/>
          <p:nvPr/>
        </p:nvGrpSpPr>
        <p:grpSpPr>
          <a:xfrm>
            <a:off x="5902961" y="3791551"/>
            <a:ext cx="5313680" cy="2396487"/>
            <a:chOff x="6096001" y="3791551"/>
            <a:chExt cx="5313680" cy="239648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45EEB57-E606-4E78-A683-F2BC9650ECF0}"/>
                </a:ext>
              </a:extLst>
            </p:cNvPr>
            <p:cNvGrpSpPr/>
            <p:nvPr/>
          </p:nvGrpSpPr>
          <p:grpSpPr>
            <a:xfrm>
              <a:off x="6096001" y="3791551"/>
              <a:ext cx="5313680" cy="2396487"/>
              <a:chOff x="605787" y="1740882"/>
              <a:chExt cx="5313680" cy="2396487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ABB243-40BB-4098-832D-A039897B719E}"/>
                  </a:ext>
                </a:extLst>
              </p:cNvPr>
              <p:cNvSpPr txBox="1"/>
              <p:nvPr/>
            </p:nvSpPr>
            <p:spPr>
              <a:xfrm>
                <a:off x="1334710" y="1740882"/>
                <a:ext cx="3835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Agentic AI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33BEB08-8F54-4DB6-B452-12B19062CC50}"/>
                  </a:ext>
                </a:extLst>
              </p:cNvPr>
              <p:cNvSpPr txBox="1"/>
              <p:nvPr/>
            </p:nvSpPr>
            <p:spPr>
              <a:xfrm>
                <a:off x="605787" y="3214039"/>
                <a:ext cx="53136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AI systems that take initiative, act autonomously</a:t>
                </a: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Goal-directed, can plan, adapt and execute</a:t>
                </a:r>
              </a:p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Example: </a:t>
                </a:r>
                <a:r>
                  <a:rPr lang="en-US" dirty="0">
                    <a:solidFill>
                      <a:schemeClr val="bg1"/>
                    </a:solidFill>
                  </a:rPr>
                  <a:t>AI agents managing tasks, self-improving bots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B8EBE8B-A911-4B8B-9DC8-3C40FC9B0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791" y="4231188"/>
              <a:ext cx="2111096" cy="1055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966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83DFC6-C495-4594-BDF5-357CB55B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Challenges in AI Adoption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E00D2D-9D2B-498C-81F0-54D62E089CF1}"/>
              </a:ext>
            </a:extLst>
          </p:cNvPr>
          <p:cNvGrpSpPr/>
          <p:nvPr/>
        </p:nvGrpSpPr>
        <p:grpSpPr>
          <a:xfrm>
            <a:off x="386546" y="1853118"/>
            <a:ext cx="3566293" cy="3616692"/>
            <a:chOff x="386546" y="1853118"/>
            <a:chExt cx="3566293" cy="361669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D761F71-6646-4E12-9822-3F172A8AAF17}"/>
                </a:ext>
              </a:extLst>
            </p:cNvPr>
            <p:cNvSpPr txBox="1"/>
            <p:nvPr/>
          </p:nvSpPr>
          <p:spPr>
            <a:xfrm>
              <a:off x="386546" y="1853118"/>
              <a:ext cx="3566293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Data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Garbage in, Garbage out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Siloed Data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Data Scarcity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Privacy Concerns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BE1318A-73FE-4BC4-962C-3E4D3ECB1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943" y="3869610"/>
              <a:ext cx="2857500" cy="160020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992DD904-C91C-4DC5-9552-25BFD3252786}"/>
              </a:ext>
            </a:extLst>
          </p:cNvPr>
          <p:cNvSpPr txBox="1">
            <a:spLocks/>
          </p:cNvSpPr>
          <p:nvPr/>
        </p:nvSpPr>
        <p:spPr>
          <a:xfrm>
            <a:off x="8976678" y="6413175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1"/>
                </a:solidFill>
              </a:rPr>
              <a:t>Trainer: Fawad Bahadur Marwat</a:t>
            </a:r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D800F9-24C5-4AEC-9952-2604C4CC9610}"/>
              </a:ext>
            </a:extLst>
          </p:cNvPr>
          <p:cNvGrpSpPr/>
          <p:nvPr/>
        </p:nvGrpSpPr>
        <p:grpSpPr>
          <a:xfrm>
            <a:off x="3901908" y="2220485"/>
            <a:ext cx="3871427" cy="3338920"/>
            <a:chOff x="3901908" y="2220485"/>
            <a:chExt cx="3871427" cy="333892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E3757C8-88F0-49D4-9606-523FFAE83D59}"/>
                </a:ext>
              </a:extLst>
            </p:cNvPr>
            <p:cNvSpPr txBox="1"/>
            <p:nvPr/>
          </p:nvSpPr>
          <p:spPr>
            <a:xfrm>
              <a:off x="3901908" y="4174410"/>
              <a:ext cx="387142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Regulation and Compliance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Evolving Landscape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Ethical Concerns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"Black Box" Problem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FFEFFFB-5410-421A-9295-CE97D5C68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2727" y="2220485"/>
              <a:ext cx="2895600" cy="1571625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618E11-EDAB-41E5-8B24-0341FF54634B}"/>
              </a:ext>
            </a:extLst>
          </p:cNvPr>
          <p:cNvGrpSpPr/>
          <p:nvPr/>
        </p:nvGrpSpPr>
        <p:grpSpPr>
          <a:xfrm>
            <a:off x="7396478" y="1853118"/>
            <a:ext cx="4592321" cy="4314694"/>
            <a:chOff x="7448215" y="1853118"/>
            <a:chExt cx="4592321" cy="431469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83E6D1-7D75-4A9D-9A5B-7A4E64E1AB54}"/>
                </a:ext>
              </a:extLst>
            </p:cNvPr>
            <p:cNvSpPr txBox="1"/>
            <p:nvPr/>
          </p:nvSpPr>
          <p:spPr>
            <a:xfrm>
              <a:off x="7448215" y="1853118"/>
              <a:ext cx="4592321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Cost and ROI Justification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Significant Upfront Investment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Uncertain ROI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Operational Costs</a:t>
              </a:r>
            </a:p>
            <a:p>
              <a:pPr marL="342900" indent="-342900">
                <a:buFontTx/>
                <a:buChar char="-"/>
              </a:pPr>
              <a:r>
                <a:rPr lang="en-US" sz="2000" dirty="0">
                  <a:solidFill>
                    <a:schemeClr val="bg1"/>
                  </a:solidFill>
                </a:rPr>
                <a:t>Talent Acquisition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3F90B99-70A7-4B64-AF1C-862405391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7717" y="4024687"/>
              <a:ext cx="2143125" cy="2143125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280514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83DFC6-C495-4594-BDF5-357CB55B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91813" cy="1191998"/>
          </a:xfrm>
        </p:spPr>
        <p:txBody>
          <a:bodyPr>
            <a:normAutofit/>
          </a:bodyPr>
          <a:lstStyle/>
          <a:p>
            <a:r>
              <a:rPr lang="da-DK" sz="4900" b="1" dirty="0">
                <a:solidFill>
                  <a:schemeClr val="bg1"/>
                </a:solidFill>
                <a:effectLst/>
              </a:rPr>
              <a:t>Gartner Hype Cycle for Artificial Intelligence</a:t>
            </a:r>
            <a:endParaRPr lang="en-US" sz="49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1A656B-E0F1-4A62-9802-BB8451883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6678" y="6413175"/>
            <a:ext cx="3012121" cy="457275"/>
          </a:xfrm>
        </p:spPr>
        <p:txBody>
          <a:bodyPr>
            <a:normAutofit fontScale="925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3E282-B0DA-4D60-B313-3E2EF3708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68" y="1832086"/>
            <a:ext cx="8850664" cy="46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93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83DFC6-C495-4594-BDF5-357CB55B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91813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bg1"/>
                </a:solidFill>
                <a:effectLst/>
              </a:rPr>
              <a:t>Earning Opportunities After This AI Course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1A656B-E0F1-4A62-9802-BB8451883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76678" y="6413175"/>
            <a:ext cx="3012121" cy="457275"/>
          </a:xfrm>
        </p:spPr>
        <p:txBody>
          <a:bodyPr>
            <a:normAutofit fontScale="925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066DFD5-42B8-4C6E-8EF7-14F8A7391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606724-3713-4F6A-B273-00C1FF781CA2}"/>
              </a:ext>
            </a:extLst>
          </p:cNvPr>
          <p:cNvSpPr txBox="1"/>
          <p:nvPr/>
        </p:nvSpPr>
        <p:spPr>
          <a:xfrm>
            <a:off x="453380" y="1775018"/>
            <a:ext cx="54800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Freelancing Platforms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Offer services on Upwork, Fiverr, Freelancer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Tasks: </a:t>
            </a:r>
            <a:r>
              <a:rPr lang="en-US" sz="2000" dirty="0">
                <a:solidFill>
                  <a:schemeClr val="bg1"/>
                </a:solidFill>
              </a:rPr>
              <a:t>Chatbots, data labeling, ML model tuning, automation 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7F082-0E59-4797-A22C-253DC90258E6}"/>
              </a:ext>
            </a:extLst>
          </p:cNvPr>
          <p:cNvSpPr txBox="1"/>
          <p:nvPr/>
        </p:nvSpPr>
        <p:spPr>
          <a:xfrm>
            <a:off x="6349999" y="3646093"/>
            <a:ext cx="572589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Remote Jobs &amp; Internships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Apply on LinkedIn, AngelList, </a:t>
            </a:r>
            <a:r>
              <a:rPr lang="en-US" sz="2000" dirty="0" err="1">
                <a:solidFill>
                  <a:schemeClr val="bg1"/>
                </a:solidFill>
              </a:rPr>
              <a:t>RemoteOK</a:t>
            </a:r>
            <a:r>
              <a:rPr lang="en-US" sz="2000" dirty="0">
                <a:solidFill>
                  <a:schemeClr val="bg1"/>
                </a:solidFill>
              </a:rPr>
              <a:t>  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Roles:  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AI/ML Intern, Data Annotator, Junior AI Developer , Prompt Engineer, AI Support Specialist, Data Analyst (AI-focused), AI Research Assistant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A4487-B4B9-49E8-84D0-A65622360640}"/>
              </a:ext>
            </a:extLst>
          </p:cNvPr>
          <p:cNvSpPr txBox="1"/>
          <p:nvPr/>
        </p:nvSpPr>
        <p:spPr>
          <a:xfrm>
            <a:off x="6349999" y="1729358"/>
            <a:ext cx="53886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Online Teaching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Teach AI basics via online platforms or workshops</a:t>
            </a:r>
            <a:endParaRPr lang="en-US" sz="24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Platforms: </a:t>
            </a:r>
            <a:r>
              <a:rPr lang="en-US" sz="2000" dirty="0">
                <a:solidFill>
                  <a:schemeClr val="bg1"/>
                </a:solidFill>
              </a:rPr>
              <a:t>Udemy, </a:t>
            </a:r>
            <a:r>
              <a:rPr lang="en-US" sz="2000" dirty="0" err="1">
                <a:solidFill>
                  <a:schemeClr val="bg1"/>
                </a:solidFill>
              </a:rPr>
              <a:t>Skillshare</a:t>
            </a:r>
            <a:r>
              <a:rPr lang="en-US" sz="2000" dirty="0">
                <a:solidFill>
                  <a:schemeClr val="bg1"/>
                </a:solidFill>
              </a:rPr>
              <a:t>, Teachable, Coursera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07C31-8366-4467-A000-C948B001A529}"/>
              </a:ext>
            </a:extLst>
          </p:cNvPr>
          <p:cNvSpPr txBox="1"/>
          <p:nvPr/>
        </p:nvSpPr>
        <p:spPr>
          <a:xfrm>
            <a:off x="441222" y="3630198"/>
            <a:ext cx="508581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Research &amp; Grants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Collaborate on academic or open-source AI research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Apply for AI research grants, fellowships, or publish papers</a:t>
            </a:r>
          </a:p>
        </p:txBody>
      </p:sp>
    </p:spTree>
    <p:extLst>
      <p:ext uri="{BB962C8B-B14F-4D97-AF65-F5344CB8AC3E}">
        <p14:creationId xmlns:p14="http://schemas.microsoft.com/office/powerpoint/2010/main" val="16350325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1302</Words>
  <Application>Microsoft Office PowerPoint</Application>
  <PresentationFormat>Widescreen</PresentationFormat>
  <Paragraphs>319</Paragraphs>
  <Slides>26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Goudy Old Style</vt:lpstr>
      <vt:lpstr>Wingdings 2</vt:lpstr>
      <vt:lpstr>SlateVTI</vt:lpstr>
      <vt:lpstr>Huawei HCCDA-AI certification </vt:lpstr>
      <vt:lpstr>Training Objective &amp; Outcomes</vt:lpstr>
      <vt:lpstr>Artificial Intelligence</vt:lpstr>
      <vt:lpstr>Artificial Intelligence</vt:lpstr>
      <vt:lpstr>Weak VS Strong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Symbolic vs Machine Learning AI</vt:lpstr>
      <vt:lpstr>Key Domains in AI</vt:lpstr>
      <vt:lpstr>Artificial Intelligence in Different Fields</vt:lpstr>
      <vt:lpstr>Conti…</vt:lpstr>
      <vt:lpstr>PowerPoint Presentation</vt:lpstr>
      <vt:lpstr>Artificial Intelligence Trends</vt:lpstr>
      <vt:lpstr>Challenges in AI Adoption</vt:lpstr>
      <vt:lpstr>Gartner Hype Cycle for Artificial Intelligence</vt:lpstr>
      <vt:lpstr>Earning Opportunities After This AI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2025-07-14T07:52:58Z</dcterms:modified>
</cp:coreProperties>
</file>