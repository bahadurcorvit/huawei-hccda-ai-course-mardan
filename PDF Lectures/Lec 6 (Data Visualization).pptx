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379" r:id="rId2"/>
    <p:sldId id="321" r:id="rId3"/>
    <p:sldId id="380" r:id="rId4"/>
    <p:sldId id="334" r:id="rId5"/>
    <p:sldId id="381" r:id="rId6"/>
    <p:sldId id="382" r:id="rId7"/>
    <p:sldId id="383" r:id="rId8"/>
    <p:sldId id="386" r:id="rId9"/>
    <p:sldId id="384" r:id="rId10"/>
    <p:sldId id="387" r:id="rId11"/>
    <p:sldId id="388" r:id="rId12"/>
    <p:sldId id="389" r:id="rId13"/>
    <p:sldId id="390" r:id="rId14"/>
    <p:sldId id="391" r:id="rId15"/>
    <p:sldId id="392" r:id="rId16"/>
    <p:sldId id="393" r:id="rId17"/>
    <p:sldId id="394" r:id="rId18"/>
    <p:sldId id="395" r:id="rId19"/>
    <p:sldId id="396" r:id="rId20"/>
    <p:sldId id="397" r:id="rId21"/>
    <p:sldId id="320" r:id="rId22"/>
    <p:sldId id="26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551B"/>
    <a:srgbClr val="586A18"/>
    <a:srgbClr val="2B1985"/>
    <a:srgbClr val="901C2F"/>
    <a:srgbClr val="00602B"/>
    <a:srgbClr val="D3074B"/>
    <a:srgbClr val="26B481"/>
    <a:srgbClr val="DDA147"/>
    <a:srgbClr val="B54C2D"/>
    <a:srgbClr val="B669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2CEC21-FD8E-4D6C-A2FA-43FC25C62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83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  <p:sldLayoutId id="2147483717" r:id="rId18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1.wdp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microsoft.com/office/2007/relationships/hdphoto" Target="../media/hdphoto2.wdp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1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6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g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microsoft.com/office/2007/relationships/hdphoto" Target="../media/hdphoto4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3.png"/><Relationship Id="rId4" Type="http://schemas.microsoft.com/office/2007/relationships/hdphoto" Target="../media/hdphoto5.wdp"/><Relationship Id="rId9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9.png"/><Relationship Id="rId7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4.png"/><Relationship Id="rId10" Type="http://schemas.openxmlformats.org/officeDocument/2006/relationships/image" Target="../media/image46.jpeg"/><Relationship Id="rId4" Type="http://schemas.openxmlformats.org/officeDocument/2006/relationships/image" Target="../media/image7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9.png"/><Relationship Id="rId4" Type="http://schemas.openxmlformats.org/officeDocument/2006/relationships/image" Target="../media/image6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7120"/>
            <a:ext cx="12192000" cy="2648381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accent3"/>
                </a:solidFill>
                <a:effectLst/>
              </a:rPr>
              <a:t>Data Visualization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A18859-1D6F-44EE-9FD4-97CBEB8A9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190" y="911972"/>
            <a:ext cx="1555039" cy="1555039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F5106ABC-BEE6-4063-AC81-226D67D1C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5"/>
                </a:solidFill>
                <a:effectLst/>
              </a:rPr>
              <a:t>Turning Data into Insights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24D3E3-467B-46E3-A72C-AEA0D5A7854C}"/>
              </a:ext>
            </a:extLst>
          </p:cNvPr>
          <p:cNvGrpSpPr/>
          <p:nvPr/>
        </p:nvGrpSpPr>
        <p:grpSpPr>
          <a:xfrm>
            <a:off x="172720" y="6077745"/>
            <a:ext cx="11785600" cy="638016"/>
            <a:chOff x="172720" y="6077745"/>
            <a:chExt cx="11785600" cy="638016"/>
          </a:xfrm>
        </p:grpSpPr>
        <p:sp>
          <p:nvSpPr>
            <p:cNvPr id="13" name="Subtitle 2">
              <a:extLst>
                <a:ext uri="{FF2B5EF4-FFF2-40B4-BE49-F238E27FC236}">
                  <a16:creationId xmlns:a16="http://schemas.microsoft.com/office/drawing/2014/main" id="{0A5C0BEA-56F9-40CD-89F1-042698620EFE}"/>
                </a:ext>
              </a:extLst>
            </p:cNvPr>
            <p:cNvSpPr txBox="1">
              <a:spLocks/>
            </p:cNvSpPr>
            <p:nvPr/>
          </p:nvSpPr>
          <p:spPr>
            <a:xfrm>
              <a:off x="7121462" y="6077745"/>
              <a:ext cx="4836858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dirty="0">
                  <a:solidFill>
                    <a:schemeClr val="bg1"/>
                  </a:solidFill>
                </a:rPr>
                <a:t>Instructor : Fawad Bahadur</a:t>
              </a:r>
            </a:p>
          </p:txBody>
        </p: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3F264889-F64F-4A04-96BF-53D8143898F9}"/>
                </a:ext>
              </a:extLst>
            </p:cNvPr>
            <p:cNvSpPr txBox="1">
              <a:spLocks/>
            </p:cNvSpPr>
            <p:nvPr/>
          </p:nvSpPr>
          <p:spPr>
            <a:xfrm>
              <a:off x="172720" y="6159025"/>
              <a:ext cx="2397760" cy="556736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t">
              <a:normAutofit/>
            </a:bodyPr>
            <a:lstStyle>
              <a:lvl1pPr marL="0" indent="0" algn="ctr" defTabSz="457200" rtl="0" eaLnBrk="1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3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21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8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6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tx2"/>
                </a:buClr>
                <a:buSzPct val="70000"/>
                <a:buFont typeface="Wingdings 2" charset="2"/>
                <a:buNone/>
                <a:defRPr sz="14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1">
                      <a:tint val="75000"/>
                    </a:schemeClr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dirty="0">
                  <a:solidFill>
                    <a:schemeClr val="bg1"/>
                  </a:solidFill>
                </a:rPr>
                <a:t>Dated: 14 June 2025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628B588-60D2-4B21-8BC0-27ABC998C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196" y="4688410"/>
            <a:ext cx="2867025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50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E521AE0-8428-4D17-95AB-0327371C3D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736" t="30414" r="6722" b="22255"/>
          <a:stretch/>
        </p:blipFill>
        <p:spPr>
          <a:xfrm>
            <a:off x="6701780" y="3707903"/>
            <a:ext cx="5490219" cy="24908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Introduction to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AD7B9713-E55A-45F9-B43E-6EE8BAC18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Instructor : Fawad Bahadur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B26EF-B3DF-4D31-9987-1C5DB640EFE8}"/>
              </a:ext>
            </a:extLst>
          </p:cNvPr>
          <p:cNvSpPr txBox="1"/>
          <p:nvPr/>
        </p:nvSpPr>
        <p:spPr>
          <a:xfrm>
            <a:off x="447040" y="1098014"/>
            <a:ext cx="7335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is Data?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Data is raw facts and figures collected for analysis and decision-making.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3B8DB1-A760-4529-A967-789BF6F26D58}"/>
              </a:ext>
            </a:extLst>
          </p:cNvPr>
          <p:cNvSpPr txBox="1"/>
          <p:nvPr/>
        </p:nvSpPr>
        <p:spPr>
          <a:xfrm>
            <a:off x="447040" y="2059046"/>
            <a:ext cx="686816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Types of Data: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1. Structured Data 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Organized in rows and columns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2000" b="1" dirty="0">
                <a:solidFill>
                  <a:schemeClr val="bg1"/>
                </a:solidFill>
              </a:rPr>
              <a:t>Example</a:t>
            </a:r>
            <a:r>
              <a:rPr lang="en-US" sz="2000" dirty="0">
                <a:solidFill>
                  <a:schemeClr val="bg1"/>
                </a:solidFill>
              </a:rPr>
              <a:t>: Excel sheets, SQL databases  </a:t>
            </a:r>
          </a:p>
          <a:p>
            <a:pPr lvl="1" algn="just"/>
            <a:endParaRPr lang="en-US" sz="2000" b="1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2. Unstructured Data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No predefined format 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2000" b="1" dirty="0">
                <a:solidFill>
                  <a:schemeClr val="bg1"/>
                </a:solidFill>
              </a:rPr>
              <a:t>Example</a:t>
            </a:r>
            <a:r>
              <a:rPr lang="en-US" sz="2000" dirty="0">
                <a:solidFill>
                  <a:schemeClr val="bg1"/>
                </a:solidFill>
              </a:rPr>
              <a:t>: Images, videos, emails, social media posts  </a:t>
            </a:r>
          </a:p>
          <a:p>
            <a:pPr algn="just"/>
            <a:endParaRPr lang="en-US" sz="2000" b="1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3. Semi-structured Data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Partially organized 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2000" b="1" dirty="0">
                <a:solidFill>
                  <a:schemeClr val="bg1"/>
                </a:solidFill>
              </a:rPr>
              <a:t>Example</a:t>
            </a:r>
            <a:r>
              <a:rPr lang="en-US" sz="2000" dirty="0">
                <a:solidFill>
                  <a:schemeClr val="bg1"/>
                </a:solidFill>
              </a:rPr>
              <a:t>: JSON, XML files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BEF162-EC16-4D31-B788-BC33B43D81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2613" y="1244983"/>
            <a:ext cx="3884722" cy="241261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D141B5A-96C4-489E-A716-C695DD5160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2883" y="3288960"/>
            <a:ext cx="1757794" cy="46193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DB17E4A-0B01-471F-8C0F-1065FE2D77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9047" y="2429613"/>
            <a:ext cx="2198540" cy="67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87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Conti…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D762A0-DB40-4FEE-A175-2A5864BF2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87" y="5870238"/>
            <a:ext cx="887913" cy="8879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7DBCA4-1259-4988-A504-3F4D999C5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AD7B9713-E55A-45F9-B43E-6EE8BAC18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Instructor : Fawad Bahadur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E0006C-30C4-40B0-80FA-6B6F453BC2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440" y="2003478"/>
            <a:ext cx="2612341" cy="1628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528AC8-BBEC-477F-BDDA-941A2CEDFD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170" y="4935776"/>
            <a:ext cx="2121473" cy="119199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9CB3EE3-A228-4C80-B93A-A6C561561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701127"/>
              </p:ext>
            </p:extLst>
          </p:nvPr>
        </p:nvGraphicFramePr>
        <p:xfrm>
          <a:off x="121604" y="1513731"/>
          <a:ext cx="6811756" cy="3037654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428348">
                  <a:extLst>
                    <a:ext uri="{9D8B030D-6E8A-4147-A177-3AD203B41FA5}">
                      <a16:colId xmlns:a16="http://schemas.microsoft.com/office/drawing/2014/main" val="2159818270"/>
                    </a:ext>
                  </a:extLst>
                </a:gridCol>
                <a:gridCol w="4383408">
                  <a:extLst>
                    <a:ext uri="{9D8B030D-6E8A-4147-A177-3AD203B41FA5}">
                      <a16:colId xmlns:a16="http://schemas.microsoft.com/office/drawing/2014/main" val="3165982023"/>
                    </a:ext>
                  </a:extLst>
                </a:gridCol>
              </a:tblGrid>
              <a:tr h="41482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Common Data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800898"/>
                  </a:ext>
                </a:extLst>
              </a:tr>
              <a:tr h="414821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Tweets, Documents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029045"/>
                  </a:ext>
                </a:extLst>
              </a:tr>
              <a:tr h="68918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Numerical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Sales Figures, Temperature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481650"/>
                  </a:ext>
                </a:extLst>
              </a:tr>
              <a:tr h="414821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Categorical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Gender, 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658157"/>
                  </a:ext>
                </a:extLst>
              </a:tr>
              <a:tr h="414821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Time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Stock Prices over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055114"/>
                  </a:ext>
                </a:extLst>
              </a:tr>
              <a:tr h="689185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Multimedia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Photo, Audio Recordings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638366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A4B2FAF-A15C-435D-A2EB-F6E439B494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9862" y="1454482"/>
            <a:ext cx="1990725" cy="22955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EFED495-0DC7-4829-BFCD-F03209EC1C0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87" t="6255" r="5623" b="9722"/>
          <a:stretch/>
        </p:blipFill>
        <p:spPr>
          <a:xfrm>
            <a:off x="8933523" y="4129993"/>
            <a:ext cx="1952307" cy="192988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A1DE78E-6AC6-4A07-8031-8C71DF0D0DC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32503"/>
          <a:stretch/>
        </p:blipFill>
        <p:spPr>
          <a:xfrm>
            <a:off x="4511773" y="4854522"/>
            <a:ext cx="3270318" cy="127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95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51C262-A524-4857-8C95-78121C0BC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929" y="1395691"/>
            <a:ext cx="2957113" cy="21201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6A6ED76-C101-4A9D-A86C-BADEDA38F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726" y="1437924"/>
            <a:ext cx="2939274" cy="16459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Where Does Data Come From?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BED34F-45E6-4DD7-8016-C608E368CE63}"/>
              </a:ext>
            </a:extLst>
          </p:cNvPr>
          <p:cNvSpPr txBox="1"/>
          <p:nvPr/>
        </p:nvSpPr>
        <p:spPr>
          <a:xfrm>
            <a:off x="65343" y="1589007"/>
            <a:ext cx="373888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1. Internal Sources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Company databases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Transaction records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CRM systems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Employee feedback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9440DB-DE0E-49A8-BCF1-25F3691D74B9}"/>
              </a:ext>
            </a:extLst>
          </p:cNvPr>
          <p:cNvSpPr txBox="1"/>
          <p:nvPr/>
        </p:nvSpPr>
        <p:spPr>
          <a:xfrm>
            <a:off x="0" y="3629885"/>
            <a:ext cx="34298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2. External Sources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Social media platforms (Facebook, Twitter)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Public datasets (government, research organizations) 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Web scraping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Third-party data providers 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87C97F-309C-4B25-B267-8EA191767236}"/>
              </a:ext>
            </a:extLst>
          </p:cNvPr>
          <p:cNvSpPr txBox="1"/>
          <p:nvPr/>
        </p:nvSpPr>
        <p:spPr>
          <a:xfrm>
            <a:off x="5809042" y="1372945"/>
            <a:ext cx="41452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3. Sensors and IoT Devices</a:t>
            </a:r>
          </a:p>
          <a:p>
            <a:pPr marL="342900" indent="-342900" algn="just">
              <a:buFontTx/>
              <a:buChar char="-"/>
            </a:pPr>
            <a:r>
              <a:rPr lang="fr-FR" sz="2000" dirty="0">
                <a:solidFill>
                  <a:schemeClr val="bg1"/>
                </a:solidFill>
              </a:rPr>
              <a:t>Smart </a:t>
            </a:r>
            <a:r>
              <a:rPr lang="fr-FR" sz="2000" dirty="0" err="1">
                <a:solidFill>
                  <a:schemeClr val="bg1"/>
                </a:solidFill>
              </a:rPr>
              <a:t>devices</a:t>
            </a:r>
            <a:r>
              <a:rPr lang="fr-FR" sz="2000" dirty="0">
                <a:solidFill>
                  <a:schemeClr val="bg1"/>
                </a:solidFill>
              </a:rPr>
              <a:t>  </a:t>
            </a:r>
          </a:p>
          <a:p>
            <a:pPr marL="342900" indent="-342900" algn="just">
              <a:buFontTx/>
              <a:buChar char="-"/>
            </a:pPr>
            <a:r>
              <a:rPr lang="fr-FR" sz="2000" dirty="0" err="1">
                <a:solidFill>
                  <a:schemeClr val="bg1"/>
                </a:solidFill>
              </a:rPr>
              <a:t>Wearables</a:t>
            </a:r>
            <a:endParaRPr lang="fr-FR" sz="2000" dirty="0">
              <a:solidFill>
                <a:schemeClr val="bg1"/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fr-FR" sz="2000" dirty="0" err="1">
                <a:solidFill>
                  <a:schemeClr val="bg1"/>
                </a:solidFill>
              </a:rPr>
              <a:t>Environmental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sensors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B98625-6C8B-4E47-9B88-CCE1BD8D1AF0}"/>
              </a:ext>
            </a:extLst>
          </p:cNvPr>
          <p:cNvSpPr txBox="1"/>
          <p:nvPr/>
        </p:nvSpPr>
        <p:spPr>
          <a:xfrm>
            <a:off x="5879788" y="3338060"/>
            <a:ext cx="3921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4. Surveys and Questionnaires</a:t>
            </a:r>
            <a:endParaRPr lang="en-US" sz="2000" b="1" dirty="0">
              <a:solidFill>
                <a:schemeClr val="accent1"/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Customer feedback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Market research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9AD1AE-E09C-4286-A178-0C8FCE3CA20E}"/>
              </a:ext>
            </a:extLst>
          </p:cNvPr>
          <p:cNvSpPr txBox="1"/>
          <p:nvPr/>
        </p:nvSpPr>
        <p:spPr>
          <a:xfrm>
            <a:off x="5910268" y="5019522"/>
            <a:ext cx="3921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5. Multimedia Sources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Images, videos, audio recordings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Satellite imagery 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1FA50F-B622-442E-9564-D6F5424E4F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049" y="4290411"/>
            <a:ext cx="2695502" cy="14582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906F7B-4CF6-4D28-9737-B60DA4968A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279" y="3247807"/>
            <a:ext cx="2435721" cy="16208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90A591-7E60-4306-A142-4C0CA0FEEC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380" y="5019522"/>
            <a:ext cx="2409211" cy="18373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35164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B8E3083-869C-40B3-8280-F19D912C1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440" y="2948949"/>
            <a:ext cx="3510915" cy="18288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F9033E-16BF-4484-B4E3-DB34DCD56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5179" y="2029992"/>
            <a:ext cx="3596821" cy="201422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Why is Data Important?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BED34F-45E6-4DD7-8016-C608E368CE63}"/>
              </a:ext>
            </a:extLst>
          </p:cNvPr>
          <p:cNvSpPr txBox="1"/>
          <p:nvPr/>
        </p:nvSpPr>
        <p:spPr>
          <a:xfrm>
            <a:off x="195894" y="1238967"/>
            <a:ext cx="66824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b="1" dirty="0">
                <a:solidFill>
                  <a:schemeClr val="accent1"/>
                </a:solidFill>
              </a:rPr>
              <a:t>Informed Decision-Making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Supports business, healthcare, education &amp; policy decisions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Enables data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Driven strategies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9440DB-DE0E-49A8-BCF1-25F3691D74B9}"/>
              </a:ext>
            </a:extLst>
          </p:cNvPr>
          <p:cNvSpPr txBox="1"/>
          <p:nvPr/>
        </p:nvSpPr>
        <p:spPr>
          <a:xfrm>
            <a:off x="165414" y="2523797"/>
            <a:ext cx="5923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2. Improved Efficiency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Identifies patterns to optimize processes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Reduces cost &amp; time through automation 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87C97F-309C-4B25-B267-8EA191767236}"/>
              </a:ext>
            </a:extLst>
          </p:cNvPr>
          <p:cNvSpPr txBox="1"/>
          <p:nvPr/>
        </p:nvSpPr>
        <p:spPr>
          <a:xfrm>
            <a:off x="185734" y="3571146"/>
            <a:ext cx="62049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3. Personalization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Powers recommendation systems (e.g., Netflix, Amazon)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Enhances user experience 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B98625-6C8B-4E47-9B88-CCE1BD8D1AF0}"/>
              </a:ext>
            </a:extLst>
          </p:cNvPr>
          <p:cNvSpPr txBox="1"/>
          <p:nvPr/>
        </p:nvSpPr>
        <p:spPr>
          <a:xfrm>
            <a:off x="175574" y="4541497"/>
            <a:ext cx="65706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4. Innovation &amp; Growth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Drives AI, machine learning, and product development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Enables predictive analytics 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9AD1AE-E09C-4286-A178-0C8FCE3CA20E}"/>
              </a:ext>
            </a:extLst>
          </p:cNvPr>
          <p:cNvSpPr txBox="1"/>
          <p:nvPr/>
        </p:nvSpPr>
        <p:spPr>
          <a:xfrm>
            <a:off x="165414" y="5618715"/>
            <a:ext cx="57090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5. Competitive Advantage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Companies leveraging data outperform competitors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Helps in trend prediction and market insights 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C68940-774A-466F-BDE4-F285752F9F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320" y="1196045"/>
            <a:ext cx="2948305" cy="18714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71A348-8E71-406A-841E-E0485EB49F3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04" r="32250" b="14015"/>
          <a:stretch/>
        </p:blipFill>
        <p:spPr>
          <a:xfrm>
            <a:off x="9779697" y="4015778"/>
            <a:ext cx="1950719" cy="28084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677170-5AE4-477C-9A3F-8575AA4C9C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840" y="4709075"/>
            <a:ext cx="3596821" cy="18501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5546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Data Visualization and Its Importance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BED34F-45E6-4DD7-8016-C608E368CE63}"/>
              </a:ext>
            </a:extLst>
          </p:cNvPr>
          <p:cNvSpPr txBox="1"/>
          <p:nvPr/>
        </p:nvSpPr>
        <p:spPr>
          <a:xfrm>
            <a:off x="3061413" y="1689843"/>
            <a:ext cx="606917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/>
                </a:solidFill>
              </a:rPr>
              <a:t>What is Data Visualization?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The graphical representation of information and data using charts, graphs, maps, and dashboards.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9440DB-DE0E-49A8-BCF1-25F3691D74B9}"/>
              </a:ext>
            </a:extLst>
          </p:cNvPr>
          <p:cNvSpPr txBox="1"/>
          <p:nvPr/>
        </p:nvSpPr>
        <p:spPr>
          <a:xfrm>
            <a:off x="3806347" y="3528973"/>
            <a:ext cx="4579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Data Visualization Important</a:t>
            </a:r>
            <a:endParaRPr lang="en-US" sz="24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F2D4FB6-FFFB-42D8-827E-5B35E4A4E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246" y="4106219"/>
            <a:ext cx="8127508" cy="268170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1D5671F-255E-4A56-8650-7D1273290A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280" y="1417598"/>
            <a:ext cx="3474720" cy="211137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40F54C05-F0A7-4352-84F5-30D6CCDE99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01" y="1641476"/>
            <a:ext cx="3162543" cy="178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688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3812B4F-6F15-4C33-861E-701ED1483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889" y="3128232"/>
            <a:ext cx="2405787" cy="10772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CA10B0-32DA-4A36-9B94-C97AC8B19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598" y="1470267"/>
            <a:ext cx="1173163" cy="11731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D92224-D4B0-431C-B18A-39442935CE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5767" y="1425846"/>
            <a:ext cx="2867025" cy="1590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Common Data Visualization Tools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BED34F-45E6-4DD7-8016-C608E368CE63}"/>
              </a:ext>
            </a:extLst>
          </p:cNvPr>
          <p:cNvSpPr txBox="1"/>
          <p:nvPr/>
        </p:nvSpPr>
        <p:spPr>
          <a:xfrm>
            <a:off x="0" y="1470267"/>
            <a:ext cx="37461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1. Matplotlib (Python)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Basic plotting library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Highly customizable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Great for line, bar, scatter plots 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9440DB-DE0E-49A8-BCF1-25F3691D74B9}"/>
              </a:ext>
            </a:extLst>
          </p:cNvPr>
          <p:cNvSpPr txBox="1"/>
          <p:nvPr/>
        </p:nvSpPr>
        <p:spPr>
          <a:xfrm>
            <a:off x="-10160" y="3033682"/>
            <a:ext cx="42643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2. Seaborn (Python) 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Built on top of Matplotlib 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Beautiful statistical plots 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Works well with pandas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87C97F-309C-4B25-B267-8EA191767236}"/>
              </a:ext>
            </a:extLst>
          </p:cNvPr>
          <p:cNvSpPr txBox="1"/>
          <p:nvPr/>
        </p:nvSpPr>
        <p:spPr>
          <a:xfrm>
            <a:off x="30480" y="4980460"/>
            <a:ext cx="46402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3. </a:t>
            </a:r>
            <a:r>
              <a:rPr lang="en-US" sz="2400" b="1" dirty="0" err="1">
                <a:solidFill>
                  <a:schemeClr val="accent1"/>
                </a:solidFill>
              </a:rPr>
              <a:t>Plotly</a:t>
            </a:r>
            <a:r>
              <a:rPr lang="en-US" sz="2400" b="1" dirty="0">
                <a:solidFill>
                  <a:schemeClr val="accent1"/>
                </a:solidFill>
              </a:rPr>
              <a:t> (Python/JS)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Interactive and web-ready plots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3D, animated and dashboard capabilities 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B98625-6C8B-4E47-9B88-CCE1BD8D1AF0}"/>
              </a:ext>
            </a:extLst>
          </p:cNvPr>
          <p:cNvSpPr txBox="1"/>
          <p:nvPr/>
        </p:nvSpPr>
        <p:spPr>
          <a:xfrm>
            <a:off x="6421278" y="1624154"/>
            <a:ext cx="47926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4. Tableau 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Drag-and-drop visual analytics tool 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Ideal for business dashboards and reports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9AD1AE-E09C-4286-A178-0C8FCE3CA20E}"/>
              </a:ext>
            </a:extLst>
          </p:cNvPr>
          <p:cNvSpPr txBox="1"/>
          <p:nvPr/>
        </p:nvSpPr>
        <p:spPr>
          <a:xfrm>
            <a:off x="6421278" y="3261667"/>
            <a:ext cx="42541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5. Power BI 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Microsoft’s BI platform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Integrates well with Excel and Azure 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9A145-3DCD-4289-BEA6-53B3780B482B}"/>
              </a:ext>
            </a:extLst>
          </p:cNvPr>
          <p:cNvSpPr txBox="1"/>
          <p:nvPr/>
        </p:nvSpPr>
        <p:spPr>
          <a:xfrm>
            <a:off x="6421278" y="4899180"/>
            <a:ext cx="43383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6. Excel 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Basic visualizations for quick analysis 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Widely used in business settings 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B86830-E8D7-4EE3-B2D8-2C3633DAD7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449" y="3033682"/>
            <a:ext cx="1263831" cy="12638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A36A00-2A5D-4A12-BDD5-631E423049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186" y="4980460"/>
            <a:ext cx="2108754" cy="6993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84A784-19F6-4341-9EA1-0027B771B1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874" y="5233846"/>
            <a:ext cx="716124" cy="66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13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6E31BA-F4E5-4E85-964C-66605AFC9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693" y="4230477"/>
            <a:ext cx="4489867" cy="24993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61EB0F-0AAB-4891-841A-4FCBD982C9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56" t="7123" r="14682" b="6949"/>
          <a:stretch/>
        </p:blipFill>
        <p:spPr>
          <a:xfrm>
            <a:off x="899160" y="4426504"/>
            <a:ext cx="2880360" cy="21792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Quantitative vs Qualitative Data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BED34F-45E6-4DD7-8016-C608E368CE63}"/>
              </a:ext>
            </a:extLst>
          </p:cNvPr>
          <p:cNvSpPr txBox="1"/>
          <p:nvPr/>
        </p:nvSpPr>
        <p:spPr>
          <a:xfrm>
            <a:off x="0" y="1470267"/>
            <a:ext cx="52933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AutoNum type="arabicPeriod"/>
            </a:pPr>
            <a:r>
              <a:rPr lang="it-IT" sz="2400" b="1" dirty="0">
                <a:solidFill>
                  <a:schemeClr val="accent1"/>
                </a:solidFill>
              </a:rPr>
              <a:t>Quantitative Data (Numerical Data)</a:t>
            </a:r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Data that can be measured and expressed in numbers.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9440DB-DE0E-49A8-BCF1-25F3691D74B9}"/>
              </a:ext>
            </a:extLst>
          </p:cNvPr>
          <p:cNvSpPr txBox="1"/>
          <p:nvPr/>
        </p:nvSpPr>
        <p:spPr>
          <a:xfrm>
            <a:off x="0" y="2516920"/>
            <a:ext cx="522224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Types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Discrete Data: </a:t>
            </a:r>
            <a:r>
              <a:rPr lang="en-US" sz="2000" dirty="0">
                <a:solidFill>
                  <a:schemeClr val="bg1"/>
                </a:solidFill>
              </a:rPr>
              <a:t>Countable values (e.g., number of students, cars)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Continuous Data: </a:t>
            </a:r>
            <a:r>
              <a:rPr lang="en-US" sz="2000" dirty="0">
                <a:solidFill>
                  <a:schemeClr val="bg1"/>
                </a:solidFill>
              </a:rPr>
              <a:t>Measurable, can take any value within a range (e.g., height, weight, temperature)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B98625-6C8B-4E47-9B88-CCE1BD8D1AF0}"/>
              </a:ext>
            </a:extLst>
          </p:cNvPr>
          <p:cNvSpPr txBox="1"/>
          <p:nvPr/>
        </p:nvSpPr>
        <p:spPr>
          <a:xfrm>
            <a:off x="6421278" y="1624154"/>
            <a:ext cx="54354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400" b="1" dirty="0">
                <a:solidFill>
                  <a:schemeClr val="accent1"/>
                </a:solidFill>
              </a:rPr>
              <a:t>2. Qualitative Data (Categorical Data)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Describes characteristics or qualities; not numerical.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4CED66-69A7-4B54-A966-4E99E5EF250F}"/>
              </a:ext>
            </a:extLst>
          </p:cNvPr>
          <p:cNvSpPr txBox="1"/>
          <p:nvPr/>
        </p:nvSpPr>
        <p:spPr>
          <a:xfrm>
            <a:off x="6421278" y="2455379"/>
            <a:ext cx="522224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Types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Nominal Data: </a:t>
            </a:r>
            <a:r>
              <a:rPr lang="en-US" sz="2000" dirty="0">
                <a:solidFill>
                  <a:schemeClr val="bg1"/>
                </a:solidFill>
              </a:rPr>
              <a:t>Categories without order (e.g., gender, colors, countries) 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Ordinal Data: </a:t>
            </a:r>
            <a:r>
              <a:rPr lang="en-US" sz="2000" dirty="0">
                <a:solidFill>
                  <a:schemeClr val="bg1"/>
                </a:solidFill>
              </a:rPr>
              <a:t>Categories with a logical order (e.g., education level, satisfaction ratings)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E3DF0F-8114-480E-86F8-3D12AE01256B}"/>
              </a:ext>
            </a:extLst>
          </p:cNvPr>
          <p:cNvSpPr txBox="1"/>
          <p:nvPr/>
        </p:nvSpPr>
        <p:spPr>
          <a:xfrm>
            <a:off x="4251960" y="4941548"/>
            <a:ext cx="30581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Key Difference</a:t>
            </a:r>
          </a:p>
          <a:p>
            <a:r>
              <a:rPr lang="en-US" sz="2000" dirty="0">
                <a:solidFill>
                  <a:schemeClr val="bg1"/>
                </a:solidFill>
              </a:rPr>
              <a:t>Quantitative = "How much?"  Qualitative = "What kind?"</a:t>
            </a:r>
          </a:p>
        </p:txBody>
      </p:sp>
    </p:spTree>
    <p:extLst>
      <p:ext uri="{BB962C8B-B14F-4D97-AF65-F5344CB8AC3E}">
        <p14:creationId xmlns:p14="http://schemas.microsoft.com/office/powerpoint/2010/main" val="1974727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A76780B9-6ACB-4052-8047-CEE9EDB70E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5" r="12319"/>
          <a:stretch/>
        </p:blipFill>
        <p:spPr>
          <a:xfrm>
            <a:off x="10084050" y="2649311"/>
            <a:ext cx="2128270" cy="1676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0ED746E-1B0D-498D-98EA-A779EF0526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506" t="15688" r="21993" b="6615"/>
          <a:stretch/>
        </p:blipFill>
        <p:spPr>
          <a:xfrm>
            <a:off x="10482079" y="1291847"/>
            <a:ext cx="1684521" cy="142830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063EB03-20A2-4D1E-8868-C81DF895CB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316" y="5399682"/>
            <a:ext cx="3000375" cy="1524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FF6D25-B916-4305-9E4D-4BF21ACDE0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826" y="3683922"/>
            <a:ext cx="2143125" cy="2143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FA75D1-7EE2-41E9-8C30-44FD8504058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186" y="2443914"/>
            <a:ext cx="2128269" cy="16609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Types of Data Visualizations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BED34F-45E6-4DD7-8016-C608E368CE63}"/>
              </a:ext>
            </a:extLst>
          </p:cNvPr>
          <p:cNvSpPr txBox="1"/>
          <p:nvPr/>
        </p:nvSpPr>
        <p:spPr>
          <a:xfrm>
            <a:off x="0" y="1277227"/>
            <a:ext cx="37461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1. Bar Chart 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Compare values across categories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Example: </a:t>
            </a:r>
            <a:r>
              <a:rPr lang="en-US" sz="2000" dirty="0">
                <a:solidFill>
                  <a:schemeClr val="bg1"/>
                </a:solidFill>
              </a:rPr>
              <a:t>Sales by region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9440DB-DE0E-49A8-BCF1-25F3691D74B9}"/>
              </a:ext>
            </a:extLst>
          </p:cNvPr>
          <p:cNvSpPr txBox="1"/>
          <p:nvPr/>
        </p:nvSpPr>
        <p:spPr>
          <a:xfrm>
            <a:off x="-10160" y="2485042"/>
            <a:ext cx="42643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2. Line Chart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Show trends over time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Example: </a:t>
            </a:r>
            <a:r>
              <a:rPr lang="en-US" sz="2000" dirty="0">
                <a:solidFill>
                  <a:schemeClr val="bg1"/>
                </a:solidFill>
              </a:rPr>
              <a:t>Monthly temperature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87C97F-309C-4B25-B267-8EA191767236}"/>
              </a:ext>
            </a:extLst>
          </p:cNvPr>
          <p:cNvSpPr txBox="1"/>
          <p:nvPr/>
        </p:nvSpPr>
        <p:spPr>
          <a:xfrm>
            <a:off x="10160" y="3984780"/>
            <a:ext cx="46402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3. Pie Chart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Show parts of a whole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Example: </a:t>
            </a:r>
            <a:r>
              <a:rPr lang="en-US" sz="2000" dirty="0">
                <a:solidFill>
                  <a:schemeClr val="bg1"/>
                </a:solidFill>
              </a:rPr>
              <a:t>Market share by company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B98625-6C8B-4E47-9B88-CCE1BD8D1AF0}"/>
              </a:ext>
            </a:extLst>
          </p:cNvPr>
          <p:cNvSpPr txBox="1"/>
          <p:nvPr/>
        </p:nvSpPr>
        <p:spPr>
          <a:xfrm>
            <a:off x="6152038" y="1291847"/>
            <a:ext cx="43635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5. Scatter Plot 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Show relationships between two variables </a:t>
            </a:r>
            <a:r>
              <a:rPr lang="en-US" sz="2000" b="1" dirty="0">
                <a:solidFill>
                  <a:schemeClr val="bg1"/>
                </a:solidFill>
              </a:rPr>
              <a:t>Example: </a:t>
            </a:r>
            <a:r>
              <a:rPr lang="en-US" sz="2000" dirty="0">
                <a:solidFill>
                  <a:schemeClr val="bg1"/>
                </a:solidFill>
              </a:rPr>
              <a:t>Height vs. weight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9AD1AE-E09C-4286-A178-0C8FCE3CA20E}"/>
              </a:ext>
            </a:extLst>
          </p:cNvPr>
          <p:cNvSpPr txBox="1"/>
          <p:nvPr/>
        </p:nvSpPr>
        <p:spPr>
          <a:xfrm>
            <a:off x="6152038" y="2483845"/>
            <a:ext cx="395716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6. Heatmap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Visualize correlations or intensity </a:t>
            </a:r>
            <a:r>
              <a:rPr lang="en-US" sz="2000" b="1" dirty="0">
                <a:solidFill>
                  <a:schemeClr val="bg1"/>
                </a:solidFill>
              </a:rPr>
              <a:t>Example: </a:t>
            </a:r>
            <a:r>
              <a:rPr lang="en-US" sz="2000" dirty="0">
                <a:solidFill>
                  <a:schemeClr val="bg1"/>
                </a:solidFill>
              </a:rPr>
              <a:t>Correlation matrix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9A145-3DCD-4289-BEA6-53B3780B482B}"/>
              </a:ext>
            </a:extLst>
          </p:cNvPr>
          <p:cNvSpPr txBox="1"/>
          <p:nvPr/>
        </p:nvSpPr>
        <p:spPr>
          <a:xfrm>
            <a:off x="6060756" y="3984780"/>
            <a:ext cx="55522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7. Box Plot 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Summary of distribution (median, quartiles, outliers)  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Example:</a:t>
            </a:r>
            <a:r>
              <a:rPr lang="en-US" sz="2000" dirty="0">
                <a:solidFill>
                  <a:schemeClr val="bg1"/>
                </a:solidFill>
              </a:rPr>
              <a:t> Salary distribution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99D1BC-000F-49D9-9FEC-F808793EBA90}"/>
              </a:ext>
            </a:extLst>
          </p:cNvPr>
          <p:cNvSpPr txBox="1"/>
          <p:nvPr/>
        </p:nvSpPr>
        <p:spPr>
          <a:xfrm>
            <a:off x="-30480" y="5366540"/>
            <a:ext cx="46402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 4. Histogram 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Distribution of numeric data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Example: </a:t>
            </a:r>
            <a:r>
              <a:rPr lang="en-US" sz="2000" dirty="0">
                <a:solidFill>
                  <a:schemeClr val="bg1"/>
                </a:solidFill>
              </a:rPr>
              <a:t>Exam score frequency 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E4F7AC-3CE3-470B-8D20-00609E0AB4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186" y="1330889"/>
            <a:ext cx="2202022" cy="123313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5D3CFAD-F52F-43EE-AA2D-A42E9A839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5585" y="5026947"/>
            <a:ext cx="284797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57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6B04B29-D28F-4598-9557-DDD077CEA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879" y="3855976"/>
            <a:ext cx="1110844" cy="5642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Introduction to Matplotlib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BED34F-45E6-4DD7-8016-C608E368CE63}"/>
              </a:ext>
            </a:extLst>
          </p:cNvPr>
          <p:cNvSpPr txBox="1"/>
          <p:nvPr/>
        </p:nvSpPr>
        <p:spPr>
          <a:xfrm>
            <a:off x="-1" y="1277227"/>
            <a:ext cx="59299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is Matplotlib?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Matplotlib is a popular Python library used for creating static, animated, and interactive visualizations.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9440DB-DE0E-49A8-BCF1-25F3691D74B9}"/>
              </a:ext>
            </a:extLst>
          </p:cNvPr>
          <p:cNvSpPr txBox="1"/>
          <p:nvPr/>
        </p:nvSpPr>
        <p:spPr>
          <a:xfrm>
            <a:off x="-10161" y="2485042"/>
            <a:ext cx="578931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Key Features: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2D plotting library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Supports line, bar, scatter, pie, histogram, and more 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Highly customizable (colors, labels, styles)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Works well with NumPy and pandas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87C97F-309C-4B25-B267-8EA191767236}"/>
              </a:ext>
            </a:extLst>
          </p:cNvPr>
          <p:cNvSpPr txBox="1"/>
          <p:nvPr/>
        </p:nvSpPr>
        <p:spPr>
          <a:xfrm>
            <a:off x="-10161" y="4328029"/>
            <a:ext cx="46402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Use Cases: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Data exploration and reporting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Visual summaries in machine learning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Creating dashboards and reports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B98625-6C8B-4E47-9B88-CCE1BD8D1AF0}"/>
              </a:ext>
            </a:extLst>
          </p:cNvPr>
          <p:cNvSpPr txBox="1"/>
          <p:nvPr/>
        </p:nvSpPr>
        <p:spPr>
          <a:xfrm>
            <a:off x="8160962" y="2998727"/>
            <a:ext cx="332999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Example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matplotlib.pyplot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x = [1, 2, 3, 4]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y = [10, 20, 25, 30]</a:t>
            </a:r>
          </a:p>
          <a:p>
            <a:pPr algn="just"/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plt.plot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(x, y)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plt.title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("Simple Line Plot")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plt.xlabel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("X-axis")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plt.ylabel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("Y-axis")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plt.show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4DC70F-F1DE-4DA9-8723-194EE3BA1D5A}"/>
              </a:ext>
            </a:extLst>
          </p:cNvPr>
          <p:cNvSpPr txBox="1"/>
          <p:nvPr/>
        </p:nvSpPr>
        <p:spPr>
          <a:xfrm>
            <a:off x="8160962" y="1490474"/>
            <a:ext cx="3329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Installation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pip install matplotlib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conda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install matplotlib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C61E89-3D13-4DE5-8B39-68434C9BF2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274" y="1457782"/>
            <a:ext cx="2148688" cy="11921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F1180C-10C8-4C9B-B23E-257A95CAC8E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2" r="24171"/>
          <a:stretch/>
        </p:blipFill>
        <p:spPr>
          <a:xfrm>
            <a:off x="5929950" y="2815846"/>
            <a:ext cx="814682" cy="7885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1862EE-4E97-49D1-A591-5F74F31DFA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595" y="4203150"/>
            <a:ext cx="1169448" cy="6548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3A3674-10C5-4848-AC1B-DE596F7D9C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588" y="3222294"/>
            <a:ext cx="857598" cy="8575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CB1D8E-7CCD-4BBF-9201-9B3F1A66DD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932" y="4143898"/>
            <a:ext cx="1088953" cy="611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805B4F-5FEA-43A1-9929-5B52D73AB76D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5" r="23475"/>
          <a:stretch/>
        </p:blipFill>
        <p:spPr>
          <a:xfrm>
            <a:off x="6371388" y="4819891"/>
            <a:ext cx="1751657" cy="17862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6B5CF90-FA6A-4440-A3B2-C79EC717BE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948" y="5456783"/>
            <a:ext cx="2207744" cy="128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025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Creating a Simple Line Plot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BED34F-45E6-4DD7-8016-C608E368CE63}"/>
              </a:ext>
            </a:extLst>
          </p:cNvPr>
          <p:cNvSpPr txBox="1"/>
          <p:nvPr/>
        </p:nvSpPr>
        <p:spPr>
          <a:xfrm>
            <a:off x="378403" y="3456315"/>
            <a:ext cx="333248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Code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matplotlib.pyplot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x = [1, 2, 3, 4, 5]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y = [10, 20, 15, 25, 30]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plt.plot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(x, y)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plt.title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("Basic Line Plot")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plt.xlabel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("X-axis")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plt.ylabel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("Y-axis")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plt.show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4DC70F-F1DE-4DA9-8723-194EE3BA1D5A}"/>
              </a:ext>
            </a:extLst>
          </p:cNvPr>
          <p:cNvSpPr txBox="1"/>
          <p:nvPr/>
        </p:nvSpPr>
        <p:spPr>
          <a:xfrm>
            <a:off x="378403" y="1394212"/>
            <a:ext cx="42850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Key Elements of a Plot</a:t>
            </a:r>
          </a:p>
          <a:p>
            <a:pPr algn="just"/>
            <a:endParaRPr lang="en-US" sz="2400" b="1" dirty="0">
              <a:solidFill>
                <a:schemeClr val="accent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plt.plot</a:t>
            </a:r>
            <a:r>
              <a:rPr lang="en-US" sz="2000" dirty="0">
                <a:solidFill>
                  <a:schemeClr val="bg1"/>
                </a:solidFill>
              </a:rPr>
              <a:t>() – Draws the line graph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plt.title</a:t>
            </a:r>
            <a:r>
              <a:rPr lang="en-US" sz="2000" dirty="0">
                <a:solidFill>
                  <a:schemeClr val="bg1"/>
                </a:solidFill>
              </a:rPr>
              <a:t>() – Adds a title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plt.xlabel</a:t>
            </a:r>
            <a:r>
              <a:rPr lang="en-US" sz="2000" dirty="0">
                <a:solidFill>
                  <a:schemeClr val="bg1"/>
                </a:solidFill>
              </a:rPr>
              <a:t>() / </a:t>
            </a:r>
            <a:r>
              <a:rPr lang="en-US" sz="2000" dirty="0" err="1">
                <a:solidFill>
                  <a:schemeClr val="bg1"/>
                </a:solidFill>
              </a:rPr>
              <a:t>plt.ylabel</a:t>
            </a:r>
            <a:r>
              <a:rPr lang="en-US" sz="2000" dirty="0">
                <a:solidFill>
                  <a:schemeClr val="bg1"/>
                </a:solidFill>
              </a:rPr>
              <a:t>() – Labels axes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plt.show</a:t>
            </a:r>
            <a:r>
              <a:rPr lang="en-US" sz="2000" dirty="0">
                <a:solidFill>
                  <a:schemeClr val="bg1"/>
                </a:solidFill>
              </a:rPr>
              <a:t>() – Displays the plot 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854846-D08D-44B2-844C-DA9007DFE6F6}"/>
              </a:ext>
            </a:extLst>
          </p:cNvPr>
          <p:cNvSpPr txBox="1"/>
          <p:nvPr/>
        </p:nvSpPr>
        <p:spPr>
          <a:xfrm>
            <a:off x="2674562" y="5531997"/>
            <a:ext cx="59715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Tip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Matplotlib also supports multiple plots on the same graph using </a:t>
            </a:r>
            <a:r>
              <a:rPr lang="en-US" sz="2000" dirty="0" err="1">
                <a:solidFill>
                  <a:schemeClr val="bg1"/>
                </a:solidFill>
              </a:rPr>
              <a:t>plt.plot</a:t>
            </a:r>
            <a:r>
              <a:rPr lang="en-US" sz="2000" dirty="0">
                <a:solidFill>
                  <a:schemeClr val="bg1"/>
                </a:solidFill>
              </a:rPr>
              <a:t>() multiple times before </a:t>
            </a:r>
            <a:r>
              <a:rPr lang="en-US" sz="2000" dirty="0" err="1">
                <a:solidFill>
                  <a:schemeClr val="bg1"/>
                </a:solidFill>
              </a:rPr>
              <a:t>plt.show</a:t>
            </a:r>
            <a:r>
              <a:rPr lang="en-US" sz="2000" dirty="0">
                <a:solidFill>
                  <a:schemeClr val="bg1"/>
                </a:solidFill>
              </a:rPr>
              <a:t>().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D617744-E949-4AB0-A643-D78D1BA10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07" y="2004810"/>
            <a:ext cx="4542393" cy="272543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5022B25-4663-4E70-8415-AB93D2E4A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31" y="1882118"/>
            <a:ext cx="3614566" cy="272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274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Customizing Plots in Matplotlib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BED34F-45E6-4DD7-8016-C608E368CE63}"/>
              </a:ext>
            </a:extLst>
          </p:cNvPr>
          <p:cNvSpPr txBox="1"/>
          <p:nvPr/>
        </p:nvSpPr>
        <p:spPr>
          <a:xfrm>
            <a:off x="6893877" y="1160532"/>
            <a:ext cx="529812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Code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plt.plot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(x, y, color='purple',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linestyle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='-.', marker='s’)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plt.title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("Customized Line Plot")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plt.xlabel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("Time")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plt.ylabel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("Value")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plt.grid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(True)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plt.legend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(["Trend"])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plt.show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4DC70F-F1DE-4DA9-8723-194EE3BA1D5A}"/>
              </a:ext>
            </a:extLst>
          </p:cNvPr>
          <p:cNvSpPr txBox="1"/>
          <p:nvPr/>
        </p:nvSpPr>
        <p:spPr>
          <a:xfrm>
            <a:off x="378402" y="1394212"/>
            <a:ext cx="55861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1. Changing Colors, Line Styles &amp; Markers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plt.plot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(x, y, color='green',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linestyle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='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--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', marker='o’)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color = 'red', 'blue', 'green', etc.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linestyle</a:t>
            </a:r>
            <a:r>
              <a:rPr lang="en-US" sz="2000" dirty="0">
                <a:solidFill>
                  <a:schemeClr val="bg1"/>
                </a:solidFill>
              </a:rPr>
              <a:t> = 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'-', '--', '-.', ':’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marker = 'o' (circle), 's' (square), '*' (star), etc.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A6B61-46C1-445F-993F-B93087F51E54}"/>
              </a:ext>
            </a:extLst>
          </p:cNvPr>
          <p:cNvSpPr txBox="1"/>
          <p:nvPr/>
        </p:nvSpPr>
        <p:spPr>
          <a:xfrm>
            <a:off x="205681" y="4002471"/>
            <a:ext cx="36043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2. Adding Grid &amp; Legend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plt.grid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(True)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	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plt.legend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(["Sales"])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192AF2-4A11-4E27-90C9-1DC47DB4FF2F}"/>
              </a:ext>
            </a:extLst>
          </p:cNvPr>
          <p:cNvSpPr txBox="1"/>
          <p:nvPr/>
        </p:nvSpPr>
        <p:spPr>
          <a:xfrm>
            <a:off x="205681" y="5687402"/>
            <a:ext cx="38481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3. Adjusting Figure Size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plt.figure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figsize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=(8, 5))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29B0DD-F804-4BBE-94FB-28A02263DD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595" y="4283314"/>
            <a:ext cx="2944405" cy="22083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D0D23D-F87F-4D28-8392-5A6E7CBD05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8260" y="4283314"/>
            <a:ext cx="3067885" cy="23009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E79783-0A4A-4456-AC0D-27CDE6B334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128" y="4283314"/>
            <a:ext cx="2944405" cy="220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72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2BA3DD-274A-485F-8644-1D75A4ED1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169" y="3801769"/>
            <a:ext cx="3878181" cy="29086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E1475B-20C0-40F5-9674-4856D735C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092" y="1171221"/>
            <a:ext cx="3575548" cy="26816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Creating Bar Charts in Matplotlib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BED34F-45E6-4DD7-8016-C608E368CE63}"/>
              </a:ext>
            </a:extLst>
          </p:cNvPr>
          <p:cNvSpPr txBox="1"/>
          <p:nvPr/>
        </p:nvSpPr>
        <p:spPr>
          <a:xfrm>
            <a:off x="7815955" y="1291847"/>
            <a:ext cx="42211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3. Customization Options</a:t>
            </a:r>
          </a:p>
          <a:p>
            <a:r>
              <a:rPr lang="en-US" sz="2000" dirty="0">
                <a:solidFill>
                  <a:schemeClr val="bg1"/>
                </a:solidFill>
              </a:rPr>
              <a:t>Change bar color, width, and alignment </a:t>
            </a:r>
          </a:p>
          <a:p>
            <a:r>
              <a:rPr lang="en-US" sz="2000" dirty="0">
                <a:solidFill>
                  <a:schemeClr val="bg1"/>
                </a:solidFill>
              </a:rPr>
              <a:t>Add value labels using </a:t>
            </a:r>
            <a:r>
              <a:rPr lang="en-US" sz="2000" dirty="0" err="1">
                <a:solidFill>
                  <a:schemeClr val="bg1"/>
                </a:solidFill>
              </a:rPr>
              <a:t>plt.text</a:t>
            </a:r>
            <a:r>
              <a:rPr lang="en-US" sz="2000" dirty="0">
                <a:solidFill>
                  <a:schemeClr val="bg1"/>
                </a:solidFill>
              </a:rPr>
              <a:t>()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4DC70F-F1DE-4DA9-8723-194EE3BA1D5A}"/>
              </a:ext>
            </a:extLst>
          </p:cNvPr>
          <p:cNvSpPr txBox="1"/>
          <p:nvPr/>
        </p:nvSpPr>
        <p:spPr>
          <a:xfrm>
            <a:off x="154882" y="1140212"/>
            <a:ext cx="5586153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1. Vertical Bar Chart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import </a:t>
            </a:r>
            <a:r>
              <a:rPr lang="en-US" sz="2000" dirty="0" err="1">
                <a:solidFill>
                  <a:schemeClr val="bg1"/>
                </a:solidFill>
              </a:rPr>
              <a:t>matplotlib.pyplot</a:t>
            </a:r>
            <a:r>
              <a:rPr lang="en-US" sz="2000" dirty="0">
                <a:solidFill>
                  <a:schemeClr val="bg1"/>
                </a:solidFill>
              </a:rPr>
              <a:t> as </a:t>
            </a:r>
            <a:r>
              <a:rPr lang="en-US" sz="2000" dirty="0" err="1">
                <a:solidFill>
                  <a:schemeClr val="bg1"/>
                </a:solidFill>
              </a:rPr>
              <a:t>plt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categories = ['A', 'B', 'C', 'D']values = [23, 45, 56, 78]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plt.bar</a:t>
            </a:r>
            <a:r>
              <a:rPr lang="en-US" sz="2000" dirty="0">
                <a:solidFill>
                  <a:schemeClr val="bg1"/>
                </a:solidFill>
              </a:rPr>
              <a:t>(categories, values, color='</a:t>
            </a:r>
            <a:r>
              <a:rPr lang="en-US" sz="2000" dirty="0" err="1">
                <a:solidFill>
                  <a:schemeClr val="bg1"/>
                </a:solidFill>
              </a:rPr>
              <a:t>skyblue</a:t>
            </a:r>
            <a:r>
              <a:rPr lang="en-US" sz="2000" dirty="0">
                <a:solidFill>
                  <a:schemeClr val="bg1"/>
                </a:solidFill>
              </a:rPr>
              <a:t>’)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plt.title</a:t>
            </a:r>
            <a:r>
              <a:rPr lang="en-US" sz="2000" dirty="0">
                <a:solidFill>
                  <a:schemeClr val="bg1"/>
                </a:solidFill>
              </a:rPr>
              <a:t>("Category-wise Values")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plt.xlabel</a:t>
            </a:r>
            <a:r>
              <a:rPr lang="en-US" sz="2000" dirty="0">
                <a:solidFill>
                  <a:schemeClr val="bg1"/>
                </a:solidFill>
              </a:rPr>
              <a:t>("Categories")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plt.ylabel</a:t>
            </a:r>
            <a:r>
              <a:rPr lang="en-US" sz="2000" dirty="0">
                <a:solidFill>
                  <a:schemeClr val="bg1"/>
                </a:solidFill>
              </a:rPr>
              <a:t>("Values")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plt.show</a:t>
            </a:r>
            <a:r>
              <a:rPr lang="en-US" sz="2000" dirty="0">
                <a:solidFill>
                  <a:schemeClr val="bg1"/>
                </a:solidFill>
              </a:rPr>
              <a:t>()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A6B61-46C1-445F-993F-B93087F51E54}"/>
              </a:ext>
            </a:extLst>
          </p:cNvPr>
          <p:cNvSpPr txBox="1"/>
          <p:nvPr/>
        </p:nvSpPr>
        <p:spPr>
          <a:xfrm>
            <a:off x="154882" y="4064089"/>
            <a:ext cx="52197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2. Horizontal Bar </a:t>
            </a:r>
            <a:r>
              <a:rPr lang="en-US" sz="2400" b="1" dirty="0" err="1">
                <a:solidFill>
                  <a:schemeClr val="accent1"/>
                </a:solidFill>
              </a:rPr>
              <a:t>Chartpython</a:t>
            </a:r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plt.barh</a:t>
            </a:r>
            <a:r>
              <a:rPr lang="en-US" sz="2000" dirty="0">
                <a:solidFill>
                  <a:schemeClr val="bg1"/>
                </a:solidFill>
              </a:rPr>
              <a:t>(categories, values, color='orange’)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plt.title</a:t>
            </a:r>
            <a:r>
              <a:rPr lang="en-US" sz="2000" dirty="0">
                <a:solidFill>
                  <a:schemeClr val="bg1"/>
                </a:solidFill>
              </a:rPr>
              <a:t>("Horizontal Bar Chart")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plt.xlabel</a:t>
            </a:r>
            <a:r>
              <a:rPr lang="en-US" sz="2000" dirty="0">
                <a:solidFill>
                  <a:schemeClr val="bg1"/>
                </a:solidFill>
              </a:rPr>
              <a:t>("Values")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plt.ylabel</a:t>
            </a:r>
            <a:r>
              <a:rPr lang="en-US" sz="2000" dirty="0">
                <a:solidFill>
                  <a:schemeClr val="bg1"/>
                </a:solidFill>
              </a:rPr>
              <a:t>("Categories")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plt.show</a:t>
            </a:r>
            <a:r>
              <a:rPr lang="en-US" sz="2000" dirty="0">
                <a:solidFill>
                  <a:schemeClr val="bg1"/>
                </a:solidFill>
              </a:rPr>
              <a:t>()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3F5764-040B-41D7-A5C6-51C2190C68FA}"/>
              </a:ext>
            </a:extLst>
          </p:cNvPr>
          <p:cNvSpPr txBox="1"/>
          <p:nvPr/>
        </p:nvSpPr>
        <p:spPr>
          <a:xfrm>
            <a:off x="8319032" y="5468322"/>
            <a:ext cx="36953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Use Case</a:t>
            </a:r>
          </a:p>
          <a:p>
            <a:r>
              <a:rPr lang="en-US" sz="2000" dirty="0">
                <a:solidFill>
                  <a:schemeClr val="bg1"/>
                </a:solidFill>
              </a:rPr>
              <a:t>Compare quantities across discrete categories (e.g., sales per product)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3C94AA-3BF3-4A77-BDCD-804B123DB8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988" y="2500944"/>
            <a:ext cx="3780664" cy="283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062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F0DC86-552D-45FD-B955-85C348E35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928" y="3841569"/>
            <a:ext cx="4203312" cy="31524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51FC13B-D1D5-46F0-9B55-368809B507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54" y="3762978"/>
            <a:ext cx="4114806" cy="30861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Creating Pie Charts in Matplotlib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4DC70F-F1DE-4DA9-8723-194EE3BA1D5A}"/>
              </a:ext>
            </a:extLst>
          </p:cNvPr>
          <p:cNvSpPr txBox="1"/>
          <p:nvPr/>
        </p:nvSpPr>
        <p:spPr>
          <a:xfrm>
            <a:off x="285043" y="1291847"/>
            <a:ext cx="490479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just">
              <a:buAutoNum type="arabicPeriod"/>
            </a:pPr>
            <a:r>
              <a:rPr lang="en-US" sz="2400" b="1" dirty="0">
                <a:solidFill>
                  <a:schemeClr val="accent1"/>
                </a:solidFill>
              </a:rPr>
              <a:t>Basic Pie Chart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import </a:t>
            </a:r>
            <a:r>
              <a:rPr lang="en-US" sz="2000" dirty="0" err="1">
                <a:solidFill>
                  <a:schemeClr val="bg1"/>
                </a:solidFill>
              </a:rPr>
              <a:t>matplotlib.pyplot</a:t>
            </a:r>
            <a:r>
              <a:rPr lang="en-US" sz="2000" dirty="0">
                <a:solidFill>
                  <a:schemeClr val="bg1"/>
                </a:solidFill>
              </a:rPr>
              <a:t> as </a:t>
            </a:r>
            <a:r>
              <a:rPr lang="en-US" sz="2000" dirty="0" err="1">
                <a:solidFill>
                  <a:schemeClr val="bg1"/>
                </a:solidFill>
              </a:rPr>
              <a:t>plt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labels = ['Apples', 'Bananas', 'Cherries', 'Dates’]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sizes = [25, 30, 20, 25]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plt.pie</a:t>
            </a:r>
            <a:r>
              <a:rPr lang="en-US" sz="2000" dirty="0">
                <a:solidFill>
                  <a:schemeClr val="bg1"/>
                </a:solidFill>
              </a:rPr>
              <a:t>(sizes, labels=labels)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plt.title</a:t>
            </a:r>
            <a:r>
              <a:rPr lang="en-US" sz="2000" dirty="0">
                <a:solidFill>
                  <a:schemeClr val="bg1"/>
                </a:solidFill>
              </a:rPr>
              <a:t>("Fruit Distribution")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plt.show</a:t>
            </a:r>
            <a:r>
              <a:rPr lang="en-US" sz="2000" dirty="0">
                <a:solidFill>
                  <a:schemeClr val="bg1"/>
                </a:solidFill>
              </a:rPr>
              <a:t>()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A6B61-46C1-445F-993F-B93087F51E54}"/>
              </a:ext>
            </a:extLst>
          </p:cNvPr>
          <p:cNvSpPr txBox="1"/>
          <p:nvPr/>
        </p:nvSpPr>
        <p:spPr>
          <a:xfrm>
            <a:off x="5621526" y="1291847"/>
            <a:ext cx="685551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2. Adding Customization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plt.pie</a:t>
            </a:r>
            <a:r>
              <a:rPr lang="en-US" sz="2000" dirty="0">
                <a:solidFill>
                  <a:schemeClr val="bg1"/>
                </a:solidFill>
              </a:rPr>
              <a:t>(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sizes,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labels=labels,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</a:t>
            </a:r>
            <a:r>
              <a:rPr lang="en-US" sz="2000" dirty="0" err="1">
                <a:solidFill>
                  <a:schemeClr val="bg1"/>
                </a:solidFill>
              </a:rPr>
              <a:t>autopct</a:t>
            </a:r>
            <a:r>
              <a:rPr lang="en-US" sz="2000" dirty="0">
                <a:solidFill>
                  <a:schemeClr val="bg1"/>
                </a:solidFill>
              </a:rPr>
              <a:t>='%1.1f%%',       # Show percentages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</a:t>
            </a:r>
            <a:r>
              <a:rPr lang="en-US" sz="2000" dirty="0" err="1">
                <a:solidFill>
                  <a:schemeClr val="bg1"/>
                </a:solidFill>
              </a:rPr>
              <a:t>startangle</a:t>
            </a:r>
            <a:r>
              <a:rPr lang="en-US" sz="2000" dirty="0">
                <a:solidFill>
                  <a:schemeClr val="bg1"/>
                </a:solidFill>
              </a:rPr>
              <a:t>=90,           # Start from top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    explode=[0, 0.1, 0, 0],  # Emphasize one slice    shadow=True)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plt.title</a:t>
            </a:r>
            <a:r>
              <a:rPr lang="en-US" sz="2000" dirty="0">
                <a:solidFill>
                  <a:schemeClr val="bg1"/>
                </a:solidFill>
              </a:rPr>
              <a:t>("Enhanced Pie Chart")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plt.show</a:t>
            </a:r>
            <a:r>
              <a:rPr lang="en-US" sz="2000" dirty="0">
                <a:solidFill>
                  <a:schemeClr val="bg1"/>
                </a:solidFill>
              </a:rPr>
              <a:t>()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E1EB9-7DBF-4FF2-9AEB-530B2719229E}"/>
              </a:ext>
            </a:extLst>
          </p:cNvPr>
          <p:cNvSpPr txBox="1"/>
          <p:nvPr/>
        </p:nvSpPr>
        <p:spPr>
          <a:xfrm>
            <a:off x="2602086" y="6088559"/>
            <a:ext cx="60388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Use Cases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Represent part-to-whole relationships (percentages, shares)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23303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9CE29B-EFDF-4F85-A05C-557CAF5CC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120" y="2566186"/>
            <a:ext cx="5045084" cy="378381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Creating Histograms in Matplotlib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4DC70F-F1DE-4DA9-8723-194EE3BA1D5A}"/>
              </a:ext>
            </a:extLst>
          </p:cNvPr>
          <p:cNvSpPr txBox="1"/>
          <p:nvPr/>
        </p:nvSpPr>
        <p:spPr>
          <a:xfrm>
            <a:off x="285043" y="1291847"/>
            <a:ext cx="49047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just">
              <a:buAutoNum type="arabicPeriod"/>
            </a:pPr>
            <a:r>
              <a:rPr lang="en-US" sz="2400" b="1" dirty="0">
                <a:solidFill>
                  <a:schemeClr val="accent1"/>
                </a:solidFill>
              </a:rPr>
              <a:t>1. What is a Histogram?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 histogram shows the distribution of a numeric variable by grouping data into bins.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A6B61-46C1-445F-993F-B93087F51E54}"/>
              </a:ext>
            </a:extLst>
          </p:cNvPr>
          <p:cNvSpPr txBox="1"/>
          <p:nvPr/>
        </p:nvSpPr>
        <p:spPr>
          <a:xfrm>
            <a:off x="285043" y="2483845"/>
            <a:ext cx="619455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2. Basic Histogram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import </a:t>
            </a:r>
            <a:r>
              <a:rPr lang="en-US" sz="2000" dirty="0" err="1">
                <a:solidFill>
                  <a:schemeClr val="bg1"/>
                </a:solidFill>
              </a:rPr>
              <a:t>matplotlib.pyplot</a:t>
            </a:r>
            <a:r>
              <a:rPr lang="en-US" sz="2000" dirty="0">
                <a:solidFill>
                  <a:schemeClr val="bg1"/>
                </a:solidFill>
              </a:rPr>
              <a:t> as </a:t>
            </a:r>
            <a:r>
              <a:rPr lang="en-US" sz="2000" dirty="0" err="1">
                <a:solidFill>
                  <a:schemeClr val="bg1"/>
                </a:solidFill>
              </a:rPr>
              <a:t>plt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data = [12, 15, 13, 18, 19, 21, 22, 23, 25, 26, 28, 30, 32, 35]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plt.hist</a:t>
            </a:r>
            <a:r>
              <a:rPr lang="en-US" sz="2000" dirty="0">
                <a:solidFill>
                  <a:schemeClr val="bg1"/>
                </a:solidFill>
              </a:rPr>
              <a:t>(data, bins=5, color='</a:t>
            </a:r>
            <a:r>
              <a:rPr lang="en-US" sz="2000" dirty="0" err="1">
                <a:solidFill>
                  <a:schemeClr val="bg1"/>
                </a:solidFill>
              </a:rPr>
              <a:t>skyblue</a:t>
            </a:r>
            <a:r>
              <a:rPr lang="en-US" sz="2000" dirty="0">
                <a:solidFill>
                  <a:schemeClr val="bg1"/>
                </a:solidFill>
              </a:rPr>
              <a:t>', </a:t>
            </a:r>
            <a:r>
              <a:rPr lang="en-US" sz="2000" dirty="0" err="1">
                <a:solidFill>
                  <a:schemeClr val="bg1"/>
                </a:solidFill>
              </a:rPr>
              <a:t>edgecolor</a:t>
            </a:r>
            <a:r>
              <a:rPr lang="en-US" sz="2000" dirty="0">
                <a:solidFill>
                  <a:schemeClr val="bg1"/>
                </a:solidFill>
              </a:rPr>
              <a:t>='black’)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plt.title</a:t>
            </a:r>
            <a:r>
              <a:rPr lang="en-US" sz="2000" dirty="0">
                <a:solidFill>
                  <a:schemeClr val="bg1"/>
                </a:solidFill>
              </a:rPr>
              <a:t>("Data Distribution")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plt.xlabel</a:t>
            </a:r>
            <a:r>
              <a:rPr lang="en-US" sz="2000" dirty="0">
                <a:solidFill>
                  <a:schemeClr val="bg1"/>
                </a:solidFill>
              </a:rPr>
              <a:t>("Value Range")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plt.ylabel</a:t>
            </a:r>
            <a:r>
              <a:rPr lang="en-US" sz="2000" dirty="0">
                <a:solidFill>
                  <a:schemeClr val="bg1"/>
                </a:solidFill>
              </a:rPr>
              <a:t>("Frequency")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plt.show</a:t>
            </a:r>
            <a:r>
              <a:rPr lang="en-US" sz="2000" dirty="0">
                <a:solidFill>
                  <a:schemeClr val="bg1"/>
                </a:solidFill>
              </a:rPr>
              <a:t>()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E1EB9-7DBF-4FF2-9AEB-530B2719229E}"/>
              </a:ext>
            </a:extLst>
          </p:cNvPr>
          <p:cNvSpPr txBox="1"/>
          <p:nvPr/>
        </p:nvSpPr>
        <p:spPr>
          <a:xfrm>
            <a:off x="3719687" y="5830279"/>
            <a:ext cx="56681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Use Cases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Understand data spread, detect skewness, spot outliers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76D379-ED27-4068-835A-92C646F57369}"/>
              </a:ext>
            </a:extLst>
          </p:cNvPr>
          <p:cNvSpPr txBox="1"/>
          <p:nvPr/>
        </p:nvSpPr>
        <p:spPr>
          <a:xfrm>
            <a:off x="7449763" y="1331767"/>
            <a:ext cx="42443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3. Customization Options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bins: Number of intervals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color &amp; </a:t>
            </a:r>
            <a:r>
              <a:rPr lang="en-US" sz="2000" dirty="0" err="1">
                <a:solidFill>
                  <a:schemeClr val="bg1"/>
                </a:solidFill>
              </a:rPr>
              <a:t>edgecolor</a:t>
            </a:r>
            <a:r>
              <a:rPr lang="en-US" sz="2000" dirty="0">
                <a:solidFill>
                  <a:schemeClr val="bg1"/>
                </a:solidFill>
              </a:rPr>
              <a:t>: Visual styling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Add grid, mean lines, etc. for clarity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93579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BD92D3-9459-4187-9853-5692039C2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395" y="2788906"/>
            <a:ext cx="3286570" cy="24649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Creating Scatter Plots in Matplotlib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4DC70F-F1DE-4DA9-8723-194EE3BA1D5A}"/>
              </a:ext>
            </a:extLst>
          </p:cNvPr>
          <p:cNvSpPr txBox="1"/>
          <p:nvPr/>
        </p:nvSpPr>
        <p:spPr>
          <a:xfrm>
            <a:off x="285042" y="1291847"/>
            <a:ext cx="61945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just">
              <a:buAutoNum type="arabicPeriod"/>
            </a:pPr>
            <a:r>
              <a:rPr lang="en-US" sz="2400" b="1" dirty="0">
                <a:solidFill>
                  <a:schemeClr val="accent1"/>
                </a:solidFill>
              </a:rPr>
              <a:t>What is a Scatter Plot?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 scatter plot displays values for two variables as points on a 2D plane. It shows relationships, patterns, or correlations.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A6B61-46C1-445F-993F-B93087F51E54}"/>
              </a:ext>
            </a:extLst>
          </p:cNvPr>
          <p:cNvSpPr txBox="1"/>
          <p:nvPr/>
        </p:nvSpPr>
        <p:spPr>
          <a:xfrm>
            <a:off x="285043" y="2483845"/>
            <a:ext cx="409391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2. Basic Scatter Plot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matplotlib.pyplot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x = [5, 7, 8, 7, 2, 17, 2, 9]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y = [99, 86, 87, 88, 100, 86, 103, 87]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plt.scatter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(x, y, color='blue’)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plt.title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("Height vs Weight")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plt.xlabel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("Height")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plt.ylabel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("Weight")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plt.show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E1EB9-7DBF-4FF2-9AEB-530B2719229E}"/>
              </a:ext>
            </a:extLst>
          </p:cNvPr>
          <p:cNvSpPr txBox="1"/>
          <p:nvPr/>
        </p:nvSpPr>
        <p:spPr>
          <a:xfrm>
            <a:off x="3135487" y="5901399"/>
            <a:ext cx="65927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Use Cases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Visualizing relationships between variables (e.g., age vs income)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76D379-ED27-4068-835A-92C646F57369}"/>
              </a:ext>
            </a:extLst>
          </p:cNvPr>
          <p:cNvSpPr txBox="1"/>
          <p:nvPr/>
        </p:nvSpPr>
        <p:spPr>
          <a:xfrm>
            <a:off x="7264400" y="1331767"/>
            <a:ext cx="49276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3. Customization Options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color:</a:t>
            </a:r>
            <a:r>
              <a:rPr lang="en-US" sz="2000" dirty="0">
                <a:solidFill>
                  <a:schemeClr val="bg1"/>
                </a:solidFill>
              </a:rPr>
              <a:t> e.g., 'red', 'green’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marker:</a:t>
            </a:r>
            <a:r>
              <a:rPr lang="en-US" sz="2000" dirty="0">
                <a:solidFill>
                  <a:schemeClr val="bg1"/>
                </a:solidFill>
              </a:rPr>
              <a:t> e.g., 'o', '^', 's’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size:</a:t>
            </a:r>
            <a:r>
              <a:rPr lang="en-US" sz="2000" dirty="0">
                <a:solidFill>
                  <a:schemeClr val="bg1"/>
                </a:solidFill>
              </a:rPr>
              <a:t> using s= parameter for point sizes</a:t>
            </a:r>
          </a:p>
          <a:p>
            <a:pPr marL="342900" indent="-342900" algn="just">
              <a:buFontTx/>
              <a:buChar char="-"/>
            </a:pPr>
            <a:r>
              <a:rPr lang="en-US" sz="2000" b="1" dirty="0">
                <a:solidFill>
                  <a:schemeClr val="bg1"/>
                </a:solidFill>
              </a:rPr>
              <a:t>alpha:</a:t>
            </a:r>
            <a:r>
              <a:rPr lang="en-US" sz="2000" dirty="0">
                <a:solidFill>
                  <a:schemeClr val="bg1"/>
                </a:solidFill>
              </a:rPr>
              <a:t> for transparency</a:t>
            </a:r>
          </a:p>
          <a:p>
            <a:pPr marL="342900" indent="-342900" algn="just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plt.scatter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(x, y, color='green', s=100, alpha=0.6)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2E871C-9C47-471A-994A-A87E8DC56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964" y="4038064"/>
            <a:ext cx="2512155" cy="18841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C9CA5F-4011-450E-9070-EB4062A014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28" y="4038065"/>
            <a:ext cx="2512154" cy="188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84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3FBA02-0FC3-4C4B-BDA0-FEAA2899F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860" y="2515132"/>
            <a:ext cx="4616593" cy="34624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Creating Subplots in Matplotlib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4DC70F-F1DE-4DA9-8723-194EE3BA1D5A}"/>
              </a:ext>
            </a:extLst>
          </p:cNvPr>
          <p:cNvSpPr txBox="1"/>
          <p:nvPr/>
        </p:nvSpPr>
        <p:spPr>
          <a:xfrm>
            <a:off x="285042" y="1291847"/>
            <a:ext cx="64713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just">
              <a:buAutoNum type="arabicPeriod"/>
            </a:pPr>
            <a:r>
              <a:rPr lang="en-US" sz="2400" b="1" dirty="0">
                <a:solidFill>
                  <a:schemeClr val="accent1"/>
                </a:solidFill>
              </a:rPr>
              <a:t>What are Subplots?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Subplots allow multiple plots to be displayed in a single figure.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A6B61-46C1-445F-993F-B93087F51E54}"/>
              </a:ext>
            </a:extLst>
          </p:cNvPr>
          <p:cNvSpPr txBox="1"/>
          <p:nvPr/>
        </p:nvSpPr>
        <p:spPr>
          <a:xfrm>
            <a:off x="285043" y="2483845"/>
            <a:ext cx="503879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2. Using </a:t>
            </a:r>
            <a:r>
              <a:rPr lang="en-US" sz="2400" b="1" dirty="0" err="1">
                <a:solidFill>
                  <a:schemeClr val="accent1"/>
                </a:solidFill>
              </a:rPr>
              <a:t>plt.subplot</a:t>
            </a:r>
            <a:r>
              <a:rPr lang="en-US" sz="2400" b="1" dirty="0">
                <a:solidFill>
                  <a:schemeClr val="accent1"/>
                </a:solidFill>
              </a:rPr>
              <a:t>()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matplotlib.pyplot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as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import </a:t>
            </a:r>
            <a:r>
              <a:rPr lang="en-US" sz="2000" dirty="0" err="1">
                <a:solidFill>
                  <a:schemeClr val="bg1"/>
                </a:solidFill>
              </a:rPr>
              <a:t>matplotlib.pyplot</a:t>
            </a:r>
            <a:r>
              <a:rPr lang="en-US" sz="2000" dirty="0">
                <a:solidFill>
                  <a:schemeClr val="bg1"/>
                </a:solidFill>
              </a:rPr>
              <a:t> as </a:t>
            </a:r>
            <a:r>
              <a:rPr lang="en-US" sz="2000" dirty="0" err="1">
                <a:solidFill>
                  <a:schemeClr val="bg1"/>
                </a:solidFill>
              </a:rPr>
              <a:t>plt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plt.subplot</a:t>
            </a:r>
            <a:r>
              <a:rPr lang="en-US" sz="2000" dirty="0">
                <a:solidFill>
                  <a:schemeClr val="bg1"/>
                </a:solidFill>
              </a:rPr>
              <a:t>(1, 2, 1)  # 1 row, 2 columns, 1st plot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plt.plot</a:t>
            </a:r>
            <a:r>
              <a:rPr lang="en-US" sz="2000" dirty="0">
                <a:solidFill>
                  <a:schemeClr val="bg1"/>
                </a:solidFill>
              </a:rPr>
              <a:t>([1, 2, 3], [4, 5, 6])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plt.title</a:t>
            </a:r>
            <a:r>
              <a:rPr lang="en-US" sz="2000" dirty="0">
                <a:solidFill>
                  <a:schemeClr val="bg1"/>
                </a:solidFill>
              </a:rPr>
              <a:t>("Plot 1")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plt.subplot</a:t>
            </a:r>
            <a:r>
              <a:rPr lang="en-US" sz="2000" dirty="0">
                <a:solidFill>
                  <a:schemeClr val="bg1"/>
                </a:solidFill>
              </a:rPr>
              <a:t>(1, 2, 2)  # 2nd plot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plt.bar</a:t>
            </a:r>
            <a:r>
              <a:rPr lang="en-US" sz="2000" dirty="0">
                <a:solidFill>
                  <a:schemeClr val="bg1"/>
                </a:solidFill>
              </a:rPr>
              <a:t>([1, 2, 3], [5, 7, 3])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plt.title</a:t>
            </a:r>
            <a:r>
              <a:rPr lang="en-US" sz="2000" dirty="0">
                <a:solidFill>
                  <a:schemeClr val="bg1"/>
                </a:solidFill>
              </a:rPr>
              <a:t>("Plot 2")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plt.tight_layout</a:t>
            </a:r>
            <a:r>
              <a:rPr lang="en-US" sz="2000" dirty="0">
                <a:solidFill>
                  <a:schemeClr val="bg1"/>
                </a:solidFill>
              </a:rPr>
              <a:t>()  # Adjust spacing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plt.show</a:t>
            </a:r>
            <a:r>
              <a:rPr lang="en-US" sz="2000" dirty="0">
                <a:solidFill>
                  <a:schemeClr val="bg1"/>
                </a:solidFill>
              </a:rPr>
              <a:t>()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E1EB9-7DBF-4FF2-9AEB-530B2719229E}"/>
              </a:ext>
            </a:extLst>
          </p:cNvPr>
          <p:cNvSpPr txBox="1"/>
          <p:nvPr/>
        </p:nvSpPr>
        <p:spPr>
          <a:xfrm>
            <a:off x="3787703" y="5869388"/>
            <a:ext cx="46165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Use Cases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Compare multiple visualizations side by side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76D379-ED27-4068-835A-92C646F57369}"/>
              </a:ext>
            </a:extLst>
          </p:cNvPr>
          <p:cNvSpPr txBox="1"/>
          <p:nvPr/>
        </p:nvSpPr>
        <p:spPr>
          <a:xfrm>
            <a:off x="7264400" y="1331767"/>
            <a:ext cx="39881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3. Grid Structure</a:t>
            </a:r>
          </a:p>
          <a:p>
            <a:pPr marL="342900" indent="-342900" algn="just">
              <a:buFontTx/>
              <a:buChar char="-"/>
            </a:pPr>
            <a:r>
              <a:rPr lang="en-US" sz="2000" dirty="0" err="1">
                <a:solidFill>
                  <a:schemeClr val="bg1"/>
                </a:solidFill>
              </a:rPr>
              <a:t>plt.subplot</a:t>
            </a:r>
            <a:r>
              <a:rPr lang="en-US" sz="2000" dirty="0">
                <a:solidFill>
                  <a:schemeClr val="bg1"/>
                </a:solidFill>
              </a:rPr>
              <a:t>(rows, columns, index)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Index starts at 1</a:t>
            </a:r>
          </a:p>
        </p:txBody>
      </p:sp>
    </p:spTree>
    <p:extLst>
      <p:ext uri="{BB962C8B-B14F-4D97-AF65-F5344CB8AC3E}">
        <p14:creationId xmlns:p14="http://schemas.microsoft.com/office/powerpoint/2010/main" val="1523814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5FC7A9A-5A99-46DF-AACC-FEFEBCF51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8838" y="4194354"/>
            <a:ext cx="3083620" cy="19272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BC1E1E-DCD5-41B3-9D2A-0D95229417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358" y="2256430"/>
            <a:ext cx="3205202" cy="20032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AC549F-7B58-4357-8555-4CA2BB3D55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119" y="1940420"/>
            <a:ext cx="3027125" cy="15135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Plot Styling &amp; Themes in Matplotlib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4DC70F-F1DE-4DA9-8723-194EE3BA1D5A}"/>
              </a:ext>
            </a:extLst>
          </p:cNvPr>
          <p:cNvSpPr txBox="1"/>
          <p:nvPr/>
        </p:nvSpPr>
        <p:spPr>
          <a:xfrm>
            <a:off x="285042" y="1218173"/>
            <a:ext cx="407359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just">
              <a:buAutoNum type="arabicPeriod"/>
            </a:pPr>
            <a:r>
              <a:rPr lang="en-US" sz="2400" b="1" dirty="0">
                <a:solidFill>
                  <a:schemeClr val="accent1"/>
                </a:solidFill>
              </a:rPr>
              <a:t>Built-in Styles 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Apply a pre-defined style to your plots: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plt.style.use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ggplot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’)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Popular styles:-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'</a:t>
            </a:r>
            <a:r>
              <a:rPr lang="en-US" sz="2000" dirty="0" err="1">
                <a:solidFill>
                  <a:schemeClr val="bg1"/>
                </a:solidFill>
              </a:rPr>
              <a:t>ggplot</a:t>
            </a:r>
            <a:r>
              <a:rPr lang="en-US" sz="2000" dirty="0">
                <a:solidFill>
                  <a:schemeClr val="bg1"/>
                </a:solidFill>
              </a:rPr>
              <a:t>’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'seaborn’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'</a:t>
            </a:r>
            <a:r>
              <a:rPr lang="en-US" sz="2000" dirty="0" err="1">
                <a:solidFill>
                  <a:schemeClr val="bg1"/>
                </a:solidFill>
              </a:rPr>
              <a:t>bmh</a:t>
            </a:r>
            <a:r>
              <a:rPr lang="en-US" sz="2000" dirty="0">
                <a:solidFill>
                  <a:schemeClr val="bg1"/>
                </a:solidFill>
              </a:rPr>
              <a:t>’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'</a:t>
            </a:r>
            <a:r>
              <a:rPr lang="en-US" sz="2000" dirty="0" err="1">
                <a:solidFill>
                  <a:schemeClr val="bg1"/>
                </a:solidFill>
              </a:rPr>
              <a:t>dark_background</a:t>
            </a:r>
            <a:r>
              <a:rPr lang="en-US" sz="2000" dirty="0">
                <a:solidFill>
                  <a:schemeClr val="bg1"/>
                </a:solidFill>
              </a:rPr>
              <a:t>’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'</a:t>
            </a:r>
            <a:r>
              <a:rPr lang="en-US" sz="2000" dirty="0" err="1">
                <a:solidFill>
                  <a:schemeClr val="bg1"/>
                </a:solidFill>
              </a:rPr>
              <a:t>fivethirtyeight</a:t>
            </a:r>
            <a:r>
              <a:rPr lang="en-US" sz="2000" dirty="0">
                <a:solidFill>
                  <a:schemeClr val="bg1"/>
                </a:solidFill>
              </a:rPr>
              <a:t>'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E1EB9-7DBF-4FF2-9AEB-530B2719229E}"/>
              </a:ext>
            </a:extLst>
          </p:cNvPr>
          <p:cNvSpPr txBox="1"/>
          <p:nvPr/>
        </p:nvSpPr>
        <p:spPr>
          <a:xfrm>
            <a:off x="6287063" y="1218173"/>
            <a:ext cx="5686497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3. Line and Marker Customization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plt.plot</a:t>
            </a:r>
            <a:r>
              <a:rPr lang="en-US" sz="2000" dirty="0">
                <a:solidFill>
                  <a:schemeClr val="bg1"/>
                </a:solidFill>
              </a:rPr>
              <a:t>(x,</a:t>
            </a:r>
          </a:p>
          <a:p>
            <a:r>
              <a:rPr lang="en-US" sz="2000" dirty="0">
                <a:solidFill>
                  <a:schemeClr val="bg1"/>
                </a:solidFill>
              </a:rPr>
              <a:t>	y, </a:t>
            </a:r>
          </a:p>
          <a:p>
            <a:r>
              <a:rPr lang="en-US" sz="2000" dirty="0">
                <a:solidFill>
                  <a:schemeClr val="bg1"/>
                </a:solidFill>
              </a:rPr>
              <a:t>	color='purple’, </a:t>
            </a:r>
          </a:p>
          <a:p>
            <a:r>
              <a:rPr lang="en-US" sz="2000" dirty="0">
                <a:solidFill>
                  <a:schemeClr val="bg1"/>
                </a:solidFill>
              </a:rPr>
              <a:t>	linewidth=2, </a:t>
            </a:r>
          </a:p>
          <a:p>
            <a:r>
              <a:rPr lang="en-US" sz="2000" dirty="0">
                <a:solidFill>
                  <a:schemeClr val="bg1"/>
                </a:solidFill>
              </a:rPr>
              <a:t>	marker='o’, </a:t>
            </a:r>
          </a:p>
          <a:p>
            <a:r>
              <a:rPr lang="en-US" sz="2000" dirty="0">
                <a:solidFill>
                  <a:schemeClr val="bg1"/>
                </a:solidFill>
              </a:rPr>
              <a:t>	</a:t>
            </a:r>
            <a:r>
              <a:rPr lang="en-US" sz="2000" dirty="0" err="1">
                <a:solidFill>
                  <a:schemeClr val="bg1"/>
                </a:solidFill>
              </a:rPr>
              <a:t>markersize</a:t>
            </a:r>
            <a:r>
              <a:rPr lang="en-US" sz="2000" dirty="0">
                <a:solidFill>
                  <a:schemeClr val="bg1"/>
                </a:solidFill>
              </a:rPr>
              <a:t>=8)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76D379-ED27-4068-835A-92C646F57369}"/>
              </a:ext>
            </a:extLst>
          </p:cNvPr>
          <p:cNvSpPr txBox="1"/>
          <p:nvPr/>
        </p:nvSpPr>
        <p:spPr>
          <a:xfrm>
            <a:off x="285042" y="5065380"/>
            <a:ext cx="515112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2. Customize Fonts &amp; Sizes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plt.title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("Title",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fontsize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=14,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fontweight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='bold’)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plt.xlabel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("X-axis",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fontsize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=12)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plt.ylabel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("Y-axis",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fontsize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=12)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A0DB05-7AF5-4622-AA9B-3E5260E4F652}"/>
              </a:ext>
            </a:extLst>
          </p:cNvPr>
          <p:cNvSpPr txBox="1"/>
          <p:nvPr/>
        </p:nvSpPr>
        <p:spPr>
          <a:xfrm>
            <a:off x="6545581" y="5911765"/>
            <a:ext cx="57530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Use Case</a:t>
            </a:r>
          </a:p>
          <a:p>
            <a:r>
              <a:rPr lang="en-US" sz="2000" dirty="0">
                <a:solidFill>
                  <a:schemeClr val="bg1"/>
                </a:solidFill>
              </a:rPr>
              <a:t>Enhance readability, match publication or brand styles.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24A97E-DB40-491B-8AC6-5F3937F74C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120" y="3502900"/>
            <a:ext cx="3027124" cy="151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367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99FB81B-1422-4ABF-8845-69F45C64A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960" y="2149814"/>
            <a:ext cx="4408878" cy="30311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Saving Plots to Files in Matplotlib---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4DC70F-F1DE-4DA9-8723-194EE3BA1D5A}"/>
              </a:ext>
            </a:extLst>
          </p:cNvPr>
          <p:cNvSpPr txBox="1"/>
          <p:nvPr/>
        </p:nvSpPr>
        <p:spPr>
          <a:xfrm>
            <a:off x="285042" y="1092102"/>
            <a:ext cx="421583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 algn="just">
              <a:buAutoNum type="arabicPeriod"/>
            </a:pPr>
            <a:r>
              <a:rPr lang="en-US" sz="2400" b="1" dirty="0">
                <a:solidFill>
                  <a:schemeClr val="accent1"/>
                </a:solidFill>
              </a:rPr>
              <a:t>Save a Plot as an Image File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plt.plot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([1, 2, 3], [4, 5, 6])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plt.title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("Simple Plot")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plt.savefig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("plot.png")  # Save as PNG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E1EB9-7DBF-4FF2-9AEB-530B2719229E}"/>
              </a:ext>
            </a:extLst>
          </p:cNvPr>
          <p:cNvSpPr txBox="1"/>
          <p:nvPr/>
        </p:nvSpPr>
        <p:spPr>
          <a:xfrm>
            <a:off x="285042" y="5671508"/>
            <a:ext cx="479749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4. Save Without Displaying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Call </a:t>
            </a:r>
            <a:r>
              <a:rPr lang="en-US" sz="2000" dirty="0" err="1">
                <a:solidFill>
                  <a:schemeClr val="bg1"/>
                </a:solidFill>
              </a:rPr>
              <a:t>plt.savefig</a:t>
            </a:r>
            <a:r>
              <a:rPr lang="en-US" sz="2000" dirty="0">
                <a:solidFill>
                  <a:schemeClr val="bg1"/>
                </a:solidFill>
              </a:rPr>
              <a:t>() before </a:t>
            </a:r>
            <a:r>
              <a:rPr lang="en-US" sz="2000" dirty="0" err="1">
                <a:solidFill>
                  <a:schemeClr val="bg1"/>
                </a:solidFill>
              </a:rPr>
              <a:t>plt.show</a:t>
            </a:r>
            <a:r>
              <a:rPr lang="en-US" sz="2000" dirty="0">
                <a:solidFill>
                  <a:schemeClr val="bg1"/>
                </a:solidFill>
              </a:rPr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Once </a:t>
            </a:r>
            <a:r>
              <a:rPr lang="en-US" sz="2000" dirty="0" err="1">
                <a:solidFill>
                  <a:schemeClr val="bg1"/>
                </a:solidFill>
              </a:rPr>
              <a:t>plt.show</a:t>
            </a:r>
            <a:r>
              <a:rPr lang="en-US" sz="2000" dirty="0">
                <a:solidFill>
                  <a:schemeClr val="bg1"/>
                </a:solidFill>
              </a:rPr>
              <a:t>() is used, the plot is cleared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76D379-ED27-4068-835A-92C646F57369}"/>
              </a:ext>
            </a:extLst>
          </p:cNvPr>
          <p:cNvSpPr txBox="1"/>
          <p:nvPr/>
        </p:nvSpPr>
        <p:spPr>
          <a:xfrm>
            <a:off x="285042" y="2815152"/>
            <a:ext cx="515112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2. Supported File Formats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.</a:t>
            </a:r>
            <a:r>
              <a:rPr lang="en-US" sz="2000" dirty="0" err="1">
                <a:solidFill>
                  <a:schemeClr val="bg1"/>
                </a:solidFill>
              </a:rPr>
              <a:t>png</a:t>
            </a:r>
            <a:r>
              <a:rPr lang="en-US" sz="2000" dirty="0">
                <a:solidFill>
                  <a:schemeClr val="bg1"/>
                </a:solidFill>
              </a:rPr>
              <a:t> – Most common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.jpg, .jpeg – Compressed image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.pdf – For high-quality printing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.</a:t>
            </a:r>
            <a:r>
              <a:rPr lang="en-US" sz="2000" dirty="0" err="1">
                <a:solidFill>
                  <a:schemeClr val="bg1"/>
                </a:solidFill>
              </a:rPr>
              <a:t>svg</a:t>
            </a:r>
            <a:r>
              <a:rPr lang="en-US" sz="2000" dirty="0">
                <a:solidFill>
                  <a:schemeClr val="bg1"/>
                </a:solidFill>
              </a:rPr>
              <a:t> – Scalable vector graphics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A0DB05-7AF5-4622-AA9B-3E5260E4F652}"/>
              </a:ext>
            </a:extLst>
          </p:cNvPr>
          <p:cNvSpPr txBox="1"/>
          <p:nvPr/>
        </p:nvSpPr>
        <p:spPr>
          <a:xfrm>
            <a:off x="7500621" y="5825396"/>
            <a:ext cx="45796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Use Case</a:t>
            </a:r>
          </a:p>
          <a:p>
            <a:r>
              <a:rPr lang="en-US" sz="2000" dirty="0">
                <a:solidFill>
                  <a:schemeClr val="bg1"/>
                </a:solidFill>
              </a:rPr>
              <a:t>Include plots in reports, articles, or websites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C45966-5045-425B-91F6-D7892B15B1EE}"/>
              </a:ext>
            </a:extLst>
          </p:cNvPr>
          <p:cNvSpPr txBox="1"/>
          <p:nvPr/>
        </p:nvSpPr>
        <p:spPr>
          <a:xfrm>
            <a:off x="285042" y="4594290"/>
            <a:ext cx="51511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3. Set Resolution (DPI)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Python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plt.savefig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("plot_highres.png", dpi=300)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B4288B-64FF-493B-A04F-37B1320F3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22" y="2149814"/>
            <a:ext cx="4408878" cy="303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533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7DB26A9-C980-4B57-8152-69D2CA4BF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849"/>
            <a:ext cx="12192000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Matplotlib Chart Comparison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0797D0E-8D96-4797-A5F3-BD9B236314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362198"/>
              </p:ext>
            </p:extLst>
          </p:nvPr>
        </p:nvGraphicFramePr>
        <p:xfrm>
          <a:off x="782320" y="1643380"/>
          <a:ext cx="109728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40805661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73080629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9966064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2451995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Plot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382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 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plot()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Trends over continuous data (e.g., time series)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plt.plot</a:t>
                      </a:r>
                      <a:r>
                        <a:rPr lang="en-US" dirty="0"/>
                        <a:t>(x, y)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570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Scatter 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scatter()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Relationship between two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plt.scatter</a:t>
                      </a:r>
                      <a:r>
                        <a:rPr lang="en-US" dirty="0"/>
                        <a:t>(x, y)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958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Bar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Compare categories using rectangular bars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plt.bar</a:t>
                      </a:r>
                      <a:r>
                        <a:rPr lang="en-US" dirty="0"/>
                        <a:t>(categories, values)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260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Pie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pie()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Show proportion of categories as slices of a pie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plt.pie</a:t>
                      </a:r>
                      <a:r>
                        <a:rPr lang="en-US" dirty="0"/>
                        <a:t>(sizes, labels=...)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640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Frequency distribution of continuous data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plt.hist</a:t>
                      </a:r>
                      <a:r>
                        <a:rPr lang="en-US" dirty="0"/>
                        <a:t>(data, bins=...)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845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927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983DFC6-C495-4594-BDF5-357CB55BB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9181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3"/>
                </a:solidFill>
                <a:effectLst/>
              </a:rPr>
              <a:t>Q &amp; 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DEE147-9E86-4B73-9018-E0D465602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233" y="1878719"/>
            <a:ext cx="4587317" cy="448627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29E39623-061D-4662-97EA-077035D18C1B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096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E9C5C-6569-4C5C-98FD-4514941A1A59}"/>
              </a:ext>
            </a:extLst>
          </p:cNvPr>
          <p:cNvSpPr/>
          <p:nvPr/>
        </p:nvSpPr>
        <p:spPr>
          <a:xfrm rot="2700000">
            <a:off x="4776987" y="1498228"/>
            <a:ext cx="2013391" cy="2013391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6BA146-A655-415F-8DCE-ED10500F28D3}"/>
              </a:ext>
            </a:extLst>
          </p:cNvPr>
          <p:cNvSpPr/>
          <p:nvPr/>
        </p:nvSpPr>
        <p:spPr>
          <a:xfrm rot="2700000">
            <a:off x="6838259" y="3069049"/>
            <a:ext cx="1719112" cy="17191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5C243C-8AFA-48C1-BC37-34FA15F457A4}"/>
              </a:ext>
            </a:extLst>
          </p:cNvPr>
          <p:cNvSpPr/>
          <p:nvPr/>
        </p:nvSpPr>
        <p:spPr>
          <a:xfrm rot="2700000" flipV="1">
            <a:off x="4540879" y="4118095"/>
            <a:ext cx="952612" cy="9526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236F8A-92A8-462D-9C5C-EBB0391EE255}"/>
              </a:ext>
            </a:extLst>
          </p:cNvPr>
          <p:cNvSpPr/>
          <p:nvPr/>
        </p:nvSpPr>
        <p:spPr>
          <a:xfrm rot="2700000">
            <a:off x="4873774" y="2476034"/>
            <a:ext cx="2632087" cy="2632087"/>
          </a:xfrm>
          <a:prstGeom prst="roundRect">
            <a:avLst>
              <a:gd name="adj" fmla="val 1912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2742A2-6260-4172-8D34-B3FEEEF9BC92}"/>
              </a:ext>
            </a:extLst>
          </p:cNvPr>
          <p:cNvSpPr txBox="1">
            <a:spLocks/>
          </p:cNvSpPr>
          <p:nvPr/>
        </p:nvSpPr>
        <p:spPr>
          <a:xfrm>
            <a:off x="5052519" y="3279223"/>
            <a:ext cx="2274595" cy="1239069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A43068-9F93-4923-849F-C40C2616E5FD}"/>
              </a:ext>
            </a:extLst>
          </p:cNvPr>
          <p:cNvSpPr/>
          <p:nvPr/>
        </p:nvSpPr>
        <p:spPr>
          <a:xfrm rot="2700000">
            <a:off x="6514438" y="5459984"/>
            <a:ext cx="1597667" cy="1597667"/>
          </a:xfrm>
          <a:custGeom>
            <a:avLst/>
            <a:gdLst>
              <a:gd name="connsiteX0" fmla="*/ 89500 w 1597666"/>
              <a:gd name="connsiteY0" fmla="*/ 89500 h 1597666"/>
              <a:gd name="connsiteX1" fmla="*/ 305570 w 1597666"/>
              <a:gd name="connsiteY1" fmla="*/ 0 h 1597666"/>
              <a:gd name="connsiteX2" fmla="*/ 1292096 w 1597666"/>
              <a:gd name="connsiteY2" fmla="*/ 0 h 1597666"/>
              <a:gd name="connsiteX3" fmla="*/ 1597666 w 1597666"/>
              <a:gd name="connsiteY3" fmla="*/ 305570 h 1597666"/>
              <a:gd name="connsiteX4" fmla="*/ 1597666 w 1597666"/>
              <a:gd name="connsiteY4" fmla="*/ 828667 h 1597666"/>
              <a:gd name="connsiteX5" fmla="*/ 828667 w 1597666"/>
              <a:gd name="connsiteY5" fmla="*/ 1597666 h 1597666"/>
              <a:gd name="connsiteX6" fmla="*/ 305570 w 1597666"/>
              <a:gd name="connsiteY6" fmla="*/ 1597666 h 1597666"/>
              <a:gd name="connsiteX7" fmla="*/ 0 w 1597666"/>
              <a:gd name="connsiteY7" fmla="*/ 1292096 h 1597666"/>
              <a:gd name="connsiteX8" fmla="*/ 0 w 1597666"/>
              <a:gd name="connsiteY8" fmla="*/ 305570 h 1597666"/>
              <a:gd name="connsiteX9" fmla="*/ 89500 w 1597666"/>
              <a:gd name="connsiteY9" fmla="*/ 89500 h 159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7666" h="1597666">
                <a:moveTo>
                  <a:pt x="89500" y="89500"/>
                </a:moveTo>
                <a:cubicBezTo>
                  <a:pt x="144796" y="34202"/>
                  <a:pt x="221189" y="0"/>
                  <a:pt x="305570" y="0"/>
                </a:cubicBezTo>
                <a:lnTo>
                  <a:pt x="1292096" y="0"/>
                </a:lnTo>
                <a:cubicBezTo>
                  <a:pt x="1460858" y="0"/>
                  <a:pt x="1597666" y="136808"/>
                  <a:pt x="1597666" y="305570"/>
                </a:cubicBezTo>
                <a:lnTo>
                  <a:pt x="1597666" y="828667"/>
                </a:lnTo>
                <a:lnTo>
                  <a:pt x="828667" y="1597666"/>
                </a:lnTo>
                <a:lnTo>
                  <a:pt x="305570" y="1597666"/>
                </a:lnTo>
                <a:cubicBezTo>
                  <a:pt x="136808" y="1597666"/>
                  <a:pt x="0" y="1460858"/>
                  <a:pt x="0" y="1292096"/>
                </a:cubicBezTo>
                <a:lnTo>
                  <a:pt x="0" y="305570"/>
                </a:lnTo>
                <a:cubicBezTo>
                  <a:pt x="0" y="221189"/>
                  <a:pt x="34202" y="144796"/>
                  <a:pt x="89500" y="89500"/>
                </a:cubicBezTo>
                <a:close/>
              </a:path>
            </a:pathLst>
          </a:cu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0C82F-60D6-4E8E-8658-1945239ECDC7}"/>
              </a:ext>
            </a:extLst>
          </p:cNvPr>
          <p:cNvSpPr/>
          <p:nvPr/>
        </p:nvSpPr>
        <p:spPr>
          <a:xfrm rot="2700000">
            <a:off x="6510290" y="359620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2F3FE-74FC-4251-9C8C-0D58948AEC51}"/>
              </a:ext>
            </a:extLst>
          </p:cNvPr>
          <p:cNvSpPr/>
          <p:nvPr/>
        </p:nvSpPr>
        <p:spPr>
          <a:xfrm rot="2700000">
            <a:off x="2631201" y="2321567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1B9AA9D-A8FA-472A-8829-35C9E7182704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67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2157</Words>
  <Application>Microsoft Office PowerPoint</Application>
  <PresentationFormat>Widescreen</PresentationFormat>
  <Paragraphs>381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Goudy Old Style</vt:lpstr>
      <vt:lpstr>Wingdings 2</vt:lpstr>
      <vt:lpstr>SlateVTI</vt:lpstr>
      <vt:lpstr>Data Visualization</vt:lpstr>
      <vt:lpstr>Introduction to Data</vt:lpstr>
      <vt:lpstr>Conti…</vt:lpstr>
      <vt:lpstr>Where Does Data Come From?</vt:lpstr>
      <vt:lpstr>Why is Data Important?</vt:lpstr>
      <vt:lpstr>Data Visualization and Its Importance</vt:lpstr>
      <vt:lpstr>Common Data Visualization Tools</vt:lpstr>
      <vt:lpstr>Quantitative vs Qualitative Data </vt:lpstr>
      <vt:lpstr>Types of Data Visualizations</vt:lpstr>
      <vt:lpstr>Introduction to Matplotlib</vt:lpstr>
      <vt:lpstr>Creating a Simple Line Plot</vt:lpstr>
      <vt:lpstr>Customizing Plots in Matplotlib</vt:lpstr>
      <vt:lpstr>Creating Bar Charts in Matplotlib</vt:lpstr>
      <vt:lpstr>Creating Pie Charts in Matplotlib</vt:lpstr>
      <vt:lpstr>Creating Histograms in Matplotlib</vt:lpstr>
      <vt:lpstr>Creating Scatter Plots in Matplotlib</vt:lpstr>
      <vt:lpstr>Creating Subplots in Matplotlib</vt:lpstr>
      <vt:lpstr>Plot Styling &amp; Themes in Matplotlib</vt:lpstr>
      <vt:lpstr>Saving Plots to Files in Matplotlib---</vt:lpstr>
      <vt:lpstr>Matplotlib Chart Comparison</vt:lpstr>
      <vt:lpstr>Q &amp; 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2025-06-24T10:53:15Z</dcterms:modified>
</cp:coreProperties>
</file>