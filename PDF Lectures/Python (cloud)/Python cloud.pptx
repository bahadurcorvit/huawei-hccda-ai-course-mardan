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79" r:id="rId2"/>
    <p:sldId id="257" r:id="rId3"/>
    <p:sldId id="321" r:id="rId4"/>
    <p:sldId id="382" r:id="rId5"/>
    <p:sldId id="383" r:id="rId6"/>
    <p:sldId id="410" r:id="rId7"/>
    <p:sldId id="411" r:id="rId8"/>
    <p:sldId id="412" r:id="rId9"/>
    <p:sldId id="413" r:id="rId10"/>
    <p:sldId id="384" r:id="rId11"/>
    <p:sldId id="414" r:id="rId12"/>
    <p:sldId id="385" r:id="rId13"/>
    <p:sldId id="415" r:id="rId14"/>
    <p:sldId id="416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09" r:id="rId39"/>
    <p:sldId id="26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https://github.com/bahadurCorvi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3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microsoft.com/office/2007/relationships/hdphoto" Target="../media/hdphoto4.wdp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microsoft.com/office/2007/relationships/hdphoto" Target="../media/hdphoto7.wdp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7.png"/><Relationship Id="rId7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jp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microsoft.com/office/2007/relationships/hdphoto" Target="../media/hdphoto8.wdp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128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Python for Cloud Engineers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5106ABC-BEE6-4063-AC81-226D67D1C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17480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5"/>
                </a:solidFill>
                <a:effectLst/>
              </a:rPr>
              <a:t>Expert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4D3E3-467B-46E3-A72C-AEA0D5A7854C}"/>
              </a:ext>
            </a:extLst>
          </p:cNvPr>
          <p:cNvGrpSpPr/>
          <p:nvPr/>
        </p:nvGrpSpPr>
        <p:grpSpPr>
          <a:xfrm>
            <a:off x="172720" y="6159025"/>
            <a:ext cx="12405360" cy="835104"/>
            <a:chOff x="172720" y="6159025"/>
            <a:chExt cx="12405360" cy="835104"/>
          </a:xfrm>
        </p:grpSpPr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A5C0BEA-56F9-40CD-89F1-042698620EFE}"/>
                </a:ext>
              </a:extLst>
            </p:cNvPr>
            <p:cNvSpPr txBox="1">
              <a:spLocks/>
            </p:cNvSpPr>
            <p:nvPr/>
          </p:nvSpPr>
          <p:spPr>
            <a:xfrm>
              <a:off x="7741222" y="615902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3F264889-F64F-4A04-96BF-53D8143898F9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Dated: 14 June 2025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02B1E4EF-E880-408F-98F8-DFB777D8F9D6}"/>
                </a:ext>
              </a:extLst>
            </p:cNvPr>
            <p:cNvSpPr txBox="1">
              <a:spLocks/>
            </p:cNvSpPr>
            <p:nvPr/>
          </p:nvSpPr>
          <p:spPr>
            <a:xfrm>
              <a:off x="3672281" y="6437393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 err="1">
                  <a:solidFill>
                    <a:schemeClr val="accent3"/>
                  </a:solidFill>
                </a:rPr>
                <a:t>Github</a:t>
              </a:r>
              <a:r>
                <a:rPr lang="en-US" sz="2000" dirty="0">
                  <a:solidFill>
                    <a:schemeClr val="accent3"/>
                  </a:solidFill>
                </a:rPr>
                <a:t>: </a:t>
              </a:r>
              <a:r>
                <a:rPr lang="en-US" sz="2000" dirty="0" err="1">
                  <a:solidFill>
                    <a:schemeClr val="accent3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bahadurCorvit</a:t>
              </a:r>
              <a:endParaRPr lang="en-US" sz="2800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07E2D9E-806B-4BB0-8E40-69B1F9177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423"/>
            <a:ext cx="12192000" cy="3133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593946-5BDB-4EBE-B0A1-9C4549DD3F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912618" y="4787365"/>
            <a:ext cx="2356184" cy="157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/>
          <p:cNvSpPr txBox="1"/>
          <p:nvPr/>
        </p:nvSpPr>
        <p:spPr>
          <a:xfrm>
            <a:off x="685800" y="1506804"/>
            <a:ext cx="3616385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5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Montserrat" panose="020B0604020202020204" charset="0"/>
                <a:ea typeface="+mj-ea"/>
                <a:sym typeface="Montserrat Ultra-Bold"/>
              </a:rPr>
              <a:t>Agenda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8A1A227-1462-4F9C-8594-85CBB3787DD5}"/>
              </a:ext>
            </a:extLst>
          </p:cNvPr>
          <p:cNvGrpSpPr/>
          <p:nvPr/>
        </p:nvGrpSpPr>
        <p:grpSpPr>
          <a:xfrm>
            <a:off x="8565900" y="-1509098"/>
            <a:ext cx="4254351" cy="4423007"/>
            <a:chOff x="8901180" y="-1976458"/>
            <a:chExt cx="4254351" cy="4423007"/>
          </a:xfrm>
        </p:grpSpPr>
        <p:grpSp>
          <p:nvGrpSpPr>
            <p:cNvPr id="20" name="Group 20"/>
            <p:cNvGrpSpPr/>
            <p:nvPr/>
          </p:nvGrpSpPr>
          <p:grpSpPr>
            <a:xfrm>
              <a:off x="8901180" y="-1976458"/>
              <a:ext cx="4254351" cy="4423007"/>
              <a:chOff x="0" y="0"/>
              <a:chExt cx="406400" cy="42251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42251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22511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22511"/>
                    </a:lnTo>
                    <a:lnTo>
                      <a:pt x="0" y="42251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chemeClr val="accent4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38100"/>
                <a:ext cx="203200" cy="46061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095654" y="-908242"/>
              <a:ext cx="3333643" cy="2864849"/>
              <a:chOff x="0" y="0"/>
              <a:chExt cx="812800" cy="698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9054" r="-39054"/>
                </a:stretch>
              </a:blipFill>
              <a:ln w="1333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8D48AB0-6555-488E-8EFB-A85DFA80D980}"/>
              </a:ext>
            </a:extLst>
          </p:cNvPr>
          <p:cNvGrpSpPr/>
          <p:nvPr/>
        </p:nvGrpSpPr>
        <p:grpSpPr>
          <a:xfrm>
            <a:off x="670036" y="3316893"/>
            <a:ext cx="10449058" cy="2829594"/>
            <a:chOff x="670036" y="2819053"/>
            <a:chExt cx="10449058" cy="2829594"/>
          </a:xfrm>
        </p:grpSpPr>
        <p:grpSp>
          <p:nvGrpSpPr>
            <p:cNvPr id="62" name="Group 14">
              <a:extLst>
                <a:ext uri="{FF2B5EF4-FFF2-40B4-BE49-F238E27FC236}">
                  <a16:creationId xmlns:a16="http://schemas.microsoft.com/office/drawing/2014/main" id="{A0B5073A-03D3-4ADF-AB0C-36FFBFA30379}"/>
                </a:ext>
              </a:extLst>
            </p:cNvPr>
            <p:cNvGrpSpPr/>
            <p:nvPr/>
          </p:nvGrpSpPr>
          <p:grpSpPr>
            <a:xfrm>
              <a:off x="6466014" y="2819053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63" name="Freeform 15">
                <a:extLst>
                  <a:ext uri="{FF2B5EF4-FFF2-40B4-BE49-F238E27FC236}">
                    <a16:creationId xmlns:a16="http://schemas.microsoft.com/office/drawing/2014/main" id="{1FE0C28B-2FDA-406A-AB17-D4FF4758B95D}"/>
                  </a:ext>
                </a:extLst>
              </p:cNvPr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64" name="TextBox 16">
                <a:extLst>
                  <a:ext uri="{FF2B5EF4-FFF2-40B4-BE49-F238E27FC236}">
                    <a16:creationId xmlns:a16="http://schemas.microsoft.com/office/drawing/2014/main" id="{B74B9418-FD6E-476A-A785-68A7A90BD28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2" name="Group 2"/>
            <p:cNvGrpSpPr/>
            <p:nvPr/>
          </p:nvGrpSpPr>
          <p:grpSpPr>
            <a:xfrm>
              <a:off x="685801" y="359156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685801" y="5172018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481779" y="4367092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85801" y="437625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481779" y="359156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481779" y="5151781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85800" y="4042062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481779" y="4006352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685800" y="483816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6481779" y="480245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685800" y="564864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481779" y="561293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73754" y="3610271"/>
              <a:ext cx="2833697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Learn end-to-end ML pipeline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910" y="3591872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910" y="5172329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4889" y="4367404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910" y="437656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4889" y="3591872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4889" y="5152093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73751" y="4371052"/>
              <a:ext cx="4653884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"/>
                </a:rPr>
                <a:t>Implement classification, regression, clustering</a:t>
              </a:r>
              <a:endParaRPr lang="en-US" sz="1600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69733" y="4335343"/>
              <a:ext cx="3649361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Tune models with </a:t>
              </a:r>
              <a:r>
                <a:rPr lang="en-US" sz="1649" dirty="0" err="1">
                  <a:solidFill>
                    <a:schemeClr val="bg1"/>
                  </a:solidFill>
                  <a:latin typeface="Montserrat"/>
                </a:rPr>
                <a:t>GridSearchCV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73754" y="5131833"/>
              <a:ext cx="3060806" cy="2537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Apply preprocessing techniques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9733" y="5096123"/>
              <a:ext cx="3048513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Complete a mini ML project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grpSp>
          <p:nvGrpSpPr>
            <p:cNvPr id="53" name="Group 2">
              <a:extLst>
                <a:ext uri="{FF2B5EF4-FFF2-40B4-BE49-F238E27FC236}">
                  <a16:creationId xmlns:a16="http://schemas.microsoft.com/office/drawing/2014/main" id="{406F8A99-F8AD-46EE-9E19-76C00B36EE49}"/>
                </a:ext>
              </a:extLst>
            </p:cNvPr>
            <p:cNvGrpSpPr/>
            <p:nvPr/>
          </p:nvGrpSpPr>
          <p:grpSpPr>
            <a:xfrm>
              <a:off x="670037" y="2840079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54" name="Freeform 3">
                <a:extLst>
                  <a:ext uri="{FF2B5EF4-FFF2-40B4-BE49-F238E27FC236}">
                    <a16:creationId xmlns:a16="http://schemas.microsoft.com/office/drawing/2014/main" id="{6837AC58-0E63-44B6-A419-AFE721D41F64}"/>
                  </a:ext>
                </a:extLst>
              </p:cNvPr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5" name="TextBox 4">
                <a:extLst>
                  <a:ext uri="{FF2B5EF4-FFF2-40B4-BE49-F238E27FC236}">
                    <a16:creationId xmlns:a16="http://schemas.microsoft.com/office/drawing/2014/main" id="{CB42E185-8714-439C-849F-9E8D887FB8E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sp>
          <p:nvSpPr>
            <p:cNvPr id="56" name="AutoShape 23">
              <a:extLst>
                <a:ext uri="{FF2B5EF4-FFF2-40B4-BE49-F238E27FC236}">
                  <a16:creationId xmlns:a16="http://schemas.microsoft.com/office/drawing/2014/main" id="{8AC8DA72-1ED4-488E-B0E2-FD2C27E52F6B}"/>
                </a:ext>
              </a:extLst>
            </p:cNvPr>
            <p:cNvSpPr/>
            <p:nvPr/>
          </p:nvSpPr>
          <p:spPr>
            <a:xfrm>
              <a:off x="670036" y="3290581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7" name="AutoShape 24">
              <a:extLst>
                <a:ext uri="{FF2B5EF4-FFF2-40B4-BE49-F238E27FC236}">
                  <a16:creationId xmlns:a16="http://schemas.microsoft.com/office/drawing/2014/main" id="{9A9A0B8A-6BFE-473B-BE7B-1CCBB5BDAE35}"/>
                </a:ext>
              </a:extLst>
            </p:cNvPr>
            <p:cNvSpPr/>
            <p:nvPr/>
          </p:nvSpPr>
          <p:spPr>
            <a:xfrm>
              <a:off x="6466015" y="3254871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8" name="TextBox 29">
              <a:extLst>
                <a:ext uri="{FF2B5EF4-FFF2-40B4-BE49-F238E27FC236}">
                  <a16:creationId xmlns:a16="http://schemas.microsoft.com/office/drawing/2014/main" id="{A511B3C8-1586-4D62-8BB2-888122BD46FC}"/>
                </a:ext>
              </a:extLst>
            </p:cNvPr>
            <p:cNvSpPr txBox="1"/>
            <p:nvPr/>
          </p:nvSpPr>
          <p:spPr>
            <a:xfrm>
              <a:off x="1657990" y="2858790"/>
              <a:ext cx="2026859" cy="269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</a:t>
              </a:r>
            </a:p>
          </p:txBody>
        </p:sp>
        <p:sp>
          <p:nvSpPr>
            <p:cNvPr id="59" name="TextBox 30">
              <a:extLst>
                <a:ext uri="{FF2B5EF4-FFF2-40B4-BE49-F238E27FC236}">
                  <a16:creationId xmlns:a16="http://schemas.microsoft.com/office/drawing/2014/main" id="{9C57D5BC-EC2C-4E53-8A0C-1FD8A8090A99}"/>
                </a:ext>
              </a:extLst>
            </p:cNvPr>
            <p:cNvSpPr txBox="1"/>
            <p:nvPr/>
          </p:nvSpPr>
          <p:spPr>
            <a:xfrm>
              <a:off x="753146" y="284039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01</a:t>
              </a:r>
            </a:p>
          </p:txBody>
        </p:sp>
        <p:sp>
          <p:nvSpPr>
            <p:cNvPr id="60" name="TextBox 34">
              <a:extLst>
                <a:ext uri="{FF2B5EF4-FFF2-40B4-BE49-F238E27FC236}">
                  <a16:creationId xmlns:a16="http://schemas.microsoft.com/office/drawing/2014/main" id="{E4B29637-BA7B-4889-98B0-70A8A78F837F}"/>
                </a:ext>
              </a:extLst>
            </p:cNvPr>
            <p:cNvSpPr txBox="1"/>
            <p:nvPr/>
          </p:nvSpPr>
          <p:spPr>
            <a:xfrm>
              <a:off x="6549125" y="284039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05</a:t>
              </a:r>
            </a:p>
          </p:txBody>
        </p:sp>
        <p:sp>
          <p:nvSpPr>
            <p:cNvPr id="61" name="TextBox 36">
              <a:extLst>
                <a:ext uri="{FF2B5EF4-FFF2-40B4-BE49-F238E27FC236}">
                  <a16:creationId xmlns:a16="http://schemas.microsoft.com/office/drawing/2014/main" id="{79F07807-DE45-44A6-90B3-B8156B220F3E}"/>
                </a:ext>
              </a:extLst>
            </p:cNvPr>
            <p:cNvSpPr txBox="1"/>
            <p:nvPr/>
          </p:nvSpPr>
          <p:spPr>
            <a:xfrm>
              <a:off x="7453968" y="2823081"/>
              <a:ext cx="3649361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Evaluate models with proper metrics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67" name="TextBox 36">
              <a:extLst>
                <a:ext uri="{FF2B5EF4-FFF2-40B4-BE49-F238E27FC236}">
                  <a16:creationId xmlns:a16="http://schemas.microsoft.com/office/drawing/2014/main" id="{DBF958BC-8128-4C2A-8887-816C03B592A6}"/>
                </a:ext>
              </a:extLst>
            </p:cNvPr>
            <p:cNvSpPr txBox="1"/>
            <p:nvPr/>
          </p:nvSpPr>
          <p:spPr>
            <a:xfrm>
              <a:off x="7443808" y="3574921"/>
              <a:ext cx="3649361" cy="2789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Use pipelines and cross-validation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4B6E187D-E7D7-4903-A730-2D8FDD0591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539884" y="974540"/>
            <a:ext cx="2356184" cy="1570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Course Introduction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2240744"/>
            <a:ext cx="7081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b="1" dirty="0">
                <a:solidFill>
                  <a:schemeClr val="bg1"/>
                </a:solidFill>
              </a:rPr>
              <a:t>Course Duration: </a:t>
            </a:r>
            <a:r>
              <a:rPr lang="en-US" sz="2800" dirty="0">
                <a:solidFill>
                  <a:schemeClr val="bg1"/>
                </a:solidFill>
              </a:rPr>
              <a:t>4–6 Weeks (Project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Based)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b="1" dirty="0">
                <a:solidFill>
                  <a:schemeClr val="bg1"/>
                </a:solidFill>
              </a:rPr>
              <a:t>Prerequisites: </a:t>
            </a:r>
            <a:r>
              <a:rPr lang="en-US" sz="2800" dirty="0">
                <a:solidFill>
                  <a:schemeClr val="bg1"/>
                </a:solidFill>
              </a:rPr>
              <a:t>Intermediate Python, Cloud Fundamentals (AWS/Azure/GCP)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b="1" dirty="0">
                <a:solidFill>
                  <a:schemeClr val="bg1"/>
                </a:solidFill>
              </a:rPr>
              <a:t>Target Audience: </a:t>
            </a:r>
            <a:r>
              <a:rPr lang="en-US" sz="2800" dirty="0">
                <a:solidFill>
                  <a:schemeClr val="bg1"/>
                </a:solidFill>
              </a:rPr>
              <a:t>Cloud Architects, DevOps Engineers, Site Reliability Engineers (SREs)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15D14-ED1A-4B05-B918-3BE61CB369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0" y="142240"/>
            <a:ext cx="10668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8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What You’ll Learn: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52400" y="1692104"/>
            <a:ext cx="944003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Automating cloud tasks with Python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Working with SDKs like boto3, google-cloud, and azure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Infrastructure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as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Code using Python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Event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driven/serverless computing with Python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Monitoring and Logging (e.g., CloudWatch, </a:t>
            </a:r>
            <a:r>
              <a:rPr lang="en-US" sz="2800" dirty="0" err="1">
                <a:solidFill>
                  <a:schemeClr val="bg1"/>
                </a:solidFill>
              </a:rPr>
              <a:t>Stackdriver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Writing APIs with </a:t>
            </a:r>
            <a:r>
              <a:rPr lang="en-US" sz="2800" dirty="0" err="1">
                <a:solidFill>
                  <a:schemeClr val="bg1"/>
                </a:solidFill>
              </a:rPr>
              <a:t>FastAPI</a:t>
            </a:r>
            <a:r>
              <a:rPr lang="en-US" sz="2800" dirty="0">
                <a:solidFill>
                  <a:schemeClr val="bg1"/>
                </a:solidFill>
              </a:rPr>
              <a:t>/Flask for microservices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F17BFA-AC7D-41D8-9E71-4CCF31E3ED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0" y="142240"/>
            <a:ext cx="10668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7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Setting Up Your Python Cloud Environment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582032" y="2007064"/>
            <a:ext cx="59131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chemeClr val="accent1"/>
                </a:solidFill>
              </a:rPr>
              <a:t>Tools Required: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Python 3.8+ (Recommended: 3.10+)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pip / </a:t>
            </a:r>
            <a:r>
              <a:rPr lang="en-US" sz="2800" dirty="0" err="1">
                <a:solidFill>
                  <a:schemeClr val="bg1"/>
                </a:solidFill>
              </a:rPr>
              <a:t>conda</a:t>
            </a:r>
            <a:r>
              <a:rPr lang="en-US" sz="2800" dirty="0">
                <a:solidFill>
                  <a:schemeClr val="bg1"/>
                </a:solidFill>
              </a:rPr>
              <a:t> for package management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Git for version control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VS Code / PyCharm</a:t>
            </a:r>
          </a:p>
          <a:p>
            <a:pPr marL="342900" indent="-3429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Cloud CLI tools: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AWS CLI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Azure CLI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Google Cloud SDK (</a:t>
            </a:r>
            <a:r>
              <a:rPr lang="en-US" sz="2800" dirty="0" err="1">
                <a:solidFill>
                  <a:schemeClr val="bg1"/>
                </a:solidFill>
              </a:rPr>
              <a:t>gcloud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1AA15-60D2-498B-941A-40F965DD71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Common Python Libraries: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256912" y="1641304"/>
            <a:ext cx="808444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r>
              <a:rPr lang="en-US" sz="2800" dirty="0">
                <a:solidFill>
                  <a:schemeClr val="bg1"/>
                </a:solidFill>
              </a:rPr>
              <a:t>boto3 – AWS SDK</a:t>
            </a: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r>
              <a:rPr lang="en-US" sz="2800" dirty="0">
                <a:solidFill>
                  <a:schemeClr val="bg1"/>
                </a:solidFill>
              </a:rPr>
              <a:t>google-cloud-* – GCP SDKs</a:t>
            </a: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r>
              <a:rPr lang="en-US" sz="2800" dirty="0">
                <a:solidFill>
                  <a:schemeClr val="bg1"/>
                </a:solidFill>
              </a:rPr>
              <a:t>azure-identity, azure-</a:t>
            </a:r>
            <a:r>
              <a:rPr lang="en-US" sz="2800" dirty="0" err="1">
                <a:solidFill>
                  <a:schemeClr val="bg1"/>
                </a:solidFill>
              </a:rPr>
              <a:t>mgmt</a:t>
            </a:r>
            <a:r>
              <a:rPr lang="en-US" sz="2800" dirty="0">
                <a:solidFill>
                  <a:schemeClr val="bg1"/>
                </a:solidFill>
              </a:rPr>
              <a:t>-resource – Azure SDKs</a:t>
            </a: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r>
              <a:rPr lang="en-US" sz="2800" dirty="0">
                <a:solidFill>
                  <a:schemeClr val="bg1"/>
                </a:solidFill>
              </a:rPr>
              <a:t>requests, </a:t>
            </a:r>
            <a:r>
              <a:rPr lang="en-US" sz="2800" dirty="0" err="1">
                <a:solidFill>
                  <a:schemeClr val="bg1"/>
                </a:solidFill>
              </a:rPr>
              <a:t>httpx</a:t>
            </a:r>
            <a:r>
              <a:rPr lang="en-US" sz="2800" dirty="0">
                <a:solidFill>
                  <a:schemeClr val="bg1"/>
                </a:solidFill>
              </a:rPr>
              <a:t> – API calls</a:t>
            </a: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r>
              <a:rPr lang="en-US" sz="2800" dirty="0" err="1">
                <a:solidFill>
                  <a:schemeClr val="bg1"/>
                </a:solidFill>
              </a:rPr>
              <a:t>fastapi</a:t>
            </a:r>
            <a:r>
              <a:rPr lang="en-US" sz="2800" dirty="0">
                <a:solidFill>
                  <a:schemeClr val="bg1"/>
                </a:solidFill>
              </a:rPr>
              <a:t>, flask – Lightweight APIs</a:t>
            </a: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r>
              <a:rPr lang="en-US" sz="2800" dirty="0" err="1">
                <a:solidFill>
                  <a:schemeClr val="bg1"/>
                </a:solidFill>
              </a:rPr>
              <a:t>paramiko</a:t>
            </a:r>
            <a:r>
              <a:rPr lang="en-US" sz="2800" dirty="0">
                <a:solidFill>
                  <a:schemeClr val="bg1"/>
                </a:solidFill>
              </a:rPr>
              <a:t>, fabric – SSH and remote 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1AA15-60D2-498B-941A-40F965DD71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5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Python Refresher – Focused for Cloud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256912" y="1641304"/>
            <a:ext cx="808444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597525" algn="l"/>
              </a:tabLst>
            </a:pPr>
            <a:r>
              <a:rPr lang="en-US" sz="2800" b="1" dirty="0">
                <a:solidFill>
                  <a:schemeClr val="accent4"/>
                </a:solidFill>
              </a:rPr>
              <a:t>Essentials to Master:</a:t>
            </a:r>
          </a:p>
          <a:p>
            <a:pPr>
              <a:tabLst>
                <a:tab pos="5597525" algn="l"/>
              </a:tabLst>
            </a:pPr>
            <a:endParaRPr lang="en-US" sz="2800" b="1" dirty="0">
              <a:solidFill>
                <a:schemeClr val="accent4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Functions (including *</a:t>
            </a:r>
            <a:r>
              <a:rPr lang="en-US" sz="2800" dirty="0" err="1">
                <a:solidFill>
                  <a:schemeClr val="bg1"/>
                </a:solidFill>
              </a:rPr>
              <a:t>args</a:t>
            </a:r>
            <a:r>
              <a:rPr lang="en-US" sz="2800" dirty="0">
                <a:solidFill>
                  <a:schemeClr val="bg1"/>
                </a:solidFill>
              </a:rPr>
              <a:t>, **</a:t>
            </a:r>
            <a:r>
              <a:rPr lang="en-US" sz="2800" dirty="0" err="1">
                <a:solidFill>
                  <a:schemeClr val="bg1"/>
                </a:solidFill>
              </a:rPr>
              <a:t>kwargs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Working with files and directories (</a:t>
            </a:r>
            <a:r>
              <a:rPr lang="en-US" sz="2800" dirty="0" err="1">
                <a:solidFill>
                  <a:schemeClr val="bg1"/>
                </a:solidFill>
              </a:rPr>
              <a:t>os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pathlib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Exception handling (try, except, finally)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Working with JSON and YAML (json, </a:t>
            </a:r>
            <a:r>
              <a:rPr lang="en-US" sz="2800" dirty="0" err="1">
                <a:solidFill>
                  <a:schemeClr val="bg1"/>
                </a:solidFill>
              </a:rPr>
              <a:t>PyYAML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Goudy Old Style" panose="02020502050305020303" pitchFamily="18" charset="0"/>
              <a:buChar char="—"/>
            </a:pPr>
            <a:r>
              <a:rPr lang="en-US" sz="2800" dirty="0">
                <a:solidFill>
                  <a:schemeClr val="bg1"/>
                </a:solidFill>
              </a:rPr>
              <a:t>Environment variables (</a:t>
            </a:r>
            <a:r>
              <a:rPr lang="en-US" sz="2800" dirty="0" err="1">
                <a:solidFill>
                  <a:schemeClr val="bg1"/>
                </a:solidFill>
              </a:rPr>
              <a:t>os.environ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Courier New" panose="02070309020205020404" pitchFamily="49" charset="0"/>
              <a:buChar char="o"/>
              <a:tabLst>
                <a:tab pos="5597525" algn="l"/>
              </a:tabLst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1AA15-60D2-498B-941A-40F965DD71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Conti…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256912" y="2240744"/>
            <a:ext cx="479260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597525" algn="l"/>
              </a:tabLst>
            </a:pPr>
            <a:r>
              <a:rPr lang="en-US" sz="2800" b="1" dirty="0">
                <a:solidFill>
                  <a:schemeClr val="accent4"/>
                </a:solidFill>
              </a:rPr>
              <a:t>Working with APIs:</a:t>
            </a:r>
          </a:p>
          <a:p>
            <a:pPr marL="457200" indent="-457200">
              <a:buFont typeface="Goudy Old Style" panose="02020502050305020303" pitchFamily="18" charset="0"/>
              <a:buChar char="—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tabLst>
                <a:tab pos="4460875" algn="l"/>
              </a:tabLst>
            </a:pPr>
            <a:r>
              <a:rPr lang="en-US" sz="2800" dirty="0" err="1">
                <a:solidFill>
                  <a:schemeClr val="bg1"/>
                </a:solidFill>
              </a:rPr>
              <a:t>requests.get</a:t>
            </a:r>
            <a:r>
              <a:rPr lang="en-US" sz="2800" dirty="0">
                <a:solidFill>
                  <a:schemeClr val="bg1"/>
                </a:solidFill>
              </a:rPr>
              <a:t>(), post()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446087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tabLst>
                <a:tab pos="4460875" algn="l"/>
              </a:tabLst>
            </a:pPr>
            <a:r>
              <a:rPr lang="en-US" sz="2800" dirty="0">
                <a:solidFill>
                  <a:schemeClr val="bg1"/>
                </a:solidFill>
              </a:rPr>
              <a:t>Parsing responses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446087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tabLst>
                <a:tab pos="4460875" algn="l"/>
              </a:tabLst>
            </a:pPr>
            <a:r>
              <a:rPr lang="en-US" sz="2800" dirty="0">
                <a:solidFill>
                  <a:schemeClr val="bg1"/>
                </a:solidFill>
              </a:rPr>
              <a:t>Authentication headers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1AA15-60D2-498B-941A-40F965DD71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0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Conti…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256912" y="2240744"/>
            <a:ext cx="70887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597525" algn="l"/>
              </a:tabLst>
            </a:pPr>
            <a:r>
              <a:rPr lang="en-US" sz="2800" b="1" dirty="0">
                <a:solidFill>
                  <a:schemeClr val="accent4"/>
                </a:solidFill>
              </a:rPr>
              <a:t>Working with External Services: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HTTP, sockets, and subprocess modules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Using </a:t>
            </a:r>
            <a:r>
              <a:rPr lang="en-US" sz="2800" dirty="0" err="1">
                <a:solidFill>
                  <a:schemeClr val="bg1"/>
                </a:solidFill>
              </a:rPr>
              <a:t>subprocess.run</a:t>
            </a:r>
            <a:r>
              <a:rPr lang="en-US" sz="2800" dirty="0">
                <a:solidFill>
                  <a:schemeClr val="bg1"/>
                </a:solidFill>
              </a:rPr>
              <a:t>() for CLI automation</a:t>
            </a:r>
            <a:endParaRPr lang="en-US" sz="2800" b="1" dirty="0">
              <a:solidFill>
                <a:schemeClr val="accent4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  <a:tabLst>
                <a:tab pos="4460875" algn="l"/>
              </a:tabLst>
            </a:pPr>
            <a:endParaRPr lang="en-US" sz="2800" dirty="0">
              <a:solidFill>
                <a:schemeClr val="bg1"/>
              </a:solidFill>
            </a:endParaRPr>
          </a:p>
          <a:p>
            <a:pPr>
              <a:tabLst>
                <a:tab pos="4460875" algn="l"/>
              </a:tabLst>
            </a:pPr>
            <a:r>
              <a:rPr lang="en-US" sz="2800" b="1" dirty="0">
                <a:solidFill>
                  <a:schemeClr val="accent4"/>
                </a:solidFill>
              </a:rPr>
              <a:t>Advanced Built-ins (Cloud-Relevant):</a:t>
            </a:r>
          </a:p>
          <a:p>
            <a:r>
              <a:rPr lang="en-US" sz="2800" dirty="0" err="1">
                <a:solidFill>
                  <a:schemeClr val="bg1"/>
                </a:solidFill>
              </a:rPr>
              <a:t>contextlib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functools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dataclasses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Writing decorators for cloud function handlers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1AA15-60D2-498B-941A-40F965DD71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6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Cloud SDKs with Python –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79" y="1265384"/>
            <a:ext cx="71424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AWS (Amazon Web Services):</a:t>
            </a:r>
          </a:p>
          <a:p>
            <a:r>
              <a:rPr lang="en-US" sz="2800" dirty="0">
                <a:solidFill>
                  <a:schemeClr val="bg1"/>
                </a:solidFill>
              </a:rPr>
              <a:t>Library: boto3</a:t>
            </a:r>
          </a:p>
          <a:p>
            <a:r>
              <a:rPr lang="en-US" sz="2800" dirty="0">
                <a:solidFill>
                  <a:schemeClr val="bg1"/>
                </a:solidFill>
              </a:rPr>
              <a:t>Services: EC2, S3, Lambda, CloudWatch, IAM</a:t>
            </a:r>
          </a:p>
          <a:p>
            <a:r>
              <a:rPr lang="en-US" sz="2800" dirty="0">
                <a:solidFill>
                  <a:schemeClr val="bg1"/>
                </a:solidFill>
              </a:rPr>
              <a:t>Example: Create an S3 bucket with Python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Azure:</a:t>
            </a:r>
          </a:p>
          <a:p>
            <a:r>
              <a:rPr lang="en-US" sz="2800" dirty="0">
                <a:solidFill>
                  <a:schemeClr val="bg1"/>
                </a:solidFill>
              </a:rPr>
              <a:t>Library: azure-identity, azure-</a:t>
            </a:r>
            <a:r>
              <a:rPr lang="en-US" sz="2800" dirty="0" err="1">
                <a:solidFill>
                  <a:schemeClr val="bg1"/>
                </a:solidFill>
              </a:rPr>
              <a:t>mgmt</a:t>
            </a:r>
            <a:r>
              <a:rPr lang="en-US" sz="2800" dirty="0">
                <a:solidFill>
                  <a:schemeClr val="bg1"/>
                </a:solidFill>
              </a:rPr>
              <a:t>-resource, azure-storage-blob</a:t>
            </a:r>
          </a:p>
          <a:p>
            <a:r>
              <a:rPr lang="en-US" sz="2800" dirty="0">
                <a:solidFill>
                  <a:schemeClr val="bg1"/>
                </a:solidFill>
              </a:rPr>
              <a:t>Services: VM, Storage, Azure Functions, Monitor</a:t>
            </a:r>
          </a:p>
          <a:p>
            <a:r>
              <a:rPr lang="en-US" sz="2800" dirty="0">
                <a:solidFill>
                  <a:schemeClr val="bg1"/>
                </a:solidFill>
              </a:rPr>
              <a:t>Example: Upload files to Azure Blob using Python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FC94E-7991-49DB-9239-2F0A2C5240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0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Conti…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79" y="1265384"/>
            <a:ext cx="714248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Google Cloud Platform (GCP):</a:t>
            </a:r>
          </a:p>
          <a:p>
            <a:r>
              <a:rPr lang="en-US" sz="2800" dirty="0">
                <a:solidFill>
                  <a:schemeClr val="bg1"/>
                </a:solidFill>
              </a:rPr>
              <a:t>Library: google-cloud-storage, google-cloud-compute</a:t>
            </a:r>
          </a:p>
          <a:p>
            <a:r>
              <a:rPr lang="en-US" sz="2800" dirty="0">
                <a:solidFill>
                  <a:schemeClr val="bg1"/>
                </a:solidFill>
              </a:rPr>
              <a:t>Services: GCE, GCS, Cloud Functions, Pub/Sub</a:t>
            </a:r>
          </a:p>
          <a:p>
            <a:r>
              <a:rPr lang="en-US" sz="2800" dirty="0">
                <a:solidFill>
                  <a:schemeClr val="bg1"/>
                </a:solidFill>
              </a:rPr>
              <a:t>Example: Launch VM using Python SDK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Authentication with SDKs: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AWS: .</a:t>
            </a:r>
            <a:r>
              <a:rPr lang="en-US" sz="2800" dirty="0" err="1">
                <a:solidFill>
                  <a:schemeClr val="bg1"/>
                </a:solidFill>
              </a:rPr>
              <a:t>aws</a:t>
            </a:r>
            <a:r>
              <a:rPr lang="en-US" sz="2800" dirty="0">
                <a:solidFill>
                  <a:schemeClr val="bg1"/>
                </a:solidFill>
              </a:rPr>
              <a:t>/credentials or boto3.Session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GCP: GOOGLE_APPLICATION_CREDENTIALS</a:t>
            </a:r>
          </a:p>
          <a:p>
            <a:r>
              <a:rPr lang="en-US" sz="2800" dirty="0">
                <a:solidFill>
                  <a:schemeClr val="bg1"/>
                </a:solidFill>
              </a:rPr>
              <a:t>Azure: </a:t>
            </a:r>
            <a:r>
              <a:rPr lang="en-US" sz="2800" dirty="0" err="1">
                <a:solidFill>
                  <a:schemeClr val="bg1"/>
                </a:solidFill>
              </a:rPr>
              <a:t>DefaultAzureCredential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ClientSecretCredential</a:t>
            </a:r>
            <a:endParaRPr lang="en-US" sz="2800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FC94E-7991-49DB-9239-2F0A2C5240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1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Hands-On with AWS SDK (boto3)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804672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What is boto3?</a:t>
            </a:r>
          </a:p>
          <a:p>
            <a:r>
              <a:rPr lang="en-US" sz="2800" dirty="0">
                <a:solidFill>
                  <a:schemeClr val="bg1"/>
                </a:solidFill>
              </a:rPr>
              <a:t>Official Python SDK for AWS</a:t>
            </a:r>
          </a:p>
          <a:p>
            <a:r>
              <a:rPr lang="en-US" sz="2800" dirty="0">
                <a:solidFill>
                  <a:schemeClr val="bg1"/>
                </a:solidFill>
              </a:rPr>
              <a:t>Enables you to create, configure, and manage AWS services via Python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Common Use Cases: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Create/delete S3 buckets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Launch/terminate EC2 instances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Invoke Lambda functions</a:t>
            </a:r>
          </a:p>
          <a:p>
            <a:r>
              <a:rPr lang="en-US" sz="2800" dirty="0">
                <a:solidFill>
                  <a:schemeClr val="bg1"/>
                </a:solidFill>
              </a:rPr>
              <a:t>Manage IAM users/roles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Sample Code: Create an S3 Bucket</a:t>
            </a: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Authentication: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4F34F-37AF-4BA8-ADC3-4EAF740FE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487" y="129184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93BA5-6EBC-44E0-8742-BDC5DA61AC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5423836" y="4220220"/>
            <a:ext cx="3506804" cy="23378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DC0066-EF41-4CCF-B306-E1FBD65AAB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991" y="5067379"/>
            <a:ext cx="1414118" cy="560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45E284-C750-4785-83A1-7748C27BE5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375" y="5773830"/>
            <a:ext cx="2838690" cy="6802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246235-FD34-4172-BF8A-E3C47EB648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03" y="4042611"/>
            <a:ext cx="1697990" cy="760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7BF43D-AF27-4595-9C3A-C64795FCE9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7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Hands-On with AWS SDK (boto3)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80467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Sample Code: Create an S3 Bucket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boto3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s3 = boto3.client('s3')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s3.create_bucket(Bucket='my-cloud-python-bucket')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Authentication: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Stored in ~/.</a:t>
            </a:r>
            <a:r>
              <a:rPr lang="en-US" sz="2800" dirty="0" err="1">
                <a:solidFill>
                  <a:schemeClr val="bg1"/>
                </a:solidFill>
              </a:rPr>
              <a:t>aws</a:t>
            </a:r>
            <a:r>
              <a:rPr lang="en-US" sz="2800" dirty="0">
                <a:solidFill>
                  <a:schemeClr val="bg1"/>
                </a:solidFill>
              </a:rPr>
              <a:t>/credentials or use boto3.Session()</a:t>
            </a:r>
          </a:p>
          <a:p>
            <a:r>
              <a:rPr lang="en-US" sz="2800" dirty="0">
                <a:solidFill>
                  <a:schemeClr val="bg1"/>
                </a:solidFill>
              </a:rPr>
              <a:t>Also supports IAM roles for EC2 and Lambda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7BF43D-AF27-4595-9C3A-C64795FCE9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EEA89A0-14C9-4648-9DBC-6254EE7D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in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~/.aws/credentials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or 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boto3.Session()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supports IAM roles for EC2 and Lambda</a:t>
            </a:r>
          </a:p>
        </p:txBody>
      </p:sp>
    </p:spTree>
    <p:extLst>
      <p:ext uri="{BB962C8B-B14F-4D97-AF65-F5344CB8AC3E}">
        <p14:creationId xmlns:p14="http://schemas.microsoft.com/office/powerpoint/2010/main" val="89449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Working with Azure SDK in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80467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Sample Code: Create an S3 Bucket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boto3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s3 = boto3.client('s3')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s3.create_bucket(Bucket='my-cloud-python-bucket')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Authentication: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Stored in ~/.</a:t>
            </a:r>
            <a:r>
              <a:rPr lang="en-US" sz="2800" dirty="0" err="1">
                <a:solidFill>
                  <a:schemeClr val="bg1"/>
                </a:solidFill>
              </a:rPr>
              <a:t>aws</a:t>
            </a:r>
            <a:r>
              <a:rPr lang="en-US" sz="2800" dirty="0">
                <a:solidFill>
                  <a:schemeClr val="bg1"/>
                </a:solidFill>
              </a:rPr>
              <a:t>/credentials or use boto3.Session()</a:t>
            </a:r>
          </a:p>
          <a:p>
            <a:r>
              <a:rPr lang="en-US" sz="2800" dirty="0">
                <a:solidFill>
                  <a:schemeClr val="bg1"/>
                </a:solidFill>
              </a:rPr>
              <a:t>Also supports IAM roles for EC2 and Lambda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7BF43D-AF27-4595-9C3A-C64795FCE9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5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Built-in Datasets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692104"/>
            <a:ext cx="5781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 Provides Sample Datasets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sklearn.datasets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data = </a:t>
            </a: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r>
              <a:rPr lang="en-US" sz="2400" dirty="0">
                <a:solidFill>
                  <a:schemeClr val="bg1"/>
                </a:solidFill>
              </a:rPr>
              <a:t>()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print(</a:t>
            </a:r>
            <a:r>
              <a:rPr lang="en-US" sz="2400" dirty="0" err="1">
                <a:solidFill>
                  <a:schemeClr val="bg1"/>
                </a:solidFill>
              </a:rPr>
              <a:t>data.feature_names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Popular Built-in Datasets: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r>
              <a:rPr lang="en-US" sz="2400" dirty="0">
                <a:solidFill>
                  <a:schemeClr val="bg1"/>
                </a:solidFill>
              </a:rPr>
              <a:t>() – flower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load_digits</a:t>
            </a:r>
            <a:r>
              <a:rPr lang="en-US" sz="2400" dirty="0">
                <a:solidFill>
                  <a:schemeClr val="bg1"/>
                </a:solidFill>
              </a:rPr>
              <a:t>() – handwritten digits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load_diabetes</a:t>
            </a:r>
            <a:r>
              <a:rPr lang="en-US" sz="2400" dirty="0">
                <a:solidFill>
                  <a:schemeClr val="bg1"/>
                </a:solidFill>
              </a:rPr>
              <a:t>() – regression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load_breast_cancer</a:t>
            </a:r>
            <a:r>
              <a:rPr lang="en-US" sz="2400" dirty="0">
                <a:solidFill>
                  <a:schemeClr val="bg1"/>
                </a:solidFill>
              </a:rPr>
              <a:t>() – binary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046F5-FCD9-4F73-A53E-89CF5090F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540" y="1816417"/>
            <a:ext cx="2209800" cy="2066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DE52EB-7CDD-4EBA-9C82-E16CA4FE6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240" y="4644707"/>
            <a:ext cx="2438400" cy="18764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67E19-FC8E-4DCE-B7B5-5D50D9E4D4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4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C06803-B49A-4FA8-82C8-CC87ADC53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20" y="2886265"/>
            <a:ext cx="3941711" cy="24480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Data Preprocessing in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692104"/>
            <a:ext cx="80975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Why Preprocess?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To ensure data is clean, consistent, and suitable for training.</a:t>
            </a:r>
            <a:endParaRPr lang="en-US" sz="2800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Common Preprocessing Tasks: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Handling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Encoding categorical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Feature scaling/normalization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Key Modules: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StandardScaler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LabelEncoder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sklearn.impute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SimpleImputer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DEF0F-41AD-4B6C-8A2B-394F6A3BF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313" y="1696720"/>
            <a:ext cx="3514725" cy="129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36DAD4-256A-44F9-A560-245FD99B4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263" y="5086474"/>
            <a:ext cx="3640297" cy="1671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9D6D7-78F4-4711-B7F3-C5F2D5DDAB9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4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Train-Test Split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1082504"/>
            <a:ext cx="681736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Why Split Data?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To evaluate the model's performance on unseen data.</a:t>
            </a:r>
            <a:endParaRPr lang="en-US" sz="2800" b="1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Function Used: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train_test_split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train_test_split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   X, y,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test_size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=0.2,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random_state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=42)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Parameters:</a:t>
            </a:r>
          </a:p>
          <a:p>
            <a:r>
              <a:rPr lang="en-US" sz="2000" b="1" dirty="0" err="1">
                <a:solidFill>
                  <a:schemeClr val="bg1"/>
                </a:solidFill>
              </a:rPr>
              <a:t>test_size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Proportion of test data (e.g., 0.2 = 20%)</a:t>
            </a:r>
          </a:p>
          <a:p>
            <a:pPr algn="just"/>
            <a:r>
              <a:rPr lang="en-US" sz="2400" b="1" dirty="0" err="1">
                <a:solidFill>
                  <a:schemeClr val="bg1"/>
                </a:solidFill>
              </a:rPr>
              <a:t>random_state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Ensures reproducibility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Goal: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Prevent overfitting by using separate test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0F0EA-DA29-4F80-9B22-BA4B320C2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74" y="4375996"/>
            <a:ext cx="5025026" cy="21873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1FCD4F-21A8-4597-A6ED-C8DB5F78F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74" y="1668733"/>
            <a:ext cx="4618626" cy="2209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063084-9375-4A24-96D1-08BA8DD93D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5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vs Unsupervised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1797870"/>
            <a:ext cx="68173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Two Main Types in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🎓 </a:t>
            </a:r>
            <a:r>
              <a:rPr lang="en-US" sz="2800" b="1" dirty="0">
                <a:solidFill>
                  <a:schemeClr val="accent4"/>
                </a:solidFill>
              </a:rPr>
              <a:t>Supervised Learning: 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	</a:t>
            </a:r>
            <a:r>
              <a:rPr lang="en-US" sz="2800" dirty="0">
                <a:solidFill>
                  <a:schemeClr val="bg1"/>
                </a:solidFill>
              </a:rPr>
              <a:t>Learn from labeled data 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🔍 </a:t>
            </a:r>
            <a:r>
              <a:rPr lang="en-US" sz="2800" b="1" dirty="0">
                <a:solidFill>
                  <a:schemeClr val="accent4"/>
                </a:solidFill>
              </a:rPr>
              <a:t>Unsupervised Learning: 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	</a:t>
            </a:r>
            <a:r>
              <a:rPr lang="en-US" sz="2800" dirty="0">
                <a:solidFill>
                  <a:schemeClr val="bg1"/>
                </a:solidFill>
              </a:rPr>
              <a:t>Discover hidden patterns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81C1D2-CB5F-41C7-8B5E-140562126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412723"/>
              </p:ext>
            </p:extLst>
          </p:nvPr>
        </p:nvGraphicFramePr>
        <p:xfrm>
          <a:off x="1615440" y="4975695"/>
          <a:ext cx="8961119" cy="11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03">
                  <a:extLst>
                    <a:ext uri="{9D8B030D-6E8A-4147-A177-3AD203B41FA5}">
                      <a16:colId xmlns:a16="http://schemas.microsoft.com/office/drawing/2014/main" val="739635445"/>
                    </a:ext>
                  </a:extLst>
                </a:gridCol>
                <a:gridCol w="3076666">
                  <a:extLst>
                    <a:ext uri="{9D8B030D-6E8A-4147-A177-3AD203B41FA5}">
                      <a16:colId xmlns:a16="http://schemas.microsoft.com/office/drawing/2014/main" val="616123235"/>
                    </a:ext>
                  </a:extLst>
                </a:gridCol>
                <a:gridCol w="4081650">
                  <a:extLst>
                    <a:ext uri="{9D8B030D-6E8A-4147-A177-3AD203B41FA5}">
                      <a16:colId xmlns:a16="http://schemas.microsoft.com/office/drawing/2014/main" val="636424825"/>
                    </a:ext>
                  </a:extLst>
                </a:gridCol>
              </a:tblGrid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062692"/>
                  </a:ext>
                </a:extLst>
              </a:tr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Supervised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Input and labeled output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Classification, Regression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137273"/>
                  </a:ext>
                </a:extLst>
              </a:tr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Unsupervised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Only input data, no labels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Clustering, Dimensionality Reduction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7764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3C03E47-0596-40A0-9435-D6EA1CDEE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30" y="1944865"/>
            <a:ext cx="4276408" cy="1879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9DA9A-8859-4A84-B812-E6010CC3741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Learning – Classification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259390"/>
            <a:ext cx="590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Classification?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Predicting a </a:t>
            </a:r>
            <a:r>
              <a:rPr lang="en-US" sz="2400" b="1" dirty="0">
                <a:solidFill>
                  <a:schemeClr val="bg1"/>
                </a:solidFill>
              </a:rPr>
              <a:t>discrete label or category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Classification Models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LogisticRegression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KNeighborsClassifier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DecisionTreeClassifier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RandomForestClassifier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SVC (Support Vector Classifier)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NaiveBayes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-US" sz="2400" dirty="0" err="1">
                <a:solidFill>
                  <a:schemeClr val="bg1"/>
                </a:solidFill>
              </a:rPr>
              <a:t>GaussianNB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Email spam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Disease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Image recognition</a:t>
            </a:r>
            <a:endParaRPr lang="en-US" sz="2800" b="1" dirty="0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ADFBB-ED05-40F6-961A-C2B256C68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786" y="2700972"/>
            <a:ext cx="4775252" cy="2277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08DA0D-47A3-4F57-8387-8C7F22BB1B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Learning – Regression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259390"/>
            <a:ext cx="590296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Regression?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Predicting a </a:t>
            </a:r>
            <a:r>
              <a:rPr lang="en-US" sz="2400" b="1" dirty="0">
                <a:solidFill>
                  <a:schemeClr val="bg1"/>
                </a:solidFill>
              </a:rPr>
              <a:t>continuous numerical value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Regression Models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LinearRegression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Ridge, Lasso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SVR (Support Vector Regression)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DecisionTreeRegressor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RandomForestRegressor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House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Stock price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Sales estimation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F7D3B-244E-45A0-80F5-73DB7A859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79" y="2583814"/>
            <a:ext cx="4468163" cy="3055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ABDDAD-39FB-4796-AFAF-2293F471A8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4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Unsupervised Learning – Clustering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645470"/>
            <a:ext cx="5902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Clustering?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Grouping similar data points without labels.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Clustering Algorithms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KMeans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DBSCAN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AgglomerativeClustering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Customer segmentation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Social network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Market basket analysis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C6F7D-2C64-4D94-A1DA-E3B4505A3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59" y="2574607"/>
            <a:ext cx="4370858" cy="260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AEB133-5FA5-43F0-8AFA-F3D6305D38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2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Unsupervised Learning – Dimensionality Reduction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82499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What is Dimensionality Reduction?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Reducing the number of input features while preserving important information.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Techniques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PCA (Principal Component Analysis)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TruncatedSVD</a:t>
            </a:r>
            <a:endParaRPr lang="en-US" sz="2400" dirty="0">
              <a:solidFill>
                <a:schemeClr val="bg1"/>
              </a:solidFill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t-SNE (for visualization)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Visualizing high-dimensional data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Speeding up ML models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Removing multicollinearity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Fewer dimensions → Faster training + Less overfitting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831A3-9FF9-41F2-9301-6B14C6C249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5" b="13851"/>
          <a:stretch/>
        </p:blipFill>
        <p:spPr>
          <a:xfrm>
            <a:off x="6741477" y="2771761"/>
            <a:ext cx="4312603" cy="2645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62D4FF-DFF7-4544-B540-1A103777C0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Model Selection in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Choosing the Right Model </a:t>
            </a:r>
          </a:p>
          <a:p>
            <a:r>
              <a:rPr lang="en-US" sz="2400" b="1" dirty="0">
                <a:solidFill>
                  <a:schemeClr val="accent3"/>
                </a:solidFill>
              </a:rPr>
              <a:t>Depends 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Type of problem (classification, regression, clustering)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Size and nature of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Performance goals (accuracy, speed, interpretability)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Helps With: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Wide variety of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Easy model switching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Same interface: .fit(), .predict()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bg1"/>
                </a:solidFill>
              </a:rPr>
              <a:t>Try multiple models &amp; compare performance!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B1720-45B2-4BB5-848F-CAD0A2207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35" y="2300109"/>
            <a:ext cx="4289425" cy="306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7EFA2D-3654-4D23-8DD7-B950DED365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7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Training a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65532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Basic Steps to Train a Model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What Happens During .fit()?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Learns the relationship between input </a:t>
            </a:r>
            <a:r>
              <a:rPr lang="en-US" sz="2400" dirty="0" err="1">
                <a:solidFill>
                  <a:schemeClr val="bg1"/>
                </a:solidFill>
              </a:rPr>
              <a:t>X_train</a:t>
            </a:r>
            <a:r>
              <a:rPr lang="en-US" sz="2400" dirty="0">
                <a:solidFill>
                  <a:schemeClr val="bg1"/>
                </a:solidFill>
              </a:rPr>
              <a:t> and output </a:t>
            </a:r>
            <a:r>
              <a:rPr lang="en-US" sz="2400" dirty="0" err="1">
                <a:solidFill>
                  <a:schemeClr val="bg1"/>
                </a:solidFill>
              </a:rPr>
              <a:t>y_train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Stores model parameters (like weights)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All models in </a:t>
            </a:r>
            <a:r>
              <a:rPr lang="en-US" sz="2400" b="1" dirty="0" err="1">
                <a:solidFill>
                  <a:schemeClr val="accent4"/>
                </a:solidFill>
              </a:rPr>
              <a:t>sklearn</a:t>
            </a:r>
            <a:r>
              <a:rPr lang="en-US" sz="2400" b="1" dirty="0">
                <a:solidFill>
                  <a:schemeClr val="accent4"/>
                </a:solidFill>
              </a:rPr>
              <a:t> follow: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	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	predictions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model.predict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32E06-4408-40F5-8608-A0C067B678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2"/>
          <a:stretch/>
        </p:blipFill>
        <p:spPr>
          <a:xfrm>
            <a:off x="6774497" y="2765130"/>
            <a:ext cx="5315903" cy="2761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7BD0B-643C-4DD6-95AC-2BFEF0EC12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A2B951-DEB0-4CFF-8592-D1A3BC6361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Making Predictions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Once Trained, Use the Model to Predict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y_pred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model.predict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X_test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What Happens?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model uses learned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Applies them to unseen </a:t>
            </a:r>
            <a:r>
              <a:rPr lang="en-US" sz="2400" dirty="0" err="1">
                <a:solidFill>
                  <a:schemeClr val="bg1"/>
                </a:solidFill>
              </a:rPr>
              <a:t>X_test</a:t>
            </a:r>
            <a:r>
              <a:rPr lang="en-US" sz="2400" dirty="0">
                <a:solidFill>
                  <a:schemeClr val="bg1"/>
                </a:solidFill>
              </a:rPr>
              <a:t>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Returns predicted values (</a:t>
            </a:r>
            <a:r>
              <a:rPr lang="en-US" sz="2400" dirty="0" err="1">
                <a:solidFill>
                  <a:schemeClr val="bg1"/>
                </a:solidFill>
              </a:rPr>
              <a:t>y_pred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Used for:</a:t>
            </a:r>
          </a:p>
          <a:p>
            <a:r>
              <a:rPr lang="en-US" sz="2400" dirty="0">
                <a:solidFill>
                  <a:schemeClr val="bg1"/>
                </a:solidFill>
              </a:rPr>
              <a:t>Evaluating performance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Making real-world decisions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✅ Works the same way for classification &amp; regression</a:t>
            </a:r>
          </a:p>
          <a:p>
            <a:endParaRPr lang="en-US" sz="2400" b="1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7E965-324D-4539-81F4-AA8855D201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2"/>
          <a:stretch/>
        </p:blipFill>
        <p:spPr>
          <a:xfrm>
            <a:off x="6774497" y="2765130"/>
            <a:ext cx="5315903" cy="2761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B3B88D-A285-45D5-AF93-2FAD9BF2EC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9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98729A-906B-4DF1-AD76-F644DD9C9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745" y="3134543"/>
            <a:ext cx="4330474" cy="18613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Model Evaluation – Classification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How Well Did the Model Perform?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Key Classification Metrics: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Accuracy</a:t>
            </a:r>
            <a:r>
              <a:rPr lang="en-US" sz="2400" dirty="0">
                <a:solidFill>
                  <a:schemeClr val="bg1"/>
                </a:solidFill>
              </a:rPr>
              <a:t> – Correct predictions / Total predictions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Precision</a:t>
            </a:r>
            <a:r>
              <a:rPr lang="en-US" sz="2400" dirty="0">
                <a:solidFill>
                  <a:schemeClr val="bg1"/>
                </a:solidFill>
              </a:rPr>
              <a:t> – True Positives / (True Positives + False Positives)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Recall </a:t>
            </a:r>
            <a:r>
              <a:rPr lang="en-US" sz="2400" dirty="0">
                <a:solidFill>
                  <a:schemeClr val="bg1"/>
                </a:solidFill>
              </a:rPr>
              <a:t>– True Positives / (True Positives + False Negatives)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F1 Score </a:t>
            </a:r>
            <a:r>
              <a:rPr lang="en-US" sz="2400" dirty="0">
                <a:solidFill>
                  <a:schemeClr val="bg1"/>
                </a:solidFill>
              </a:rPr>
              <a:t>– Harmonic mean of precision and recall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Confusion Matrix </a:t>
            </a:r>
            <a:r>
              <a:rPr lang="en-US" sz="2400" dirty="0">
                <a:solidFill>
                  <a:schemeClr val="bg1"/>
                </a:solidFill>
              </a:rPr>
              <a:t>– Visual performance breakdown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Tools</a:t>
            </a:r>
            <a:r>
              <a:rPr lang="en-US" sz="2400" dirty="0">
                <a:solidFill>
                  <a:schemeClr val="accent4"/>
                </a:solidFill>
              </a:rPr>
              <a:t>: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sklearn.metrics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accuracy_score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precision_score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recall_score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f1_score,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confusion_matrix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E15E3-234E-472F-864E-5A2713EF29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2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Model Evaluation – Regression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965696"/>
            <a:ext cx="8605520" cy="626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Evaluate Regression Models Using These Metrics:</a:t>
            </a:r>
          </a:p>
          <a:p>
            <a:endParaRPr lang="en-US" sz="2400" dirty="0">
              <a:solidFill>
                <a:schemeClr val="accent4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Mean Absolute Error (MAE)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Average of absolute differences between predicted and actual values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Mean Squared Error (MSE)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Average of squared differences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Root Mean Squared Error (RMSE)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Square root of MSE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R² Score (Coefficient of Determination)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Proportion of variance explained by the model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Example: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sklearn.metrics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mean_squared_error</a:t>
            </a:r>
            <a:r>
              <a:rPr lang="en-US" sz="2400" dirty="0">
                <a:solidFill>
                  <a:schemeClr val="bg1"/>
                </a:solidFill>
              </a:rPr>
              <a:t>, r2_score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5C651-EDCB-4F7B-885D-D86E98807F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7"/>
          <a:stretch/>
        </p:blipFill>
        <p:spPr>
          <a:xfrm>
            <a:off x="6658610" y="3056642"/>
            <a:ext cx="5314950" cy="2452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4D5DD6-828E-41FE-BFAD-01AF86D818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2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Cross-Validation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965696"/>
            <a:ext cx="86055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Cross-Validation?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technique to evaluate model performance more reliably by splitting data into multiple train-test folds.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Function: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cross_val_score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scores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cross_val_score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X, y, cv=5)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Benefits: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Reduces overfitting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Gives a better estimate of generalization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Works with any supervised model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cv=5 means 5-fold cross-validation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24891-AC0B-4EFF-9527-0526804D6A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5"/>
          <a:stretch/>
        </p:blipFill>
        <p:spPr>
          <a:xfrm>
            <a:off x="7472997" y="2783840"/>
            <a:ext cx="4500563" cy="3738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F5EC1-1C2F-438A-AF8D-82AD3B00AF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8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Hyperparameter Tuning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86055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Are Hyperparameters?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Settings passed before training (e.g., number of neighbors in KNN)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📌 Not learned during training, but significantly impact model performance.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Tuning Methods in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GridSearchCV</a:t>
            </a:r>
            <a:r>
              <a:rPr lang="en-US" sz="2400" dirty="0">
                <a:solidFill>
                  <a:schemeClr val="bg1"/>
                </a:solidFill>
              </a:rPr>
              <a:t> – Exhaustive search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RandomizedSearchCV</a:t>
            </a:r>
            <a:r>
              <a:rPr lang="en-US" sz="2400" dirty="0">
                <a:solidFill>
                  <a:schemeClr val="bg1"/>
                </a:solidFill>
              </a:rPr>
              <a:t> – Random combinations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GridSearchCV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grid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GridSearchCV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param_grid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cv=5)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Find the best combination of parameters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E9466-FE20-4E0C-A173-A937D7D1D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448" y="2283862"/>
            <a:ext cx="5198111" cy="36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7A832-E699-44F5-BED6-E9F625DABAD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2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Pipelines in </a:t>
            </a:r>
            <a:r>
              <a:rPr lang="en-US" sz="4400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sz="4400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7129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Why Use Pipelines?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Combine multiple steps (e.g., preprocessing + modeling) into a </a:t>
            </a:r>
            <a:r>
              <a:rPr lang="en-US" sz="2400" b="1" dirty="0">
                <a:solidFill>
                  <a:schemeClr val="bg1"/>
                </a:solidFill>
              </a:rPr>
              <a:t>single object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sklearn.pipeline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Pipeline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LogisticRegression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pipe = Pipeline([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('scaler', </a:t>
            </a:r>
            <a:r>
              <a:rPr lang="en-US" sz="2400" dirty="0" err="1">
                <a:solidFill>
                  <a:schemeClr val="bg1"/>
                </a:solidFill>
              </a:rPr>
              <a:t>StandardScaler</a:t>
            </a:r>
            <a:r>
              <a:rPr lang="en-US" sz="2400" dirty="0">
                <a:solidFill>
                  <a:schemeClr val="bg1"/>
                </a:solidFill>
              </a:rPr>
              <a:t>()),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('classifier', </a:t>
            </a:r>
            <a:r>
              <a:rPr lang="en-US" sz="2400" dirty="0" err="1">
                <a:solidFill>
                  <a:schemeClr val="bg1"/>
                </a:solidFill>
              </a:rPr>
              <a:t>LogisticRegression</a:t>
            </a:r>
            <a:r>
              <a:rPr lang="en-US" sz="2400" dirty="0">
                <a:solidFill>
                  <a:schemeClr val="bg1"/>
                </a:solidFill>
              </a:rPr>
              <a:t>())</a:t>
            </a:r>
          </a:p>
          <a:p>
            <a:r>
              <a:rPr lang="en-US" sz="2400" dirty="0">
                <a:solidFill>
                  <a:schemeClr val="bg1"/>
                </a:solidFill>
              </a:rPr>
              <a:t>])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pipe.fit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X_train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y_train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/>
                </a:solidFill>
              </a:rPr>
              <a:t>✅ Benefits: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Clean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Reproducibility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Reduces data leakage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B7A44-2352-446A-B427-8BB4D2975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034" y="3156143"/>
            <a:ext cx="6462966" cy="2401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47C6BC-84F1-464D-AB34-6235F5E7FA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8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Feature Scaling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668528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Why Scale Features?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Some ML algorithms are sensitive to feature scales (e.g., KNN, SVM, Gradient Descent-based models)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📦 Common Scalers in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StandardScaler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Mean = 0, Std = 1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MinMaxScaler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Scales between 0 and 1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RobustScaler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Handles outliers well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scaler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X_scaled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scaler.fit_transform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⚠️ Always fit scaler only on training data!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A2243-A389-4D0C-860E-85BB430978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7" t="33572" r="4777" b="18301"/>
          <a:stretch/>
        </p:blipFill>
        <p:spPr>
          <a:xfrm>
            <a:off x="6898640" y="3189265"/>
            <a:ext cx="4836159" cy="2398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CCE9EB-08CA-4D87-B67C-1C99EF40DC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9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Handling Categorical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71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🔡 Why Handle Categorical Features?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	ML models work with numbers, not strings.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Techniques in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LabelEncoder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Converts labels to numbers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OneHotEncoder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Creates binary columns for each category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encoder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X_encoded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encoder.fit_transform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X_categorical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🧠 Use </a:t>
            </a:r>
            <a:r>
              <a:rPr lang="en-US" sz="2400" b="1" dirty="0" err="1">
                <a:solidFill>
                  <a:schemeClr val="bg1"/>
                </a:solidFill>
              </a:rPr>
              <a:t>ColumnTransformer</a:t>
            </a:r>
            <a:r>
              <a:rPr lang="en-US" sz="2400" b="1" dirty="0">
                <a:solidFill>
                  <a:schemeClr val="bg1"/>
                </a:solidFill>
              </a:rPr>
              <a:t> to apply encoders selectively in pipelines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BD2B2-FD72-46AB-ACCC-BDC78B7326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4D74F0-AA35-4D8B-94BB-70165ACB6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740" y="3520440"/>
            <a:ext cx="4955260" cy="2018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36E7F-A760-4B2A-9DB5-CA8C195FA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111424"/>
            <a:ext cx="3444240" cy="20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Handling Missing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5996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🚫 Why Handle Missing Values?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Missing values can break model training or reduce accuracy.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 Solution: </a:t>
            </a:r>
            <a:r>
              <a:rPr lang="en-US" sz="2400" dirty="0" err="1">
                <a:solidFill>
                  <a:schemeClr val="bg1"/>
                </a:solidFill>
              </a:rPr>
              <a:t>SimpleImputer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sklearn.impute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imputer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(strategy='mean')  # or 'median', 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most_frequent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'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X_imputed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imputer.fit_transform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🧠 </a:t>
            </a:r>
            <a:r>
              <a:rPr lang="en-US" sz="2400" b="1" dirty="0">
                <a:solidFill>
                  <a:schemeClr val="accent4"/>
                </a:solidFill>
              </a:rPr>
              <a:t>Strategies</a:t>
            </a:r>
            <a:r>
              <a:rPr lang="en-US" sz="2400" dirty="0">
                <a:solidFill>
                  <a:schemeClr val="accent4"/>
                </a:solidFill>
              </a:rPr>
              <a:t>:</a:t>
            </a:r>
          </a:p>
          <a:p>
            <a:r>
              <a:rPr lang="en-US" sz="2400" dirty="0">
                <a:solidFill>
                  <a:schemeClr val="bg1"/>
                </a:solidFill>
              </a:rPr>
              <a:t>Mean/Median for numerical data</a:t>
            </a:r>
          </a:p>
          <a:p>
            <a:r>
              <a:rPr lang="en-US" sz="2400" dirty="0">
                <a:solidFill>
                  <a:schemeClr val="bg1"/>
                </a:solidFill>
              </a:rPr>
              <a:t>Most frequent for categorical data</a:t>
            </a:r>
          </a:p>
          <a:p>
            <a:r>
              <a:rPr lang="en-US" sz="2400" dirty="0">
                <a:solidFill>
                  <a:schemeClr val="bg1"/>
                </a:solidFill>
              </a:rPr>
              <a:t>Constant value (e.g., 0 or “Unknown”)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🔄 Use in Pipelines for automation!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43112-113D-4196-81A8-2E43C952C7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9B7303-78FD-44D5-921F-627A2D592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887" y="3895397"/>
            <a:ext cx="5065713" cy="2540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3E600-3014-4D8E-9D7B-F52CE61C0A8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86" t="25510" r="12598"/>
          <a:stretch/>
        </p:blipFill>
        <p:spPr>
          <a:xfrm>
            <a:off x="7985759" y="1404493"/>
            <a:ext cx="3545841" cy="19809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743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Saving and Loading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6035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💾 Preserve Trained Models for Later Use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📦 Using </a:t>
            </a:r>
            <a:r>
              <a:rPr lang="en-US" sz="2400" b="1" dirty="0" err="1">
                <a:solidFill>
                  <a:schemeClr val="accent4"/>
                </a:solidFill>
              </a:rPr>
              <a:t>joblib</a:t>
            </a:r>
            <a:r>
              <a:rPr lang="en-US" sz="2400" b="1" dirty="0">
                <a:solidFill>
                  <a:schemeClr val="accent4"/>
                </a:solidFill>
              </a:rPr>
              <a:t> (preferred for </a:t>
            </a:r>
            <a:r>
              <a:rPr lang="en-US" sz="2400" b="1" dirty="0" err="1">
                <a:solidFill>
                  <a:schemeClr val="accent4"/>
                </a:solidFill>
              </a:rPr>
              <a:t>sklearn</a:t>
            </a:r>
            <a:r>
              <a:rPr lang="en-US" sz="2400" b="1" dirty="0">
                <a:solidFill>
                  <a:schemeClr val="accent4"/>
                </a:solidFill>
              </a:rPr>
              <a:t> objects):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C0C0C0"/>
                </a:highlight>
              </a:rPr>
              <a:t># Save model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joblib.dump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model.pkl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')</a:t>
            </a: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C0C0C0"/>
                </a:highlight>
              </a:rPr>
              <a:t># Load model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joblib.load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model.pkl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’)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✅ Useful for: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Reuse without retraining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Deployment in production systems</a:t>
            </a:r>
          </a:p>
          <a:p>
            <a:r>
              <a:rPr lang="en-US" sz="2400" dirty="0">
                <a:solidFill>
                  <a:schemeClr val="bg1"/>
                </a:solidFill>
              </a:rPr>
              <a:t>Sharing models with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BBEA1-3DCE-4391-ACA4-90E96DB822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3049A3-92DF-435C-BDC7-A32343776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4" t="10400" r="7294" b="11734"/>
          <a:stretch/>
        </p:blipFill>
        <p:spPr>
          <a:xfrm>
            <a:off x="7352936" y="1676400"/>
            <a:ext cx="4260102" cy="23164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69475-DAFA-4BCD-9590-02211B18A8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15" r="23686" b="24736"/>
          <a:stretch/>
        </p:blipFill>
        <p:spPr>
          <a:xfrm>
            <a:off x="7853680" y="4266018"/>
            <a:ext cx="3027680" cy="24192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618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Real-World Project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25576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</a:rPr>
              <a:t>📊 </a:t>
            </a:r>
            <a:r>
              <a:rPr lang="en-US" sz="2800" b="1" dirty="0">
                <a:solidFill>
                  <a:schemeClr val="accent4"/>
                </a:solidFill>
              </a:rPr>
              <a:t>Use Case</a:t>
            </a:r>
            <a:r>
              <a:rPr lang="en-US" sz="2800" dirty="0">
                <a:solidFill>
                  <a:schemeClr val="accent4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Predicting House Prices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Load dataset (e.g., Boston Housing)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Preprocess features (scale, handle missing)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Split into train/test 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Train </a:t>
            </a:r>
            <a:r>
              <a:rPr lang="en-US" sz="2800" dirty="0" err="1">
                <a:solidFill>
                  <a:schemeClr val="bg1"/>
                </a:solidFill>
              </a:rPr>
              <a:t>LinearRegression</a:t>
            </a:r>
            <a:r>
              <a:rPr lang="en-US" sz="2800" dirty="0">
                <a:solidFill>
                  <a:schemeClr val="bg1"/>
                </a:solidFill>
              </a:rPr>
              <a:t>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Evaluate using MSE &amp; R²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Tune hyperparameters (if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Save final model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🧠 Combines: </a:t>
            </a:r>
            <a:r>
              <a:rPr lang="en-US" sz="2800" dirty="0">
                <a:solidFill>
                  <a:schemeClr val="bg1"/>
                </a:solidFill>
              </a:rPr>
              <a:t>Regression, Preprocessing, Pipeline, Evaluation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📦</a:t>
            </a:r>
            <a:r>
              <a:rPr lang="en-US" sz="2800" dirty="0">
                <a:solidFill>
                  <a:schemeClr val="bg1"/>
                </a:solidFill>
              </a:rPr>
              <a:t> Encourages end-to-end ML workflow using </a:t>
            </a:r>
            <a:r>
              <a:rPr lang="en-US" sz="2800" dirty="0" err="1">
                <a:solidFill>
                  <a:schemeClr val="bg1"/>
                </a:solidFill>
              </a:rPr>
              <a:t>Scikit</a:t>
            </a:r>
            <a:r>
              <a:rPr lang="en-US" sz="2800" dirty="0">
                <a:solidFill>
                  <a:schemeClr val="bg1"/>
                </a:solidFill>
              </a:rPr>
              <a:t>-Learn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066E0-4C80-4AB6-BB97-866E47D028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0F6F82-4AB6-4D51-B020-73E8124646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748"/>
          <a:stretch/>
        </p:blipFill>
        <p:spPr>
          <a:xfrm>
            <a:off x="7145020" y="1584800"/>
            <a:ext cx="4183380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9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Integration with Other Libraries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97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🔗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 Works Seamlessly With: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accent4"/>
                </a:solidFill>
              </a:rPr>
              <a:t>📦 NumPy </a:t>
            </a:r>
            <a:r>
              <a:rPr lang="en-US" sz="2800" dirty="0">
                <a:solidFill>
                  <a:schemeClr val="bg1"/>
                </a:solidFill>
              </a:rPr>
              <a:t>– Numerical arrays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📊 Pandas </a:t>
            </a:r>
            <a:r>
              <a:rPr lang="en-US" sz="2800" dirty="0">
                <a:solidFill>
                  <a:schemeClr val="bg1"/>
                </a:solidFill>
              </a:rPr>
              <a:t>– </a:t>
            </a:r>
            <a:r>
              <a:rPr lang="en-US" sz="2800" dirty="0" err="1">
                <a:solidFill>
                  <a:schemeClr val="bg1"/>
                </a:solidFill>
              </a:rPr>
              <a:t>DataFrames</a:t>
            </a:r>
            <a:r>
              <a:rPr lang="en-US" sz="2800" dirty="0">
                <a:solidFill>
                  <a:schemeClr val="bg1"/>
                </a:solidFill>
              </a:rPr>
              <a:t> for structured data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📉 Matplotlib / Seaborn</a:t>
            </a:r>
            <a:r>
              <a:rPr lang="en-US" sz="2800" dirty="0">
                <a:solidFill>
                  <a:schemeClr val="bg1"/>
                </a:solidFill>
              </a:rPr>
              <a:t> – Visualization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🔍 </a:t>
            </a:r>
            <a:r>
              <a:rPr lang="en-US" sz="2800" dirty="0" err="1">
                <a:solidFill>
                  <a:schemeClr val="accent4"/>
                </a:solidFill>
              </a:rPr>
              <a:t>XGBoost</a:t>
            </a:r>
            <a:r>
              <a:rPr lang="en-US" sz="2800" dirty="0">
                <a:solidFill>
                  <a:schemeClr val="accent4"/>
                </a:solidFill>
              </a:rPr>
              <a:t>, </a:t>
            </a:r>
            <a:r>
              <a:rPr lang="en-US" sz="2800" dirty="0" err="1">
                <a:solidFill>
                  <a:schemeClr val="accent4"/>
                </a:solidFill>
              </a:rPr>
              <a:t>LightGBM</a:t>
            </a:r>
            <a:r>
              <a:rPr lang="en-US" sz="2800" dirty="0">
                <a:solidFill>
                  <a:schemeClr val="accent4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– Advanced models using </a:t>
            </a:r>
            <a:r>
              <a:rPr lang="en-US" sz="2800" dirty="0" err="1">
                <a:solidFill>
                  <a:schemeClr val="bg1"/>
                </a:solidFill>
              </a:rPr>
              <a:t>sklearn</a:t>
            </a:r>
            <a:r>
              <a:rPr lang="en-US" sz="2800" dirty="0">
                <a:solidFill>
                  <a:schemeClr val="bg1"/>
                </a:solidFill>
              </a:rPr>
              <a:t> API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🧠 TensorFlow / PyTorch </a:t>
            </a:r>
            <a:r>
              <a:rPr lang="en-US" sz="2800" dirty="0">
                <a:solidFill>
                  <a:schemeClr val="bg1"/>
                </a:solidFill>
              </a:rPr>
              <a:t>– Deep learning + </a:t>
            </a:r>
            <a:r>
              <a:rPr lang="en-US" sz="2800" dirty="0" err="1">
                <a:solidFill>
                  <a:schemeClr val="bg1"/>
                </a:solidFill>
              </a:rPr>
              <a:t>sklearn</a:t>
            </a:r>
            <a:r>
              <a:rPr lang="en-US" sz="2800" dirty="0">
                <a:solidFill>
                  <a:schemeClr val="bg1"/>
                </a:solidFill>
              </a:rPr>
              <a:t> for preprocessing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📦 Many tools are </a:t>
            </a:r>
            <a:r>
              <a:rPr lang="en-US" sz="2800" dirty="0" err="1">
                <a:solidFill>
                  <a:schemeClr val="bg1"/>
                </a:solidFill>
              </a:rPr>
              <a:t>Scikit</a:t>
            </a:r>
            <a:r>
              <a:rPr lang="en-US" sz="2800" dirty="0">
                <a:solidFill>
                  <a:schemeClr val="bg1"/>
                </a:solidFill>
              </a:rPr>
              <a:t>-Learn compatible via .fit() / .transform() API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🤝 </a:t>
            </a:r>
            <a:r>
              <a:rPr lang="en-US" sz="2800" dirty="0" err="1">
                <a:solidFill>
                  <a:schemeClr val="accent4"/>
                </a:solidFill>
              </a:rPr>
              <a:t>Scikit</a:t>
            </a:r>
            <a:r>
              <a:rPr lang="en-US" sz="2800" dirty="0">
                <a:solidFill>
                  <a:schemeClr val="accent4"/>
                </a:solidFill>
              </a:rPr>
              <a:t>-Learn </a:t>
            </a:r>
            <a:r>
              <a:rPr lang="en-US" sz="2800" dirty="0">
                <a:solidFill>
                  <a:schemeClr val="bg1"/>
                </a:solidFill>
              </a:rPr>
              <a:t>= Core of the Python ML ecosystem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56A11-04A1-49ED-A481-8ED35F21D3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E4192C-413E-4A76-B94C-7DB196E000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8143271" y="2223457"/>
            <a:ext cx="1758737" cy="1172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3A81-16AA-4519-90E3-C8A1962B2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612" y="2578178"/>
            <a:ext cx="1476948" cy="584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98545D-0E62-486E-B905-2692BD40F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271" y="3368635"/>
            <a:ext cx="2964815" cy="710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7391F3-3500-4EEB-8222-827DAE91B8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225" y="1358051"/>
            <a:ext cx="1773432" cy="794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112422-012E-4437-B04C-9831FDDD28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035" y="4008517"/>
            <a:ext cx="2676525" cy="1704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9141F5-E2E1-4A20-B278-E4A8C20F63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141" y="5577702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8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Common Challenges &amp; Best Practices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97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⚠️ Common Pitfalls: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Not scaling data when needed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Data leakage (using test data in training)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Overfitting from too complex models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Ignoring class imbalance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✅ Best Practices: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Use Pipelines to prevent leakage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Apply Cross-Validation for reliable metrics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Tune hyperparameters systematically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Monitor overfitting with validation set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Document &amp; version control your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522E5-0D42-4701-A501-E443AC6EE3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9C686B-3570-45F3-B592-9B7B23121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072" y="1062038"/>
            <a:ext cx="5251212" cy="2536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6601F-34BE-465C-BC7C-A0B443C6C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360" y="3865761"/>
            <a:ext cx="2890203" cy="28902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451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Summary and Final Thoughts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599936"/>
            <a:ext cx="927608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📌 Key 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Scikit</a:t>
            </a:r>
            <a:r>
              <a:rPr lang="en-US" sz="2400" dirty="0">
                <a:solidFill>
                  <a:schemeClr val="bg1"/>
                </a:solidFill>
              </a:rPr>
              <a:t>-Learn is a </a:t>
            </a:r>
            <a:r>
              <a:rPr lang="en-US" sz="2400" b="1" dirty="0">
                <a:solidFill>
                  <a:schemeClr val="bg1"/>
                </a:solidFill>
              </a:rPr>
              <a:t>powerful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easy-to-use</a:t>
            </a:r>
            <a:r>
              <a:rPr lang="en-US" sz="2400" dirty="0">
                <a:solidFill>
                  <a:schemeClr val="bg1"/>
                </a:solidFill>
              </a:rPr>
              <a:t> ML library in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Supports full ML pipeline: </a:t>
            </a:r>
            <a:r>
              <a:rPr lang="en-US" sz="2400" dirty="0">
                <a:solidFill>
                  <a:schemeClr val="bg1"/>
                </a:solidFill>
              </a:rPr>
              <a:t>preprocessing → modeling → evaluation →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Offers a wide range of algorithms for both </a:t>
            </a:r>
            <a:r>
              <a:rPr lang="en-US" sz="2400" b="1" dirty="0">
                <a:solidFill>
                  <a:schemeClr val="bg1"/>
                </a:solidFill>
              </a:rPr>
              <a:t>supervised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bg1"/>
                </a:solidFill>
              </a:rPr>
              <a:t>unsupervised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Encourages best practices via </a:t>
            </a:r>
            <a:r>
              <a:rPr lang="en-US" sz="2400" b="1" dirty="0">
                <a:solidFill>
                  <a:schemeClr val="bg1"/>
                </a:solidFill>
              </a:rPr>
              <a:t>pipelines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cross-validation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grid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Integrates well with tools like </a:t>
            </a:r>
            <a:r>
              <a:rPr lang="en-US" sz="2400" b="1" dirty="0">
                <a:solidFill>
                  <a:schemeClr val="bg1"/>
                </a:solidFill>
              </a:rPr>
              <a:t>Pandas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NumPy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Matplotlib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 err="1">
                <a:solidFill>
                  <a:schemeClr val="bg1"/>
                </a:solidFill>
              </a:rPr>
              <a:t>joblib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accent4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🎯 Next 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Explore real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Try out various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Build and deploy your own ML project!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FC887-4DCB-4EF8-A043-B33D932AE1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71610-7E9F-4DD4-BCCC-A3646FED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025" y="1493271"/>
            <a:ext cx="2847975" cy="1609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EDF56-5147-465D-889A-7A2F36996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49" y="396539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2223</Words>
  <Application>Microsoft Office PowerPoint</Application>
  <PresentationFormat>Widescreen</PresentationFormat>
  <Paragraphs>492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Arial Unicode MS</vt:lpstr>
      <vt:lpstr>Courier New</vt:lpstr>
      <vt:lpstr>Goudy Old Style</vt:lpstr>
      <vt:lpstr>Libra Sans</vt:lpstr>
      <vt:lpstr>Montserrat</vt:lpstr>
      <vt:lpstr>Wingdings 2</vt:lpstr>
      <vt:lpstr>SlateVTI</vt:lpstr>
      <vt:lpstr>Python for Cloud Engineers</vt:lpstr>
      <vt:lpstr>PowerPoint Presentation</vt:lpstr>
      <vt:lpstr>Course Introduction</vt:lpstr>
      <vt:lpstr>What You’ll Learn:</vt:lpstr>
      <vt:lpstr>Setting Up Your Python Cloud Environment</vt:lpstr>
      <vt:lpstr>Common Python Libraries:</vt:lpstr>
      <vt:lpstr>Python Refresher – Focused for Cloud</vt:lpstr>
      <vt:lpstr>Conti…</vt:lpstr>
      <vt:lpstr>Conti…</vt:lpstr>
      <vt:lpstr>Cloud SDKs with Python – Overview</vt:lpstr>
      <vt:lpstr>Conti…</vt:lpstr>
      <vt:lpstr>Hands-On with AWS SDK (boto3)</vt:lpstr>
      <vt:lpstr>Hands-On with AWS SDK (boto3)</vt:lpstr>
      <vt:lpstr>Working with Azure SDK in Python</vt:lpstr>
      <vt:lpstr>Built-in Datasets</vt:lpstr>
      <vt:lpstr>Data Preprocessing in Scikit-Learn</vt:lpstr>
      <vt:lpstr>Train-Test Split</vt:lpstr>
      <vt:lpstr>Supervised vs Unsupervised Learning</vt:lpstr>
      <vt:lpstr>Supervised Learning – Classification</vt:lpstr>
      <vt:lpstr>Supervised Learning – Regression</vt:lpstr>
      <vt:lpstr>Unsupervised Learning – Clustering</vt:lpstr>
      <vt:lpstr>Unsupervised Learning – Dimensionality Reduction</vt:lpstr>
      <vt:lpstr>Model Selection in Scikit-Learn</vt:lpstr>
      <vt:lpstr>Training a Model</vt:lpstr>
      <vt:lpstr>Making Predictions</vt:lpstr>
      <vt:lpstr>Model Evaluation – Classification Metrics</vt:lpstr>
      <vt:lpstr>Model Evaluation – Regression Metrics</vt:lpstr>
      <vt:lpstr>Cross-Validation</vt:lpstr>
      <vt:lpstr>Hyperparameter Tuning</vt:lpstr>
      <vt:lpstr>Pipelines in Scikit-Learn</vt:lpstr>
      <vt:lpstr>Feature Scaling</vt:lpstr>
      <vt:lpstr>Handling Categorical Data</vt:lpstr>
      <vt:lpstr>Handling Missing Data</vt:lpstr>
      <vt:lpstr>Saving and Loading Models</vt:lpstr>
      <vt:lpstr>Real-World Project Example</vt:lpstr>
      <vt:lpstr>Integration with Other Libraries</vt:lpstr>
      <vt:lpstr>Common Challenges &amp; Best Practices</vt:lpstr>
      <vt:lpstr>Summary and Final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2025-07-26T20:57:24Z</dcterms:modified>
</cp:coreProperties>
</file>