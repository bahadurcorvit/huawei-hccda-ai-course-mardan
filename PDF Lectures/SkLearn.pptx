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61" r:id="rId4"/>
    <p:sldId id="429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1087120"/>
            <a:ext cx="11440160" cy="26483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2E6578"/>
                </a:solidFill>
                <a:cs typeface="+mn-cs"/>
              </a:rPr>
              <a:t>Huawei HCCDA-AI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Huawei Cloud EI: Empowering AI Innovation Globally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Vision, NLP, Speech, OCR, </a:t>
            </a:r>
            <a:r>
              <a:rPr lang="en-US" sz="3200" b="1" u="sng" dirty="0" err="1">
                <a:solidFill>
                  <a:schemeClr val="tx1">
                    <a:lumMod val="50000"/>
                  </a:schemeClr>
                </a:solidFill>
                <a:effectLst/>
              </a:rPr>
              <a:t>ModelArts</a:t>
            </a:r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, </a:t>
            </a:r>
            <a:r>
              <a:rPr lang="en-US" sz="3200" b="1" u="sng" dirty="0" err="1">
                <a:solidFill>
                  <a:schemeClr val="tx1">
                    <a:lumMod val="50000"/>
                  </a:schemeClr>
                </a:solidFill>
                <a:effectLst/>
              </a:rPr>
              <a:t>HiLens</a:t>
            </a:r>
            <a:endParaRPr lang="en-US" sz="3200" b="1" u="sng" dirty="0">
              <a:solidFill>
                <a:schemeClr val="tx1">
                  <a:lumMod val="50000"/>
                </a:schemeClr>
              </a:solidFill>
              <a:effectLst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8717280" y="6291105"/>
            <a:ext cx="34645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chemeClr val="bg1"/>
                </a:solidFill>
                <a:effectLst/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-10160" y="630126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effectLst/>
              </a:rPr>
              <a:t>Dated: 20 July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661AA-EA56-4818-8C0E-7F17343E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14433"/>
            <a:ext cx="561140" cy="568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272A0C-B023-4573-A66E-9DC2AA04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960" y="10432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What is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Scikit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-Learn?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554640"/>
            <a:ext cx="7147254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Scikit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-Learn (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sklearn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) is an open-source Python library for machine learning.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Built on top of NumPy, SciPy, and Matplotlib.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Provides simple and efficient tools for data mining and data analysis.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Designed to be accessible, reusable, and versatile.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D830-F803-4453-8F07-89630068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44" y="1999119"/>
            <a:ext cx="4008449" cy="312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554640"/>
            <a:ext cx="7147254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Supervised &amp; Unsupervised Learning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Preprocessing &amp; Feature Selection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Model Evaluation &amp; Selection (Cross-validation, Grid Search)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Pipelines for building complex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D830-F803-4453-8F07-89630068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44" y="1999119"/>
            <a:ext cx="4008449" cy="312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7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Common Algorithms Included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554640"/>
            <a:ext cx="5958533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Classification: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SVM, k-NN, Logistic Regression, Decision Trees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Regression: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Linear, Ridge, Lasso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Clustering: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K-Means, DBSCAN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Dimensionality Reduction: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PCA, t-SNE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D830-F803-4453-8F07-89630068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44" y="1999119"/>
            <a:ext cx="4008449" cy="312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2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Why Use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Scikit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-Learn?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0827" y="1554640"/>
            <a:ext cx="59585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Easy-to-use and consistent API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Extensive documentation and community support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Works well with other scientific libraries like Pandas &amp; Seaborn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Ideal for prototyping and small-to-medium scale ML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D830-F803-4453-8F07-89630068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44" y="1999119"/>
            <a:ext cx="4008449" cy="312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0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Installation of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Scikit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-Learn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2219438"/>
            <a:ext cx="595853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j-ea"/>
              </a:rPr>
              <a:t>✅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Using pip (Recommended)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					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pip install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scikit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-learn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</a:rPr>
              <a:t>🧪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Check Installation</a:t>
            </a:r>
          </a:p>
          <a:p>
            <a:pPr lvl="5"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import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sklearn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lvl="5"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print(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sklearn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.__version__)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6401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Loading Datasets in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Scikit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-Learn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701278"/>
            <a:ext cx="497067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Scikit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-Learn provides several built-in datasets for practice and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3E1-9AC4-4985-AAA6-03491E829693}"/>
              </a:ext>
            </a:extLst>
          </p:cNvPr>
          <p:cNvSpPr txBox="1"/>
          <p:nvPr/>
        </p:nvSpPr>
        <p:spPr>
          <a:xfrm>
            <a:off x="790047" y="2884448"/>
            <a:ext cx="4970673" cy="347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Loading a Built-in Dataset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from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sklearn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 import datasets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# Example: Load the Iris dataset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iris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datasets.load_iris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# Features and labels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X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iris.data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y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iris.target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2656A-C4D2-4AA3-B741-7B4B2A2B9F2C}"/>
              </a:ext>
            </a:extLst>
          </p:cNvPr>
          <p:cNvSpPr txBox="1"/>
          <p:nvPr/>
        </p:nvSpPr>
        <p:spPr>
          <a:xfrm>
            <a:off x="6512560" y="2986048"/>
            <a:ext cx="4970673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Loading External Datasets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import pandas as pd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data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pd.read_csv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("your_file.csv")</a:t>
            </a:r>
          </a:p>
        </p:txBody>
      </p:sp>
    </p:spTree>
    <p:extLst>
      <p:ext uri="{BB962C8B-B14F-4D97-AF65-F5344CB8AC3E}">
        <p14:creationId xmlns:p14="http://schemas.microsoft.com/office/powerpoint/2010/main" val="1181368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Popular Built-in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2260078"/>
            <a:ext cx="5946033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load_iris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– Iris flower dataset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load_digits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– Handwritten digits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load_wine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– Wine classification</a:t>
            </a: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0"/>
              </a:spcBef>
              <a:buFont typeface="Goudy Old Style" panose="02020502050305020303" pitchFamily="18" charset="0"/>
              <a:buChar char="¤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load_breast_cancer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– Breast cancer diagnosis</a:t>
            </a:r>
          </a:p>
        </p:txBody>
      </p:sp>
    </p:spTree>
    <p:extLst>
      <p:ext uri="{BB962C8B-B14F-4D97-AF65-F5344CB8AC3E}">
        <p14:creationId xmlns:p14="http://schemas.microsoft.com/office/powerpoint/2010/main" val="138023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Preprocessing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2260078"/>
            <a:ext cx="5946033" cy="195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Preprocessing is essential for: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Handling inconsistencies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Preparing data for training</a:t>
            </a:r>
          </a:p>
          <a:p>
            <a:pPr marL="342900" indent="-342900">
              <a:buFont typeface="Goudy Old Style" panose="02020502050305020303" pitchFamily="18" charset="0"/>
              <a:buChar char="◊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Improving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3064709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Handling Missing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2260078"/>
            <a:ext cx="59460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SimpleImputer</a:t>
            </a: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sklearn.impute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imputer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(strategy='mean')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X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imputer.fit_transform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8990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Feature 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579358"/>
            <a:ext cx="5946033" cy="252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StandardScaler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: 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Mean = 0, Std Dev = 1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scaler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X_scaled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scaler.fit_transform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9AB8D-6686-4288-A8BC-C38C2516EA0E}"/>
              </a:ext>
            </a:extLst>
          </p:cNvPr>
          <p:cNvSpPr txBox="1"/>
          <p:nvPr/>
        </p:nvSpPr>
        <p:spPr>
          <a:xfrm>
            <a:off x="718926" y="4175406"/>
            <a:ext cx="594603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MinMaxScaler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: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Scales features to range [0, 1]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MinMaxScaler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scaler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MinMaxScaler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X_scaled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scaler.fit_transform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448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Encoding Categorical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579358"/>
            <a:ext cx="594603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LabelEncoder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(for target labels)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from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sklearn.preprocessing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 import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LabelEncoder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highlight>
                <a:srgbClr val="C0C0C0"/>
              </a:highlight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le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LabelEncoder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y = </a:t>
            </a: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le.fit_transform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highlight>
                  <a:srgbClr val="C0C0C0"/>
                </a:highlight>
                <a:latin typeface="+mj-lt"/>
                <a:ea typeface="+mj-ea"/>
              </a:rPr>
              <a:t>(y)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9AB8D-6686-4288-A8BC-C38C2516EA0E}"/>
              </a:ext>
            </a:extLst>
          </p:cNvPr>
          <p:cNvSpPr txBox="1"/>
          <p:nvPr/>
        </p:nvSpPr>
        <p:spPr>
          <a:xfrm>
            <a:off x="718926" y="4175406"/>
            <a:ext cx="594603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OneHotEncoder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(for input features)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encoder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X_encoded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encoder.fit_transform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366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Train-Test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579358"/>
            <a:ext cx="5946033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from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sklearn.model_selection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import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train_test_split</a:t>
            </a: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X_train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,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X_test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,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y_train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,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y_test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=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train_test_split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(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    X, y,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test_size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=0.2,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random_state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=42)</a:t>
            </a:r>
          </a:p>
        </p:txBody>
      </p:sp>
    </p:spTree>
    <p:extLst>
      <p:ext uri="{BB962C8B-B14F-4D97-AF65-F5344CB8AC3E}">
        <p14:creationId xmlns:p14="http://schemas.microsoft.com/office/powerpoint/2010/main" val="1082343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Supervised Learning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59460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Regression: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LinearRegression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Ridge,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Classification: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LogisticRegression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KNeighborsClassifier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DecisionTreeClassifier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RandomForestClassifier</a:t>
            </a:r>
            <a:endParaRPr lang="en-US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SVC (Support Vector Machine)</a:t>
            </a:r>
          </a:p>
        </p:txBody>
      </p:sp>
    </p:spTree>
    <p:extLst>
      <p:ext uri="{BB962C8B-B14F-4D97-AF65-F5344CB8AC3E}">
        <p14:creationId xmlns:p14="http://schemas.microsoft.com/office/powerpoint/2010/main" val="2543562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LinearRegression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594603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Models the linear relationship between input features and continuous target.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Use Case: </a:t>
            </a:r>
            <a:r>
              <a:rPr lang="en-US" sz="2400" dirty="0">
                <a:solidFill>
                  <a:schemeClr val="bg1"/>
                </a:solidFill>
              </a:rPr>
              <a:t>Predicting house prices, salary estimation.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31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Ridge / Lasso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6332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Variants of linear regression that prevent overfitting using regularization.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🔹 </a:t>
            </a:r>
            <a:r>
              <a:rPr lang="en-US" sz="2400" b="1" dirty="0">
                <a:solidFill>
                  <a:schemeClr val="bg1"/>
                </a:solidFill>
              </a:rPr>
              <a:t>Ridge: </a:t>
            </a:r>
            <a:r>
              <a:rPr lang="en-US" sz="2400" dirty="0">
                <a:solidFill>
                  <a:schemeClr val="bg1"/>
                </a:solidFill>
              </a:rPr>
              <a:t>Penalizes large coefficients (L2 norm).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🔹 </a:t>
            </a:r>
            <a:r>
              <a:rPr lang="en-US" sz="2400" b="1" dirty="0">
                <a:solidFill>
                  <a:schemeClr val="bg1"/>
                </a:solidFill>
              </a:rPr>
              <a:t>Lasso: </a:t>
            </a:r>
            <a:r>
              <a:rPr lang="en-US" sz="2400" dirty="0">
                <a:solidFill>
                  <a:schemeClr val="bg1"/>
                </a:solidFill>
              </a:rPr>
              <a:t>Can shrink some coefficients to zero (L1 norm), useful for feature selection.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Ridge, Lasso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Ridge()  # or Lasso()</a:t>
            </a:r>
          </a:p>
        </p:txBody>
      </p:sp>
    </p:spTree>
    <p:extLst>
      <p:ext uri="{BB962C8B-B14F-4D97-AF65-F5344CB8AC3E}">
        <p14:creationId xmlns:p14="http://schemas.microsoft.com/office/powerpoint/2010/main" val="355887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LogisticRegression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6332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Despite the name, it’s used for classification, not regression.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Models the probability that an input belongs to a certain class using the sigmoid function.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Use Case: </a:t>
            </a:r>
            <a:r>
              <a:rPr lang="en-US" sz="2400" dirty="0">
                <a:solidFill>
                  <a:schemeClr val="bg1"/>
                </a:solidFill>
              </a:rPr>
              <a:t>Email spam detection, disease diagnosis.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LogisticRegression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LogisticRegression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46726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KNeighborsClassifier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(KNN)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62101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 non-parametric method that classifies based on the majority class among the k closest samples.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Use Case: </a:t>
            </a:r>
            <a:r>
              <a:rPr lang="en-US" sz="2400" dirty="0">
                <a:solidFill>
                  <a:schemeClr val="bg1"/>
                </a:solidFill>
              </a:rPr>
              <a:t>Handwriting recognition, recommendation systems.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sklearn.neighbors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KNeighborsClassifier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KNeighborsClassifier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915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DecisionTreeClassifier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6840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Splits the data based on feature conditions, forming a tree structure.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🔹 Simple to interpret and visualize.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🔹 Use Case: Credit scoring, customer segmentation.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sklearn.tree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DecisionTreeClassifier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DecisionTreeClassifier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644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RandomForestClassifier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81913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An ensemble model that builds multiple decision trees and merges them for better accuracy.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🔹 Reduces overfitting and increases robustness.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🔹 Use Case: Fraud detection, stock price movement prediction.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sklearn.ensemble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RandomForestClassifier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RandomForestClassifier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96622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C94A842-5EEA-4071-9B36-AB8B9084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87" y="152671"/>
            <a:ext cx="561140" cy="568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B71A6-C3A0-4A37-80AB-40EA59503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0320" y="152672"/>
            <a:ext cx="685800" cy="68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240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SVC (Support Vector Classifier)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18927" y="1873998"/>
            <a:ext cx="59866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Finds a hyperplane that best separates the classes with the maximum margin.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🔹 Effective in high-dimensional spaces and complex decision boundaries.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🔹 Use Case: Image classification, bioinformatics.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sklearn.svm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SVC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SVC()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50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855</Words>
  <Application>Microsoft Office PowerPoint</Application>
  <PresentationFormat>Widescreen</PresentationFormat>
  <Paragraphs>179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Goudy Old Style</vt:lpstr>
      <vt:lpstr>Wingdings 2</vt:lpstr>
      <vt:lpstr>SlateVTI</vt:lpstr>
      <vt:lpstr>Huawei HCCDA-AI certification </vt:lpstr>
      <vt:lpstr>Huawei Cloud EI: Empowering AI Innovation Globally</vt:lpstr>
      <vt:lpstr>What is Scikit-Learn?</vt:lpstr>
      <vt:lpstr>Key Features</vt:lpstr>
      <vt:lpstr>Common Algorithms Included</vt:lpstr>
      <vt:lpstr>Why Use Scikit-Learn?</vt:lpstr>
      <vt:lpstr>Installation of Scikit-Learn</vt:lpstr>
      <vt:lpstr>Loading Datasets in Scikit-Learn</vt:lpstr>
      <vt:lpstr>Popular Built-in Datasets</vt:lpstr>
      <vt:lpstr>Preprocessing Data</vt:lpstr>
      <vt:lpstr>Handling Missing Values</vt:lpstr>
      <vt:lpstr>Feature Scaling</vt:lpstr>
      <vt:lpstr>Encoding Categorical Variables</vt:lpstr>
      <vt:lpstr>Train-Test Split</vt:lpstr>
      <vt:lpstr>Supervised Learning Models</vt:lpstr>
      <vt:lpstr>LinearRegression</vt:lpstr>
      <vt:lpstr>Ridge / Lasso Regression</vt:lpstr>
      <vt:lpstr>LogisticRegression</vt:lpstr>
      <vt:lpstr>KNeighborsClassifier (KNN)</vt:lpstr>
      <vt:lpstr>DecisionTreeClassifier</vt:lpstr>
      <vt:lpstr>RandomForestClassifier</vt:lpstr>
      <vt:lpstr>SVC (Support Vector Classifier)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2025-07-20T08:23:42Z</dcterms:modified>
</cp:coreProperties>
</file>