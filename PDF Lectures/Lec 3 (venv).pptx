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8" r:id="rId2"/>
    <p:sldId id="379" r:id="rId3"/>
    <p:sldId id="265" r:id="rId4"/>
    <p:sldId id="380" r:id="rId5"/>
    <p:sldId id="381" r:id="rId6"/>
    <p:sldId id="376" r:id="rId7"/>
    <p:sldId id="377" r:id="rId8"/>
    <p:sldId id="323" r:id="rId9"/>
    <p:sldId id="363" r:id="rId10"/>
    <p:sldId id="325" r:id="rId11"/>
    <p:sldId id="364" r:id="rId12"/>
    <p:sldId id="365" r:id="rId13"/>
    <p:sldId id="366" r:id="rId14"/>
    <p:sldId id="374" r:id="rId15"/>
    <p:sldId id="375" r:id="rId16"/>
    <p:sldId id="383" r:id="rId17"/>
    <p:sldId id="382" r:id="rId18"/>
    <p:sldId id="320" r:id="rId19"/>
    <p:sldId id="3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23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8.jpg"/><Relationship Id="rId7" Type="http://schemas.openxmlformats.org/officeDocument/2006/relationships/image" Target="../media/image2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microsoft.com/office/2007/relationships/hdphoto" Target="../media/hdphoto5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480" y="1087120"/>
            <a:ext cx="10312399" cy="264838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Huawei HCCDA-AI certification 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D6ACE-C437-4025-B2A9-9522FBF1D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BDCF758-1C10-4584-82F7-FC7610AF8247}"/>
              </a:ext>
            </a:extLst>
          </p:cNvPr>
          <p:cNvGrpSpPr/>
          <p:nvPr/>
        </p:nvGrpSpPr>
        <p:grpSpPr>
          <a:xfrm>
            <a:off x="5709709" y="4907280"/>
            <a:ext cx="772160" cy="762000"/>
            <a:chOff x="5709709" y="4907280"/>
            <a:chExt cx="772160" cy="762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93036B7-FD94-4978-BA06-13CF7B8737D8}"/>
                </a:ext>
              </a:extLst>
            </p:cNvPr>
            <p:cNvSpPr/>
            <p:nvPr/>
          </p:nvSpPr>
          <p:spPr>
            <a:xfrm>
              <a:off x="5709709" y="4907280"/>
              <a:ext cx="762000" cy="762000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9C111F-C2A3-4C0F-9EDA-A4A467094351}"/>
                </a:ext>
              </a:extLst>
            </p:cNvPr>
            <p:cNvSpPr txBox="1"/>
            <p:nvPr/>
          </p:nvSpPr>
          <p:spPr>
            <a:xfrm>
              <a:off x="5862109" y="4930643"/>
              <a:ext cx="6197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35BF2673-74FD-4245-A47F-8B56B58DF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98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</p:spTree>
    <p:extLst>
      <p:ext uri="{BB962C8B-B14F-4D97-AF65-F5344CB8AC3E}">
        <p14:creationId xmlns:p14="http://schemas.microsoft.com/office/powerpoint/2010/main" val="9007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Virtual Environments for AI Projects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A18859-1D6F-44EE-9FD4-97CBEB8A9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3">
                    <a:lumMod val="75000"/>
                  </a:schemeClr>
                </a:solidFill>
                <a:effectLst/>
              </a:rPr>
              <a:t>From Basic to Expert-Level Workflow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4F8123-4405-4B62-AB30-829382436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965" y="4726510"/>
            <a:ext cx="3028950" cy="15144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077745"/>
            <a:ext cx="11785600" cy="638016"/>
            <a:chOff x="172720" y="6077745"/>
            <a:chExt cx="11785600" cy="638016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121462" y="607774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Training Objectives &amp;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5B1E41BB-1786-4DC2-BCB4-106BC7B5FF02}"/>
              </a:ext>
            </a:extLst>
          </p:cNvPr>
          <p:cNvGrpSpPr/>
          <p:nvPr/>
        </p:nvGrpSpPr>
        <p:grpSpPr>
          <a:xfrm>
            <a:off x="1012180" y="2242741"/>
            <a:ext cx="10710113" cy="4261949"/>
            <a:chOff x="1012180" y="2242741"/>
            <a:chExt cx="10710113" cy="4261949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EE401598-0117-4661-9793-BBB318A41ABF}"/>
                </a:ext>
              </a:extLst>
            </p:cNvPr>
            <p:cNvGrpSpPr/>
            <p:nvPr/>
          </p:nvGrpSpPr>
          <p:grpSpPr>
            <a:xfrm>
              <a:off x="1012180" y="2242741"/>
              <a:ext cx="10710113" cy="4261949"/>
              <a:chOff x="1942398" y="1019157"/>
              <a:chExt cx="6261760" cy="2912037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78BCE336-CBFD-4DDD-BD7B-4D830EB2AAF1}"/>
                  </a:ext>
                </a:extLst>
              </p:cNvPr>
              <p:cNvGrpSpPr/>
              <p:nvPr/>
            </p:nvGrpSpPr>
            <p:grpSpPr>
              <a:xfrm flipV="1">
                <a:off x="3262207" y="2824114"/>
                <a:ext cx="1161497" cy="1107080"/>
                <a:chOff x="2825608" y="737883"/>
                <a:chExt cx="1548662" cy="1476107"/>
              </a:xfrm>
            </p:grpSpPr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DC62CE2F-2A1A-4055-98BD-86464397C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60000">
                  <a:off x="3663659" y="2213990"/>
                  <a:ext cx="71061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5455EC6B-640C-4C29-9880-26EAC1EDCF86}"/>
                    </a:ext>
                  </a:extLst>
                </p:cNvPr>
                <p:cNvGrpSpPr/>
                <p:nvPr/>
              </p:nvGrpSpPr>
              <p:grpSpPr>
                <a:xfrm>
                  <a:off x="3364423" y="1464859"/>
                  <a:ext cx="846808" cy="168817"/>
                  <a:chOff x="3364423" y="1464859"/>
                  <a:chExt cx="846808" cy="168817"/>
                </a:xfrm>
              </p:grpSpPr>
              <p:cxnSp>
                <p:nvCxnSpPr>
                  <p:cNvPr id="147" name="Straight Connector 146">
                    <a:extLst>
                      <a:ext uri="{FF2B5EF4-FFF2-40B4-BE49-F238E27FC236}">
                        <a16:creationId xmlns:a16="http://schemas.microsoft.com/office/drawing/2014/main" id="{D5062026-C246-44EB-B5DD-6F81BC0DBB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64423" y="1464859"/>
                    <a:ext cx="137351" cy="16881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435078A8-05A3-4FFD-AC37-C2D751A9D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00620" y="1465674"/>
                    <a:ext cx="710611" cy="593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55CE1A0B-C1BA-4EF4-9AAA-1B5E08121B2D}"/>
                    </a:ext>
                  </a:extLst>
                </p:cNvPr>
                <p:cNvGrpSpPr/>
                <p:nvPr/>
              </p:nvGrpSpPr>
              <p:grpSpPr>
                <a:xfrm>
                  <a:off x="2825608" y="737883"/>
                  <a:ext cx="874325" cy="444812"/>
                  <a:chOff x="2956005" y="765222"/>
                  <a:chExt cx="874325" cy="444812"/>
                </a:xfrm>
              </p:grpSpPr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16D41E67-4B44-4D46-8D18-E3F93F7854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56005" y="765222"/>
                    <a:ext cx="361903" cy="444812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>
                    <a:extLst>
                      <a:ext uri="{FF2B5EF4-FFF2-40B4-BE49-F238E27FC236}">
                        <a16:creationId xmlns:a16="http://schemas.microsoft.com/office/drawing/2014/main" id="{4DEACB7E-F146-47F8-8C7E-EA75EE7BED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17908" y="765222"/>
                    <a:ext cx="512422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ED91F773-CA1F-40FE-B8E5-1344964773C3}"/>
                  </a:ext>
                </a:extLst>
              </p:cNvPr>
              <p:cNvGrpSpPr/>
              <p:nvPr/>
            </p:nvGrpSpPr>
            <p:grpSpPr>
              <a:xfrm>
                <a:off x="3262207" y="1196350"/>
                <a:ext cx="1161497" cy="1107080"/>
                <a:chOff x="2825608" y="737883"/>
                <a:chExt cx="1548662" cy="1476107"/>
              </a:xfrm>
            </p:grpSpPr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FED16619-3E60-4659-BD1A-07040A2C5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-60000">
                  <a:off x="3663659" y="2213990"/>
                  <a:ext cx="710611" cy="0"/>
                </a:xfrm>
                <a:prstGeom prst="line">
                  <a:avLst/>
                </a:prstGeom>
                <a:ln w="6350"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80E64AF0-5443-43FB-B363-E23DEFB10088}"/>
                    </a:ext>
                  </a:extLst>
                </p:cNvPr>
                <p:cNvGrpSpPr/>
                <p:nvPr/>
              </p:nvGrpSpPr>
              <p:grpSpPr>
                <a:xfrm>
                  <a:off x="3364423" y="1464859"/>
                  <a:ext cx="846808" cy="168817"/>
                  <a:chOff x="3364423" y="1464859"/>
                  <a:chExt cx="846808" cy="168817"/>
                </a:xfrm>
              </p:grpSpPr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3A676D20-4D4E-4977-A30C-258BC3D4D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64423" y="1464859"/>
                    <a:ext cx="137351" cy="168817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2C20458B-3B62-4B58-BBF3-1F2E7A9B9F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00620" y="1465674"/>
                    <a:ext cx="710611" cy="5938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5EF8A829-19A5-4791-9E40-433729F12F0D}"/>
                    </a:ext>
                  </a:extLst>
                </p:cNvPr>
                <p:cNvGrpSpPr/>
                <p:nvPr/>
              </p:nvGrpSpPr>
              <p:grpSpPr>
                <a:xfrm>
                  <a:off x="2825608" y="737883"/>
                  <a:ext cx="874325" cy="444812"/>
                  <a:chOff x="2956005" y="765222"/>
                  <a:chExt cx="874325" cy="444812"/>
                </a:xfrm>
              </p:grpSpPr>
              <p:cxnSp>
                <p:nvCxnSpPr>
                  <p:cNvPr id="138" name="Straight Connector 137">
                    <a:extLst>
                      <a:ext uri="{FF2B5EF4-FFF2-40B4-BE49-F238E27FC236}">
                        <a16:creationId xmlns:a16="http://schemas.microsoft.com/office/drawing/2014/main" id="{12109548-D040-46C6-BDAA-916D3454E0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56005" y="765222"/>
                    <a:ext cx="361903" cy="444812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E7B5B2B2-136E-44F3-AC75-98B2F769F0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17908" y="765222"/>
                    <a:ext cx="512422" cy="0"/>
                  </a:xfrm>
                  <a:prstGeom prst="line">
                    <a:avLst/>
                  </a:prstGeom>
                  <a:ln w="6350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597DC99-B28F-4FC6-BAAE-3E2A7FFBF635}"/>
                  </a:ext>
                </a:extLst>
              </p:cNvPr>
              <p:cNvSpPr/>
              <p:nvPr/>
            </p:nvSpPr>
            <p:spPr>
              <a:xfrm>
                <a:off x="2759073" y="1415010"/>
                <a:ext cx="1161931" cy="2323862"/>
              </a:xfrm>
              <a:custGeom>
                <a:avLst/>
                <a:gdLst>
                  <a:gd name="connsiteX0" fmla="*/ 0 w 1549241"/>
                  <a:gd name="connsiteY0" fmla="*/ 0 h 3098482"/>
                  <a:gd name="connsiteX1" fmla="*/ 1549241 w 1549241"/>
                  <a:gd name="connsiteY1" fmla="*/ 1549241 h 3098482"/>
                  <a:gd name="connsiteX2" fmla="*/ 0 w 1549241"/>
                  <a:gd name="connsiteY2" fmla="*/ 3098482 h 3098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241" h="3098482">
                    <a:moveTo>
                      <a:pt x="0" y="0"/>
                    </a:moveTo>
                    <a:cubicBezTo>
                      <a:pt x="855631" y="0"/>
                      <a:pt x="1549241" y="693611"/>
                      <a:pt x="1549241" y="1549241"/>
                    </a:cubicBezTo>
                    <a:cubicBezTo>
                      <a:pt x="1549241" y="2404872"/>
                      <a:pt x="855631" y="3098482"/>
                      <a:pt x="0" y="3098482"/>
                    </a:cubicBezTo>
                  </a:path>
                </a:pathLst>
              </a:custGeom>
              <a:noFill/>
              <a:ln w="952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105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B9895CD-801D-4B38-B0CA-60EFD7CBA65C}"/>
                  </a:ext>
                </a:extLst>
              </p:cNvPr>
              <p:cNvSpPr/>
              <p:nvPr/>
            </p:nvSpPr>
            <p:spPr>
              <a:xfrm>
                <a:off x="2689206" y="1345145"/>
                <a:ext cx="139732" cy="139732"/>
              </a:xfrm>
              <a:custGeom>
                <a:avLst/>
                <a:gdLst>
                  <a:gd name="connsiteX0" fmla="*/ 186309 w 186309"/>
                  <a:gd name="connsiteY0" fmla="*/ 93155 h 186309"/>
                  <a:gd name="connsiteX1" fmla="*/ 93155 w 186309"/>
                  <a:gd name="connsiteY1" fmla="*/ 186309 h 186309"/>
                  <a:gd name="connsiteX2" fmla="*/ 0 w 186309"/>
                  <a:gd name="connsiteY2" fmla="*/ 93155 h 186309"/>
                  <a:gd name="connsiteX3" fmla="*/ 93155 w 186309"/>
                  <a:gd name="connsiteY3" fmla="*/ 0 h 186309"/>
                  <a:gd name="connsiteX4" fmla="*/ 186309 w 186309"/>
                  <a:gd name="connsiteY4" fmla="*/ 93155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9" h="186309">
                    <a:moveTo>
                      <a:pt x="186309" y="93155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5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5"/>
                    </a:cubicBezTo>
                    <a:close/>
                  </a:path>
                </a:pathLst>
              </a:custGeom>
              <a:solidFill>
                <a:schemeClr val="bg1"/>
              </a:solidFill>
              <a:ln w="15875">
                <a:solidFill>
                  <a:schemeClr val="bg1">
                    <a:alpha val="42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05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A7543FC-63F6-4F9E-84AE-E03C0383FF39}"/>
                  </a:ext>
                </a:extLst>
              </p:cNvPr>
              <p:cNvSpPr/>
              <p:nvPr/>
            </p:nvSpPr>
            <p:spPr>
              <a:xfrm>
                <a:off x="3820920" y="2765394"/>
                <a:ext cx="139731" cy="139732"/>
              </a:xfrm>
              <a:custGeom>
                <a:avLst/>
                <a:gdLst>
                  <a:gd name="connsiteX0" fmla="*/ 186309 w 186308"/>
                  <a:gd name="connsiteY0" fmla="*/ 93154 h 186309"/>
                  <a:gd name="connsiteX1" fmla="*/ 93155 w 186308"/>
                  <a:gd name="connsiteY1" fmla="*/ 186309 h 186309"/>
                  <a:gd name="connsiteX2" fmla="*/ 0 w 186308"/>
                  <a:gd name="connsiteY2" fmla="*/ 93154 h 186309"/>
                  <a:gd name="connsiteX3" fmla="*/ 93155 w 186308"/>
                  <a:gd name="connsiteY3" fmla="*/ 0 h 186309"/>
                  <a:gd name="connsiteX4" fmla="*/ 186309 w 186308"/>
                  <a:gd name="connsiteY4" fmla="*/ 93154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8" h="186309">
                    <a:moveTo>
                      <a:pt x="186309" y="93154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4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sz="105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8A23E3A-1523-4EFB-9512-B7CC8617A50A}"/>
                  </a:ext>
                </a:extLst>
              </p:cNvPr>
              <p:cNvSpPr/>
              <p:nvPr/>
            </p:nvSpPr>
            <p:spPr>
              <a:xfrm>
                <a:off x="3821349" y="2248758"/>
                <a:ext cx="139731" cy="139732"/>
              </a:xfrm>
              <a:custGeom>
                <a:avLst/>
                <a:gdLst>
                  <a:gd name="connsiteX0" fmla="*/ 186309 w 186308"/>
                  <a:gd name="connsiteY0" fmla="*/ 93155 h 186309"/>
                  <a:gd name="connsiteX1" fmla="*/ 93155 w 186308"/>
                  <a:gd name="connsiteY1" fmla="*/ 186309 h 186309"/>
                  <a:gd name="connsiteX2" fmla="*/ 0 w 186308"/>
                  <a:gd name="connsiteY2" fmla="*/ 93155 h 186309"/>
                  <a:gd name="connsiteX3" fmla="*/ 93155 w 186308"/>
                  <a:gd name="connsiteY3" fmla="*/ 0 h 186309"/>
                  <a:gd name="connsiteX4" fmla="*/ 186309 w 186308"/>
                  <a:gd name="connsiteY4" fmla="*/ 93155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8" h="186309">
                    <a:moveTo>
                      <a:pt x="186309" y="93155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5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sz="105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3509D109-5D00-4805-A056-715A6249DB25}"/>
                  </a:ext>
                </a:extLst>
              </p:cNvPr>
              <p:cNvSpPr/>
              <p:nvPr/>
            </p:nvSpPr>
            <p:spPr>
              <a:xfrm>
                <a:off x="3597606" y="1783128"/>
                <a:ext cx="139732" cy="139732"/>
              </a:xfrm>
              <a:custGeom>
                <a:avLst/>
                <a:gdLst>
                  <a:gd name="connsiteX0" fmla="*/ 186309 w 186309"/>
                  <a:gd name="connsiteY0" fmla="*/ 93154 h 186309"/>
                  <a:gd name="connsiteX1" fmla="*/ 93155 w 186309"/>
                  <a:gd name="connsiteY1" fmla="*/ 186309 h 186309"/>
                  <a:gd name="connsiteX2" fmla="*/ 0 w 186309"/>
                  <a:gd name="connsiteY2" fmla="*/ 93154 h 186309"/>
                  <a:gd name="connsiteX3" fmla="*/ 93155 w 186309"/>
                  <a:gd name="connsiteY3" fmla="*/ 0 h 186309"/>
                  <a:gd name="connsiteX4" fmla="*/ 186309 w 186309"/>
                  <a:gd name="connsiteY4" fmla="*/ 93154 h 186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9" h="186309">
                    <a:moveTo>
                      <a:pt x="186309" y="93154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4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 sz="105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624DD76-2C79-4770-B1C8-A9200A596B7E}"/>
                  </a:ext>
                </a:extLst>
              </p:cNvPr>
              <p:cNvSpPr/>
              <p:nvPr/>
            </p:nvSpPr>
            <p:spPr>
              <a:xfrm>
                <a:off x="3193984" y="1460660"/>
                <a:ext cx="139732" cy="139731"/>
              </a:xfrm>
              <a:custGeom>
                <a:avLst/>
                <a:gdLst>
                  <a:gd name="connsiteX0" fmla="*/ 186309 w 186309"/>
                  <a:gd name="connsiteY0" fmla="*/ 93155 h 186308"/>
                  <a:gd name="connsiteX1" fmla="*/ 93155 w 186309"/>
                  <a:gd name="connsiteY1" fmla="*/ 186309 h 186308"/>
                  <a:gd name="connsiteX2" fmla="*/ 0 w 186309"/>
                  <a:gd name="connsiteY2" fmla="*/ 93154 h 186308"/>
                  <a:gd name="connsiteX3" fmla="*/ 93155 w 186309"/>
                  <a:gd name="connsiteY3" fmla="*/ 0 h 186308"/>
                  <a:gd name="connsiteX4" fmla="*/ 186309 w 186309"/>
                  <a:gd name="connsiteY4" fmla="*/ 93155 h 18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309" h="186308">
                    <a:moveTo>
                      <a:pt x="186309" y="93155"/>
                    </a:moveTo>
                    <a:cubicBezTo>
                      <a:pt x="186309" y="144602"/>
                      <a:pt x="144602" y="186309"/>
                      <a:pt x="93155" y="186309"/>
                    </a:cubicBezTo>
                    <a:cubicBezTo>
                      <a:pt x="41707" y="186309"/>
                      <a:pt x="0" y="144602"/>
                      <a:pt x="0" y="93154"/>
                    </a:cubicBezTo>
                    <a:cubicBezTo>
                      <a:pt x="0" y="41707"/>
                      <a:pt x="41707" y="0"/>
                      <a:pt x="93155" y="0"/>
                    </a:cubicBezTo>
                    <a:cubicBezTo>
                      <a:pt x="144602" y="0"/>
                      <a:pt x="186309" y="41707"/>
                      <a:pt x="186309" y="931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solidFill>
                  <a:schemeClr val="bg1"/>
                </a:solidFill>
                <a:prstDash val="solid"/>
                <a:miter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 sz="1050"/>
              </a:p>
            </p:txBody>
          </p: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F77AAA6E-C22C-4915-95C1-900C0E0E8108}"/>
                  </a:ext>
                </a:extLst>
              </p:cNvPr>
              <p:cNvGrpSpPr/>
              <p:nvPr/>
            </p:nvGrpSpPr>
            <p:grpSpPr>
              <a:xfrm>
                <a:off x="1942398" y="1775510"/>
                <a:ext cx="1642370" cy="1593341"/>
                <a:chOff x="1065864" y="1510094"/>
                <a:chExt cx="2189826" cy="2124455"/>
              </a:xfrm>
            </p:grpSpPr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C9368893-6859-4831-A639-8BCA0796180F}"/>
                    </a:ext>
                  </a:extLst>
                </p:cNvPr>
                <p:cNvSpPr/>
                <p:nvPr/>
              </p:nvSpPr>
              <p:spPr>
                <a:xfrm>
                  <a:off x="1098550" y="1510094"/>
                  <a:ext cx="2124456" cy="2124455"/>
                </a:xfrm>
                <a:custGeom>
                  <a:avLst/>
                  <a:gdLst>
                    <a:gd name="connsiteX0" fmla="*/ 2124456 w 2124456"/>
                    <a:gd name="connsiteY0" fmla="*/ 1062228 h 2124455"/>
                    <a:gd name="connsiteX1" fmla="*/ 1062228 w 2124456"/>
                    <a:gd name="connsiteY1" fmla="*/ 2124456 h 2124455"/>
                    <a:gd name="connsiteX2" fmla="*/ 0 w 2124456"/>
                    <a:gd name="connsiteY2" fmla="*/ 1062228 h 2124455"/>
                    <a:gd name="connsiteX3" fmla="*/ 1062228 w 2124456"/>
                    <a:gd name="connsiteY3" fmla="*/ 0 h 2124455"/>
                    <a:gd name="connsiteX4" fmla="*/ 2124456 w 2124456"/>
                    <a:gd name="connsiteY4" fmla="*/ 1062228 h 212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24456" h="2124455">
                      <a:moveTo>
                        <a:pt x="2124456" y="1062228"/>
                      </a:moveTo>
                      <a:cubicBezTo>
                        <a:pt x="2124456" y="1648880"/>
                        <a:pt x="1648880" y="2124456"/>
                        <a:pt x="1062228" y="2124456"/>
                      </a:cubicBezTo>
                      <a:cubicBezTo>
                        <a:pt x="475576" y="2124456"/>
                        <a:pt x="0" y="1648880"/>
                        <a:pt x="0" y="1062228"/>
                      </a:cubicBezTo>
                      <a:cubicBezTo>
                        <a:pt x="0" y="475575"/>
                        <a:pt x="475576" y="0"/>
                        <a:pt x="1062228" y="0"/>
                      </a:cubicBezTo>
                      <a:cubicBezTo>
                        <a:pt x="1648880" y="0"/>
                        <a:pt x="2124456" y="475575"/>
                        <a:pt x="2124456" y="106222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bg1">
                      <a:alpha val="52000"/>
                    </a:schemeClr>
                  </a:solidFill>
                </a:ln>
                <a:effectLst>
                  <a:innerShdw blurRad="63500" dist="25400" dir="162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50" dirty="0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685B4C02-D946-45A1-BC57-E689963D8EB0}"/>
                    </a:ext>
                  </a:extLst>
                </p:cNvPr>
                <p:cNvSpPr/>
                <p:nvPr/>
              </p:nvSpPr>
              <p:spPr>
                <a:xfrm>
                  <a:off x="1202118" y="1613662"/>
                  <a:ext cx="1917320" cy="1917320"/>
                </a:xfrm>
                <a:custGeom>
                  <a:avLst/>
                  <a:gdLst>
                    <a:gd name="connsiteX0" fmla="*/ 2124456 w 2124456"/>
                    <a:gd name="connsiteY0" fmla="*/ 1062228 h 2124455"/>
                    <a:gd name="connsiteX1" fmla="*/ 1062228 w 2124456"/>
                    <a:gd name="connsiteY1" fmla="*/ 2124456 h 2124455"/>
                    <a:gd name="connsiteX2" fmla="*/ 0 w 2124456"/>
                    <a:gd name="connsiteY2" fmla="*/ 1062228 h 2124455"/>
                    <a:gd name="connsiteX3" fmla="*/ 1062228 w 2124456"/>
                    <a:gd name="connsiteY3" fmla="*/ 0 h 2124455"/>
                    <a:gd name="connsiteX4" fmla="*/ 2124456 w 2124456"/>
                    <a:gd name="connsiteY4" fmla="*/ 1062228 h 212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24456" h="2124455">
                      <a:moveTo>
                        <a:pt x="2124456" y="1062228"/>
                      </a:moveTo>
                      <a:cubicBezTo>
                        <a:pt x="2124456" y="1648880"/>
                        <a:pt x="1648880" y="2124456"/>
                        <a:pt x="1062228" y="2124456"/>
                      </a:cubicBezTo>
                      <a:cubicBezTo>
                        <a:pt x="475576" y="2124456"/>
                        <a:pt x="0" y="1648880"/>
                        <a:pt x="0" y="1062228"/>
                      </a:cubicBezTo>
                      <a:cubicBezTo>
                        <a:pt x="0" y="475575"/>
                        <a:pt x="475576" y="0"/>
                        <a:pt x="1062228" y="0"/>
                      </a:cubicBezTo>
                      <a:cubicBezTo>
                        <a:pt x="1648880" y="0"/>
                        <a:pt x="2124456" y="475575"/>
                        <a:pt x="2124456" y="106222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875">
                  <a:solidFill>
                    <a:schemeClr val="bg1">
                      <a:alpha val="42000"/>
                    </a:schemeClr>
                  </a:solidFill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1050" dirty="0"/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878804DC-F6B4-49A1-A82C-BC2ED8528CE1}"/>
                    </a:ext>
                  </a:extLst>
                </p:cNvPr>
                <p:cNvSpPr txBox="1"/>
                <p:nvPr/>
              </p:nvSpPr>
              <p:spPr>
                <a:xfrm>
                  <a:off x="1065864" y="2185211"/>
                  <a:ext cx="2189826" cy="6955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buClr>
                      <a:schemeClr val="dk1"/>
                    </a:buClr>
                    <a:buSzPts val="1100"/>
                  </a:pPr>
                  <a:endParaRPr lang="en-IN" sz="1350" b="1" spc="450" dirty="0">
                    <a:solidFill>
                      <a:schemeClr val="bg1">
                        <a:lumMod val="65000"/>
                      </a:schemeClr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Kanit" pitchFamily="2" charset="-34"/>
                  </a:endParaRPr>
                </a:p>
              </p:txBody>
            </p: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3F1B1874-C34D-4ABB-AF13-8DC841CCB0B9}"/>
                  </a:ext>
                </a:extLst>
              </p:cNvPr>
              <p:cNvGrpSpPr/>
              <p:nvPr/>
            </p:nvGrpSpPr>
            <p:grpSpPr>
              <a:xfrm>
                <a:off x="3845432" y="1019157"/>
                <a:ext cx="4358726" cy="2123692"/>
                <a:chOff x="3603243" y="501626"/>
                <a:chExt cx="5811636" cy="2831589"/>
              </a:xfrm>
            </p:grpSpPr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7289BCA8-CBA0-4295-80C8-EB3C236A652A}"/>
                    </a:ext>
                  </a:extLst>
                </p:cNvPr>
                <p:cNvGrpSpPr/>
                <p:nvPr/>
              </p:nvGrpSpPr>
              <p:grpSpPr>
                <a:xfrm>
                  <a:off x="3603243" y="501626"/>
                  <a:ext cx="5070316" cy="669750"/>
                  <a:chOff x="4130675" y="266335"/>
                  <a:chExt cx="6528722" cy="862392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B3BBEB22-9397-49BA-B440-805741C63018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5" cy="862392"/>
                    <a:chOff x="3797300" y="666963"/>
                    <a:chExt cx="6445795" cy="862392"/>
                  </a:xfrm>
                </p:grpSpPr>
                <p:sp>
                  <p:nvSpPr>
                    <p:cNvPr id="127" name="Rectangle: Rounded Corners 126">
                      <a:extLst>
                        <a:ext uri="{FF2B5EF4-FFF2-40B4-BE49-F238E27FC236}">
                          <a16:creationId xmlns:a16="http://schemas.microsoft.com/office/drawing/2014/main" id="{AC723A7A-231E-407B-8CBE-6AC133DDE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6" y="750547"/>
                      <a:ext cx="6381439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28" name="Rectangle: Rounded Corners 127">
                      <a:extLst>
                        <a:ext uri="{FF2B5EF4-FFF2-40B4-BE49-F238E27FC236}">
                          <a16:creationId xmlns:a16="http://schemas.microsoft.com/office/drawing/2014/main" id="{0ED7AE01-2894-4D48-B246-A57714A9E9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1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C2F84809-6BE5-4F44-9FFD-B22CCAD2F1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617C94AD-5A01-42E2-A9C9-2588C09436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21DB404-25D9-463B-8603-94B458C18A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2"/>
                        <a:ext cx="471490" cy="471490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1</a:t>
                        </a:r>
                      </a:p>
                    </p:txBody>
                  </p:sp>
                </p:grpSp>
              </p:grp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07A18212-9441-474D-8CB8-1024BD017479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203" y="410751"/>
                    <a:ext cx="5059194" cy="4708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Understand the role and benefits of virtual environments in AI projects</a:t>
                    </a:r>
                  </a:p>
                </p:txBody>
              </p:sp>
            </p:grp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D65A46B1-9845-4CB5-8AF8-8DA24DF63E6E}"/>
                    </a:ext>
                  </a:extLst>
                </p:cNvPr>
                <p:cNvGrpSpPr/>
                <p:nvPr/>
              </p:nvGrpSpPr>
              <p:grpSpPr>
                <a:xfrm>
                  <a:off x="4079477" y="1222239"/>
                  <a:ext cx="5070327" cy="669750"/>
                  <a:chOff x="4130675" y="266335"/>
                  <a:chExt cx="6528737" cy="862392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9D22CE9B-007B-40EE-B03F-382636C380C7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3" cy="862392"/>
                    <a:chOff x="3797300" y="666963"/>
                    <a:chExt cx="6445793" cy="862392"/>
                  </a:xfrm>
                </p:grpSpPr>
                <p:sp>
                  <p:nvSpPr>
                    <p:cNvPr id="120" name="Rectangle: Rounded Corners 119">
                      <a:extLst>
                        <a:ext uri="{FF2B5EF4-FFF2-40B4-BE49-F238E27FC236}">
                          <a16:creationId xmlns:a16="http://schemas.microsoft.com/office/drawing/2014/main" id="{7C375245-7908-42B4-A22E-494D9CF25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5" y="750547"/>
                      <a:ext cx="6381438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21" name="Rectangle: Rounded Corners 120">
                      <a:extLst>
                        <a:ext uri="{FF2B5EF4-FFF2-40B4-BE49-F238E27FC236}">
                          <a16:creationId xmlns:a16="http://schemas.microsoft.com/office/drawing/2014/main" id="{57A770B9-1FA9-4E43-A929-5A880278A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2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0E7D93E6-BB08-4324-B45B-E14038B01A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05D4AE43-AA46-49EC-8EF5-44CD8AC9A9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96EA97BE-1A26-49DC-89FD-57FD29C09A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2"/>
                        <a:ext cx="471490" cy="471490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2</a:t>
                        </a:r>
                      </a:p>
                    </p:txBody>
                  </p:sp>
                </p:grpSp>
              </p:grpSp>
              <p:sp>
                <p:nvSpPr>
                  <p:cNvPr id="119" name="TextBox 118">
                    <a:extLst>
                      <a:ext uri="{FF2B5EF4-FFF2-40B4-BE49-F238E27FC236}">
                        <a16:creationId xmlns:a16="http://schemas.microsoft.com/office/drawing/2014/main" id="{80EC2B4E-B618-4CE1-8B6E-88B6415FBCB6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196" y="410751"/>
                    <a:ext cx="5059216" cy="4708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Learn how to create, activate, and manage isolated environments </a:t>
                    </a:r>
                  </a:p>
                </p:txBody>
              </p:sp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8E467D13-5662-4D8E-8AF9-F090CA7CFA2A}"/>
                    </a:ext>
                  </a:extLst>
                </p:cNvPr>
                <p:cNvGrpSpPr/>
                <p:nvPr/>
              </p:nvGrpSpPr>
              <p:grpSpPr>
                <a:xfrm>
                  <a:off x="4344549" y="1942852"/>
                  <a:ext cx="5070330" cy="669751"/>
                  <a:chOff x="4130675" y="266335"/>
                  <a:chExt cx="6528740" cy="862392"/>
                </a:xfrm>
              </p:grpSpPr>
              <p:grpSp>
                <p:nvGrpSpPr>
                  <p:cNvPr id="111" name="Group 110">
                    <a:extLst>
                      <a:ext uri="{FF2B5EF4-FFF2-40B4-BE49-F238E27FC236}">
                        <a16:creationId xmlns:a16="http://schemas.microsoft.com/office/drawing/2014/main" id="{5AB8DF0F-225B-42DC-A2BD-561E46A49B86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2" cy="862392"/>
                    <a:chOff x="3797300" y="666963"/>
                    <a:chExt cx="6445792" cy="862392"/>
                  </a:xfrm>
                </p:grpSpPr>
                <p:sp>
                  <p:nvSpPr>
                    <p:cNvPr id="113" name="Rectangle: Rounded Corners 112">
                      <a:extLst>
                        <a:ext uri="{FF2B5EF4-FFF2-40B4-BE49-F238E27FC236}">
                          <a16:creationId xmlns:a16="http://schemas.microsoft.com/office/drawing/2014/main" id="{0A1DA19E-B419-41F9-8637-CDA62522C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6" y="750547"/>
                      <a:ext cx="6381436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14" name="Rectangle: Rounded Corners 113">
                      <a:extLst>
                        <a:ext uri="{FF2B5EF4-FFF2-40B4-BE49-F238E27FC236}">
                          <a16:creationId xmlns:a16="http://schemas.microsoft.com/office/drawing/2014/main" id="{7F830FE7-CCEE-4EF4-A5A7-CF28F2266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3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15" name="Group 114">
                      <a:extLst>
                        <a:ext uri="{FF2B5EF4-FFF2-40B4-BE49-F238E27FC236}">
                          <a16:creationId xmlns:a16="http://schemas.microsoft.com/office/drawing/2014/main" id="{EB6A597B-E977-4CEE-871D-EDCF9F73E9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16" name="Oval 115">
                        <a:extLst>
                          <a:ext uri="{FF2B5EF4-FFF2-40B4-BE49-F238E27FC236}">
                            <a16:creationId xmlns:a16="http://schemas.microsoft.com/office/drawing/2014/main" id="{6510260E-B439-4575-9738-3F2418CC6D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3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17" name="Oval 116">
                        <a:extLst>
                          <a:ext uri="{FF2B5EF4-FFF2-40B4-BE49-F238E27FC236}">
                            <a16:creationId xmlns:a16="http://schemas.microsoft.com/office/drawing/2014/main" id="{1A0C3B1E-08F2-4AE4-86EE-417AE7B87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1"/>
                        <a:ext cx="471489" cy="471489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3</a:t>
                        </a:r>
                      </a:p>
                    </p:txBody>
                  </p:sp>
                </p:grpSp>
              </p:grpSp>
              <p:sp>
                <p:nvSpPr>
                  <p:cNvPr id="112" name="TextBox 111">
                    <a:extLst>
                      <a:ext uri="{FF2B5EF4-FFF2-40B4-BE49-F238E27FC236}">
                        <a16:creationId xmlns:a16="http://schemas.microsoft.com/office/drawing/2014/main" id="{E6561006-7C15-4572-B395-17B38EE69291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191" y="410751"/>
                    <a:ext cx="5059224" cy="4708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Install and manage AI libraries (e.g., NumPy, Pandas, </a:t>
                    </a:r>
                    <a:r>
                      <a:rPr lang="en-US" sz="1600" b="1" dirty="0" err="1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scikit</a:t>
                    </a:r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-learn) </a:t>
                    </a: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3492E0F5-C389-483D-B789-16AC95939345}"/>
                    </a:ext>
                  </a:extLst>
                </p:cNvPr>
                <p:cNvGrpSpPr/>
                <p:nvPr/>
              </p:nvGrpSpPr>
              <p:grpSpPr>
                <a:xfrm>
                  <a:off x="4344549" y="2663465"/>
                  <a:ext cx="5070313" cy="669750"/>
                  <a:chOff x="4130675" y="266335"/>
                  <a:chExt cx="6528718" cy="862392"/>
                </a:xfrm>
              </p:grpSpPr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CCC0D05E-29F2-4309-8F98-EBBC057D56E1}"/>
                      </a:ext>
                    </a:extLst>
                  </p:cNvPr>
                  <p:cNvGrpSpPr/>
                  <p:nvPr/>
                </p:nvGrpSpPr>
                <p:grpSpPr>
                  <a:xfrm>
                    <a:off x="4130675" y="266335"/>
                    <a:ext cx="6445793" cy="862392"/>
                    <a:chOff x="3797300" y="666963"/>
                    <a:chExt cx="6445793" cy="862392"/>
                  </a:xfrm>
                </p:grpSpPr>
                <p:sp>
                  <p:nvSpPr>
                    <p:cNvPr id="106" name="Rectangle: Rounded Corners 105">
                      <a:extLst>
                        <a:ext uri="{FF2B5EF4-FFF2-40B4-BE49-F238E27FC236}">
                          <a16:creationId xmlns:a16="http://schemas.microsoft.com/office/drawing/2014/main" id="{575E9D03-5FF2-42CA-B68A-7F84A36E4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61654" y="750547"/>
                      <a:ext cx="6381439" cy="77880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85000"/>
                        <a:alpha val="42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  <a:effectLst/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sp>
                  <p:nvSpPr>
                    <p:cNvPr id="107" name="Rectangle: Rounded Corners 106">
                      <a:extLst>
                        <a:ext uri="{FF2B5EF4-FFF2-40B4-BE49-F238E27FC236}">
                          <a16:creationId xmlns:a16="http://schemas.microsoft.com/office/drawing/2014/main" id="{D811432B-14CB-4AF1-B3DC-7B8360B0D0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54156" y="711876"/>
                      <a:ext cx="1116000" cy="9020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4"/>
                    </a:solidFill>
                    <a:ln w="15875" cap="flat">
                      <a:solidFill>
                        <a:schemeClr val="bg1">
                          <a:alpha val="48000"/>
                        </a:schemeClr>
                      </a:solidFill>
                      <a:prstDash val="solid"/>
                      <a:miter/>
                    </a:ln>
                    <a:effectLst>
                      <a:outerShdw blurRad="50800" dist="25400" dir="5400000" sx="97000" sy="97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endParaRPr lang="en-IN" sz="1050" dirty="0"/>
                    </a:p>
                  </p:txBody>
                </p:sp>
                <p:grpSp>
                  <p:nvGrpSpPr>
                    <p:cNvPr id="108" name="Group 107">
                      <a:extLst>
                        <a:ext uri="{FF2B5EF4-FFF2-40B4-BE49-F238E27FC236}">
                          <a16:creationId xmlns:a16="http://schemas.microsoft.com/office/drawing/2014/main" id="{2CF242FF-DDA2-4602-A9F2-B6A7567CE6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797300" y="666963"/>
                      <a:ext cx="608424" cy="608424"/>
                      <a:chOff x="3797300" y="666963"/>
                      <a:chExt cx="608424" cy="608424"/>
                    </a:xfrm>
                  </p:grpSpPr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id="{0ACA42EC-93CD-42EC-A017-DD165C0D3B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7300" y="666963"/>
                        <a:ext cx="608424" cy="608424"/>
                      </a:xfrm>
                      <a:prstGeom prst="ellipse">
                        <a:avLst/>
                      </a:prstGeom>
                      <a:solidFill>
                        <a:schemeClr val="accent4"/>
                      </a:solidFill>
                      <a:ln w="12700">
                        <a:solidFill>
                          <a:schemeClr val="bg1">
                            <a:alpha val="52000"/>
                          </a:schemeClr>
                        </a:solidFill>
                      </a:ln>
                      <a:effectLst>
                        <a:innerShdw blurRad="63500" dist="25400" dir="16200000">
                          <a:prstClr val="black">
                            <a:alpha val="50000"/>
                          </a:prstClr>
                        </a:inn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sz="1050" dirty="0"/>
                      </a:p>
                    </p:txBody>
                  </p:sp>
                  <p:sp>
                    <p:nvSpPr>
                      <p:cNvPr id="110" name="Oval 109">
                        <a:extLst>
                          <a:ext uri="{FF2B5EF4-FFF2-40B4-BE49-F238E27FC236}">
                            <a16:creationId xmlns:a16="http://schemas.microsoft.com/office/drawing/2014/main" id="{4CE4E61F-A98A-4B63-BBB0-394907E858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65767" y="735431"/>
                        <a:ext cx="471489" cy="471489"/>
                      </a:xfrm>
                      <a:prstGeom prst="ellipse">
                        <a:avLst/>
                      </a:prstGeom>
                      <a:gradFill>
                        <a:gsLst>
                          <a:gs pos="68000">
                            <a:schemeClr val="bg1"/>
                          </a:gs>
                          <a:gs pos="9000">
                            <a:schemeClr val="bg1">
                              <a:lumMod val="78000"/>
                            </a:schemeClr>
                          </a:gs>
                        </a:gsLst>
                        <a:lin ang="2700000" scaled="1"/>
                      </a:gradFill>
                      <a:ln w="15875">
                        <a:solidFill>
                          <a:schemeClr val="bg1">
                            <a:alpha val="42000"/>
                          </a:schemeClr>
                        </a:solidFill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IN" sz="105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rPr>
                          <a:t>4</a:t>
                        </a:r>
                      </a:p>
                    </p:txBody>
                  </p:sp>
                </p:grpSp>
              </p:grp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BE1826CC-46F7-4FAF-B579-D0223D570DF2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206" y="410751"/>
                    <a:ext cx="5059187" cy="47082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8569" tIns="68569" rIns="68569" bIns="68569" anchor="t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</a:defPPr>
                    <a:lvl1pPr marL="0" indent="0">
                      <a:buNone/>
                      <a:defRPr sz="11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Roboto"/>
                        <a:cs typeface="Open Sans" pitchFamily="2" charset="0"/>
                      </a:defRPr>
                    </a:lvl1pPr>
                  </a:lstStyle>
                  <a:p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Integrate environments with </a:t>
                    </a:r>
                    <a:r>
                      <a:rPr lang="en-US" sz="1600" b="1" dirty="0" err="1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Jupyter</a:t>
                    </a:r>
                    <a:r>
                      <a:rPr lang="en-US" sz="1600" b="1" dirty="0">
                        <a:solidFill>
                          <a:schemeClr val="bg2"/>
                        </a:solidFill>
                        <a:latin typeface="Lato"/>
                        <a:ea typeface="Lato"/>
                        <a:cs typeface="Lato"/>
                      </a:rPr>
                      <a:t>, IDEs, and automation workflows</a:t>
                    </a:r>
                  </a:p>
                </p:txBody>
              </p:sp>
            </p:grpSp>
          </p:grpSp>
        </p:grp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94184FC-A0D5-4E5A-B4A7-2EFE2FDB7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8170" y="3739283"/>
              <a:ext cx="1296452" cy="129645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24327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Python Basics – Pre-requisite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199EF-E7F7-47EB-A401-CB79F1E7DAA0}"/>
              </a:ext>
            </a:extLst>
          </p:cNvPr>
          <p:cNvSpPr txBox="1"/>
          <p:nvPr/>
        </p:nvSpPr>
        <p:spPr>
          <a:xfrm>
            <a:off x="296987" y="1447405"/>
            <a:ext cx="4348480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Why Learn This First?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Virtual environments depend on basic Python and command-line usage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You’ll use pip, terminal commands, and Python scripts during setup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A21B29-ACD8-47DD-BDA9-A5D64575B45B}"/>
              </a:ext>
            </a:extLst>
          </p:cNvPr>
          <p:cNvGrpSpPr/>
          <p:nvPr/>
        </p:nvGrpSpPr>
        <p:grpSpPr>
          <a:xfrm>
            <a:off x="220142" y="3651599"/>
            <a:ext cx="4685049" cy="1091578"/>
            <a:chOff x="93322" y="3328023"/>
            <a:chExt cx="4685049" cy="109157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16137F7-AEFF-4C2C-9699-207495170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22" y="3328023"/>
              <a:ext cx="1091578" cy="109157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6279A6A-BDD1-4B03-B34F-F02E6664B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5983" y="3447682"/>
              <a:ext cx="855856" cy="85585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BB36909-DBB7-4CE7-9B4B-0192F012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535" y="3463787"/>
              <a:ext cx="896616" cy="89661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F1FBE7D-6BBC-4794-A4F0-FF942F821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8904" y="3535031"/>
              <a:ext cx="829467" cy="829467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435E23-60B0-41A4-B0CA-E9233A996A27}"/>
              </a:ext>
            </a:extLst>
          </p:cNvPr>
          <p:cNvGrpSpPr/>
          <p:nvPr/>
        </p:nvGrpSpPr>
        <p:grpSpPr>
          <a:xfrm>
            <a:off x="6194748" y="1281686"/>
            <a:ext cx="5994905" cy="5665686"/>
            <a:chOff x="6194748" y="1281686"/>
            <a:chExt cx="5994905" cy="566568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36E707C-36AB-49A1-8E2D-55C93DA11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14853" y="1281686"/>
              <a:ext cx="2874800" cy="134975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C1C88B-F472-433E-8A71-E281125D404D}"/>
                </a:ext>
              </a:extLst>
            </p:cNvPr>
            <p:cNvSpPr txBox="1"/>
            <p:nvPr/>
          </p:nvSpPr>
          <p:spPr>
            <a:xfrm>
              <a:off x="6194748" y="1447405"/>
              <a:ext cx="5479092" cy="5499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</a:pPr>
              <a:r>
                <a:rPr lang="en-US" sz="2400" b="1" u="sng" dirty="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accent3">
                      <a:lumMod val="75000"/>
                    </a:schemeClr>
                  </a:solidFill>
                </a:rPr>
                <a:t>Key Requirements</a:t>
              </a:r>
            </a:p>
            <a:p>
              <a:pPr marL="457200" indent="-457200" algn="just">
                <a:buAutoNum type="arabicPeriod"/>
              </a:pPr>
              <a:r>
                <a:rPr lang="en-US" sz="2000" b="1" dirty="0">
                  <a:solidFill>
                    <a:schemeClr val="bg1"/>
                  </a:solidFill>
                </a:rPr>
                <a:t>Python Installation    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Download from: www.python.org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During install: ✔ </a:t>
              </a:r>
              <a:r>
                <a:rPr lang="en-US" sz="2000" dirty="0">
                  <a:solidFill>
                    <a:srgbClr val="00B050"/>
                  </a:solidFill>
                </a:rPr>
                <a:t>Add Python to PATH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Verify:</a:t>
              </a:r>
            </a:p>
            <a:p>
              <a:pPr algn="just"/>
              <a:r>
                <a:rPr lang="en-US" sz="2000" b="1" dirty="0">
                  <a:solidFill>
                    <a:schemeClr val="bg1"/>
                  </a:solidFill>
                </a:rPr>
                <a:t>       bash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     python –version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     pip –version</a:t>
              </a:r>
            </a:p>
            <a:p>
              <a:pPr algn="just"/>
              <a:endParaRPr lang="en-US" sz="2000" dirty="0">
                <a:solidFill>
                  <a:schemeClr val="bg1"/>
                </a:solidFill>
              </a:endParaRPr>
            </a:p>
            <a:p>
              <a:pPr algn="just"/>
              <a:r>
                <a:rPr lang="en-US" sz="2000" b="1" dirty="0">
                  <a:solidFill>
                    <a:schemeClr val="bg1"/>
                  </a:solidFill>
                </a:rPr>
                <a:t>2. Basic Command-Line Skills </a:t>
              </a:r>
            </a:p>
            <a:p>
              <a:pPr marL="342900" indent="-342900" algn="just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Navigate: cd folder/ </a:t>
              </a:r>
            </a:p>
            <a:p>
              <a:pPr marL="342900" indent="-342900" algn="just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Create folder: </a:t>
              </a:r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mkdir</a:t>
              </a:r>
              <a:r>
                <a:rPr lang="en-US" sz="2000" dirty="0">
                  <a:solidFill>
                    <a:schemeClr val="bg1"/>
                  </a:solidFill>
                  <a:highlight>
                    <a:srgbClr val="C0C0C0"/>
                  </a:highlight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highlight>
                    <a:srgbClr val="C0C0C0"/>
                  </a:highlight>
                </a:rPr>
                <a:t>ai_project</a:t>
              </a:r>
              <a:endParaRPr lang="en-US" sz="2000" dirty="0">
                <a:solidFill>
                  <a:schemeClr val="bg1"/>
                </a:solidFill>
                <a:highlight>
                  <a:srgbClr val="C0C0C0"/>
                </a:highlight>
              </a:endParaRPr>
            </a:p>
            <a:p>
              <a:pPr marL="342900" indent="-342900" algn="just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Run script: python script.py</a:t>
              </a:r>
            </a:p>
            <a:p>
              <a:pPr marL="342900" indent="-342900" algn="just">
                <a:buFontTx/>
                <a:buChar char="-"/>
              </a:pPr>
              <a:endParaRPr lang="en-US" sz="2000" dirty="0">
                <a:solidFill>
                  <a:schemeClr val="bg1"/>
                </a:solidFill>
              </a:endParaRPr>
            </a:p>
            <a:p>
              <a:pPr algn="just"/>
              <a:r>
                <a:rPr lang="en-US" sz="2000" b="1" dirty="0">
                  <a:solidFill>
                    <a:schemeClr val="bg1"/>
                  </a:solidFill>
                </a:rPr>
                <a:t>3. IDE/Text Editor </a:t>
              </a:r>
            </a:p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Recommended: VS Code, PyCharm, </a:t>
              </a:r>
              <a:r>
                <a:rPr lang="en-US" sz="2000" dirty="0" err="1">
                  <a:solidFill>
                    <a:schemeClr val="bg1"/>
                  </a:solidFill>
                </a:rPr>
                <a:t>JupyterLab</a:t>
              </a:r>
              <a:endParaRPr lang="en-US" sz="2000" dirty="0">
                <a:solidFill>
                  <a:schemeClr val="bg1"/>
                </a:solidFill>
              </a:endParaRPr>
            </a:p>
            <a:p>
              <a:pPr algn="just"/>
              <a:endParaRPr lang="en-US" sz="2000" dirty="0">
                <a:solidFill>
                  <a:schemeClr val="bg1"/>
                </a:solidFill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43D4715-DEC0-4F56-BB20-08D4FF070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9666" y="2999274"/>
              <a:ext cx="2519904" cy="1198114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732A4C9-493C-4B6B-8C8D-76F06FC2D6C6}"/>
              </a:ext>
            </a:extLst>
          </p:cNvPr>
          <p:cNvSpPr txBox="1"/>
          <p:nvPr/>
        </p:nvSpPr>
        <p:spPr>
          <a:xfrm>
            <a:off x="2043904" y="5409888"/>
            <a:ext cx="3810000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Always ensure your Python version is compatible with the AI libraries you plan to use (e.g., 3.8 to 3.11).</a:t>
            </a:r>
          </a:p>
        </p:txBody>
      </p:sp>
    </p:spTree>
    <p:extLst>
      <p:ext uri="{BB962C8B-B14F-4D97-AF65-F5344CB8AC3E}">
        <p14:creationId xmlns:p14="http://schemas.microsoft.com/office/powerpoint/2010/main" val="274185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What is a Virtual Environment?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522D3-849A-4C83-B03C-2CC4BF91FB73}"/>
              </a:ext>
            </a:extLst>
          </p:cNvPr>
          <p:cNvSpPr txBox="1"/>
          <p:nvPr/>
        </p:nvSpPr>
        <p:spPr>
          <a:xfrm>
            <a:off x="121604" y="1166918"/>
            <a:ext cx="5971733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Definition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virtual environment is an </a:t>
            </a:r>
            <a:r>
              <a:rPr lang="en-US" sz="2000" b="1" dirty="0">
                <a:solidFill>
                  <a:schemeClr val="bg1"/>
                </a:solidFill>
              </a:rPr>
              <a:t>isolated workspace </a:t>
            </a:r>
            <a:r>
              <a:rPr lang="en-US" sz="2000" dirty="0">
                <a:solidFill>
                  <a:schemeClr val="bg1"/>
                </a:solidFill>
              </a:rPr>
              <a:t>in Python where you can </a:t>
            </a:r>
            <a:r>
              <a:rPr lang="en-US" sz="2000" b="1" dirty="0">
                <a:solidFill>
                  <a:schemeClr val="bg1"/>
                </a:solidFill>
              </a:rPr>
              <a:t>install packages and dependencie</a:t>
            </a:r>
            <a:r>
              <a:rPr lang="en-US" sz="2000" dirty="0">
                <a:solidFill>
                  <a:schemeClr val="bg1"/>
                </a:solidFill>
              </a:rPr>
              <a:t>s without affecting the </a:t>
            </a:r>
            <a:r>
              <a:rPr lang="en-US" sz="2000" b="1" dirty="0">
                <a:solidFill>
                  <a:schemeClr val="bg1"/>
                </a:solidFill>
              </a:rPr>
              <a:t>global Python installation.</a:t>
            </a:r>
            <a:endParaRPr lang="en-US" sz="2000" b="1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C0A649-837B-4032-A78B-64043C919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94" y="2694646"/>
            <a:ext cx="1849711" cy="9635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54A648-8AB2-44B3-A59A-27C835B7EC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402" y="2694646"/>
            <a:ext cx="1706245" cy="10237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056539-CF3F-4559-B8D0-7CA382A1C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87" y="1497019"/>
            <a:ext cx="3715648" cy="216114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B1A15ED-2079-4FE7-8ECE-59CC2E68ADB3}"/>
              </a:ext>
            </a:extLst>
          </p:cNvPr>
          <p:cNvSpPr txBox="1"/>
          <p:nvPr/>
        </p:nvSpPr>
        <p:spPr>
          <a:xfrm>
            <a:off x="121604" y="3718393"/>
            <a:ext cx="6431596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Why It Matters in AI Projects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Prevents version conflicts between projects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Keeps your system clean and organized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Allows different projects to use different library versions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Essential for reproducibility and collaboration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AC2D0AC-69F0-463C-807B-203487C5EDF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648036" y="3766293"/>
          <a:ext cx="5323840" cy="148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55954">
                  <a:extLst>
                    <a:ext uri="{9D8B030D-6E8A-4147-A177-3AD203B41FA5}">
                      <a16:colId xmlns:a16="http://schemas.microsoft.com/office/drawing/2014/main" val="79996474"/>
                    </a:ext>
                  </a:extLst>
                </a:gridCol>
                <a:gridCol w="3267886">
                  <a:extLst>
                    <a:ext uri="{9D8B030D-6E8A-4147-A177-3AD203B41FA5}">
                      <a16:colId xmlns:a16="http://schemas.microsoft.com/office/drawing/2014/main" val="2172972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Without Virtual 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Virtual Env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538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Global installs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Isolated installs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69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 of conflicts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Safe experiments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09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 to replicate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Easy sharing via requirements.txt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62444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A059BE8-3C12-413E-8510-4F61035A1B6D}"/>
              </a:ext>
            </a:extLst>
          </p:cNvPr>
          <p:cNvSpPr txBox="1"/>
          <p:nvPr/>
        </p:nvSpPr>
        <p:spPr>
          <a:xfrm>
            <a:off x="4287520" y="5717664"/>
            <a:ext cx="40233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Never install AI/ML libraries globally — always use a virtual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78739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5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Virtual Environment Tools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72996-8E37-4C23-9FAB-F636733DC0A2}"/>
              </a:ext>
            </a:extLst>
          </p:cNvPr>
          <p:cNvSpPr txBox="1"/>
          <p:nvPr/>
        </p:nvSpPr>
        <p:spPr>
          <a:xfrm>
            <a:off x="2347" y="1111168"/>
            <a:ext cx="7028373" cy="488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Common Tools for Creating Environments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 err="1">
                <a:solidFill>
                  <a:schemeClr val="bg1"/>
                </a:solidFill>
              </a:rPr>
              <a:t>venv</a:t>
            </a:r>
            <a:endParaRPr lang="en-US" sz="2000" b="1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Built-in with Python 3.3+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Lightweight and simple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Ideal for basic AI projects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2.  </a:t>
            </a:r>
            <a:r>
              <a:rPr lang="en-US" sz="2000" b="1" dirty="0" err="1">
                <a:solidFill>
                  <a:schemeClr val="bg1"/>
                </a:solidFill>
              </a:rPr>
              <a:t>virtualenv</a:t>
            </a:r>
            <a:endParaRPr lang="en-US" sz="2000" b="1" dirty="0">
              <a:solidFill>
                <a:schemeClr val="bg1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More features than </a:t>
            </a:r>
            <a:r>
              <a:rPr lang="en-US" sz="2000" dirty="0" err="1">
                <a:solidFill>
                  <a:schemeClr val="bg1"/>
                </a:solidFill>
              </a:rPr>
              <a:t>venv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Works with older Python versions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Better for flexibility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3.  </a:t>
            </a:r>
            <a:r>
              <a:rPr lang="en-US" sz="2000" b="1" dirty="0" err="1">
                <a:solidFill>
                  <a:schemeClr val="bg1"/>
                </a:solidFill>
              </a:rPr>
              <a:t>conda</a:t>
            </a:r>
            <a:r>
              <a:rPr lang="en-US" sz="2000" b="1" dirty="0">
                <a:solidFill>
                  <a:schemeClr val="bg1"/>
                </a:solidFill>
              </a:rPr>
              <a:t> (Anaconda/</a:t>
            </a:r>
            <a:r>
              <a:rPr lang="en-US" sz="2000" b="1" dirty="0" err="1">
                <a:solidFill>
                  <a:schemeClr val="bg1"/>
                </a:solidFill>
              </a:rPr>
              <a:t>Miniconda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Used widely in data science &amp; AI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Manages packages and environments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Great for GPU-based projects and mixed language dependencies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6DBB0C-98CD-42C4-ADC0-AE789AE9B2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9" t="18547" r="17399" b="15943"/>
          <a:stretch/>
        </p:blipFill>
        <p:spPr>
          <a:xfrm>
            <a:off x="3549605" y="1743864"/>
            <a:ext cx="1697694" cy="8392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91FB5C-378D-4699-895A-1255E6E7A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585" y="2736934"/>
            <a:ext cx="844108" cy="8441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EF8631-F985-4E43-842A-72AF97CE077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697" t="3751" r="5762"/>
          <a:stretch/>
        </p:blipFill>
        <p:spPr>
          <a:xfrm>
            <a:off x="4398452" y="4291817"/>
            <a:ext cx="1839790" cy="1274336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532944F-0C80-4D68-A7A2-E67D43EB14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970173" y="1743864"/>
          <a:ext cx="6033867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14267">
                  <a:extLst>
                    <a:ext uri="{9D8B030D-6E8A-4147-A177-3AD203B41FA5}">
                      <a16:colId xmlns:a16="http://schemas.microsoft.com/office/drawing/2014/main" val="2647829608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272265880"/>
                    </a:ext>
                  </a:extLst>
                </a:gridCol>
                <a:gridCol w="1503680">
                  <a:extLst>
                    <a:ext uri="{9D8B030D-6E8A-4147-A177-3AD203B41FA5}">
                      <a16:colId xmlns:a16="http://schemas.microsoft.com/office/drawing/2014/main" val="938457270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571031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venv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virtualenv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conda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701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Built-in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  <a:endParaRPr 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kern="1200" dirty="0"/>
                        <a:t>❌</a:t>
                      </a:r>
                      <a:endParaRPr lang="en-US" sz="1800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52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Lightweight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✔✔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800" kern="1200" dirty="0"/>
                        <a:t>❌</a:t>
                      </a:r>
                      <a:endParaRPr lang="en-US" sz="1800" kern="120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34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Package </a:t>
                      </a:r>
                      <a:r>
                        <a:rPr lang="en-US" dirty="0" err="1"/>
                        <a:t>mgmt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conda</a:t>
                      </a:r>
                      <a:r>
                        <a:rPr lang="en-US" dirty="0"/>
                        <a:t>/pip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012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Cross-platform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52454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79C2174-4B97-41BF-B745-13E98E2C1AFC}"/>
              </a:ext>
            </a:extLst>
          </p:cNvPr>
          <p:cNvSpPr txBox="1"/>
          <p:nvPr/>
        </p:nvSpPr>
        <p:spPr>
          <a:xfrm>
            <a:off x="7509069" y="4241257"/>
            <a:ext cx="3601773" cy="132343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venv</a:t>
            </a:r>
            <a:r>
              <a:rPr lang="en-US" sz="2000" dirty="0">
                <a:solidFill>
                  <a:schemeClr val="bg1"/>
                </a:solidFill>
              </a:rPr>
              <a:t> or </a:t>
            </a:r>
            <a:r>
              <a:rPr lang="en-US" sz="2000" dirty="0" err="1">
                <a:solidFill>
                  <a:schemeClr val="bg1"/>
                </a:solidFill>
              </a:rPr>
              <a:t>conda</a:t>
            </a:r>
            <a:r>
              <a:rPr lang="en-US" sz="2000" dirty="0">
                <a:solidFill>
                  <a:schemeClr val="bg1"/>
                </a:solidFill>
              </a:rPr>
              <a:t> depending on whether you prioritize simplicity or full-stack AI setups.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ED8CDFE-6296-4B58-8EF4-630115DC09D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09" b="32238"/>
          <a:stretch/>
        </p:blipFill>
        <p:spPr>
          <a:xfrm>
            <a:off x="4220260" y="3633265"/>
            <a:ext cx="1416225" cy="30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4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Creating an AI Environment using </a:t>
            </a:r>
            <a:r>
              <a:rPr lang="en-US" sz="4800" b="1" dirty="0" err="1">
                <a:solidFill>
                  <a:schemeClr val="accent6">
                    <a:lumMod val="75000"/>
                  </a:schemeClr>
                </a:solidFill>
                <a:effectLst/>
              </a:rPr>
              <a:t>venv</a:t>
            </a:r>
            <a:endParaRPr lang="en-US" sz="4800" b="1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0DD60-0B5B-497A-9CFD-D6F00D0AD585}"/>
              </a:ext>
            </a:extLst>
          </p:cNvPr>
          <p:cNvSpPr txBox="1"/>
          <p:nvPr/>
        </p:nvSpPr>
        <p:spPr>
          <a:xfrm>
            <a:off x="255610" y="1291847"/>
            <a:ext cx="6093653" cy="272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Step-by-Step Guide </a:t>
            </a:r>
          </a:p>
          <a:p>
            <a:pPr marL="457200" indent="-457200" algn="just"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Open your terminal or command prompt</a:t>
            </a:r>
          </a:p>
          <a:p>
            <a:pPr marL="457200" indent="-457200" algn="just">
              <a:buAutoNum type="arabicPeriod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Navigate to your project folder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cd path/to/your/project</a:t>
            </a:r>
          </a:p>
          <a:p>
            <a:pPr algn="just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3. Create the environment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it-IT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 </a:t>
            </a:r>
            <a:r>
              <a:rPr lang="it-IT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it-IT" sz="2000" dirty="0">
                <a:solidFill>
                  <a:schemeClr val="bg1"/>
                </a:solidFill>
                <a:highlight>
                  <a:srgbClr val="C0C0C0"/>
                </a:highlight>
              </a:rPr>
              <a:t>m venv ai_env</a:t>
            </a:r>
          </a:p>
          <a:p>
            <a:pPr algn="just"/>
            <a:endParaRPr lang="it-IT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This creates a folder named </a:t>
            </a:r>
            <a:r>
              <a:rPr lang="en-US" sz="2000" dirty="0" err="1">
                <a:solidFill>
                  <a:schemeClr val="bg1"/>
                </a:solidFill>
              </a:rPr>
              <a:t>ai_env</a:t>
            </a:r>
            <a:r>
              <a:rPr lang="en-US" sz="2000" dirty="0">
                <a:solidFill>
                  <a:schemeClr val="bg1"/>
                </a:solidFill>
              </a:rPr>
              <a:t> with isolated Python.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387E1-C75E-414C-93DA-5808BE50645C}"/>
              </a:ext>
            </a:extLst>
          </p:cNvPr>
          <p:cNvSpPr txBox="1"/>
          <p:nvPr/>
        </p:nvSpPr>
        <p:spPr>
          <a:xfrm>
            <a:off x="296987" y="4021825"/>
            <a:ext cx="4856480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What’s Inside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ai_env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/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Scripts/ → </a:t>
            </a:r>
            <a:r>
              <a:rPr lang="en-US" sz="2000" dirty="0">
                <a:solidFill>
                  <a:schemeClr val="bg1"/>
                </a:solidFill>
              </a:rPr>
              <a:t>Activation and execution files 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Lib/ → </a:t>
            </a:r>
            <a:r>
              <a:rPr lang="en-US" sz="2000" dirty="0">
                <a:solidFill>
                  <a:schemeClr val="bg1"/>
                </a:solidFill>
              </a:rPr>
              <a:t>Installed libraries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Include/ → </a:t>
            </a:r>
            <a:r>
              <a:rPr lang="en-US" sz="2000" dirty="0">
                <a:solidFill>
                  <a:schemeClr val="bg1"/>
                </a:solidFill>
              </a:rPr>
              <a:t>C headers (for compiling)</a:t>
            </a: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pyvenv.cfg</a:t>
            </a:r>
            <a:r>
              <a:rPr lang="en-US" sz="2000" b="1" dirty="0">
                <a:solidFill>
                  <a:schemeClr val="bg1"/>
                </a:solidFill>
              </a:rPr>
              <a:t> → </a:t>
            </a:r>
            <a:r>
              <a:rPr lang="en-US" sz="2000" dirty="0">
                <a:solidFill>
                  <a:schemeClr val="bg1"/>
                </a:solidFill>
              </a:rPr>
              <a:t>Config file with interpreter path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2374A1-4421-4A45-B338-D5710C465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263" y="2097894"/>
            <a:ext cx="5695654" cy="28922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75B855-E14A-4ED0-A59A-28F4D7195F7F}"/>
              </a:ext>
            </a:extLst>
          </p:cNvPr>
          <p:cNvSpPr txBox="1"/>
          <p:nvPr/>
        </p:nvSpPr>
        <p:spPr>
          <a:xfrm>
            <a:off x="3185965" y="5828473"/>
            <a:ext cx="513080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Best Practice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Keep your virtual environment in the root of your project folder (but don’t push it to GitHub)</a:t>
            </a:r>
          </a:p>
        </p:txBody>
      </p:sp>
    </p:spTree>
    <p:extLst>
      <p:ext uri="{BB962C8B-B14F-4D97-AF65-F5344CB8AC3E}">
        <p14:creationId xmlns:p14="http://schemas.microsoft.com/office/powerpoint/2010/main" val="130862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Activating &amp; Deactivating the Environment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C74B83CC-3CBB-4487-B678-916151D982D6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F6397-D2BE-4C86-A0C2-7DEBB0FB7AF2}"/>
              </a:ext>
            </a:extLst>
          </p:cNvPr>
          <p:cNvSpPr txBox="1"/>
          <p:nvPr/>
        </p:nvSpPr>
        <p:spPr>
          <a:xfrm>
            <a:off x="447040" y="1291847"/>
            <a:ext cx="4632960" cy="242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Activation Commands (OS Specific)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Windows (CMD)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\Scripts\activate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Windows (PowerShell)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	</a:t>
            </a:r>
            <a:r>
              <a:rPr lang="fr-FR" sz="2000" dirty="0">
                <a:solidFill>
                  <a:schemeClr val="bg1"/>
                </a:solidFill>
                <a:highlight>
                  <a:srgbClr val="C0C0C0"/>
                </a:highlight>
              </a:rPr>
              <a:t>\</a:t>
            </a:r>
            <a:r>
              <a:rPr lang="fr-FR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fr-FR" sz="2000" dirty="0">
                <a:solidFill>
                  <a:schemeClr val="bg1"/>
                </a:solidFill>
                <a:highlight>
                  <a:srgbClr val="C0C0C0"/>
                </a:highlight>
              </a:rPr>
              <a:t>\Scripts\Activate.ps1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Mac/Linux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fr-FR" sz="2000" dirty="0">
                <a:solidFill>
                  <a:schemeClr val="bg1"/>
                </a:solidFill>
                <a:highlight>
                  <a:srgbClr val="C0C0C0"/>
                </a:highlight>
              </a:rPr>
              <a:t>source </a:t>
            </a:r>
            <a:r>
              <a:rPr lang="fr-FR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fr-FR" sz="2000" dirty="0">
                <a:solidFill>
                  <a:schemeClr val="bg1"/>
                </a:solidFill>
                <a:highlight>
                  <a:srgbClr val="C0C0C0"/>
                </a:highlight>
              </a:rPr>
              <a:t>/bin/</a:t>
            </a:r>
            <a:r>
              <a:rPr lang="fr-FR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activate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3479F-FE04-4702-98D3-41D7AF94CE9E}"/>
              </a:ext>
            </a:extLst>
          </p:cNvPr>
          <p:cNvSpPr txBox="1"/>
          <p:nvPr/>
        </p:nvSpPr>
        <p:spPr>
          <a:xfrm>
            <a:off x="447040" y="3682336"/>
            <a:ext cx="4897120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Visual Cue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Once activated, your terminal prompt changes:  </a:t>
            </a:r>
          </a:p>
          <a:p>
            <a:pPr algn="r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 C:\Users\YourName\project&gt;</a:t>
            </a:r>
            <a:endParaRPr lang="en-US" sz="2000" dirty="0">
              <a:solidFill>
                <a:srgbClr val="92D050"/>
              </a:solidFill>
              <a:highlight>
                <a:srgbClr val="C0C0C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E200F1-5737-41D3-A0A6-D528743FB83C}"/>
              </a:ext>
            </a:extLst>
          </p:cNvPr>
          <p:cNvSpPr txBox="1"/>
          <p:nvPr/>
        </p:nvSpPr>
        <p:spPr>
          <a:xfrm>
            <a:off x="447041" y="4831413"/>
            <a:ext cx="3606800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Deactivate Environment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To exit the virtual environment: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deactivate</a:t>
            </a:r>
            <a:endParaRPr lang="en-US" sz="2000" dirty="0">
              <a:solidFill>
                <a:srgbClr val="92D050"/>
              </a:solidFill>
              <a:highlight>
                <a:srgbClr val="C0C0C0"/>
              </a:highligh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34CD76-E462-40B2-BF14-6333ADF98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504" y="1401975"/>
            <a:ext cx="5546756" cy="42478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59A06C1-4994-4BC5-AA32-550B772DAC82}"/>
              </a:ext>
            </a:extLst>
          </p:cNvPr>
          <p:cNvSpPr txBox="1"/>
          <p:nvPr/>
        </p:nvSpPr>
        <p:spPr>
          <a:xfrm>
            <a:off x="2814320" y="5759986"/>
            <a:ext cx="671575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marL="342900" indent="-342900" algn="ctr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Always activate before running or installing anything  </a:t>
            </a:r>
          </a:p>
          <a:p>
            <a:pPr marL="342900" indent="-342900" algn="ctr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Keep one terminal open per environment to avoid confusion</a:t>
            </a:r>
          </a:p>
        </p:txBody>
      </p:sp>
    </p:spTree>
    <p:extLst>
      <p:ext uri="{BB962C8B-B14F-4D97-AF65-F5344CB8AC3E}">
        <p14:creationId xmlns:p14="http://schemas.microsoft.com/office/powerpoint/2010/main" val="339272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  <p:bldP spid="14" grpId="0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54B88526-6341-47E9-8502-C05CEF1BCEB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1999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Installing Essential AI Libraries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0BB0B7-F154-4778-B3C8-13922F06CF62}"/>
              </a:ext>
            </a:extLst>
          </p:cNvPr>
          <p:cNvSpPr txBox="1"/>
          <p:nvPr/>
        </p:nvSpPr>
        <p:spPr>
          <a:xfrm>
            <a:off x="30480" y="1311374"/>
            <a:ext cx="6817360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Installing Packages with pip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After activating your environment, install core AI/data libraries: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pandas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scikit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-learn matplotlib seaborn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5C91F3-6249-47DC-ACEC-52FF97A232ED}"/>
              </a:ext>
            </a:extLst>
          </p:cNvPr>
          <p:cNvSpPr txBox="1"/>
          <p:nvPr/>
        </p:nvSpPr>
        <p:spPr>
          <a:xfrm>
            <a:off x="30480" y="2709290"/>
            <a:ext cx="4795520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What These Libraries Do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NumPy: </a:t>
            </a:r>
            <a:r>
              <a:rPr lang="en-US" sz="2000" dirty="0">
                <a:solidFill>
                  <a:schemeClr val="bg1"/>
                </a:solidFill>
              </a:rPr>
              <a:t>Numerical computing with arrays 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Pandas: </a:t>
            </a:r>
            <a:r>
              <a:rPr lang="en-US" sz="2000" dirty="0">
                <a:solidFill>
                  <a:schemeClr val="bg1"/>
                </a:solidFill>
              </a:rPr>
              <a:t>Data manipulation and analysis 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 err="1">
                <a:solidFill>
                  <a:schemeClr val="bg1"/>
                </a:solidFill>
              </a:rPr>
              <a:t>scikit</a:t>
            </a:r>
            <a:r>
              <a:rPr lang="en-US" sz="2000" b="1" dirty="0">
                <a:solidFill>
                  <a:schemeClr val="bg1"/>
                </a:solidFill>
              </a:rPr>
              <a:t>-learn: </a:t>
            </a:r>
            <a:r>
              <a:rPr lang="en-US" sz="2000" dirty="0">
                <a:solidFill>
                  <a:schemeClr val="bg1"/>
                </a:solidFill>
              </a:rPr>
              <a:t>Machine learning algorithms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Matplotlib &amp; Seaborn: </a:t>
            </a:r>
            <a:r>
              <a:rPr lang="en-US" sz="2000" dirty="0">
                <a:solidFill>
                  <a:schemeClr val="bg1"/>
                </a:solidFill>
              </a:rPr>
              <a:t>Data visualization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EF148E-ADF3-40B0-A18A-80EEBD9E1FD8}"/>
              </a:ext>
            </a:extLst>
          </p:cNvPr>
          <p:cNvSpPr txBox="1"/>
          <p:nvPr/>
        </p:nvSpPr>
        <p:spPr>
          <a:xfrm>
            <a:off x="0" y="4674198"/>
            <a:ext cx="4795520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Verifying Installation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Check installed packages and versions: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list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750BB8F-4AF4-4480-8E74-A638FB138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205" y="2718776"/>
            <a:ext cx="6573715" cy="7614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6C8898-FB63-470E-AD9E-5FD0EB249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19" y="3754483"/>
            <a:ext cx="1700583" cy="76145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3F05956-1328-469A-BF94-DC8CF423767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3" b="26651"/>
          <a:stretch/>
        </p:blipFill>
        <p:spPr>
          <a:xfrm>
            <a:off x="7808277" y="3670880"/>
            <a:ext cx="2143125" cy="10033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DA5922F-20FA-4323-8357-C2BED83E02B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8" b="21319"/>
          <a:stretch/>
        </p:blipFill>
        <p:spPr>
          <a:xfrm>
            <a:off x="6631422" y="4674198"/>
            <a:ext cx="1611400" cy="10033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4DF9F63-2EBB-471A-80F1-6804DAB761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198" y="4468622"/>
            <a:ext cx="2020162" cy="11208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2EFFD4A-E983-4664-BA6B-854393423ABE}"/>
              </a:ext>
            </a:extLst>
          </p:cNvPr>
          <p:cNvSpPr txBox="1"/>
          <p:nvPr/>
        </p:nvSpPr>
        <p:spPr>
          <a:xfrm>
            <a:off x="3591561" y="5742488"/>
            <a:ext cx="500887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a requirements.txt file to save dependencies for reproducibility (covered in next slides).</a:t>
            </a:r>
          </a:p>
        </p:txBody>
      </p:sp>
    </p:spTree>
    <p:extLst>
      <p:ext uri="{BB962C8B-B14F-4D97-AF65-F5344CB8AC3E}">
        <p14:creationId xmlns:p14="http://schemas.microsoft.com/office/powerpoint/2010/main" val="155281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  <p:bldP spid="22" grpId="0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4623B0E-5723-4B5D-9915-C01BEA9BA1E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440" y="99849"/>
            <a:ext cx="11816269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Adding </a:t>
            </a:r>
            <a:r>
              <a:rPr lang="en-US" sz="4800" b="1" dirty="0" err="1">
                <a:solidFill>
                  <a:schemeClr val="accent6">
                    <a:lumMod val="75000"/>
                  </a:schemeClr>
                </a:solidFill>
                <a:effectLst/>
              </a:rPr>
              <a:t>Jupyter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 Notebook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888ED-8F3C-4A5A-ACD9-FE12F983661A}"/>
              </a:ext>
            </a:extLst>
          </p:cNvPr>
          <p:cNvSpPr txBox="1"/>
          <p:nvPr/>
        </p:nvSpPr>
        <p:spPr>
          <a:xfrm>
            <a:off x="25211" y="1120055"/>
            <a:ext cx="5837109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Why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Jupyter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Interactive coding environment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Popular for AI research, data exploration, and demos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1ADB9-BA69-4A9B-AFBC-8214DADB5520}"/>
              </a:ext>
            </a:extLst>
          </p:cNvPr>
          <p:cNvSpPr txBox="1"/>
          <p:nvPr/>
        </p:nvSpPr>
        <p:spPr>
          <a:xfrm>
            <a:off x="6340" y="2330210"/>
            <a:ext cx="5837108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Installing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Jupyter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&amp; Kernel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jupyter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ipykernel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 -m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ipykernel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install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user 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name=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display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name "Python 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670ED-BC26-4FCA-B809-1EE57AF2D86C}"/>
              </a:ext>
            </a:extLst>
          </p:cNvPr>
          <p:cNvSpPr txBox="1"/>
          <p:nvPr/>
        </p:nvSpPr>
        <p:spPr>
          <a:xfrm>
            <a:off x="16500" y="3836855"/>
            <a:ext cx="5297180" cy="211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Using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Jupyter</a:t>
            </a:r>
            <a:endParaRPr lang="en-US" sz="2400" b="1" u="sng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Start </a:t>
            </a:r>
            <a:r>
              <a:rPr lang="en-US" sz="2000" dirty="0" err="1">
                <a:solidFill>
                  <a:schemeClr val="bg1"/>
                </a:solidFill>
              </a:rPr>
              <a:t>Jupyter</a:t>
            </a:r>
            <a:r>
              <a:rPr lang="en-US" sz="2000" dirty="0">
                <a:solidFill>
                  <a:schemeClr val="bg1"/>
                </a:solidFill>
              </a:rPr>
              <a:t> Notebook: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bash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jupyter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notebook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Select your virtual environment kernel named Python (</a:t>
            </a:r>
            <a:r>
              <a:rPr lang="en-US" sz="2000" dirty="0" err="1">
                <a:solidFill>
                  <a:schemeClr val="bg1"/>
                </a:solidFill>
              </a:rPr>
              <a:t>ai_env</a:t>
            </a:r>
            <a:r>
              <a:rPr lang="en-US" sz="2000" dirty="0">
                <a:solidFill>
                  <a:schemeClr val="bg1"/>
                </a:solidFill>
              </a:rPr>
              <a:t>) for your notebooks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B1A700-F364-4FEF-96B1-85640E362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452" y="2398952"/>
            <a:ext cx="5837108" cy="25334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3FF246C-E789-4C58-984A-45AB501431CA}"/>
              </a:ext>
            </a:extLst>
          </p:cNvPr>
          <p:cNvSpPr txBox="1"/>
          <p:nvPr/>
        </p:nvSpPr>
        <p:spPr>
          <a:xfrm>
            <a:off x="4028441" y="5774106"/>
            <a:ext cx="4135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JupyterLab</a:t>
            </a:r>
            <a:r>
              <a:rPr lang="en-US" sz="2000" dirty="0">
                <a:solidFill>
                  <a:schemeClr val="bg1"/>
                </a:solidFill>
              </a:rPr>
              <a:t> (pip install </a:t>
            </a:r>
            <a:r>
              <a:rPr lang="en-US" sz="2000" dirty="0" err="1">
                <a:solidFill>
                  <a:schemeClr val="bg1"/>
                </a:solidFill>
              </a:rPr>
              <a:t>jupyterlab</a:t>
            </a:r>
            <a:r>
              <a:rPr lang="en-US" sz="2000" dirty="0">
                <a:solidFill>
                  <a:schemeClr val="bg1"/>
                </a:solidFill>
              </a:rPr>
              <a:t>) for an enhanced interface.</a:t>
            </a:r>
          </a:p>
        </p:txBody>
      </p:sp>
    </p:spTree>
    <p:extLst>
      <p:ext uri="{BB962C8B-B14F-4D97-AF65-F5344CB8AC3E}">
        <p14:creationId xmlns:p14="http://schemas.microsoft.com/office/powerpoint/2010/main" val="79725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Managing Dependencies with requirements.txt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A2607B01-5B8E-42B5-9DC4-3DEF1B489A7D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5997F-6DDB-47DB-8FEB-0604CE8D1EEE}"/>
              </a:ext>
            </a:extLst>
          </p:cNvPr>
          <p:cNvSpPr txBox="1"/>
          <p:nvPr/>
        </p:nvSpPr>
        <p:spPr>
          <a:xfrm>
            <a:off x="76009" y="987648"/>
            <a:ext cx="5799013" cy="188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FF0000"/>
              </a:solidFill>
            </a:endParaRPr>
          </a:p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Why Save Dependencies?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Share exact package versions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Reproduce the same environment on any machine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Essential for collaboration and deployment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69A6A-7A3F-4831-8B52-9F026E0B6B2C}"/>
              </a:ext>
            </a:extLst>
          </p:cNvPr>
          <p:cNvSpPr txBox="1"/>
          <p:nvPr/>
        </p:nvSpPr>
        <p:spPr>
          <a:xfrm>
            <a:off x="76009" y="2939596"/>
            <a:ext cx="5799013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Creating requirements.txt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After installing your packages: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  bash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freeze &gt; requirements.txt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7E54BE-481A-4F80-8074-2C964F2CA2A4}"/>
              </a:ext>
            </a:extLst>
          </p:cNvPr>
          <p:cNvSpPr txBox="1"/>
          <p:nvPr/>
        </p:nvSpPr>
        <p:spPr>
          <a:xfrm>
            <a:off x="76009" y="4327745"/>
            <a:ext cx="4724400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Installing from requirements.txt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To recreate environment elsewhere: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  bash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-r requirements.txt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5233EA-0037-4CB1-9364-078325AA5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74" y="1682541"/>
            <a:ext cx="4771516" cy="38362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556FC9-AAE2-4838-87FF-B66B7691B665}"/>
              </a:ext>
            </a:extLst>
          </p:cNvPr>
          <p:cNvSpPr txBox="1"/>
          <p:nvPr/>
        </p:nvSpPr>
        <p:spPr>
          <a:xfrm>
            <a:off x="4145282" y="5764204"/>
            <a:ext cx="472440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Update requirements.txt regularly after adding or updating packages.</a:t>
            </a:r>
          </a:p>
        </p:txBody>
      </p:sp>
    </p:spTree>
    <p:extLst>
      <p:ext uri="{BB962C8B-B14F-4D97-AF65-F5344CB8AC3E}">
        <p14:creationId xmlns:p14="http://schemas.microsoft.com/office/powerpoint/2010/main" val="357422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3" grpId="0"/>
      <p:bldP spid="14" grpId="0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Managing Environments with </a:t>
            </a:r>
            <a:r>
              <a:rPr lang="en-US" sz="4800" b="1" dirty="0" err="1">
                <a:solidFill>
                  <a:schemeClr val="accent6">
                    <a:lumMod val="75000"/>
                  </a:schemeClr>
                </a:solidFill>
                <a:effectLst/>
              </a:rPr>
              <a:t>Conda</a:t>
            </a:r>
            <a:endParaRPr lang="en-US" sz="4800" b="1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DBB61AC0-A836-47C8-A1A6-202F65B404C5}"/>
              </a:ext>
            </a:extLst>
          </p:cNvPr>
          <p:cNvSpPr txBox="1">
            <a:spLocks/>
          </p:cNvSpPr>
          <p:nvPr/>
        </p:nvSpPr>
        <p:spPr>
          <a:xfrm>
            <a:off x="9309956" y="649453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A48E8-70D6-407B-A4FF-7A989D7643CF}"/>
              </a:ext>
            </a:extLst>
          </p:cNvPr>
          <p:cNvSpPr txBox="1"/>
          <p:nvPr/>
        </p:nvSpPr>
        <p:spPr>
          <a:xfrm>
            <a:off x="93785" y="1168971"/>
            <a:ext cx="5799013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What is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Conda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An open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</a:rPr>
              <a:t>source package &amp; environment manager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Supports Python &amp; other languages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Popular in AI/data science for easy handling of complex dependencies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63929E-E655-4A6B-B34D-8BFC2CDADE1C}"/>
              </a:ext>
            </a:extLst>
          </p:cNvPr>
          <p:cNvSpPr txBox="1"/>
          <p:nvPr/>
        </p:nvSpPr>
        <p:spPr>
          <a:xfrm>
            <a:off x="57140" y="3077284"/>
            <a:ext cx="5799013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Installing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Conda</a:t>
            </a:r>
            <a:endParaRPr lang="en-US" sz="2400" b="1" u="sng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Download &amp; install Anaconda or </a:t>
            </a:r>
            <a:r>
              <a:rPr lang="en-US" sz="2000" dirty="0" err="1">
                <a:solidFill>
                  <a:schemeClr val="bg1"/>
                </a:solidFill>
              </a:rPr>
              <a:t>Miniconda</a:t>
            </a:r>
            <a:r>
              <a:rPr lang="en-US" sz="2000" dirty="0">
                <a:solidFill>
                  <a:schemeClr val="bg1"/>
                </a:solidFill>
              </a:rPr>
              <a:t> from </a:t>
            </a:r>
            <a:r>
              <a:rPr lang="en-US" sz="2000" u="sng" dirty="0">
                <a:solidFill>
                  <a:srgbClr val="0070C0"/>
                </a:solidFill>
              </a:rPr>
              <a:t>https://conda.io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conda</a:t>
            </a:r>
            <a:r>
              <a:rPr lang="en-US" sz="2000" dirty="0">
                <a:solidFill>
                  <a:schemeClr val="bg1"/>
                </a:solidFill>
              </a:rPr>
              <a:t> commands in terminal after installation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2EEE48-F0BF-49BB-ACB9-E931D7A8DE62}"/>
              </a:ext>
            </a:extLst>
          </p:cNvPr>
          <p:cNvSpPr txBox="1"/>
          <p:nvPr/>
        </p:nvSpPr>
        <p:spPr>
          <a:xfrm>
            <a:off x="57140" y="4805710"/>
            <a:ext cx="5044438" cy="88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Creating a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Conda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Environment</a:t>
            </a:r>
          </a:p>
          <a:p>
            <a:pPr algn="just"/>
            <a:r>
              <a:rPr lang="it-IT" sz="2000" b="1" dirty="0">
                <a:solidFill>
                  <a:schemeClr val="bg1"/>
                </a:solidFill>
              </a:rPr>
              <a:t>Bash	</a:t>
            </a:r>
            <a:r>
              <a:rPr lang="it-IT" sz="2000" dirty="0">
                <a:solidFill>
                  <a:schemeClr val="bg1"/>
                </a:solidFill>
                <a:highlight>
                  <a:srgbClr val="C0C0C0"/>
                </a:highlight>
              </a:rPr>
              <a:t>conda create </a:t>
            </a:r>
            <a:r>
              <a:rPr lang="it-IT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it-IT" sz="2000" dirty="0">
                <a:solidFill>
                  <a:schemeClr val="bg1"/>
                </a:solidFill>
                <a:highlight>
                  <a:srgbClr val="C0C0C0"/>
                </a:highlight>
              </a:rPr>
              <a:t>n ai_env python=3.9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5DE0F5-E3FA-48DE-8B64-CDCB4F86764D}"/>
              </a:ext>
            </a:extLst>
          </p:cNvPr>
          <p:cNvSpPr txBox="1"/>
          <p:nvPr/>
        </p:nvSpPr>
        <p:spPr>
          <a:xfrm>
            <a:off x="6299204" y="1168971"/>
            <a:ext cx="5137410" cy="88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Activating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Conda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Environment</a:t>
            </a:r>
          </a:p>
          <a:p>
            <a:pPr marL="0" lvl="2" algn="just"/>
            <a:r>
              <a:rPr lang="en-US" sz="2000" b="1" dirty="0">
                <a:solidFill>
                  <a:schemeClr val="bg1"/>
                </a:solidFill>
              </a:rPr>
              <a:t>Bash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activate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092B74-19CC-40E2-B67C-EF921252B2B6}"/>
              </a:ext>
            </a:extLst>
          </p:cNvPr>
          <p:cNvSpPr txBox="1"/>
          <p:nvPr/>
        </p:nvSpPr>
        <p:spPr>
          <a:xfrm>
            <a:off x="6335848" y="3077284"/>
            <a:ext cx="5799011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Installing Packages</a:t>
            </a:r>
          </a:p>
          <a:p>
            <a:pPr marL="0" lvl="2" algn="just"/>
            <a:r>
              <a:rPr lang="en-US" sz="2000" b="1" dirty="0">
                <a:solidFill>
                  <a:schemeClr val="bg1"/>
                </a:solidFill>
              </a:rPr>
              <a:t>Bash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pandas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scikit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-learn matplotlib seaborn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9ED96E-874A-4E35-97AD-AECC0E6D71C9}"/>
              </a:ext>
            </a:extLst>
          </p:cNvPr>
          <p:cNvSpPr txBox="1"/>
          <p:nvPr/>
        </p:nvSpPr>
        <p:spPr>
          <a:xfrm>
            <a:off x="3573779" y="5784369"/>
            <a:ext cx="504443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Conda</a:t>
            </a:r>
            <a:r>
              <a:rPr lang="en-US" sz="2000" dirty="0">
                <a:solidFill>
                  <a:schemeClr val="bg1"/>
                </a:solidFill>
              </a:rPr>
              <a:t> manages both packages and environments, ideal for GPU-based AI projects.</a:t>
            </a:r>
          </a:p>
        </p:txBody>
      </p:sp>
    </p:spTree>
    <p:extLst>
      <p:ext uri="{BB962C8B-B14F-4D97-AF65-F5344CB8AC3E}">
        <p14:creationId xmlns:p14="http://schemas.microsoft.com/office/powerpoint/2010/main" val="342476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18" grpId="0"/>
      <p:bldP spid="19" grpId="0"/>
      <p:bldP spid="20" grpId="0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Best Practices for Virtual Environments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123AC-CF5E-4C5E-9862-AE12125903F7}"/>
              </a:ext>
            </a:extLst>
          </p:cNvPr>
          <p:cNvSpPr txBox="1"/>
          <p:nvPr/>
        </p:nvSpPr>
        <p:spPr>
          <a:xfrm>
            <a:off x="0" y="1333781"/>
            <a:ext cx="6258560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One Environment = One Project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Avoid using the same environment for multiple projects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Keeps dependencies clean and isolated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4215B-5B9D-435E-BB73-17352AC8E798}"/>
              </a:ext>
            </a:extLst>
          </p:cNvPr>
          <p:cNvSpPr txBox="1"/>
          <p:nvPr/>
        </p:nvSpPr>
        <p:spPr>
          <a:xfrm>
            <a:off x="0" y="2815386"/>
            <a:ext cx="4546790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Pin Package Versions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Prevent future compatibility issues 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b="1" dirty="0">
                <a:solidFill>
                  <a:schemeClr val="bg1"/>
                </a:solidFill>
              </a:rPr>
              <a:t>bash</a:t>
            </a:r>
            <a:r>
              <a:rPr lang="en-US" sz="2000" dirty="0">
                <a:solidFill>
                  <a:schemeClr val="bg1"/>
                </a:solidFill>
              </a:rPr>
              <a:t>	 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scikit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-learn==1.3.2</a:t>
            </a:r>
            <a:endParaRPr lang="en-US" sz="2400" b="1" dirty="0">
              <a:solidFill>
                <a:schemeClr val="accent1"/>
              </a:solidFill>
              <a:highlight>
                <a:srgbClr val="C0C0C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6A0271-D4A6-44C0-BC5B-B5EAD197F706}"/>
              </a:ext>
            </a:extLst>
          </p:cNvPr>
          <p:cNvSpPr txBox="1"/>
          <p:nvPr/>
        </p:nvSpPr>
        <p:spPr>
          <a:xfrm>
            <a:off x="0" y="4587326"/>
            <a:ext cx="6148485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Use requirements.txt or 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environment.yml</a:t>
            </a:r>
            <a:endParaRPr lang="en-US" sz="2400" b="1" u="sng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Always include with your code for reproducibility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Automate project setup for collaborators or deployment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8B7C33-7443-4F30-9468-C8BC5A688B4A}"/>
              </a:ext>
            </a:extLst>
          </p:cNvPr>
          <p:cNvSpPr txBox="1"/>
          <p:nvPr/>
        </p:nvSpPr>
        <p:spPr>
          <a:xfrm>
            <a:off x="6441440" y="1333781"/>
            <a:ext cx="4633339" cy="119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Never Push Env to Git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Add this to your .</a:t>
            </a:r>
            <a:r>
              <a:rPr lang="en-US" sz="2000" dirty="0" err="1">
                <a:solidFill>
                  <a:schemeClr val="bg1"/>
                </a:solidFill>
              </a:rPr>
              <a:t>gitignore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/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87B1F1-946B-4B81-A9BD-B1892D51EC0F}"/>
              </a:ext>
            </a:extLst>
          </p:cNvPr>
          <p:cNvSpPr txBox="1"/>
          <p:nvPr/>
        </p:nvSpPr>
        <p:spPr>
          <a:xfrm>
            <a:off x="6364671" y="2816452"/>
            <a:ext cx="5827329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Document Your Environment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Include setup steps in README.md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Example: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  python -m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source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/bin/activate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  pip install -r requirements.txt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3AD9F-07FF-4B7C-9DE3-1DB4013C6FA7}"/>
              </a:ext>
            </a:extLst>
          </p:cNvPr>
          <p:cNvSpPr txBox="1"/>
          <p:nvPr/>
        </p:nvSpPr>
        <p:spPr>
          <a:xfrm>
            <a:off x="4170681" y="5742488"/>
            <a:ext cx="385063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Transition to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 gradually by converting Pandas/NumPy code.</a:t>
            </a:r>
          </a:p>
        </p:txBody>
      </p:sp>
    </p:spTree>
    <p:extLst>
      <p:ext uri="{BB962C8B-B14F-4D97-AF65-F5344CB8AC3E}">
        <p14:creationId xmlns:p14="http://schemas.microsoft.com/office/powerpoint/2010/main" val="337597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6" grpId="0"/>
      <p:bldP spid="18" grpId="0"/>
      <p:bldP spid="20" grpId="0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Using Virtual Environments in 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C5395-A7E6-4613-AD53-6389499D8535}"/>
              </a:ext>
            </a:extLst>
          </p:cNvPr>
          <p:cNvSpPr txBox="1"/>
          <p:nvPr/>
        </p:nvSpPr>
        <p:spPr>
          <a:xfrm>
            <a:off x="-10160" y="1269201"/>
            <a:ext cx="6248400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Why Integrate with IDEs?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Enables features like code suggestions, debugging, linting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Ensures your environment is correctly used while developing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DC1ADF-C024-40B9-A3E4-C2E4E9905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22" y="3004871"/>
            <a:ext cx="5494541" cy="21701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321171-5381-428A-94D0-4C272A5AA1F6}"/>
              </a:ext>
            </a:extLst>
          </p:cNvPr>
          <p:cNvSpPr txBox="1"/>
          <p:nvPr/>
        </p:nvSpPr>
        <p:spPr>
          <a:xfrm>
            <a:off x="6297358" y="1089841"/>
            <a:ext cx="5067997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0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Jupyter</a:t>
            </a:r>
            <a:r>
              <a:rPr lang="en-US" sz="20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Notebooks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Run: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 -m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ipykernel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install 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user 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name=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kernel in notebook dropdown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D38C63-D264-4613-8969-DA3CFA3ED8B2}"/>
              </a:ext>
            </a:extLst>
          </p:cNvPr>
          <p:cNvSpPr txBox="1"/>
          <p:nvPr/>
        </p:nvSpPr>
        <p:spPr>
          <a:xfrm>
            <a:off x="6277038" y="2728921"/>
            <a:ext cx="5151436" cy="180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0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PyCharm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Add Interpreter: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 Go to Settings &gt; Project &gt; Python Interpreter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Click gear → Add → Existing environment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Also works with </a:t>
            </a:r>
            <a:r>
              <a:rPr lang="en-US" sz="2000" dirty="0" err="1">
                <a:solidFill>
                  <a:schemeClr val="bg1"/>
                </a:solidFill>
              </a:rPr>
              <a:t>Conda</a:t>
            </a:r>
            <a:r>
              <a:rPr lang="en-US" sz="2000" dirty="0">
                <a:solidFill>
                  <a:schemeClr val="bg1"/>
                </a:solidFill>
              </a:rPr>
              <a:t> environments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7DD187-125C-4A5E-8534-06667B06F4BF}"/>
              </a:ext>
            </a:extLst>
          </p:cNvPr>
          <p:cNvSpPr txBox="1"/>
          <p:nvPr/>
        </p:nvSpPr>
        <p:spPr>
          <a:xfrm>
            <a:off x="6277038" y="4342404"/>
            <a:ext cx="5986082" cy="242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0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VS Code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Select Interpreter: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Open Command Palette → Python: Select Interpreter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Choose your env: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/bin/python or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\Scripts\python.exe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-    Auto-activates env in terminal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6D65EB-7627-447F-97DF-E01BED922EB2}"/>
              </a:ext>
            </a:extLst>
          </p:cNvPr>
          <p:cNvSpPr txBox="1"/>
          <p:nvPr/>
        </p:nvSpPr>
        <p:spPr>
          <a:xfrm>
            <a:off x="1736623" y="5748943"/>
            <a:ext cx="425703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Always double-check the interpreter path matches your virtual environment.</a:t>
            </a:r>
          </a:p>
        </p:txBody>
      </p:sp>
    </p:spTree>
    <p:extLst>
      <p:ext uri="{BB962C8B-B14F-4D97-AF65-F5344CB8AC3E}">
        <p14:creationId xmlns:p14="http://schemas.microsoft.com/office/powerpoint/2010/main" val="268260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4" grpId="0"/>
      <p:bldP spid="16" grpId="0"/>
      <p:bldP spid="18" grpId="0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Automating Virtual Environment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985A42-3E03-4D39-874E-B2D03EFFB4EE}"/>
              </a:ext>
            </a:extLst>
          </p:cNvPr>
          <p:cNvSpPr txBox="1"/>
          <p:nvPr/>
        </p:nvSpPr>
        <p:spPr>
          <a:xfrm>
            <a:off x="182880" y="1086321"/>
            <a:ext cx="5567680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Why Automate?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Saves time in team setups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Ensures consistent environments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Ideal for onboarding, CI/CD, or deployment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2B323C-72F6-46BE-9B50-FC927050D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221" y="1366352"/>
            <a:ext cx="1381339" cy="7761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1B52339-A229-4413-839C-0D8E56EB514D}"/>
              </a:ext>
            </a:extLst>
          </p:cNvPr>
          <p:cNvSpPr txBox="1"/>
          <p:nvPr/>
        </p:nvSpPr>
        <p:spPr>
          <a:xfrm>
            <a:off x="182880" y="2915560"/>
            <a:ext cx="5235796" cy="211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Conda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Environment YAML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Create YAML:</a:t>
            </a:r>
          </a:p>
          <a:p>
            <a:pPr algn="just"/>
            <a:r>
              <a:rPr lang="fr-FR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fr-FR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fr-FR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env</a:t>
            </a:r>
            <a:r>
              <a:rPr lang="fr-FR" sz="2000" dirty="0">
                <a:solidFill>
                  <a:schemeClr val="bg1"/>
                </a:solidFill>
                <a:highlight>
                  <a:srgbClr val="C0C0C0"/>
                </a:highlight>
              </a:rPr>
              <a:t> export &gt; </a:t>
            </a:r>
            <a:r>
              <a:rPr lang="fr-FR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environment.yml</a:t>
            </a:r>
            <a:endParaRPr lang="fr-FR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endParaRPr lang="fr-FR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Recreate Env: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env create -f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environment.yml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9D3E9F-8635-4128-8A97-B31CD0264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47" y="2991274"/>
            <a:ext cx="1795933" cy="19629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3538526-285C-4D73-88CA-84238C87F023}"/>
              </a:ext>
            </a:extLst>
          </p:cNvPr>
          <p:cNvSpPr txBox="1"/>
          <p:nvPr/>
        </p:nvSpPr>
        <p:spPr>
          <a:xfrm>
            <a:off x="7153401" y="1366352"/>
            <a:ext cx="43131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Setup Script (</a:t>
            </a:r>
            <a:r>
              <a:rPr lang="en-US" sz="2400" b="1" u="sng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venv</a:t>
            </a: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 + pip)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setup_env.sh (Linux/macOS):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 -m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source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/bin/activate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-r requirements.txt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setup_env.bat (Windows):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 -m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\Scripts\activate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-r requirements.txt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C117B0-6328-4CB5-AAC3-328140B9AFD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3" r="24003"/>
          <a:stretch/>
        </p:blipFill>
        <p:spPr>
          <a:xfrm>
            <a:off x="10450892" y="1935198"/>
            <a:ext cx="1717040" cy="16106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2113AE-B283-4E66-92AC-971FF6DB06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855" y="3970421"/>
            <a:ext cx="1546988" cy="7172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6DFF4BE-4676-4F9D-8870-BD113812AFBA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Add script or YAML instructions to your README.md.</a:t>
            </a:r>
          </a:p>
        </p:txBody>
      </p:sp>
    </p:spTree>
    <p:extLst>
      <p:ext uri="{BB962C8B-B14F-4D97-AF65-F5344CB8AC3E}">
        <p14:creationId xmlns:p14="http://schemas.microsoft.com/office/powerpoint/2010/main" val="274305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0"/>
                            </p:stCondLst>
                            <p:childTnLst>
                              <p:par>
                                <p:cTn id="3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0"/>
                            </p:stCondLst>
                            <p:childTnLst>
                              <p:par>
                                <p:cTn id="4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21" grpId="0"/>
      <p:bldP spid="23" grpId="0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322077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Virtual Environments vs Docker for AI Projects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435A867E-79B5-4C7F-BD87-33C968FBAA95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A2DA8-40AC-40B7-9004-19A83A745C54}"/>
              </a:ext>
            </a:extLst>
          </p:cNvPr>
          <p:cNvSpPr txBox="1"/>
          <p:nvPr/>
        </p:nvSpPr>
        <p:spPr>
          <a:xfrm>
            <a:off x="467361" y="1440338"/>
            <a:ext cx="4958079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Virtual Environments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Lightweight, quick to set up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Isolate Python packages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Great for development and small projects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5FA7F9-127F-481F-BF9A-EDFD30288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520" y="1574018"/>
            <a:ext cx="2042160" cy="10210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266749C-9611-4A81-9983-49529FFF969A}"/>
              </a:ext>
            </a:extLst>
          </p:cNvPr>
          <p:cNvSpPr txBox="1"/>
          <p:nvPr/>
        </p:nvSpPr>
        <p:spPr>
          <a:xfrm>
            <a:off x="6009138" y="1440339"/>
            <a:ext cx="6174934" cy="149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Docker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Isolates the entire system (OS + Python + libs)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Ideal for deployment, scaling, and GPU compatibility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Works the same on every machine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2225D8-F599-4005-9AC6-EAA06B7E2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1077" y="1462690"/>
            <a:ext cx="781905" cy="781905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71EEE26-274C-40CF-AEE2-DC132DD3F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928128"/>
              </p:ext>
            </p:extLst>
          </p:nvPr>
        </p:nvGraphicFramePr>
        <p:xfrm>
          <a:off x="1945138" y="3223101"/>
          <a:ext cx="81279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052">
                  <a:extLst>
                    <a:ext uri="{9D8B030D-6E8A-4147-A177-3AD203B41FA5}">
                      <a16:colId xmlns:a16="http://schemas.microsoft.com/office/drawing/2014/main" val="166789638"/>
                    </a:ext>
                  </a:extLst>
                </a:gridCol>
                <a:gridCol w="2428240">
                  <a:extLst>
                    <a:ext uri="{9D8B030D-6E8A-4147-A177-3AD203B41FA5}">
                      <a16:colId xmlns:a16="http://schemas.microsoft.com/office/drawing/2014/main" val="3860833499"/>
                    </a:ext>
                  </a:extLst>
                </a:gridCol>
                <a:gridCol w="3461707">
                  <a:extLst>
                    <a:ext uri="{9D8B030D-6E8A-4147-A177-3AD203B41FA5}">
                      <a16:colId xmlns:a16="http://schemas.microsoft.com/office/drawing/2014/main" val="2811695113"/>
                    </a:ext>
                  </a:extLst>
                </a:gridCol>
              </a:tblGrid>
              <a:tr h="247226">
                <a:tc>
                  <a:txBody>
                    <a:bodyPr/>
                    <a:lstStyle/>
                    <a:p>
                      <a:r>
                        <a:rPr lang="en-US" dirty="0"/>
                        <a:t>Feature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Docker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45389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r>
                        <a:rPr lang="en-US" dirty="0"/>
                        <a:t>Scope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packages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environment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154954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r>
                        <a:rPr lang="en-US" dirty="0"/>
                        <a:t>Portability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586722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r>
                        <a:rPr lang="en-US" dirty="0"/>
                        <a:t>Reproducibility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275901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r>
                        <a:rPr lang="en-US" dirty="0"/>
                        <a:t>Setup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Moderate/High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075108"/>
                  </a:ext>
                </a:extLst>
              </a:tr>
              <a:tr h="247226">
                <a:tc>
                  <a:txBody>
                    <a:bodyPr/>
                    <a:lstStyle/>
                    <a:p>
                      <a:r>
                        <a:rPr lang="en-US" dirty="0"/>
                        <a:t>Best Use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 &amp; prototyping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Deployment &amp; CI/CD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93690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980FC18-9DC8-47CE-B553-32458647AF1A}"/>
              </a:ext>
            </a:extLst>
          </p:cNvPr>
          <p:cNvSpPr txBox="1"/>
          <p:nvPr/>
        </p:nvSpPr>
        <p:spPr>
          <a:xfrm>
            <a:off x="3692659" y="5806362"/>
            <a:ext cx="4806682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Try</a:t>
            </a:r>
          </a:p>
          <a:p>
            <a:r>
              <a:rPr lang="en-US" sz="2000" dirty="0">
                <a:solidFill>
                  <a:schemeClr val="bg1"/>
                </a:solidFill>
              </a:rPr>
              <a:t>Start with virtual </a:t>
            </a:r>
            <a:r>
              <a:rPr lang="en-US" sz="2000" dirty="0" err="1">
                <a:solidFill>
                  <a:schemeClr val="bg1"/>
                </a:solidFill>
              </a:rPr>
              <a:t>envs</a:t>
            </a:r>
            <a:r>
              <a:rPr lang="en-US" sz="2000" dirty="0">
                <a:solidFill>
                  <a:schemeClr val="bg1"/>
                </a:solidFill>
              </a:rPr>
              <a:t>, move to Docker for production or collaboration-heavy AI systems.</a:t>
            </a:r>
          </a:p>
        </p:txBody>
      </p:sp>
    </p:spTree>
    <p:extLst>
      <p:ext uri="{BB962C8B-B14F-4D97-AF65-F5344CB8AC3E}">
        <p14:creationId xmlns:p14="http://schemas.microsoft.com/office/powerpoint/2010/main" val="186092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9" grpId="0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effectLst/>
              </a:rPr>
              <a:t>Real-World Virtual Env Setup for AI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31E906A-29C8-4193-B186-6139224A5E5A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1FF4EA-2B44-448C-9BF7-450568009CE1}"/>
              </a:ext>
            </a:extLst>
          </p:cNvPr>
          <p:cNvSpPr txBox="1"/>
          <p:nvPr/>
        </p:nvSpPr>
        <p:spPr>
          <a:xfrm>
            <a:off x="296986" y="1362731"/>
            <a:ext cx="6266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Project Goal</a:t>
            </a:r>
            <a:r>
              <a:rPr lang="en-US" sz="2400" b="1" dirty="0">
                <a:solidFill>
                  <a:schemeClr val="accent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Predict Student Dropout Using AI</a:t>
            </a:r>
            <a:endParaRPr lang="en-US" sz="2400" dirty="0">
              <a:solidFill>
                <a:schemeClr val="bg1"/>
              </a:solidFill>
            </a:endParaRP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Folder Structure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686844E-8274-443F-BBFF-644226F327B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6986" y="2439949"/>
          <a:ext cx="5927100" cy="2966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0690">
                  <a:extLst>
                    <a:ext uri="{9D8B030D-6E8A-4147-A177-3AD203B41FA5}">
                      <a16:colId xmlns:a16="http://schemas.microsoft.com/office/drawing/2014/main" val="4077024938"/>
                    </a:ext>
                  </a:extLst>
                </a:gridCol>
                <a:gridCol w="3866410">
                  <a:extLst>
                    <a:ext uri="{9D8B030D-6E8A-4147-A177-3AD203B41FA5}">
                      <a16:colId xmlns:a16="http://schemas.microsoft.com/office/drawing/2014/main" val="3789288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student-dropout-ai/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1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ai_env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Virtual environment (not in Git)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data/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Raw &amp; processed datasets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940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notebooks/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Jupyter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notebooks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68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src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Python scripts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51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outputs/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Models, logs, results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81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requirements.txt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Dependencies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88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README.md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Setup + usage instructions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2162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EFCEB5A9-DD50-4091-AE14-B49704D07A6C}"/>
              </a:ext>
            </a:extLst>
          </p:cNvPr>
          <p:cNvSpPr txBox="1"/>
          <p:nvPr/>
        </p:nvSpPr>
        <p:spPr>
          <a:xfrm>
            <a:off x="6918961" y="1362731"/>
            <a:ext cx="5181600" cy="365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2400" b="1" u="sng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</a:rPr>
              <a:t>Setup Steps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 -m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source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/bin/activate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-r requirements.txt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OR (</a:t>
            </a:r>
            <a:r>
              <a:rPr lang="en-US" sz="2000" b="1" dirty="0" err="1">
                <a:solidFill>
                  <a:schemeClr val="bg1"/>
                </a:solidFill>
              </a:rPr>
              <a:t>Conda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create -n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python=3.10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activate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ai_env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install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numpy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pandas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scikit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-learn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jupyter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3ACDD-B5FA-418A-A808-E60A56EACADD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Dask</a:t>
            </a:r>
            <a:r>
              <a:rPr lang="en-US" sz="2000" dirty="0">
                <a:solidFill>
                  <a:schemeClr val="bg1"/>
                </a:solidFill>
              </a:rPr>
              <a:t>-ML to scale your ML pipelines effortlessly.</a:t>
            </a:r>
          </a:p>
        </p:txBody>
      </p:sp>
    </p:spTree>
    <p:extLst>
      <p:ext uri="{BB962C8B-B14F-4D97-AF65-F5344CB8AC3E}">
        <p14:creationId xmlns:p14="http://schemas.microsoft.com/office/powerpoint/2010/main" val="10875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2" grpId="0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Q &amp; 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66DFD5-42B8-4C6E-8EF7-14F8A739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921038"/>
            <a:ext cx="887913" cy="887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335F8-9855-4D61-B71F-4D6081D96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961678"/>
            <a:ext cx="887913" cy="887913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9E39623-061D-4662-97EA-077035D18C1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EF0014-5FCF-46B7-9FC0-CF1972735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33" y="1878719"/>
            <a:ext cx="4587317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9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1" y="359619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9E60F8-4612-40D7-A9B0-5DF977FEB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961678"/>
            <a:ext cx="887913" cy="88791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560948F-FAD8-40C9-B156-C7D2295CE3AE}"/>
              </a:ext>
            </a:extLst>
          </p:cNvPr>
          <p:cNvSpPr txBox="1">
            <a:spLocks/>
          </p:cNvSpPr>
          <p:nvPr/>
        </p:nvSpPr>
        <p:spPr>
          <a:xfrm>
            <a:off x="5042105" y="3301267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194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1491</Words>
  <Application>Microsoft Office PowerPoint</Application>
  <PresentationFormat>Widescreen</PresentationFormat>
  <Paragraphs>334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Goudy Old Style</vt:lpstr>
      <vt:lpstr>Lato</vt:lpstr>
      <vt:lpstr>Roboto</vt:lpstr>
      <vt:lpstr>Wingdings 2</vt:lpstr>
      <vt:lpstr>SlateVTI</vt:lpstr>
      <vt:lpstr>Huawei HCCDA-AI certification </vt:lpstr>
      <vt:lpstr>Virtual Environments for AI Projects</vt:lpstr>
      <vt:lpstr>Training Objectives &amp; Outcomes</vt:lpstr>
      <vt:lpstr>Python Basics – Pre-requisite</vt:lpstr>
      <vt:lpstr>What is a Virtual Environment?</vt:lpstr>
      <vt:lpstr>Virtual Environment Tools Overview</vt:lpstr>
      <vt:lpstr>Creating an AI Environment using venv</vt:lpstr>
      <vt:lpstr>Activating &amp; Deactivating the Environment</vt:lpstr>
      <vt:lpstr>Installing Essential AI Libraries</vt:lpstr>
      <vt:lpstr>Adding Jupyter Notebook Support</vt:lpstr>
      <vt:lpstr>Managing Dependencies with requirements.txt</vt:lpstr>
      <vt:lpstr>Managing Environments with Conda</vt:lpstr>
      <vt:lpstr>Best Practices for Virtual Environments</vt:lpstr>
      <vt:lpstr>Using Virtual Environments in IDEs</vt:lpstr>
      <vt:lpstr>Automating Virtual Environment Setup</vt:lpstr>
      <vt:lpstr>Virtual Environments vs Docker for AI Projects</vt:lpstr>
      <vt:lpstr>Real-World Virtual Env Setup for AI Project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2025-06-20T17:52:37Z</dcterms:modified>
</cp:coreProperties>
</file>