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06" r:id="rId3"/>
    <p:sldId id="352" r:id="rId4"/>
    <p:sldId id="307" r:id="rId5"/>
    <p:sldId id="327" r:id="rId6"/>
    <p:sldId id="304" r:id="rId7"/>
    <p:sldId id="308" r:id="rId8"/>
    <p:sldId id="309" r:id="rId9"/>
    <p:sldId id="310" r:id="rId10"/>
    <p:sldId id="311" r:id="rId11"/>
    <p:sldId id="312" r:id="rId12"/>
    <p:sldId id="313" r:id="rId13"/>
    <p:sldId id="328" r:id="rId14"/>
    <p:sldId id="314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9" r:id="rId24"/>
    <p:sldId id="325" r:id="rId25"/>
    <p:sldId id="330" r:id="rId26"/>
    <p:sldId id="260" r:id="rId27"/>
    <p:sldId id="331" r:id="rId28"/>
    <p:sldId id="332" r:id="rId29"/>
    <p:sldId id="333" r:id="rId30"/>
    <p:sldId id="315" r:id="rId31"/>
    <p:sldId id="334" r:id="rId32"/>
    <p:sldId id="335" r:id="rId33"/>
    <p:sldId id="336" r:id="rId34"/>
    <p:sldId id="337" r:id="rId35"/>
    <p:sldId id="316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26" r:id="rId49"/>
    <p:sldId id="350" r:id="rId50"/>
    <p:sldId id="35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34877-3A9A-4F1A-8948-F72F31D771BC}" type="doc">
      <dgm:prSet loTypeId="urn:microsoft.com/office/officeart/2011/layout/HexagonRadial" loCatId="cycle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F2C29-07E8-4D8B-8F98-B062A81537AA}">
      <dgm:prSet phldrT="[Text]"/>
      <dgm:spPr/>
      <dgm:t>
        <a:bodyPr/>
        <a:lstStyle/>
        <a:p>
          <a:r>
            <a:rPr lang="en-US" dirty="0" err="1"/>
            <a:t>Dict</a:t>
          </a:r>
          <a:endParaRPr lang="en-US" dirty="0"/>
        </a:p>
      </dgm:t>
    </dgm:pt>
    <dgm:pt modelId="{649B49B5-FE30-49DB-B0F9-3B039B4A8EF6}" type="parTrans" cxnId="{4BE19477-0EFD-4361-B4D4-03B4560555A5}">
      <dgm:prSet/>
      <dgm:spPr/>
      <dgm:t>
        <a:bodyPr/>
        <a:lstStyle/>
        <a:p>
          <a:endParaRPr lang="en-US"/>
        </a:p>
      </dgm:t>
    </dgm:pt>
    <dgm:pt modelId="{1A87211A-C481-4C11-8AB0-75C599979B61}" type="sibTrans" cxnId="{4BE19477-0EFD-4361-B4D4-03B4560555A5}">
      <dgm:prSet/>
      <dgm:spPr/>
      <dgm:t>
        <a:bodyPr/>
        <a:lstStyle/>
        <a:p>
          <a:endParaRPr lang="en-US"/>
        </a:p>
      </dgm:t>
    </dgm:pt>
    <dgm:pt modelId="{C57C47B6-5B1E-46CB-BA60-3056F06F4562}">
      <dgm:prSet phldrT="[Text]"/>
      <dgm:spPr/>
      <dgm:t>
        <a:bodyPr/>
        <a:lstStyle/>
        <a:p>
          <a:r>
            <a:rPr lang="en-US" b="0" i="0" dirty="0"/>
            <a:t>int</a:t>
          </a:r>
          <a:endParaRPr lang="en-US" dirty="0"/>
        </a:p>
      </dgm:t>
    </dgm:pt>
    <dgm:pt modelId="{F8D28478-9AF2-4D75-9928-496D43738D6C}" type="parTrans" cxnId="{20BCEA86-D105-4946-A7CC-8EC988A0AD9D}">
      <dgm:prSet/>
      <dgm:spPr/>
      <dgm:t>
        <a:bodyPr/>
        <a:lstStyle/>
        <a:p>
          <a:endParaRPr lang="en-US"/>
        </a:p>
      </dgm:t>
    </dgm:pt>
    <dgm:pt modelId="{8313C74C-153C-43B1-B1C9-B0EF2C526A1E}" type="sibTrans" cxnId="{20BCEA86-D105-4946-A7CC-8EC988A0AD9D}">
      <dgm:prSet/>
      <dgm:spPr/>
      <dgm:t>
        <a:bodyPr/>
        <a:lstStyle/>
        <a:p>
          <a:endParaRPr lang="en-US"/>
        </a:p>
      </dgm:t>
    </dgm:pt>
    <dgm:pt modelId="{D33D401D-94D7-43E0-B9D6-F823C29D452A}">
      <dgm:prSet phldrT="[Text]"/>
      <dgm:spPr/>
      <dgm:t>
        <a:bodyPr/>
        <a:lstStyle/>
        <a:p>
          <a:r>
            <a:rPr lang="en-US" dirty="0"/>
            <a:t>str</a:t>
          </a:r>
        </a:p>
      </dgm:t>
    </dgm:pt>
    <dgm:pt modelId="{26A0D91F-8FA2-474A-B5BB-DE70BF54C214}" type="parTrans" cxnId="{AB200CE7-F657-41E6-B8F6-198329DEA135}">
      <dgm:prSet/>
      <dgm:spPr/>
      <dgm:t>
        <a:bodyPr/>
        <a:lstStyle/>
        <a:p>
          <a:endParaRPr lang="en-US"/>
        </a:p>
      </dgm:t>
    </dgm:pt>
    <dgm:pt modelId="{0FB6E2A9-28AB-4932-9AF0-4EC47AD49D73}" type="sibTrans" cxnId="{AB200CE7-F657-41E6-B8F6-198329DEA135}">
      <dgm:prSet/>
      <dgm:spPr/>
      <dgm:t>
        <a:bodyPr/>
        <a:lstStyle/>
        <a:p>
          <a:endParaRPr lang="en-US"/>
        </a:p>
      </dgm:t>
    </dgm:pt>
    <dgm:pt modelId="{292E789A-4219-4187-A84C-F3696427B907}">
      <dgm:prSet phldrT="[Text]"/>
      <dgm:spPr/>
      <dgm:t>
        <a:bodyPr/>
        <a:lstStyle/>
        <a:p>
          <a:r>
            <a:rPr lang="en-US" dirty="0"/>
            <a:t>bool</a:t>
          </a:r>
        </a:p>
      </dgm:t>
    </dgm:pt>
    <dgm:pt modelId="{761D1946-98C4-4DA5-8FFC-DE2CEA609F47}" type="parTrans" cxnId="{FEE2EBB8-F4AD-4D9A-AAB7-2251BA53FEA3}">
      <dgm:prSet/>
      <dgm:spPr/>
      <dgm:t>
        <a:bodyPr/>
        <a:lstStyle/>
        <a:p>
          <a:endParaRPr lang="en-US"/>
        </a:p>
      </dgm:t>
    </dgm:pt>
    <dgm:pt modelId="{AD7783CC-37DE-40F1-900E-7E998FD722BD}" type="sibTrans" cxnId="{FEE2EBB8-F4AD-4D9A-AAB7-2251BA53FEA3}">
      <dgm:prSet/>
      <dgm:spPr/>
      <dgm:t>
        <a:bodyPr/>
        <a:lstStyle/>
        <a:p>
          <a:endParaRPr lang="en-US"/>
        </a:p>
      </dgm:t>
    </dgm:pt>
    <dgm:pt modelId="{776715FE-71AB-4190-83F3-795EA59D9406}">
      <dgm:prSet phldrT="[Text]"/>
      <dgm:spPr/>
      <dgm:t>
        <a:bodyPr/>
        <a:lstStyle/>
        <a:p>
          <a:r>
            <a:rPr lang="en-US" dirty="0"/>
            <a:t>list</a:t>
          </a:r>
        </a:p>
      </dgm:t>
    </dgm:pt>
    <dgm:pt modelId="{CB6A41F0-BB19-4499-B04C-B1600AEFF286}" type="parTrans" cxnId="{2A7629D5-4F85-43F0-894B-7DD5D87D8CFC}">
      <dgm:prSet/>
      <dgm:spPr/>
      <dgm:t>
        <a:bodyPr/>
        <a:lstStyle/>
        <a:p>
          <a:endParaRPr lang="en-US"/>
        </a:p>
      </dgm:t>
    </dgm:pt>
    <dgm:pt modelId="{B73879C1-C38F-4E4A-B362-1B6A58A2C69F}" type="sibTrans" cxnId="{2A7629D5-4F85-43F0-894B-7DD5D87D8CFC}">
      <dgm:prSet/>
      <dgm:spPr/>
      <dgm:t>
        <a:bodyPr/>
        <a:lstStyle/>
        <a:p>
          <a:endParaRPr lang="en-US"/>
        </a:p>
      </dgm:t>
    </dgm:pt>
    <dgm:pt modelId="{88EC7D60-83E5-44B5-B088-D9F811DDA737}">
      <dgm:prSet phldrT="[Text]"/>
      <dgm:spPr/>
      <dgm:t>
        <a:bodyPr/>
        <a:lstStyle/>
        <a:p>
          <a:r>
            <a:rPr lang="en-US" dirty="0"/>
            <a:t>tuple</a:t>
          </a:r>
        </a:p>
      </dgm:t>
    </dgm:pt>
    <dgm:pt modelId="{2577CFB1-535F-4257-A629-1EC6EFD78989}" type="parTrans" cxnId="{45F9B6CB-224C-4BA8-A5D8-55D3295A75C3}">
      <dgm:prSet/>
      <dgm:spPr/>
      <dgm:t>
        <a:bodyPr/>
        <a:lstStyle/>
        <a:p>
          <a:endParaRPr lang="en-US"/>
        </a:p>
      </dgm:t>
    </dgm:pt>
    <dgm:pt modelId="{26C1CC4F-D3DF-435C-B975-EDC69724C678}" type="sibTrans" cxnId="{45F9B6CB-224C-4BA8-A5D8-55D3295A75C3}">
      <dgm:prSet/>
      <dgm:spPr/>
      <dgm:t>
        <a:bodyPr/>
        <a:lstStyle/>
        <a:p>
          <a:endParaRPr lang="en-US"/>
        </a:p>
      </dgm:t>
    </dgm:pt>
    <dgm:pt modelId="{18C68CBD-D3FB-46F7-8C77-A1E026769625}">
      <dgm:prSet phldrT="[Text]"/>
      <dgm:spPr/>
      <dgm:t>
        <a:bodyPr/>
        <a:lstStyle/>
        <a:p>
          <a:r>
            <a:rPr lang="en-US" dirty="0"/>
            <a:t>float</a:t>
          </a:r>
        </a:p>
      </dgm:t>
    </dgm:pt>
    <dgm:pt modelId="{E4C273B5-D933-4B1F-93D1-01E2A2ADFA7A}" type="parTrans" cxnId="{67B21F8D-132B-477F-A421-C53EF29BDA08}">
      <dgm:prSet/>
      <dgm:spPr/>
      <dgm:t>
        <a:bodyPr/>
        <a:lstStyle/>
        <a:p>
          <a:endParaRPr lang="en-US"/>
        </a:p>
      </dgm:t>
    </dgm:pt>
    <dgm:pt modelId="{CED7FB6F-2872-4730-802D-20D7FA9566E1}" type="sibTrans" cxnId="{67B21F8D-132B-477F-A421-C53EF29BDA08}">
      <dgm:prSet/>
      <dgm:spPr/>
      <dgm:t>
        <a:bodyPr/>
        <a:lstStyle/>
        <a:p>
          <a:endParaRPr lang="en-US"/>
        </a:p>
      </dgm:t>
    </dgm:pt>
    <dgm:pt modelId="{7725C84A-F429-4113-8A6D-B3249C583570}" type="pres">
      <dgm:prSet presAssocID="{82B34877-3A9A-4F1A-8948-F72F31D771BC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1CF5079E-40FB-41E0-BA87-30A1F9349618}" type="pres">
      <dgm:prSet presAssocID="{620F2C29-07E8-4D8B-8F98-B062A81537AA}" presName="Parent" presStyleLbl="node0" presStyleIdx="0" presStyleCnt="1">
        <dgm:presLayoutVars>
          <dgm:chMax val="6"/>
          <dgm:chPref val="6"/>
        </dgm:presLayoutVars>
      </dgm:prSet>
      <dgm:spPr/>
    </dgm:pt>
    <dgm:pt modelId="{E702AE1F-28DA-4266-ADFA-F2D7B4ABF5BF}" type="pres">
      <dgm:prSet presAssocID="{C57C47B6-5B1E-46CB-BA60-3056F06F4562}" presName="Accent1" presStyleCnt="0"/>
      <dgm:spPr/>
    </dgm:pt>
    <dgm:pt modelId="{11C2701F-F8B1-4E1A-9462-D3FFA6DE6B5C}" type="pres">
      <dgm:prSet presAssocID="{C57C47B6-5B1E-46CB-BA60-3056F06F4562}" presName="Accent" presStyleLbl="bgShp" presStyleIdx="0" presStyleCnt="6"/>
      <dgm:spPr/>
    </dgm:pt>
    <dgm:pt modelId="{4A6F825A-B9E1-4875-AF8B-7EF10F0D9979}" type="pres">
      <dgm:prSet presAssocID="{C57C47B6-5B1E-46CB-BA60-3056F06F4562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0506C30-015D-4AF2-9CB5-68098A55D07B}" type="pres">
      <dgm:prSet presAssocID="{18C68CBD-D3FB-46F7-8C77-A1E026769625}" presName="Accent2" presStyleCnt="0"/>
      <dgm:spPr/>
    </dgm:pt>
    <dgm:pt modelId="{C2D0F68E-6DFD-4377-A1C8-5C68826AD708}" type="pres">
      <dgm:prSet presAssocID="{18C68CBD-D3FB-46F7-8C77-A1E026769625}" presName="Accent" presStyleLbl="bgShp" presStyleIdx="1" presStyleCnt="6"/>
      <dgm:spPr/>
    </dgm:pt>
    <dgm:pt modelId="{A6831B2E-DA6E-4BF6-A59A-2B4CA81D7409}" type="pres">
      <dgm:prSet presAssocID="{18C68CBD-D3FB-46F7-8C77-A1E026769625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6896646-22A8-4B70-9706-0A51E186E8E5}" type="pres">
      <dgm:prSet presAssocID="{D33D401D-94D7-43E0-B9D6-F823C29D452A}" presName="Accent3" presStyleCnt="0"/>
      <dgm:spPr/>
    </dgm:pt>
    <dgm:pt modelId="{0CDE7999-6A80-4641-B8FA-7BD6F65F1EDF}" type="pres">
      <dgm:prSet presAssocID="{D33D401D-94D7-43E0-B9D6-F823C29D452A}" presName="Accent" presStyleLbl="bgShp" presStyleIdx="2" presStyleCnt="6"/>
      <dgm:spPr/>
    </dgm:pt>
    <dgm:pt modelId="{F5D53F19-9FDF-472F-B5AE-D2231C699C38}" type="pres">
      <dgm:prSet presAssocID="{D33D401D-94D7-43E0-B9D6-F823C29D452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3098701F-E280-4E81-A42A-EBF767CD9AA7}" type="pres">
      <dgm:prSet presAssocID="{292E789A-4219-4187-A84C-F3696427B907}" presName="Accent4" presStyleCnt="0"/>
      <dgm:spPr/>
    </dgm:pt>
    <dgm:pt modelId="{FA5CAA03-F8FA-439E-A277-1E7578825949}" type="pres">
      <dgm:prSet presAssocID="{292E789A-4219-4187-A84C-F3696427B907}" presName="Accent" presStyleLbl="bgShp" presStyleIdx="3" presStyleCnt="6"/>
      <dgm:spPr/>
    </dgm:pt>
    <dgm:pt modelId="{256E1005-9B61-4619-A107-19CD72AC8D47}" type="pres">
      <dgm:prSet presAssocID="{292E789A-4219-4187-A84C-F3696427B907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579B52A7-B5CF-4B7C-AD8D-D03366C23AAA}" type="pres">
      <dgm:prSet presAssocID="{776715FE-71AB-4190-83F3-795EA59D9406}" presName="Accent5" presStyleCnt="0"/>
      <dgm:spPr/>
    </dgm:pt>
    <dgm:pt modelId="{1810835D-A66D-4C16-8B25-70D0B8229D08}" type="pres">
      <dgm:prSet presAssocID="{776715FE-71AB-4190-83F3-795EA59D9406}" presName="Accent" presStyleLbl="bgShp" presStyleIdx="4" presStyleCnt="6"/>
      <dgm:spPr/>
    </dgm:pt>
    <dgm:pt modelId="{0DDAF597-8616-436D-A6FB-DD5A11CEE27B}" type="pres">
      <dgm:prSet presAssocID="{776715FE-71AB-4190-83F3-795EA59D940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091B1DD-37DF-4BE0-8869-BF6138E03B75}" type="pres">
      <dgm:prSet presAssocID="{88EC7D60-83E5-44B5-B088-D9F811DDA737}" presName="Accent6" presStyleCnt="0"/>
      <dgm:spPr/>
    </dgm:pt>
    <dgm:pt modelId="{6EB02FCF-BC68-41A8-AE02-9727E0792593}" type="pres">
      <dgm:prSet presAssocID="{88EC7D60-83E5-44B5-B088-D9F811DDA737}" presName="Accent" presStyleLbl="bgShp" presStyleIdx="5" presStyleCnt="6"/>
      <dgm:spPr/>
    </dgm:pt>
    <dgm:pt modelId="{0CF09EEF-748A-4B29-9703-518706E28366}" type="pres">
      <dgm:prSet presAssocID="{88EC7D60-83E5-44B5-B088-D9F811DDA737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4C0D224-1BB4-4172-9633-8D688DBBB488}" type="presOf" srcId="{C57C47B6-5B1E-46CB-BA60-3056F06F4562}" destId="{4A6F825A-B9E1-4875-AF8B-7EF10F0D9979}" srcOrd="0" destOrd="0" presId="urn:microsoft.com/office/officeart/2011/layout/HexagonRadial"/>
    <dgm:cxn modelId="{1B50AA3F-2C63-48C9-80C4-A2434D32A8EF}" type="presOf" srcId="{292E789A-4219-4187-A84C-F3696427B907}" destId="{256E1005-9B61-4619-A107-19CD72AC8D47}" srcOrd="0" destOrd="0" presId="urn:microsoft.com/office/officeart/2011/layout/HexagonRadial"/>
    <dgm:cxn modelId="{CE1C1143-B3FD-4A71-BCA0-BDBE8709CE2E}" type="presOf" srcId="{776715FE-71AB-4190-83F3-795EA59D9406}" destId="{0DDAF597-8616-436D-A6FB-DD5A11CEE27B}" srcOrd="0" destOrd="0" presId="urn:microsoft.com/office/officeart/2011/layout/HexagonRadial"/>
    <dgm:cxn modelId="{4BE19477-0EFD-4361-B4D4-03B4560555A5}" srcId="{82B34877-3A9A-4F1A-8948-F72F31D771BC}" destId="{620F2C29-07E8-4D8B-8F98-B062A81537AA}" srcOrd="0" destOrd="0" parTransId="{649B49B5-FE30-49DB-B0F9-3B039B4A8EF6}" sibTransId="{1A87211A-C481-4C11-8AB0-75C599979B61}"/>
    <dgm:cxn modelId="{20BCEA86-D105-4946-A7CC-8EC988A0AD9D}" srcId="{620F2C29-07E8-4D8B-8F98-B062A81537AA}" destId="{C57C47B6-5B1E-46CB-BA60-3056F06F4562}" srcOrd="0" destOrd="0" parTransId="{F8D28478-9AF2-4D75-9928-496D43738D6C}" sibTransId="{8313C74C-153C-43B1-B1C9-B0EF2C526A1E}"/>
    <dgm:cxn modelId="{67B21F8D-132B-477F-A421-C53EF29BDA08}" srcId="{620F2C29-07E8-4D8B-8F98-B062A81537AA}" destId="{18C68CBD-D3FB-46F7-8C77-A1E026769625}" srcOrd="1" destOrd="0" parTransId="{E4C273B5-D933-4B1F-93D1-01E2A2ADFA7A}" sibTransId="{CED7FB6F-2872-4730-802D-20D7FA9566E1}"/>
    <dgm:cxn modelId="{DF51BCAC-A704-4A94-91DF-DB63A536C19E}" type="presOf" srcId="{88EC7D60-83E5-44B5-B088-D9F811DDA737}" destId="{0CF09EEF-748A-4B29-9703-518706E28366}" srcOrd="0" destOrd="0" presId="urn:microsoft.com/office/officeart/2011/layout/HexagonRadial"/>
    <dgm:cxn modelId="{576166B6-9038-4FB7-9227-87C171360538}" type="presOf" srcId="{620F2C29-07E8-4D8B-8F98-B062A81537AA}" destId="{1CF5079E-40FB-41E0-BA87-30A1F9349618}" srcOrd="0" destOrd="0" presId="urn:microsoft.com/office/officeart/2011/layout/HexagonRadial"/>
    <dgm:cxn modelId="{FEE2EBB8-F4AD-4D9A-AAB7-2251BA53FEA3}" srcId="{620F2C29-07E8-4D8B-8F98-B062A81537AA}" destId="{292E789A-4219-4187-A84C-F3696427B907}" srcOrd="3" destOrd="0" parTransId="{761D1946-98C4-4DA5-8FFC-DE2CEA609F47}" sibTransId="{AD7783CC-37DE-40F1-900E-7E998FD722BD}"/>
    <dgm:cxn modelId="{45F9B6CB-224C-4BA8-A5D8-55D3295A75C3}" srcId="{620F2C29-07E8-4D8B-8F98-B062A81537AA}" destId="{88EC7D60-83E5-44B5-B088-D9F811DDA737}" srcOrd="5" destOrd="0" parTransId="{2577CFB1-535F-4257-A629-1EC6EFD78989}" sibTransId="{26C1CC4F-D3DF-435C-B975-EDC69724C678}"/>
    <dgm:cxn modelId="{2A7629D5-4F85-43F0-894B-7DD5D87D8CFC}" srcId="{620F2C29-07E8-4D8B-8F98-B062A81537AA}" destId="{776715FE-71AB-4190-83F3-795EA59D9406}" srcOrd="4" destOrd="0" parTransId="{CB6A41F0-BB19-4499-B04C-B1600AEFF286}" sibTransId="{B73879C1-C38F-4E4A-B362-1B6A58A2C69F}"/>
    <dgm:cxn modelId="{6FE433DB-DA97-4150-B215-14A13738BEEE}" type="presOf" srcId="{D33D401D-94D7-43E0-B9D6-F823C29D452A}" destId="{F5D53F19-9FDF-472F-B5AE-D2231C699C38}" srcOrd="0" destOrd="0" presId="urn:microsoft.com/office/officeart/2011/layout/HexagonRadial"/>
    <dgm:cxn modelId="{8EC410E6-210E-43DB-9367-683D4D92F576}" type="presOf" srcId="{18C68CBD-D3FB-46F7-8C77-A1E026769625}" destId="{A6831B2E-DA6E-4BF6-A59A-2B4CA81D7409}" srcOrd="0" destOrd="0" presId="urn:microsoft.com/office/officeart/2011/layout/HexagonRadial"/>
    <dgm:cxn modelId="{AB200CE7-F657-41E6-B8F6-198329DEA135}" srcId="{620F2C29-07E8-4D8B-8F98-B062A81537AA}" destId="{D33D401D-94D7-43E0-B9D6-F823C29D452A}" srcOrd="2" destOrd="0" parTransId="{26A0D91F-8FA2-474A-B5BB-DE70BF54C214}" sibTransId="{0FB6E2A9-28AB-4932-9AF0-4EC47AD49D73}"/>
    <dgm:cxn modelId="{B272D5F5-9100-4023-ACDA-B04221782942}" type="presOf" srcId="{82B34877-3A9A-4F1A-8948-F72F31D771BC}" destId="{7725C84A-F429-4113-8A6D-B3249C583570}" srcOrd="0" destOrd="0" presId="urn:microsoft.com/office/officeart/2011/layout/HexagonRadial"/>
    <dgm:cxn modelId="{39C9E6D4-A9F4-451B-BFAB-C90CB326F85C}" type="presParOf" srcId="{7725C84A-F429-4113-8A6D-B3249C583570}" destId="{1CF5079E-40FB-41E0-BA87-30A1F9349618}" srcOrd="0" destOrd="0" presId="urn:microsoft.com/office/officeart/2011/layout/HexagonRadial"/>
    <dgm:cxn modelId="{76D65654-F7FE-44B4-85F7-11E84F964CE3}" type="presParOf" srcId="{7725C84A-F429-4113-8A6D-B3249C583570}" destId="{E702AE1F-28DA-4266-ADFA-F2D7B4ABF5BF}" srcOrd="1" destOrd="0" presId="urn:microsoft.com/office/officeart/2011/layout/HexagonRadial"/>
    <dgm:cxn modelId="{45694C5D-DA25-4E20-B03A-ECB5A34C0FE8}" type="presParOf" srcId="{E702AE1F-28DA-4266-ADFA-F2D7B4ABF5BF}" destId="{11C2701F-F8B1-4E1A-9462-D3FFA6DE6B5C}" srcOrd="0" destOrd="0" presId="urn:microsoft.com/office/officeart/2011/layout/HexagonRadial"/>
    <dgm:cxn modelId="{DC39FA0F-5AB7-4C80-82B7-79E06944D3DF}" type="presParOf" srcId="{7725C84A-F429-4113-8A6D-B3249C583570}" destId="{4A6F825A-B9E1-4875-AF8B-7EF10F0D9979}" srcOrd="2" destOrd="0" presId="urn:microsoft.com/office/officeart/2011/layout/HexagonRadial"/>
    <dgm:cxn modelId="{2B18647E-9A66-4DD1-9378-9B171F22E3FB}" type="presParOf" srcId="{7725C84A-F429-4113-8A6D-B3249C583570}" destId="{80506C30-015D-4AF2-9CB5-68098A55D07B}" srcOrd="3" destOrd="0" presId="urn:microsoft.com/office/officeart/2011/layout/HexagonRadial"/>
    <dgm:cxn modelId="{81CAFA9A-0A56-4591-B8F1-F9999E1C7488}" type="presParOf" srcId="{80506C30-015D-4AF2-9CB5-68098A55D07B}" destId="{C2D0F68E-6DFD-4377-A1C8-5C68826AD708}" srcOrd="0" destOrd="0" presId="urn:microsoft.com/office/officeart/2011/layout/HexagonRadial"/>
    <dgm:cxn modelId="{33ED7510-B8B2-4512-91CA-78EE382A6AEE}" type="presParOf" srcId="{7725C84A-F429-4113-8A6D-B3249C583570}" destId="{A6831B2E-DA6E-4BF6-A59A-2B4CA81D7409}" srcOrd="4" destOrd="0" presId="urn:microsoft.com/office/officeart/2011/layout/HexagonRadial"/>
    <dgm:cxn modelId="{5068D1E2-4D66-467E-881C-8C5284F5EF06}" type="presParOf" srcId="{7725C84A-F429-4113-8A6D-B3249C583570}" destId="{B6896646-22A8-4B70-9706-0A51E186E8E5}" srcOrd="5" destOrd="0" presId="urn:microsoft.com/office/officeart/2011/layout/HexagonRadial"/>
    <dgm:cxn modelId="{BA42B3C8-B6B7-426B-A12B-1B48A51C9A83}" type="presParOf" srcId="{B6896646-22A8-4B70-9706-0A51E186E8E5}" destId="{0CDE7999-6A80-4641-B8FA-7BD6F65F1EDF}" srcOrd="0" destOrd="0" presId="urn:microsoft.com/office/officeart/2011/layout/HexagonRadial"/>
    <dgm:cxn modelId="{59CEE650-4455-46D3-9F52-7120E587B472}" type="presParOf" srcId="{7725C84A-F429-4113-8A6D-B3249C583570}" destId="{F5D53F19-9FDF-472F-B5AE-D2231C699C38}" srcOrd="6" destOrd="0" presId="urn:microsoft.com/office/officeart/2011/layout/HexagonRadial"/>
    <dgm:cxn modelId="{E884F3A5-4D3E-4139-A619-C1860D05ADB4}" type="presParOf" srcId="{7725C84A-F429-4113-8A6D-B3249C583570}" destId="{3098701F-E280-4E81-A42A-EBF767CD9AA7}" srcOrd="7" destOrd="0" presId="urn:microsoft.com/office/officeart/2011/layout/HexagonRadial"/>
    <dgm:cxn modelId="{8F049DBD-778B-4412-A6C9-261BB5EEFBC7}" type="presParOf" srcId="{3098701F-E280-4E81-A42A-EBF767CD9AA7}" destId="{FA5CAA03-F8FA-439E-A277-1E7578825949}" srcOrd="0" destOrd="0" presId="urn:microsoft.com/office/officeart/2011/layout/HexagonRadial"/>
    <dgm:cxn modelId="{9BBBAC41-31B1-422E-BBCF-EE5F8BE98C5B}" type="presParOf" srcId="{7725C84A-F429-4113-8A6D-B3249C583570}" destId="{256E1005-9B61-4619-A107-19CD72AC8D47}" srcOrd="8" destOrd="0" presId="urn:microsoft.com/office/officeart/2011/layout/HexagonRadial"/>
    <dgm:cxn modelId="{5322F157-8047-4F89-BCB4-265AC3DC43C5}" type="presParOf" srcId="{7725C84A-F429-4113-8A6D-B3249C583570}" destId="{579B52A7-B5CF-4B7C-AD8D-D03366C23AAA}" srcOrd="9" destOrd="0" presId="urn:microsoft.com/office/officeart/2011/layout/HexagonRadial"/>
    <dgm:cxn modelId="{374FE38F-0B06-4B94-A954-4F3CE292329B}" type="presParOf" srcId="{579B52A7-B5CF-4B7C-AD8D-D03366C23AAA}" destId="{1810835D-A66D-4C16-8B25-70D0B8229D08}" srcOrd="0" destOrd="0" presId="urn:microsoft.com/office/officeart/2011/layout/HexagonRadial"/>
    <dgm:cxn modelId="{C5BD6CCC-583F-47BF-A319-77318594B5BF}" type="presParOf" srcId="{7725C84A-F429-4113-8A6D-B3249C583570}" destId="{0DDAF597-8616-436D-A6FB-DD5A11CEE27B}" srcOrd="10" destOrd="0" presId="urn:microsoft.com/office/officeart/2011/layout/HexagonRadial"/>
    <dgm:cxn modelId="{CEE047B9-2EF7-478A-AC26-136ACE2AA4AD}" type="presParOf" srcId="{7725C84A-F429-4113-8A6D-B3249C583570}" destId="{6091B1DD-37DF-4BE0-8869-BF6138E03B75}" srcOrd="11" destOrd="0" presId="urn:microsoft.com/office/officeart/2011/layout/HexagonRadial"/>
    <dgm:cxn modelId="{7A60E107-57DD-41B9-8157-350BA1C879EB}" type="presParOf" srcId="{6091B1DD-37DF-4BE0-8869-BF6138E03B75}" destId="{6EB02FCF-BC68-41A8-AE02-9727E0792593}" srcOrd="0" destOrd="0" presId="urn:microsoft.com/office/officeart/2011/layout/HexagonRadial"/>
    <dgm:cxn modelId="{63507D97-7D9D-4284-A241-B7C99F2AE83A}" type="presParOf" srcId="{7725C84A-F429-4113-8A6D-B3249C583570}" destId="{0CF09EEF-748A-4B29-9703-518706E28366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5079E-40FB-41E0-BA87-30A1F9349618}">
      <dsp:nvSpPr>
        <dsp:cNvPr id="0" name=""/>
        <dsp:cNvSpPr/>
      </dsp:nvSpPr>
      <dsp:spPr>
        <a:xfrm>
          <a:off x="2346903" y="1534470"/>
          <a:ext cx="1950379" cy="168715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 err="1"/>
            <a:t>Dict</a:t>
          </a:r>
          <a:endParaRPr lang="en-US" sz="3800" kern="1200" dirty="0"/>
        </a:p>
      </dsp:txBody>
      <dsp:txXfrm>
        <a:off x="2670108" y="1814055"/>
        <a:ext cx="1303969" cy="1127986"/>
      </dsp:txXfrm>
    </dsp:sp>
    <dsp:sp modelId="{C2D0F68E-6DFD-4377-A1C8-5C68826AD708}">
      <dsp:nvSpPr>
        <dsp:cNvPr id="0" name=""/>
        <dsp:cNvSpPr/>
      </dsp:nvSpPr>
      <dsp:spPr>
        <a:xfrm>
          <a:off x="3568215" y="727280"/>
          <a:ext cx="735872" cy="63405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F825A-B9E1-4875-AF8B-7EF10F0D9979}">
      <dsp:nvSpPr>
        <dsp:cNvPr id="0" name=""/>
        <dsp:cNvSpPr/>
      </dsp:nvSpPr>
      <dsp:spPr>
        <a:xfrm>
          <a:off x="2526561" y="0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int</a:t>
          </a:r>
          <a:endParaRPr lang="en-US" sz="3800" kern="1200" dirty="0"/>
        </a:p>
      </dsp:txBody>
      <dsp:txXfrm>
        <a:off x="2791437" y="229149"/>
        <a:ext cx="1068569" cy="924438"/>
      </dsp:txXfrm>
    </dsp:sp>
    <dsp:sp modelId="{0CDE7999-6A80-4641-B8FA-7BD6F65F1EDF}">
      <dsp:nvSpPr>
        <dsp:cNvPr id="0" name=""/>
        <dsp:cNvSpPr/>
      </dsp:nvSpPr>
      <dsp:spPr>
        <a:xfrm>
          <a:off x="4427035" y="1912618"/>
          <a:ext cx="735872" cy="63405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831B2E-DA6E-4BF6-A59A-2B4CA81D7409}">
      <dsp:nvSpPr>
        <dsp:cNvPr id="0" name=""/>
        <dsp:cNvSpPr/>
      </dsp:nvSpPr>
      <dsp:spPr>
        <a:xfrm>
          <a:off x="3992408" y="850475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float</a:t>
          </a:r>
        </a:p>
      </dsp:txBody>
      <dsp:txXfrm>
        <a:off x="4257284" y="1079624"/>
        <a:ext cx="1068569" cy="924438"/>
      </dsp:txXfrm>
    </dsp:sp>
    <dsp:sp modelId="{FA5CAA03-F8FA-439E-A277-1E7578825949}">
      <dsp:nvSpPr>
        <dsp:cNvPr id="0" name=""/>
        <dsp:cNvSpPr/>
      </dsp:nvSpPr>
      <dsp:spPr>
        <a:xfrm>
          <a:off x="3830443" y="3250642"/>
          <a:ext cx="735872" cy="63405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53F19-9FDF-472F-B5AE-D2231C699C38}">
      <dsp:nvSpPr>
        <dsp:cNvPr id="0" name=""/>
        <dsp:cNvSpPr/>
      </dsp:nvSpPr>
      <dsp:spPr>
        <a:xfrm>
          <a:off x="3992408" y="2522411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str</a:t>
          </a:r>
        </a:p>
      </dsp:txBody>
      <dsp:txXfrm>
        <a:off x="4257284" y="2751560"/>
        <a:ext cx="1068569" cy="924438"/>
      </dsp:txXfrm>
    </dsp:sp>
    <dsp:sp modelId="{1810835D-A66D-4C16-8B25-70D0B8229D08}">
      <dsp:nvSpPr>
        <dsp:cNvPr id="0" name=""/>
        <dsp:cNvSpPr/>
      </dsp:nvSpPr>
      <dsp:spPr>
        <a:xfrm>
          <a:off x="2350533" y="3389534"/>
          <a:ext cx="735872" cy="63405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E1005-9B61-4619-A107-19CD72AC8D47}">
      <dsp:nvSpPr>
        <dsp:cNvPr id="0" name=""/>
        <dsp:cNvSpPr/>
      </dsp:nvSpPr>
      <dsp:spPr>
        <a:xfrm>
          <a:off x="2526561" y="3373837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bool</a:t>
          </a:r>
        </a:p>
      </dsp:txBody>
      <dsp:txXfrm>
        <a:off x="2791437" y="3602986"/>
        <a:ext cx="1068569" cy="924438"/>
      </dsp:txXfrm>
    </dsp:sp>
    <dsp:sp modelId="{6EB02FCF-BC68-41A8-AE02-9727E0792593}">
      <dsp:nvSpPr>
        <dsp:cNvPr id="0" name=""/>
        <dsp:cNvSpPr/>
      </dsp:nvSpPr>
      <dsp:spPr>
        <a:xfrm>
          <a:off x="1477648" y="2204672"/>
          <a:ext cx="735872" cy="634051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extrusionH="63500" prstMaterial="matte">
          <a:bevelT w="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AF597-8616-436D-A6FB-DD5A11CEE27B}">
      <dsp:nvSpPr>
        <dsp:cNvPr id="0" name=""/>
        <dsp:cNvSpPr/>
      </dsp:nvSpPr>
      <dsp:spPr>
        <a:xfrm>
          <a:off x="1053909" y="2523362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list</a:t>
          </a:r>
        </a:p>
      </dsp:txBody>
      <dsp:txXfrm>
        <a:off x="1318785" y="2752511"/>
        <a:ext cx="1068569" cy="924438"/>
      </dsp:txXfrm>
    </dsp:sp>
    <dsp:sp modelId="{0CF09EEF-748A-4B29-9703-518706E28366}">
      <dsp:nvSpPr>
        <dsp:cNvPr id="0" name=""/>
        <dsp:cNvSpPr/>
      </dsp:nvSpPr>
      <dsp:spPr>
        <a:xfrm>
          <a:off x="1053909" y="848572"/>
          <a:ext cx="1598321" cy="1382736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tuple</a:t>
          </a:r>
        </a:p>
      </dsp:txBody>
      <dsp:txXfrm>
        <a:off x="1318785" y="1077721"/>
        <a:ext cx="1068569" cy="924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hyperlink" Target="https://www.digitalocean.com/community/tutorials/install-python-windows-10#step-4-verify-the-python-installatio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8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6.jpg"/><Relationship Id="rId7" Type="http://schemas.openxmlformats.org/officeDocument/2006/relationships/image" Target="../media/image4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microsoft.com/office/2007/relationships/hdphoto" Target="../media/hdphoto1.wdp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5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37.png"/><Relationship Id="rId7" Type="http://schemas.openxmlformats.org/officeDocument/2006/relationships/image" Target="../media/image3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36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jpg"/><Relationship Id="rId4" Type="http://schemas.openxmlformats.org/officeDocument/2006/relationships/image" Target="../media/image30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2.png"/><Relationship Id="rId4" Type="http://schemas.openxmlformats.org/officeDocument/2006/relationships/image" Target="../media/image30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microsoft.com/office/2007/relationships/hdphoto" Target="../media/hdphoto2.wdp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65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microsoft.com/office/2007/relationships/hdphoto" Target="../media/hdphoto3.wdp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71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71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7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72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3.png"/><Relationship Id="rId4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7.png"/><Relationship Id="rId7" Type="http://schemas.openxmlformats.org/officeDocument/2006/relationships/image" Target="../media/image80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3.png"/><Relationship Id="rId4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37.png"/><Relationship Id="rId7" Type="http://schemas.openxmlformats.org/officeDocument/2006/relationships/image" Target="../media/image8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40.png"/><Relationship Id="rId4" Type="http://schemas.openxmlformats.org/officeDocument/2006/relationships/image" Target="../media/image73.png"/><Relationship Id="rId9" Type="http://schemas.microsoft.com/office/2007/relationships/hdphoto" Target="../media/hdphoto5.wdp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37.png"/><Relationship Id="rId7" Type="http://schemas.openxmlformats.org/officeDocument/2006/relationships/image" Target="../media/image8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40.png"/><Relationship Id="rId4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73.png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73.png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</a:rPr>
              <a:t>Huawei HCCDA-AI certification 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3BB1218-F04D-41DB-9003-3537B029DA2D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6A8039A-8E7C-4F99-AA10-76B305731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High-level, interpreted, general-purpose programming language.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Known for its clear syntax, readability, and simplicity.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D40C240-8732-4CF5-869D-63FFE265C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7289"/>
              </p:ext>
            </p:extLst>
          </p:nvPr>
        </p:nvGraphicFramePr>
        <p:xfrm>
          <a:off x="2032000" y="719666"/>
          <a:ext cx="4988560" cy="1289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280">
                  <a:extLst>
                    <a:ext uri="{9D8B030D-6E8A-4147-A177-3AD203B41FA5}">
                      <a16:colId xmlns:a16="http://schemas.microsoft.com/office/drawing/2014/main" val="3278341813"/>
                    </a:ext>
                  </a:extLst>
                </a:gridCol>
                <a:gridCol w="2494280">
                  <a:extLst>
                    <a:ext uri="{9D8B030D-6E8A-4147-A177-3AD203B41FA5}">
                      <a16:colId xmlns:a16="http://schemas.microsoft.com/office/drawing/2014/main" val="3873645260"/>
                    </a:ext>
                  </a:extLst>
                </a:gridCol>
              </a:tblGrid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Programming Foundations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68066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Python 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19456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Virtual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253558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Data Handling and Visualization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778656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579246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Pandas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99509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Matplotlib &amp; Seaborn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00695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Dask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15482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bg1"/>
                          </a:solidFill>
                        </a:rPr>
                        <a:t>Mathesmatics</a:t>
                      </a: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 for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001754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Linear Algebra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70269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Calculas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126405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Probability &amp; 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926369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Machine Learning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93267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Scikit</a:t>
                      </a:r>
                      <a:r>
                        <a:rPr lang="en-US" sz="1200" dirty="0"/>
                        <a:t>-Learn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03592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Model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495420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95881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Deep Learning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31375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Neural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61537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7555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Regularization Techniques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26429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Computer Vision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35425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17405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551743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Advanced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407075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NLP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188365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Text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27501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Language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66628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Transformers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249689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Time Series and Sequence Modeling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5643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36269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LSTM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41245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Applications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28547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Generative Models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606665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AutoEncoders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3605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314584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613304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Advanced Topics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634599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LLMs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19963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RF learning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30237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MLOps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020463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Ethics and Responsible AI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055143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Bias and Fairness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22391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Pravicy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845252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Regulations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0757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Capstone Project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126658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Project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616849"/>
                  </a:ext>
                </a:extLst>
              </a:tr>
              <a:tr h="241255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4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4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Introduction to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51" name="Subtitle 2">
            <a:extLst>
              <a:ext uri="{FF2B5EF4-FFF2-40B4-BE49-F238E27FC236}">
                <a16:creationId xmlns:a16="http://schemas.microsoft.com/office/drawing/2014/main" id="{B2F2659B-32B7-4789-BDCB-09CDCA3C5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3C32022-CD51-43A0-8E0D-E593D4A08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1" y="2239705"/>
            <a:ext cx="5101340" cy="28703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82AC50C-A9FC-4218-93FF-3EEA82A85526}"/>
              </a:ext>
            </a:extLst>
          </p:cNvPr>
          <p:cNvGrpSpPr/>
          <p:nvPr/>
        </p:nvGrpSpPr>
        <p:grpSpPr>
          <a:xfrm>
            <a:off x="296987" y="1722590"/>
            <a:ext cx="6896293" cy="1205102"/>
            <a:chOff x="465996" y="2118830"/>
            <a:chExt cx="8029128" cy="12051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808A7C-1526-460A-9083-F61E844DE386}"/>
                </a:ext>
              </a:extLst>
            </p:cNvPr>
            <p:cNvSpPr txBox="1"/>
            <p:nvPr/>
          </p:nvSpPr>
          <p:spPr>
            <a:xfrm>
              <a:off x="465996" y="2616046"/>
              <a:ext cx="8029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High-level, interpreted, general-purpose programming language.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Known for its clear syntax, readability, and simplicity.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E09C0E-12BF-45E5-A2E2-91DF25E657A8}"/>
                </a:ext>
              </a:extLst>
            </p:cNvPr>
            <p:cNvSpPr txBox="1"/>
            <p:nvPr/>
          </p:nvSpPr>
          <p:spPr>
            <a:xfrm>
              <a:off x="2092960" y="2118830"/>
              <a:ext cx="426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What Is Python?</a:t>
              </a:r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06A8039A-8E7C-4F99-AA10-76B305731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High-level, interpreted, general-purpose programming language.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Known for its clear syntax, readability, and simplicity.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4F3A22-66A6-48A4-8D88-993FAAAAD7CF}"/>
              </a:ext>
            </a:extLst>
          </p:cNvPr>
          <p:cNvGrpSpPr/>
          <p:nvPr/>
        </p:nvGrpSpPr>
        <p:grpSpPr>
          <a:xfrm>
            <a:off x="296987" y="3674882"/>
            <a:ext cx="7444933" cy="1512879"/>
            <a:chOff x="465996" y="2118830"/>
            <a:chExt cx="8667892" cy="151287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129D60E-E9EC-4A63-98A1-88542C4CD065}"/>
                </a:ext>
              </a:extLst>
            </p:cNvPr>
            <p:cNvSpPr txBox="1"/>
            <p:nvPr/>
          </p:nvSpPr>
          <p:spPr>
            <a:xfrm>
              <a:off x="465996" y="2616046"/>
              <a:ext cx="866789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Easy to learn and write.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Versatile for web development, data analysis, automation, and more.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Large standard library and active community support.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AD5628-FFC4-4FEA-B2D5-5E7CE75EB5E1}"/>
                </a:ext>
              </a:extLst>
            </p:cNvPr>
            <p:cNvSpPr txBox="1"/>
            <p:nvPr/>
          </p:nvSpPr>
          <p:spPr>
            <a:xfrm>
              <a:off x="2092960" y="2118830"/>
              <a:ext cx="426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Key Features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2CD34E3-ACE0-4593-82D2-64C17BEE67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02" y="1570040"/>
            <a:ext cx="766763" cy="7667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6FA629-318E-4AB8-A319-6EDF27619D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677" y="3587195"/>
            <a:ext cx="584903" cy="58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5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Key characteristics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F1D54A29-CEBA-496B-A76A-8F41E42649F6}"/>
              </a:ext>
            </a:extLst>
          </p:cNvPr>
          <p:cNvGrpSpPr/>
          <p:nvPr/>
        </p:nvGrpSpPr>
        <p:grpSpPr>
          <a:xfrm>
            <a:off x="1463957" y="2273437"/>
            <a:ext cx="4185143" cy="2641754"/>
            <a:chOff x="1463957" y="2273437"/>
            <a:chExt cx="4185143" cy="264175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B1DF7C-A037-4351-9BB0-8149AB374C6B}"/>
                </a:ext>
              </a:extLst>
            </p:cNvPr>
            <p:cNvGrpSpPr/>
            <p:nvPr/>
          </p:nvGrpSpPr>
          <p:grpSpPr>
            <a:xfrm>
              <a:off x="1463957" y="2273437"/>
              <a:ext cx="3990937" cy="947224"/>
              <a:chOff x="163477" y="2106101"/>
              <a:chExt cx="3990937" cy="947224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01B31BF-766F-415B-AB1A-B60E02EE1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477" y="2106101"/>
                <a:ext cx="1391003" cy="947224"/>
              </a:xfrm>
              <a:prstGeom prst="rect">
                <a:avLst/>
              </a:prstGeom>
            </p:spPr>
          </p:pic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380FC4E-0A00-4534-9520-C820A39EC1EC}"/>
                  </a:ext>
                </a:extLst>
              </p:cNvPr>
              <p:cNvSpPr txBox="1"/>
              <p:nvPr/>
            </p:nvSpPr>
            <p:spPr>
              <a:xfrm>
                <a:off x="1350037" y="2379658"/>
                <a:ext cx="28043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Simple, abstracted coding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9ADCAA8-7E90-43D8-81CE-71557C36ED0A}"/>
                </a:ext>
              </a:extLst>
            </p:cNvPr>
            <p:cNvGrpSpPr/>
            <p:nvPr/>
          </p:nvGrpSpPr>
          <p:grpSpPr>
            <a:xfrm>
              <a:off x="1463957" y="4165930"/>
              <a:ext cx="4185143" cy="749261"/>
              <a:chOff x="188191" y="4386538"/>
              <a:chExt cx="4185143" cy="74926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CC308C5-5D56-4A30-A099-2E5F2DEC0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191" y="4386538"/>
                <a:ext cx="1363290" cy="749261"/>
              </a:xfrm>
              <a:prstGeom prst="rect">
                <a:avLst/>
              </a:prstGeom>
            </p:spPr>
          </p:pic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6C1D3041-B1F3-4173-A647-A681BA42BF91}"/>
                  </a:ext>
                </a:extLst>
              </p:cNvPr>
              <p:cNvSpPr txBox="1"/>
              <p:nvPr/>
            </p:nvSpPr>
            <p:spPr>
              <a:xfrm>
                <a:off x="1350037" y="4447334"/>
                <a:ext cx="30232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Runs without compilation</a:t>
                </a:r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751D131-95A5-4952-A29D-E3A50C318267}"/>
              </a:ext>
            </a:extLst>
          </p:cNvPr>
          <p:cNvGrpSpPr/>
          <p:nvPr/>
        </p:nvGrpSpPr>
        <p:grpSpPr>
          <a:xfrm>
            <a:off x="6147124" y="2379658"/>
            <a:ext cx="4419275" cy="2477314"/>
            <a:chOff x="6147124" y="2460938"/>
            <a:chExt cx="4419275" cy="247731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33B982C-CA6A-4A96-A3E2-421D1EBF994D}"/>
                </a:ext>
              </a:extLst>
            </p:cNvPr>
            <p:cNvGrpSpPr/>
            <p:nvPr/>
          </p:nvGrpSpPr>
          <p:grpSpPr>
            <a:xfrm>
              <a:off x="6375803" y="2460938"/>
              <a:ext cx="3941198" cy="875608"/>
              <a:chOff x="6375803" y="2460938"/>
              <a:chExt cx="3941198" cy="87560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215C010-E991-47D3-B813-9052DC1213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5803" y="2460938"/>
                <a:ext cx="1483469" cy="875608"/>
              </a:xfrm>
              <a:prstGeom prst="rect">
                <a:avLst/>
              </a:prstGeom>
            </p:spPr>
          </p:pic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DD476CE-7AB5-4C39-B1A4-BF4289C6F91D}"/>
                  </a:ext>
                </a:extLst>
              </p:cNvPr>
              <p:cNvSpPr txBox="1"/>
              <p:nvPr/>
            </p:nvSpPr>
            <p:spPr>
              <a:xfrm>
                <a:off x="7634543" y="2583294"/>
                <a:ext cx="26824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Classes, objects support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22B3E0D-AA7E-40C0-9B4A-D113B352E093}"/>
                </a:ext>
              </a:extLst>
            </p:cNvPr>
            <p:cNvGrpSpPr/>
            <p:nvPr/>
          </p:nvGrpSpPr>
          <p:grpSpPr>
            <a:xfrm>
              <a:off x="6147124" y="3942902"/>
              <a:ext cx="4419275" cy="995350"/>
              <a:chOff x="6147124" y="3942902"/>
              <a:chExt cx="4419275" cy="995350"/>
            </a:xfrm>
          </p:grpSpPr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215CBA8-A874-415D-98C8-214BC97F1982}"/>
                  </a:ext>
                </a:extLst>
              </p:cNvPr>
              <p:cNvSpPr txBox="1"/>
              <p:nvPr/>
            </p:nvSpPr>
            <p:spPr>
              <a:xfrm>
                <a:off x="7634542" y="4140450"/>
                <a:ext cx="29318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Versatile, multi-domain use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B530B44F-8A34-4141-A5BE-129779A2B4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47124" y="3942902"/>
                <a:ext cx="1772969" cy="99535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3614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Conti…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BD67C-4402-4398-8D47-101BB3796893}"/>
              </a:ext>
            </a:extLst>
          </p:cNvPr>
          <p:cNvGrpSpPr/>
          <p:nvPr/>
        </p:nvGrpSpPr>
        <p:grpSpPr>
          <a:xfrm>
            <a:off x="6355422" y="1895988"/>
            <a:ext cx="3930558" cy="948298"/>
            <a:chOff x="6386443" y="2414896"/>
            <a:chExt cx="3930558" cy="948298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DD476CE-7AB5-4C39-B1A4-BF4289C6F91D}"/>
                </a:ext>
              </a:extLst>
            </p:cNvPr>
            <p:cNvSpPr txBox="1"/>
            <p:nvPr/>
          </p:nvSpPr>
          <p:spPr>
            <a:xfrm>
              <a:off x="7634543" y="2583294"/>
              <a:ext cx="26824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Rich libraries, tools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2B2DF1-D9DE-4F46-A1D8-482C00D77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6443" y="2414896"/>
              <a:ext cx="1503310" cy="948298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A54B08B-B53F-4E2C-BE00-8BDDC949E767}"/>
              </a:ext>
            </a:extLst>
          </p:cNvPr>
          <p:cNvGrpSpPr/>
          <p:nvPr/>
        </p:nvGrpSpPr>
        <p:grpSpPr>
          <a:xfrm>
            <a:off x="6329414" y="3627917"/>
            <a:ext cx="4206505" cy="856215"/>
            <a:chOff x="6359894" y="3912397"/>
            <a:chExt cx="4206505" cy="856215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215CBA8-A874-415D-98C8-214BC97F1982}"/>
                </a:ext>
              </a:extLst>
            </p:cNvPr>
            <p:cNvSpPr txBox="1"/>
            <p:nvPr/>
          </p:nvSpPr>
          <p:spPr>
            <a:xfrm>
              <a:off x="7634542" y="4140450"/>
              <a:ext cx="29318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Runs on all OS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7654859-BEAE-4F94-AA0C-6D087BD18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9894" y="3912397"/>
              <a:ext cx="1556408" cy="856215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8D4F79-7620-4C51-ABED-71D34E688932}"/>
              </a:ext>
            </a:extLst>
          </p:cNvPr>
          <p:cNvGrpSpPr/>
          <p:nvPr/>
        </p:nvGrpSpPr>
        <p:grpSpPr>
          <a:xfrm>
            <a:off x="1441997" y="1992255"/>
            <a:ext cx="4171063" cy="856214"/>
            <a:chOff x="1259117" y="2460938"/>
            <a:chExt cx="4171063" cy="85621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380FC4E-0A00-4534-9520-C820A39EC1EC}"/>
                </a:ext>
              </a:extLst>
            </p:cNvPr>
            <p:cNvSpPr txBox="1"/>
            <p:nvPr/>
          </p:nvSpPr>
          <p:spPr>
            <a:xfrm>
              <a:off x="2625803" y="2608511"/>
              <a:ext cx="28043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Integrates external code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BC5DC4F-6E6E-4E22-B241-DB32C6EC5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9117" y="2460938"/>
              <a:ext cx="1772969" cy="856214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0DA48DA-4FF7-4298-9E3E-160F0CDB7016}"/>
              </a:ext>
            </a:extLst>
          </p:cNvPr>
          <p:cNvGrpSpPr/>
          <p:nvPr/>
        </p:nvGrpSpPr>
        <p:grpSpPr>
          <a:xfrm>
            <a:off x="1631940" y="3569878"/>
            <a:ext cx="4454040" cy="856214"/>
            <a:chOff x="1195060" y="4122678"/>
            <a:chExt cx="4454040" cy="856214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C1D3041-B1F3-4173-A647-A681BA42BF91}"/>
                </a:ext>
              </a:extLst>
            </p:cNvPr>
            <p:cNvSpPr txBox="1"/>
            <p:nvPr/>
          </p:nvSpPr>
          <p:spPr>
            <a:xfrm>
              <a:off x="2625803" y="4226726"/>
              <a:ext cx="302329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Flexible variable types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CEE82D-1CBC-49EF-83F1-4AC097B7E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95060" y="4122678"/>
              <a:ext cx="1971887" cy="856214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B13266-CD40-4120-90FB-B97E1D5FB306}"/>
              </a:ext>
            </a:extLst>
          </p:cNvPr>
          <p:cNvGrpSpPr/>
          <p:nvPr/>
        </p:nvGrpSpPr>
        <p:grpSpPr>
          <a:xfrm>
            <a:off x="1631940" y="5221358"/>
            <a:ext cx="4319205" cy="782452"/>
            <a:chOff x="4804342" y="5363483"/>
            <a:chExt cx="4319205" cy="78245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61BF8EC-5549-4934-BCD5-3CAAF0668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04342" y="5363483"/>
              <a:ext cx="1586841" cy="78245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2F3E7A-E103-472E-A91C-EA780F17976C}"/>
                </a:ext>
              </a:extLst>
            </p:cNvPr>
            <p:cNvSpPr txBox="1"/>
            <p:nvPr/>
          </p:nvSpPr>
          <p:spPr>
            <a:xfrm>
              <a:off x="6191690" y="5410400"/>
              <a:ext cx="29318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Active, supportive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116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Python Programming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D7334-7330-4D51-9243-C2C3E7955136}"/>
              </a:ext>
            </a:extLst>
          </p:cNvPr>
          <p:cNvGrpSpPr/>
          <p:nvPr/>
        </p:nvGrpSpPr>
        <p:grpSpPr>
          <a:xfrm>
            <a:off x="1375983" y="1751190"/>
            <a:ext cx="6121497" cy="4839185"/>
            <a:chOff x="403672" y="2082904"/>
            <a:chExt cx="5107164" cy="483918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4540A7-976A-49E7-84AA-017376E56925}"/>
                </a:ext>
              </a:extLst>
            </p:cNvPr>
            <p:cNvSpPr txBox="1"/>
            <p:nvPr/>
          </p:nvSpPr>
          <p:spPr>
            <a:xfrm>
              <a:off x="499229" y="2082904"/>
              <a:ext cx="50116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u="sng" dirty="0">
                  <a:solidFill>
                    <a:schemeClr val="bg1"/>
                  </a:solidFill>
                </a:rPr>
                <a:t>Applications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FF08E8-7E21-4C94-8875-558E00F10B1D}"/>
                </a:ext>
              </a:extLst>
            </p:cNvPr>
            <p:cNvSpPr txBox="1"/>
            <p:nvPr/>
          </p:nvSpPr>
          <p:spPr>
            <a:xfrm>
              <a:off x="403672" y="2767105"/>
              <a:ext cx="5011607" cy="415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Web Development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Data Science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Data Analytics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Machine Learning &amp; AI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Automation and Scripting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Software Development and Prototyping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Desktop GUI applications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Scientific and Numeric Computing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Game Development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2400" dirty="0">
                  <a:solidFill>
                    <a:schemeClr val="bg1"/>
                  </a:solidFill>
                </a:rPr>
                <a:t>Education and Research</a:t>
              </a:r>
            </a:p>
            <a:p>
              <a:pPr marL="285750" indent="-285750" algn="just">
                <a:buFontTx/>
                <a:buChar char="-"/>
              </a:pP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5361D1-B1C7-4C9B-AE23-737B0F897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575" y="1482779"/>
            <a:ext cx="1262646" cy="12626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BC7B14-8272-4DF0-9C3B-ABA4131069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894" y="4532182"/>
            <a:ext cx="1549083" cy="15490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7701018-38E4-4124-A278-3D5B038AF4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89" b="27843"/>
          <a:stretch/>
        </p:blipFill>
        <p:spPr>
          <a:xfrm>
            <a:off x="9979977" y="3280733"/>
            <a:ext cx="2066925" cy="13671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066AEF-E7EC-4276-8A66-C6C4BE762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735" y="1847351"/>
            <a:ext cx="1367150" cy="1367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F2FCE24-51C2-4254-A712-B37F12ACB5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009" y="4991602"/>
            <a:ext cx="1549084" cy="154908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B394AF-B5A8-482D-8CBC-0C26E8EE25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551" y="3162552"/>
            <a:ext cx="1411923" cy="141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6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Setting Up the Python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31849-246E-45BF-9FD4-EF6A2818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45" y="1455779"/>
            <a:ext cx="7297032" cy="4905299"/>
          </a:xfrm>
          <a:prstGeom prst="roundRect">
            <a:avLst>
              <a:gd name="adj" fmla="val 505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BF728FA-4886-4B0E-AAE8-20DF584DB11A}"/>
              </a:ext>
            </a:extLst>
          </p:cNvPr>
          <p:cNvSpPr txBox="1"/>
          <p:nvPr/>
        </p:nvSpPr>
        <p:spPr>
          <a:xfrm>
            <a:off x="41078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Download Python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5A3B55-3D35-4E79-B592-C979A916FECE}"/>
              </a:ext>
            </a:extLst>
          </p:cNvPr>
          <p:cNvSpPr/>
          <p:nvPr/>
        </p:nvSpPr>
        <p:spPr>
          <a:xfrm>
            <a:off x="137598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8404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Setting Up the Python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31849-246E-45BF-9FD4-EF6A2818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2" y="3315060"/>
            <a:ext cx="2587175" cy="1739182"/>
          </a:xfrm>
          <a:prstGeom prst="roundRect">
            <a:avLst>
              <a:gd name="adj" fmla="val 2659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2EFD5F-4AFA-4E47-9E76-3267BC4CE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431" y="2096401"/>
            <a:ext cx="5156688" cy="306487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D6FF7A6-471C-4447-A8D7-902F5AEAD144}"/>
              </a:ext>
            </a:extLst>
          </p:cNvPr>
          <p:cNvSpPr/>
          <p:nvPr/>
        </p:nvSpPr>
        <p:spPr>
          <a:xfrm rot="16200000">
            <a:off x="7813039" y="5578028"/>
            <a:ext cx="1168400" cy="5099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B3B25-75B0-4819-8765-A34249CFCB94}"/>
              </a:ext>
            </a:extLst>
          </p:cNvPr>
          <p:cNvSpPr txBox="1"/>
          <p:nvPr/>
        </p:nvSpPr>
        <p:spPr>
          <a:xfrm>
            <a:off x="41078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Download Python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81D5D0-F1AA-4A9E-AE22-C23287D24E13}"/>
              </a:ext>
            </a:extLst>
          </p:cNvPr>
          <p:cNvSpPr/>
          <p:nvPr/>
        </p:nvSpPr>
        <p:spPr>
          <a:xfrm>
            <a:off x="137598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34A177-ED82-4BDA-B068-61915CF6E595}"/>
              </a:ext>
            </a:extLst>
          </p:cNvPr>
          <p:cNvSpPr txBox="1"/>
          <p:nvPr/>
        </p:nvSpPr>
        <p:spPr>
          <a:xfrm>
            <a:off x="414966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Install Python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2E43CC-145A-406D-AEEB-40EFEB6B80CC}"/>
              </a:ext>
            </a:extLst>
          </p:cNvPr>
          <p:cNvSpPr/>
          <p:nvPr/>
        </p:nvSpPr>
        <p:spPr>
          <a:xfrm>
            <a:off x="511486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952C6E0-A856-4D63-BC90-6F665A07314A}"/>
              </a:ext>
            </a:extLst>
          </p:cNvPr>
          <p:cNvSpPr/>
          <p:nvPr/>
        </p:nvSpPr>
        <p:spPr>
          <a:xfrm>
            <a:off x="6970993" y="3060103"/>
            <a:ext cx="1168400" cy="5099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BBAEB3-1EF7-4E94-A5DD-83FF55DE9070}"/>
              </a:ext>
            </a:extLst>
          </p:cNvPr>
          <p:cNvSpPr/>
          <p:nvPr/>
        </p:nvSpPr>
        <p:spPr>
          <a:xfrm>
            <a:off x="8013069" y="5803303"/>
            <a:ext cx="768340" cy="6433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16161A-01D8-4495-A73D-8EA0D27169E7}"/>
              </a:ext>
            </a:extLst>
          </p:cNvPr>
          <p:cNvSpPr/>
          <p:nvPr/>
        </p:nvSpPr>
        <p:spPr>
          <a:xfrm>
            <a:off x="6752058" y="2985482"/>
            <a:ext cx="768340" cy="6433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699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Setting Up the Python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31849-246E-45BF-9FD4-EF6A2818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2" y="3315060"/>
            <a:ext cx="2587175" cy="1739182"/>
          </a:xfrm>
          <a:prstGeom prst="roundRect">
            <a:avLst>
              <a:gd name="adj" fmla="val 2659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2EFD5F-4AFA-4E47-9E76-3267BC4CE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751" y="2725780"/>
            <a:ext cx="2587174" cy="15376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179E0F-9C83-4E90-81E3-A09F7D4811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199" y="1184547"/>
            <a:ext cx="4888284" cy="30051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ACD583-C73F-4A65-A8DD-DC2FE1286862}"/>
              </a:ext>
            </a:extLst>
          </p:cNvPr>
          <p:cNvSpPr txBox="1"/>
          <p:nvPr/>
        </p:nvSpPr>
        <p:spPr>
          <a:xfrm>
            <a:off x="41078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Download Python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4FB807-47C3-436B-A4E0-B30EF93310A2}"/>
              </a:ext>
            </a:extLst>
          </p:cNvPr>
          <p:cNvSpPr/>
          <p:nvPr/>
        </p:nvSpPr>
        <p:spPr>
          <a:xfrm>
            <a:off x="137598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00EA1-5ADB-40DA-938E-5FFE2FB800D4}"/>
              </a:ext>
            </a:extLst>
          </p:cNvPr>
          <p:cNvSpPr txBox="1"/>
          <p:nvPr/>
        </p:nvSpPr>
        <p:spPr>
          <a:xfrm>
            <a:off x="414966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Install Python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E0C8D7-A619-4D90-AD26-CD6F055FAAC3}"/>
              </a:ext>
            </a:extLst>
          </p:cNvPr>
          <p:cNvSpPr/>
          <p:nvPr/>
        </p:nvSpPr>
        <p:spPr>
          <a:xfrm>
            <a:off x="511486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785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Setting Up the Python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814875-B7DA-4C3F-AE3D-6EB5A3621A59}"/>
              </a:ext>
            </a:extLst>
          </p:cNvPr>
          <p:cNvSpPr txBox="1"/>
          <p:nvPr/>
        </p:nvSpPr>
        <p:spPr>
          <a:xfrm>
            <a:off x="41078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Download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731849-246E-45BF-9FD4-EF6A2818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2" y="3315060"/>
            <a:ext cx="2587175" cy="1739182"/>
          </a:xfrm>
          <a:prstGeom prst="roundRect">
            <a:avLst>
              <a:gd name="adj" fmla="val 2659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8745344-1A39-4A74-9F73-3959CB3CD51F}"/>
              </a:ext>
            </a:extLst>
          </p:cNvPr>
          <p:cNvSpPr/>
          <p:nvPr/>
        </p:nvSpPr>
        <p:spPr>
          <a:xfrm>
            <a:off x="137598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BB227-7B7E-4CFD-858B-97D22B3E1581}"/>
              </a:ext>
            </a:extLst>
          </p:cNvPr>
          <p:cNvSpPr txBox="1"/>
          <p:nvPr/>
        </p:nvSpPr>
        <p:spPr>
          <a:xfrm>
            <a:off x="414966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Install Python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AA1133-5AC1-4AF2-8651-3273806633C7}"/>
              </a:ext>
            </a:extLst>
          </p:cNvPr>
          <p:cNvSpPr/>
          <p:nvPr/>
        </p:nvSpPr>
        <p:spPr>
          <a:xfrm>
            <a:off x="511486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179E0F-9C83-4E90-81E3-A09F7D481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534" y="4215161"/>
            <a:ext cx="2501231" cy="15376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B39A23-0796-49B6-A6CF-39FEAA243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160" y="1849947"/>
            <a:ext cx="4671840" cy="26065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4C7488-9ECC-422E-B688-FCB569B89D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751" y="2725780"/>
            <a:ext cx="2587174" cy="15376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4936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Setting Up the Python Environment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814875-B7DA-4C3F-AE3D-6EB5A3621A59}"/>
              </a:ext>
            </a:extLst>
          </p:cNvPr>
          <p:cNvSpPr txBox="1"/>
          <p:nvPr/>
        </p:nvSpPr>
        <p:spPr>
          <a:xfrm>
            <a:off x="41078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Download Python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731849-246E-45BF-9FD4-EF6A28183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962" y="3315060"/>
            <a:ext cx="2587175" cy="1739182"/>
          </a:xfrm>
          <a:prstGeom prst="roundRect">
            <a:avLst>
              <a:gd name="adj" fmla="val 26595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8745344-1A39-4A74-9F73-3959CB3CD51F}"/>
              </a:ext>
            </a:extLst>
          </p:cNvPr>
          <p:cNvSpPr/>
          <p:nvPr/>
        </p:nvSpPr>
        <p:spPr>
          <a:xfrm>
            <a:off x="137598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5BB227-7B7E-4CFD-858B-97D22B3E1581}"/>
              </a:ext>
            </a:extLst>
          </p:cNvPr>
          <p:cNvSpPr txBox="1"/>
          <p:nvPr/>
        </p:nvSpPr>
        <p:spPr>
          <a:xfrm>
            <a:off x="4586542" y="2175748"/>
            <a:ext cx="291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Install Python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AA1133-5AC1-4AF2-8651-3273806633C7}"/>
              </a:ext>
            </a:extLst>
          </p:cNvPr>
          <p:cNvSpPr/>
          <p:nvPr/>
        </p:nvSpPr>
        <p:spPr>
          <a:xfrm>
            <a:off x="5551743" y="142928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B39A23-0796-49B6-A6CF-39FEAA243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89" y="4616501"/>
            <a:ext cx="2911536" cy="1624433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BF229D-08E6-48E8-AD70-CD5CB7E2B1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911" y="2868020"/>
            <a:ext cx="2587174" cy="1537688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F0D9AB-3BC6-473B-A2DE-2C524A43F2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72" y="2868019"/>
            <a:ext cx="2501231" cy="1537689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softEdge rad="11250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A73F06E-71A0-4614-B495-1C9A6D3A6113}"/>
              </a:ext>
            </a:extLst>
          </p:cNvPr>
          <p:cNvSpPr txBox="1"/>
          <p:nvPr/>
        </p:nvSpPr>
        <p:spPr>
          <a:xfrm>
            <a:off x="8701342" y="2143108"/>
            <a:ext cx="29115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Verify the Python Installation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913782C-D9FB-43A0-9EB3-21CB5FD1EE17}"/>
              </a:ext>
            </a:extLst>
          </p:cNvPr>
          <p:cNvSpPr/>
          <p:nvPr/>
        </p:nvSpPr>
        <p:spPr>
          <a:xfrm>
            <a:off x="9666543" y="1396642"/>
            <a:ext cx="768340" cy="64335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4AB536-5715-4A74-86BA-4717B7D7574D}"/>
              </a:ext>
            </a:extLst>
          </p:cNvPr>
          <p:cNvSpPr txBox="1"/>
          <p:nvPr/>
        </p:nvSpPr>
        <p:spPr>
          <a:xfrm>
            <a:off x="8777865" y="3162530"/>
            <a:ext cx="35015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 to 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</a:rPr>
              <a:t>nter </a:t>
            </a:r>
            <a:r>
              <a:rPr lang="en-US" b="1" dirty="0" err="1">
                <a:solidFill>
                  <a:schemeClr val="bg1"/>
                </a:solidFill>
              </a:rPr>
              <a:t>cmd</a:t>
            </a:r>
            <a:r>
              <a:rPr lang="en-US" dirty="0">
                <a:solidFill>
                  <a:schemeClr val="bg1"/>
                </a:solidFill>
              </a:rPr>
              <a:t> in the search bar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Click Command Prompt</a:t>
            </a:r>
          </a:p>
          <a:p>
            <a:r>
              <a:rPr lang="en-US" dirty="0">
                <a:solidFill>
                  <a:schemeClr val="bg1"/>
                </a:solidFill>
              </a:rPr>
              <a:t>Enter</a:t>
            </a:r>
            <a:r>
              <a:rPr lang="en-US" b="1" dirty="0">
                <a:solidFill>
                  <a:schemeClr val="bg1"/>
                </a:solidFill>
              </a:rPr>
              <a:t> python --version.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33513DD-0DD6-42A8-A5AE-ABF3BA5224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22" y="4967898"/>
            <a:ext cx="4058175" cy="12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4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effectLst/>
              </a:rPr>
              <a:t>Install Python via Anaconda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0149FF5-5E87-465C-B131-71421EDBF33B}"/>
              </a:ext>
            </a:extLst>
          </p:cNvPr>
          <p:cNvGrpSpPr/>
          <p:nvPr/>
        </p:nvGrpSpPr>
        <p:grpSpPr>
          <a:xfrm>
            <a:off x="1471606" y="3795941"/>
            <a:ext cx="4183573" cy="1205102"/>
            <a:chOff x="465996" y="2118830"/>
            <a:chExt cx="6799769" cy="12051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BE0C25-19A5-429B-9727-1664E20BDAEF}"/>
                </a:ext>
              </a:extLst>
            </p:cNvPr>
            <p:cNvSpPr txBox="1"/>
            <p:nvPr/>
          </p:nvSpPr>
          <p:spPr>
            <a:xfrm>
              <a:off x="465996" y="2616046"/>
              <a:ext cx="67997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Visit the official Anaconda website.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Select the installer for your OS.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3F2B92-73D5-49B9-ACE0-F6A98145ED54}"/>
                </a:ext>
              </a:extLst>
            </p:cNvPr>
            <p:cNvSpPr txBox="1"/>
            <p:nvPr/>
          </p:nvSpPr>
          <p:spPr>
            <a:xfrm>
              <a:off x="1809631" y="2118830"/>
              <a:ext cx="45505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3">
                      <a:lumMod val="75000"/>
                    </a:schemeClr>
                  </a:solidFill>
                </a:rPr>
                <a:t>Download Anaconda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9759B2-5184-439A-A681-FD7B6BE2E128}"/>
              </a:ext>
            </a:extLst>
          </p:cNvPr>
          <p:cNvGrpSpPr/>
          <p:nvPr/>
        </p:nvGrpSpPr>
        <p:grpSpPr>
          <a:xfrm>
            <a:off x="6429685" y="3808949"/>
            <a:ext cx="4183573" cy="1512879"/>
            <a:chOff x="465996" y="2118830"/>
            <a:chExt cx="6330794" cy="151287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74B8ECD-BE32-4A1E-8900-4BB1783886A3}"/>
                </a:ext>
              </a:extLst>
            </p:cNvPr>
            <p:cNvSpPr txBox="1"/>
            <p:nvPr/>
          </p:nvSpPr>
          <p:spPr>
            <a:xfrm>
              <a:off x="465996" y="2616046"/>
              <a:ext cx="633079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Run the setup file.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Follow default installation options (Windows/Mac/Linux).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E55DB9-0CD3-40C7-ADFA-B28B4D79AA2C}"/>
                </a:ext>
              </a:extLst>
            </p:cNvPr>
            <p:cNvSpPr txBox="1"/>
            <p:nvPr/>
          </p:nvSpPr>
          <p:spPr>
            <a:xfrm>
              <a:off x="1809631" y="2118830"/>
              <a:ext cx="45505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6">
                      <a:lumMod val="75000"/>
                    </a:schemeClr>
                  </a:solidFill>
                </a:rPr>
                <a:t>Installation Process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1E6CDD4-7D2C-465A-9503-AB4F61BE6861}"/>
              </a:ext>
            </a:extLst>
          </p:cNvPr>
          <p:cNvGrpSpPr/>
          <p:nvPr/>
        </p:nvGrpSpPr>
        <p:grpSpPr>
          <a:xfrm>
            <a:off x="1471606" y="1615083"/>
            <a:ext cx="6099189" cy="1345417"/>
            <a:chOff x="3708607" y="1843206"/>
            <a:chExt cx="6099189" cy="134541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135FE8-FAEA-4BAD-9FDA-4D6EE59C19EE}"/>
                </a:ext>
              </a:extLst>
            </p:cNvPr>
            <p:cNvGrpSpPr/>
            <p:nvPr/>
          </p:nvGrpSpPr>
          <p:grpSpPr>
            <a:xfrm>
              <a:off x="3708607" y="1983521"/>
              <a:ext cx="6099189" cy="1205102"/>
              <a:chOff x="465996" y="2118830"/>
              <a:chExt cx="9229601" cy="1205102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BDCB18-7277-4224-A23A-0057491DED79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92296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Includes Python,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Jupyter</a:t>
                </a:r>
                <a:r>
                  <a:rPr lang="en-US" sz="2000" dirty="0">
                    <a:solidFill>
                      <a:schemeClr val="bg1"/>
                    </a:solidFill>
                  </a:rPr>
                  <a:t> Notebook, and key libraries.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Simplifies setup for immediate coding.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DAE8F9-A251-437B-B435-9117DC22F802}"/>
                  </a:ext>
                </a:extLst>
              </p:cNvPr>
              <p:cNvSpPr txBox="1"/>
              <p:nvPr/>
            </p:nvSpPr>
            <p:spPr>
              <a:xfrm>
                <a:off x="1809631" y="2118830"/>
                <a:ext cx="4550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2">
                        <a:lumMod val="75000"/>
                      </a:schemeClr>
                    </a:solidFill>
                  </a:rPr>
                  <a:t>Why Anaconda?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D22247-04EA-4C8F-8217-55F06F076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6024" y="1843206"/>
              <a:ext cx="601980" cy="60198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23D6942C-94E5-4898-98EA-FE3D968F4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078" y="3850682"/>
            <a:ext cx="350202" cy="3502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96A6AA-F00A-4D62-960F-0142657E030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13"/>
          <a:stretch/>
        </p:blipFill>
        <p:spPr>
          <a:xfrm>
            <a:off x="6975158" y="3794950"/>
            <a:ext cx="515326" cy="4616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E49CD4E-FE4E-4485-A308-5795C31B41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567" y="1545441"/>
            <a:ext cx="2867025" cy="15906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21F975-6A40-4204-B6C3-439778E3A7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705" y="3113067"/>
            <a:ext cx="1138873" cy="63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0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bg1"/>
                </a:solidFill>
                <a:effectLst/>
              </a:rPr>
              <a:t>Set Up </a:t>
            </a:r>
            <a:r>
              <a:rPr lang="en-US" sz="4900" b="1" dirty="0" err="1">
                <a:solidFill>
                  <a:schemeClr val="bg1"/>
                </a:solidFill>
                <a:effectLst/>
              </a:rPr>
              <a:t>Jupyter</a:t>
            </a:r>
            <a:r>
              <a:rPr lang="en-US" sz="4900" b="1" dirty="0">
                <a:solidFill>
                  <a:schemeClr val="bg1"/>
                </a:solidFill>
                <a:effectLst/>
              </a:rPr>
              <a:t>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A4C92B1-556D-4D80-9E8D-AB32D5DD38D5}"/>
              </a:ext>
            </a:extLst>
          </p:cNvPr>
          <p:cNvGrpSpPr/>
          <p:nvPr/>
        </p:nvGrpSpPr>
        <p:grpSpPr>
          <a:xfrm>
            <a:off x="6485507" y="1912949"/>
            <a:ext cx="4892612" cy="1538733"/>
            <a:chOff x="6070028" y="1650580"/>
            <a:chExt cx="4892612" cy="15387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149FF5-5E87-465C-B131-71421EDBF33B}"/>
                </a:ext>
              </a:extLst>
            </p:cNvPr>
            <p:cNvGrpSpPr/>
            <p:nvPr/>
          </p:nvGrpSpPr>
          <p:grpSpPr>
            <a:xfrm>
              <a:off x="6070028" y="2291987"/>
              <a:ext cx="4892612" cy="897326"/>
              <a:chOff x="465996" y="2118830"/>
              <a:chExt cx="7952205" cy="89732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BE0C25-19A5-429B-9727-1664E20BDAEF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79522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In Navigator, click the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Jupyter</a:t>
                </a:r>
                <a:r>
                  <a:rPr lang="en-US" sz="2000" dirty="0">
                    <a:solidFill>
                      <a:schemeClr val="bg1"/>
                    </a:solidFill>
                  </a:rPr>
                  <a:t> Notebook icon.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3F2B92-73D5-49B9-ACE0-F6A98145ED54}"/>
                  </a:ext>
                </a:extLst>
              </p:cNvPr>
              <p:cNvSpPr txBox="1"/>
              <p:nvPr/>
            </p:nvSpPr>
            <p:spPr>
              <a:xfrm>
                <a:off x="1809629" y="2118830"/>
                <a:ext cx="505641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3">
                        <a:lumMod val="75000"/>
                      </a:schemeClr>
                    </a:solidFill>
                  </a:rPr>
                  <a:t>Start </a:t>
                </a:r>
                <a:r>
                  <a:rPr lang="en-US" sz="2400" b="1" u="sng" dirty="0" err="1">
                    <a:solidFill>
                      <a:schemeClr val="accent3">
                        <a:lumMod val="75000"/>
                      </a:schemeClr>
                    </a:solidFill>
                  </a:rPr>
                  <a:t>Jupyter</a:t>
                </a:r>
                <a:r>
                  <a:rPr lang="en-US" sz="2400" b="1" u="sng" dirty="0">
                    <a:solidFill>
                      <a:schemeClr val="accent3">
                        <a:lumMod val="75000"/>
                      </a:schemeClr>
                    </a:solidFill>
                  </a:rPr>
                  <a:t> Notebook</a:t>
                </a:r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7B003D-8812-470C-BE46-67D67E1348DD}"/>
                </a:ext>
              </a:extLst>
            </p:cNvPr>
            <p:cNvSpPr/>
            <p:nvPr/>
          </p:nvSpPr>
          <p:spPr>
            <a:xfrm>
              <a:off x="8078162" y="1650580"/>
              <a:ext cx="559011" cy="54864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2DD1CD-CECF-4EAB-A509-BE5A22C22418}"/>
              </a:ext>
            </a:extLst>
          </p:cNvPr>
          <p:cNvGrpSpPr/>
          <p:nvPr/>
        </p:nvGrpSpPr>
        <p:grpSpPr>
          <a:xfrm>
            <a:off x="1178565" y="1912949"/>
            <a:ext cx="4632753" cy="1549512"/>
            <a:chOff x="883925" y="1638629"/>
            <a:chExt cx="4632753" cy="154951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135FE8-FAEA-4BAD-9FDA-4D6EE59C19EE}"/>
                </a:ext>
              </a:extLst>
            </p:cNvPr>
            <p:cNvGrpSpPr/>
            <p:nvPr/>
          </p:nvGrpSpPr>
          <p:grpSpPr>
            <a:xfrm>
              <a:off x="883925" y="2326366"/>
              <a:ext cx="4632753" cy="861775"/>
              <a:chOff x="1197421" y="2118830"/>
              <a:chExt cx="7010516" cy="86177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BDCB18-7277-4224-A23A-0057491DED79}"/>
                  </a:ext>
                </a:extLst>
              </p:cNvPr>
              <p:cNvSpPr txBox="1"/>
              <p:nvPr/>
            </p:nvSpPr>
            <p:spPr>
              <a:xfrm>
                <a:off x="1197421" y="2580495"/>
                <a:ext cx="7010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Launch from your system after installation.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3DAE8F9-A251-437B-B435-9117DC22F802}"/>
                  </a:ext>
                </a:extLst>
              </p:cNvPr>
              <p:cNvSpPr txBox="1"/>
              <p:nvPr/>
            </p:nvSpPr>
            <p:spPr>
              <a:xfrm>
                <a:off x="1809631" y="2118830"/>
                <a:ext cx="54823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2">
                        <a:lumMod val="75000"/>
                      </a:schemeClr>
                    </a:solidFill>
                  </a:rPr>
                  <a:t>Open Anaconda Navigator</a:t>
                </a:r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D50145C-DB4A-47E1-90BE-EFDA761392C0}"/>
                </a:ext>
              </a:extLst>
            </p:cNvPr>
            <p:cNvSpPr/>
            <p:nvPr/>
          </p:nvSpPr>
          <p:spPr>
            <a:xfrm>
              <a:off x="2829373" y="1638629"/>
              <a:ext cx="559011" cy="54864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0D1C31F-49C0-4F5B-9E5D-7A4A34EE5F13}"/>
              </a:ext>
            </a:extLst>
          </p:cNvPr>
          <p:cNvGrpSpPr/>
          <p:nvPr/>
        </p:nvGrpSpPr>
        <p:grpSpPr>
          <a:xfrm>
            <a:off x="1302804" y="4007468"/>
            <a:ext cx="4183573" cy="1815113"/>
            <a:chOff x="1008164" y="3824588"/>
            <a:chExt cx="4183573" cy="18151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A9759B2-5184-439A-A681-FD7B6BE2E128}"/>
                </a:ext>
              </a:extLst>
            </p:cNvPr>
            <p:cNvGrpSpPr/>
            <p:nvPr/>
          </p:nvGrpSpPr>
          <p:grpSpPr>
            <a:xfrm>
              <a:off x="1008164" y="4434599"/>
              <a:ext cx="4183573" cy="1205102"/>
              <a:chOff x="465996" y="2118830"/>
              <a:chExt cx="6330794" cy="120510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74B8ECD-BE32-4A1E-8900-4BB1783886A3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633079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Opens in your web browser.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Click New &gt; Python 3 in top-right.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9E55DB9-0CD3-40C7-ADFA-B28B4D79AA2C}"/>
                  </a:ext>
                </a:extLst>
              </p:cNvPr>
              <p:cNvSpPr txBox="1"/>
              <p:nvPr/>
            </p:nvSpPr>
            <p:spPr>
              <a:xfrm>
                <a:off x="929648" y="2118830"/>
                <a:ext cx="5430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>
                        <a:lumMod val="75000"/>
                      </a:schemeClr>
                    </a:solidFill>
                  </a:rPr>
                  <a:t>Create a New Notebook</a:t>
                </a:r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D842843-BD4B-4AB4-9E40-81E2846FF7B2}"/>
                </a:ext>
              </a:extLst>
            </p:cNvPr>
            <p:cNvSpPr/>
            <p:nvPr/>
          </p:nvSpPr>
          <p:spPr>
            <a:xfrm>
              <a:off x="2829373" y="3824588"/>
              <a:ext cx="559011" cy="54864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BEE57-67E9-4F34-8C43-B2DC77397684}"/>
              </a:ext>
            </a:extLst>
          </p:cNvPr>
          <p:cNvGrpSpPr/>
          <p:nvPr/>
        </p:nvGrpSpPr>
        <p:grpSpPr>
          <a:xfrm>
            <a:off x="6840027" y="3970862"/>
            <a:ext cx="4183573" cy="1756544"/>
            <a:chOff x="6545387" y="3920062"/>
            <a:chExt cx="4183573" cy="175654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79162B0-9280-4455-A5C3-05476C3A121E}"/>
                </a:ext>
              </a:extLst>
            </p:cNvPr>
            <p:cNvGrpSpPr/>
            <p:nvPr/>
          </p:nvGrpSpPr>
          <p:grpSpPr>
            <a:xfrm>
              <a:off x="6545387" y="4471504"/>
              <a:ext cx="4183573" cy="1205102"/>
              <a:chOff x="465996" y="2118830"/>
              <a:chExt cx="6330794" cy="120510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5E8666-9371-4571-BAFD-54A854E86A1D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633079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Write Python code in notebook cells.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Press Shift + Enter to execute.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C1AA1A-BAAE-40D0-8307-71543A8F80FA}"/>
                  </a:ext>
                </a:extLst>
              </p:cNvPr>
              <p:cNvSpPr txBox="1"/>
              <p:nvPr/>
            </p:nvSpPr>
            <p:spPr>
              <a:xfrm>
                <a:off x="929648" y="2118830"/>
                <a:ext cx="543051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Start Coding</a:t>
                </a:r>
              </a:p>
            </p:txBody>
          </p:sp>
        </p:grp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4980779-C353-4315-8DED-828ECB58BABC}"/>
                </a:ext>
              </a:extLst>
            </p:cNvPr>
            <p:cNvSpPr/>
            <p:nvPr/>
          </p:nvSpPr>
          <p:spPr>
            <a:xfrm>
              <a:off x="8244607" y="3920062"/>
              <a:ext cx="559011" cy="548640"/>
            </a:xfrm>
            <a:prstGeom prst="ellipse">
              <a:avLst/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04A4DE20-D072-4293-93B9-DCAF0BB0D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204" y="3642597"/>
            <a:ext cx="1297699" cy="129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9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Variables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DFFAA7-1E53-4EE5-9780-46E009EA6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9" y="2129322"/>
            <a:ext cx="2468507" cy="153847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65210B7-1D7B-432D-A80E-2180BEF65844}"/>
              </a:ext>
            </a:extLst>
          </p:cNvPr>
          <p:cNvGrpSpPr/>
          <p:nvPr/>
        </p:nvGrpSpPr>
        <p:grpSpPr>
          <a:xfrm>
            <a:off x="2953027" y="1898490"/>
            <a:ext cx="7645541" cy="1292662"/>
            <a:chOff x="1178565" y="2600686"/>
            <a:chExt cx="7645541" cy="129266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06394C-1DC7-4FEE-8B37-0100EA794FF0}"/>
                </a:ext>
              </a:extLst>
            </p:cNvPr>
            <p:cNvSpPr txBox="1"/>
            <p:nvPr/>
          </p:nvSpPr>
          <p:spPr>
            <a:xfrm>
              <a:off x="1178565" y="3062351"/>
              <a:ext cx="76455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A named container to store data in memory.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Holds values that can be changed during program execution.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5CA00E-45C5-40F7-ABBE-506A7D6B6993}"/>
                </a:ext>
              </a:extLst>
            </p:cNvPr>
            <p:cNvSpPr txBox="1"/>
            <p:nvPr/>
          </p:nvSpPr>
          <p:spPr>
            <a:xfrm>
              <a:off x="1583130" y="2600686"/>
              <a:ext cx="5051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2">
                      <a:lumMod val="75000"/>
                    </a:schemeClr>
                  </a:solidFill>
                </a:rPr>
                <a:t>What is a Variable?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F7CAD3-8EA1-42CB-9D05-4BDCF5751F13}"/>
              </a:ext>
            </a:extLst>
          </p:cNvPr>
          <p:cNvGrpSpPr/>
          <p:nvPr/>
        </p:nvGrpSpPr>
        <p:grpSpPr>
          <a:xfrm>
            <a:off x="4007561" y="3998567"/>
            <a:ext cx="5111415" cy="2080145"/>
            <a:chOff x="-5518699" y="2551866"/>
            <a:chExt cx="13128539" cy="2080145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6622A5-6FD8-496A-ADAA-0D82CA167B4C}"/>
                </a:ext>
              </a:extLst>
            </p:cNvPr>
            <p:cNvSpPr txBox="1"/>
            <p:nvPr/>
          </p:nvSpPr>
          <p:spPr>
            <a:xfrm>
              <a:off x="-5518699" y="3062351"/>
              <a:ext cx="1312853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Names are case-sensitive (x ≠ X).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 include letters, digits, _ (no spaces).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Cannot start with a digit.</a:t>
              </a:r>
            </a:p>
            <a:p>
              <a:r>
                <a:rPr lang="en-US" sz="2400" dirty="0">
                  <a:solidFill>
                    <a:schemeClr val="bg1"/>
                  </a:solidFill>
                </a:rPr>
                <a:t>Avoid Python keywords (if, for, etc.).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088A79D-0DCF-4895-8961-3FAFCA6C53CA}"/>
                </a:ext>
              </a:extLst>
            </p:cNvPr>
            <p:cNvSpPr txBox="1"/>
            <p:nvPr/>
          </p:nvSpPr>
          <p:spPr>
            <a:xfrm>
              <a:off x="-1619847" y="2551866"/>
              <a:ext cx="5051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2">
                      <a:lumMod val="75000"/>
                    </a:schemeClr>
                  </a:solidFill>
                </a:rPr>
                <a:t>Key Rules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F1A171-0E15-40B0-B3D5-84D31F57BA8E}"/>
              </a:ext>
            </a:extLst>
          </p:cNvPr>
          <p:cNvGrpSpPr/>
          <p:nvPr/>
        </p:nvGrpSpPr>
        <p:grpSpPr>
          <a:xfrm>
            <a:off x="910580" y="4768690"/>
            <a:ext cx="2949660" cy="923330"/>
            <a:chOff x="1184900" y="4646770"/>
            <a:chExt cx="2949660" cy="92333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1ADF17-66AD-485E-9040-1A3CFF0EBD74}"/>
                </a:ext>
              </a:extLst>
            </p:cNvPr>
            <p:cNvGrpSpPr/>
            <p:nvPr/>
          </p:nvGrpSpPr>
          <p:grpSpPr>
            <a:xfrm>
              <a:off x="1184900" y="4646770"/>
              <a:ext cx="2949660" cy="923330"/>
              <a:chOff x="845979" y="2600686"/>
              <a:chExt cx="6763861" cy="923330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C1FDE9-F039-4B36-A86C-2BA08127F1FF}"/>
                  </a:ext>
                </a:extLst>
              </p:cNvPr>
              <p:cNvSpPr txBox="1"/>
              <p:nvPr/>
            </p:nvSpPr>
            <p:spPr>
              <a:xfrm>
                <a:off x="845979" y="3062351"/>
                <a:ext cx="67638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solidFill>
                      <a:schemeClr val="bg1"/>
                    </a:solidFill>
                  </a:rPr>
                  <a:t>variable_name</a:t>
                </a:r>
                <a:r>
                  <a:rPr lang="en-US" sz="2400" dirty="0">
                    <a:solidFill>
                      <a:schemeClr val="bg1"/>
                    </a:solidFill>
                  </a:rPr>
                  <a:t> = value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FF0F2B-36C0-45A5-990C-A6179F71F100}"/>
                  </a:ext>
                </a:extLst>
              </p:cNvPr>
              <p:cNvSpPr txBox="1"/>
              <p:nvPr/>
            </p:nvSpPr>
            <p:spPr>
              <a:xfrm>
                <a:off x="1722917" y="2600686"/>
                <a:ext cx="5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2">
                        <a:lumMod val="75000"/>
                      </a:schemeClr>
                    </a:solidFill>
                  </a:rPr>
                  <a:t>Syntax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8E1EE6D-1ABD-49DE-B1D9-24642D14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8677" y="4685036"/>
              <a:ext cx="382025" cy="382025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D7A8952E-B539-4832-9A16-1BCA0483492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1" t="15565" r="23926" b="6484"/>
          <a:stretch/>
        </p:blipFill>
        <p:spPr>
          <a:xfrm>
            <a:off x="5423805" y="3836877"/>
            <a:ext cx="426720" cy="67465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ED8F150-FBF1-4036-A1B8-9F55A2C11A6A}"/>
              </a:ext>
            </a:extLst>
          </p:cNvPr>
          <p:cNvGrpSpPr/>
          <p:nvPr/>
        </p:nvGrpSpPr>
        <p:grpSpPr>
          <a:xfrm>
            <a:off x="9457720" y="4516719"/>
            <a:ext cx="2503928" cy="1292662"/>
            <a:chOff x="9356120" y="4455759"/>
            <a:chExt cx="2503928" cy="129266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F4CD52B-3744-4C11-BB45-6F1ED6B92A5C}"/>
                </a:ext>
              </a:extLst>
            </p:cNvPr>
            <p:cNvGrpSpPr/>
            <p:nvPr/>
          </p:nvGrpSpPr>
          <p:grpSpPr>
            <a:xfrm>
              <a:off x="9356120" y="4455759"/>
              <a:ext cx="2503928" cy="1292662"/>
              <a:chOff x="1178565" y="2600686"/>
              <a:chExt cx="6431275" cy="129266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AC5A57D-478B-484E-8C73-664977036250}"/>
                  </a:ext>
                </a:extLst>
              </p:cNvPr>
              <p:cNvSpPr txBox="1"/>
              <p:nvPr/>
            </p:nvSpPr>
            <p:spPr>
              <a:xfrm>
                <a:off x="1178565" y="3062351"/>
                <a:ext cx="64312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age = 25 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name = "Alice" 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FCCD0B-1714-47BA-A12C-146F00A09454}"/>
                  </a:ext>
                </a:extLst>
              </p:cNvPr>
              <p:cNvSpPr txBox="1"/>
              <p:nvPr/>
            </p:nvSpPr>
            <p:spPr>
              <a:xfrm>
                <a:off x="1583130" y="260068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2">
                        <a:lumMod val="75000"/>
                      </a:schemeClr>
                    </a:solidFill>
                  </a:rPr>
                  <a:t>Example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0B3E28-B2D3-47CE-BEF9-8FC29C4E1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6600" y="4468412"/>
              <a:ext cx="426721" cy="426721"/>
            </a:xfrm>
            <a:prstGeom prst="rect">
              <a:avLst/>
            </a:prstGeom>
          </p:spPr>
        </p:pic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D98EE262-205D-41A5-81E6-D1A3BBB777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882" y="1231618"/>
            <a:ext cx="1028700" cy="110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0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Data Types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0F449E5-B672-4A00-AB97-9AE7C1E856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5289322"/>
              </p:ext>
            </p:extLst>
          </p:nvPr>
        </p:nvGraphicFramePr>
        <p:xfrm>
          <a:off x="2758440" y="1443316"/>
          <a:ext cx="6644640" cy="4756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124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Integers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00177A6-88FE-4E2E-B201-3781D3AC7971}"/>
              </a:ext>
            </a:extLst>
          </p:cNvPr>
          <p:cNvGrpSpPr/>
          <p:nvPr/>
        </p:nvGrpSpPr>
        <p:grpSpPr>
          <a:xfrm>
            <a:off x="1342412" y="1658390"/>
            <a:ext cx="6045199" cy="2031325"/>
            <a:chOff x="663939" y="2600686"/>
            <a:chExt cx="8160168" cy="203132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5932C5-D501-4BE2-9416-850179899B8C}"/>
                </a:ext>
              </a:extLst>
            </p:cNvPr>
            <p:cNvSpPr txBox="1"/>
            <p:nvPr/>
          </p:nvSpPr>
          <p:spPr>
            <a:xfrm>
              <a:off x="663939" y="3062351"/>
              <a:ext cx="816016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A whole number (positive, negative, or zero) without decimals.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Used for counting, indexing, and mathematical operations.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8287BF-8CAD-45F2-8862-AD4D4C160A49}"/>
                </a:ext>
              </a:extLst>
            </p:cNvPr>
            <p:cNvSpPr txBox="1"/>
            <p:nvPr/>
          </p:nvSpPr>
          <p:spPr>
            <a:xfrm>
              <a:off x="1583130" y="2600686"/>
              <a:ext cx="5051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6"/>
                  </a:solidFill>
                </a:rPr>
                <a:t>What is a Integers?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D8BE6A-2E66-49B1-915A-9C48886F9FB0}"/>
              </a:ext>
            </a:extLst>
          </p:cNvPr>
          <p:cNvGrpSpPr/>
          <p:nvPr/>
        </p:nvGrpSpPr>
        <p:grpSpPr>
          <a:xfrm>
            <a:off x="8550074" y="1843056"/>
            <a:ext cx="3891280" cy="872095"/>
            <a:chOff x="990474" y="4646770"/>
            <a:chExt cx="3891280" cy="87209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2E8C569-5557-470A-9A96-D6970FB7DDC9}"/>
                </a:ext>
              </a:extLst>
            </p:cNvPr>
            <p:cNvGrpSpPr/>
            <p:nvPr/>
          </p:nvGrpSpPr>
          <p:grpSpPr>
            <a:xfrm>
              <a:off x="990474" y="4646770"/>
              <a:ext cx="3891280" cy="872095"/>
              <a:chOff x="400141" y="2600686"/>
              <a:chExt cx="8923089" cy="872095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14E011-6682-4C16-A8C6-C57C9655E8CA}"/>
                  </a:ext>
                </a:extLst>
              </p:cNvPr>
              <p:cNvSpPr txBox="1"/>
              <p:nvPr/>
            </p:nvSpPr>
            <p:spPr>
              <a:xfrm>
                <a:off x="400141" y="3072671"/>
                <a:ext cx="89230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variable_name</a:t>
                </a:r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</a:t>
                </a:r>
                <a:r>
                  <a:rPr lang="en-US" sz="2000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integer_value</a:t>
                </a:r>
                <a:endParaRPr lang="en-US" sz="2000" dirty="0">
                  <a:solidFill>
                    <a:schemeClr val="bg1"/>
                  </a:solidFill>
                  <a:highlight>
                    <a:srgbClr val="C0C0C0"/>
                  </a:highlight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DA56C97-935E-406C-A42C-5BF3B23AA025}"/>
                  </a:ext>
                </a:extLst>
              </p:cNvPr>
              <p:cNvSpPr txBox="1"/>
              <p:nvPr/>
            </p:nvSpPr>
            <p:spPr>
              <a:xfrm>
                <a:off x="1722917" y="2600686"/>
                <a:ext cx="5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Syntax</a:t>
                </a: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462D192-79FA-470C-B62D-254E975AF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8677" y="4685036"/>
              <a:ext cx="382025" cy="382025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5E8C36-DDF5-40A1-9EBB-391E24C00840}"/>
              </a:ext>
            </a:extLst>
          </p:cNvPr>
          <p:cNvGrpSpPr/>
          <p:nvPr/>
        </p:nvGrpSpPr>
        <p:grpSpPr>
          <a:xfrm>
            <a:off x="1342412" y="3924745"/>
            <a:ext cx="6614159" cy="2124845"/>
            <a:chOff x="4007561" y="3953867"/>
            <a:chExt cx="7273859" cy="212484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2DAE84B-FC9B-4FE6-8281-98BBE6C10F21}"/>
                </a:ext>
              </a:extLst>
            </p:cNvPr>
            <p:cNvGrpSpPr/>
            <p:nvPr/>
          </p:nvGrpSpPr>
          <p:grpSpPr>
            <a:xfrm>
              <a:off x="4007561" y="4000627"/>
              <a:ext cx="7273859" cy="2078085"/>
              <a:chOff x="-5518699" y="2553926"/>
              <a:chExt cx="12813119" cy="207808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531BE4-5099-4F3E-A06C-CA4BF645D84F}"/>
                  </a:ext>
                </a:extLst>
              </p:cNvPr>
              <p:cNvSpPr txBox="1"/>
              <p:nvPr/>
            </p:nvSpPr>
            <p:spPr>
              <a:xfrm>
                <a:off x="-5518699" y="3062351"/>
                <a:ext cx="1281311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Immutable</a:t>
                </a:r>
                <a:r>
                  <a:rPr lang="en-US" sz="2400" dirty="0">
                    <a:solidFill>
                      <a:schemeClr val="bg1"/>
                    </a:solidFill>
                  </a:rPr>
                  <a:t>: Cannot be changed after creation </a:t>
                </a:r>
              </a:p>
              <a:p>
                <a:r>
                  <a:rPr lang="en-US" sz="2400" dirty="0">
                    <a:solidFill>
                      <a:schemeClr val="bg1"/>
                    </a:solidFill>
                  </a:rPr>
                  <a:t>(a new object is created on modification).</a:t>
                </a:r>
              </a:p>
              <a:p>
                <a:r>
                  <a:rPr lang="en-US" sz="2400" b="1" dirty="0">
                    <a:solidFill>
                      <a:schemeClr val="bg1"/>
                    </a:solidFill>
                  </a:rPr>
                  <a:t>Unlimited Size: </a:t>
                </a:r>
                <a:r>
                  <a:rPr lang="en-US" sz="2400" dirty="0">
                    <a:solidFill>
                      <a:schemeClr val="bg1"/>
                    </a:solidFill>
                  </a:rPr>
                  <a:t>Python handles large numbers seamlessly.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CBF41A-F2D0-498F-9328-15381A664BDD}"/>
                  </a:ext>
                </a:extLst>
              </p:cNvPr>
              <p:cNvSpPr txBox="1"/>
              <p:nvPr/>
            </p:nvSpPr>
            <p:spPr>
              <a:xfrm>
                <a:off x="-2628070" y="255392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Key Properties</a:t>
                </a: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D39E3F5-2E13-4C75-AFE9-B6A2793E6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71" t="15565" r="23926" b="6484"/>
            <a:stretch/>
          </p:blipFill>
          <p:spPr>
            <a:xfrm>
              <a:off x="5435178" y="3953867"/>
              <a:ext cx="426720" cy="674659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09DCFB2-758D-4E7F-9508-9489A941B210}"/>
              </a:ext>
            </a:extLst>
          </p:cNvPr>
          <p:cNvGrpSpPr/>
          <p:nvPr/>
        </p:nvGrpSpPr>
        <p:grpSpPr>
          <a:xfrm>
            <a:off x="9286660" y="3971505"/>
            <a:ext cx="2503928" cy="1477328"/>
            <a:chOff x="9356120" y="4455759"/>
            <a:chExt cx="2503928" cy="147732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1C0DDC5-BA1E-4408-A41E-77EBF2571BA8}"/>
                </a:ext>
              </a:extLst>
            </p:cNvPr>
            <p:cNvGrpSpPr/>
            <p:nvPr/>
          </p:nvGrpSpPr>
          <p:grpSpPr>
            <a:xfrm>
              <a:off x="9356120" y="4455759"/>
              <a:ext cx="2503928" cy="1477328"/>
              <a:chOff x="1178565" y="2600686"/>
              <a:chExt cx="6431275" cy="1477328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8FD1CF3-8072-49EB-847C-D43C5BDD4881}"/>
                  </a:ext>
                </a:extLst>
              </p:cNvPr>
              <p:cNvSpPr txBox="1"/>
              <p:nvPr/>
            </p:nvSpPr>
            <p:spPr>
              <a:xfrm>
                <a:off x="1178565" y="3062351"/>
                <a:ext cx="643127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age = 30 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temperature = -10 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count = 0 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1A2B42F-339C-448A-9BCB-BD11E2F0D72D}"/>
                  </a:ext>
                </a:extLst>
              </p:cNvPr>
              <p:cNvSpPr txBox="1"/>
              <p:nvPr/>
            </p:nvSpPr>
            <p:spPr>
              <a:xfrm>
                <a:off x="1583131" y="260068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Example</a:t>
                </a:r>
              </a:p>
            </p:txBody>
          </p: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406ED4-2D63-401C-A59C-AFA164885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6600" y="4468412"/>
              <a:ext cx="426721" cy="426721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848D935-ACA5-4CB0-8000-7D4FB96B17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867" y="1558900"/>
            <a:ext cx="644843" cy="64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57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99849"/>
            <a:ext cx="12322076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Floating-Point Numbers (Floats)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F9B9ABFA-B03D-426D-8532-371F8C74DBF3}"/>
              </a:ext>
            </a:extLst>
          </p:cNvPr>
          <p:cNvGrpSpPr/>
          <p:nvPr/>
        </p:nvGrpSpPr>
        <p:grpSpPr>
          <a:xfrm>
            <a:off x="1342412" y="1658390"/>
            <a:ext cx="6045199" cy="2031325"/>
            <a:chOff x="663939" y="2600686"/>
            <a:chExt cx="8160168" cy="203132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1B2447F-AE5F-4CD8-AE70-DD30FBA8092A}"/>
                </a:ext>
              </a:extLst>
            </p:cNvPr>
            <p:cNvSpPr txBox="1"/>
            <p:nvPr/>
          </p:nvSpPr>
          <p:spPr>
            <a:xfrm>
              <a:off x="663939" y="3062351"/>
              <a:ext cx="816016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Represents real numbers (with decimal points or scientific notation).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Used for measurements, scientific calculations, and fractional values.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68D49FA-F60F-4D5F-AD0C-3B57CF7B6082}"/>
                </a:ext>
              </a:extLst>
            </p:cNvPr>
            <p:cNvSpPr txBox="1"/>
            <p:nvPr/>
          </p:nvSpPr>
          <p:spPr>
            <a:xfrm>
              <a:off x="1583130" y="2600686"/>
              <a:ext cx="5051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6"/>
                  </a:solidFill>
                </a:rPr>
                <a:t>What is a Floats?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43D1EA-B75E-4CF7-995E-82EA14F6C42B}"/>
              </a:ext>
            </a:extLst>
          </p:cNvPr>
          <p:cNvGrpSpPr/>
          <p:nvPr/>
        </p:nvGrpSpPr>
        <p:grpSpPr>
          <a:xfrm>
            <a:off x="8550074" y="1843056"/>
            <a:ext cx="3891280" cy="872095"/>
            <a:chOff x="990474" y="4646770"/>
            <a:chExt cx="3891280" cy="87209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200672A-6BE7-4C23-AE2E-DE3DFDC21BA6}"/>
                </a:ext>
              </a:extLst>
            </p:cNvPr>
            <p:cNvGrpSpPr/>
            <p:nvPr/>
          </p:nvGrpSpPr>
          <p:grpSpPr>
            <a:xfrm>
              <a:off x="990474" y="4646770"/>
              <a:ext cx="3891280" cy="872095"/>
              <a:chOff x="400141" y="2600686"/>
              <a:chExt cx="8923089" cy="872095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457FD5-F582-477D-A051-D55E64FA0579}"/>
                  </a:ext>
                </a:extLst>
              </p:cNvPr>
              <p:cNvSpPr txBox="1"/>
              <p:nvPr/>
            </p:nvSpPr>
            <p:spPr>
              <a:xfrm>
                <a:off x="400141" y="3072671"/>
                <a:ext cx="89230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variable_name</a:t>
                </a:r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</a:t>
                </a:r>
                <a:r>
                  <a:rPr lang="en-US" sz="2000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float_value</a:t>
                </a:r>
                <a:endParaRPr lang="en-US" sz="2000" dirty="0">
                  <a:solidFill>
                    <a:schemeClr val="bg1"/>
                  </a:solidFill>
                  <a:highlight>
                    <a:srgbClr val="C0C0C0"/>
                  </a:highlight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006518-7130-4069-B584-F316812875FE}"/>
                  </a:ext>
                </a:extLst>
              </p:cNvPr>
              <p:cNvSpPr txBox="1"/>
              <p:nvPr/>
            </p:nvSpPr>
            <p:spPr>
              <a:xfrm>
                <a:off x="1722917" y="2600686"/>
                <a:ext cx="5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Syntax</a:t>
                </a: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28B591D-BC6C-4BA1-A325-248B4B618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8677" y="4685036"/>
              <a:ext cx="382025" cy="38202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3C62C73-E717-418C-BB55-83F2A0C0A6F2}"/>
              </a:ext>
            </a:extLst>
          </p:cNvPr>
          <p:cNvGrpSpPr/>
          <p:nvPr/>
        </p:nvGrpSpPr>
        <p:grpSpPr>
          <a:xfrm>
            <a:off x="1342412" y="3924745"/>
            <a:ext cx="7207662" cy="1755514"/>
            <a:chOff x="4007561" y="3953867"/>
            <a:chExt cx="7926558" cy="1755514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443CB8C-C461-4AE6-A8A8-3682498D17F7}"/>
                </a:ext>
              </a:extLst>
            </p:cNvPr>
            <p:cNvGrpSpPr/>
            <p:nvPr/>
          </p:nvGrpSpPr>
          <p:grpSpPr>
            <a:xfrm>
              <a:off x="4007561" y="4000627"/>
              <a:ext cx="7926558" cy="1708754"/>
              <a:chOff x="-5518699" y="2553926"/>
              <a:chExt cx="13962868" cy="1708754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4FD888B-7AED-460D-B82C-99CB5D5DBF21}"/>
                  </a:ext>
                </a:extLst>
              </p:cNvPr>
              <p:cNvSpPr txBox="1"/>
              <p:nvPr/>
            </p:nvSpPr>
            <p:spPr>
              <a:xfrm>
                <a:off x="-5518699" y="3062351"/>
                <a:ext cx="139628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Precision: </a:t>
                </a:r>
                <a:r>
                  <a:rPr lang="en-US" sz="2400" dirty="0">
                    <a:solidFill>
                      <a:schemeClr val="bg1"/>
                    </a:solidFill>
                  </a:rPr>
                  <a:t>Limited by hardware (64-bit double-precision).</a:t>
                </a:r>
              </a:p>
              <a:p>
                <a:r>
                  <a:rPr lang="en-US" sz="2400" b="1" dirty="0">
                    <a:solidFill>
                      <a:schemeClr val="bg1"/>
                    </a:solidFill>
                  </a:rPr>
                  <a:t>Immutable: </a:t>
                </a:r>
                <a:r>
                  <a:rPr lang="en-US" sz="2400" dirty="0">
                    <a:solidFill>
                      <a:schemeClr val="bg1"/>
                    </a:solidFill>
                  </a:rPr>
                  <a:t>Like integers, floats are immutable objects.</a:t>
                </a:r>
              </a:p>
              <a:p>
                <a:endParaRPr lang="en-US" sz="2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2292536-97BE-4DBA-A72A-40FB1FF4C54C}"/>
                  </a:ext>
                </a:extLst>
              </p:cNvPr>
              <p:cNvSpPr txBox="1"/>
              <p:nvPr/>
            </p:nvSpPr>
            <p:spPr>
              <a:xfrm>
                <a:off x="-2628070" y="255392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Key Properties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F8573057-3F2B-440D-ACB7-E41A408D37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71" t="15565" r="23926" b="6484"/>
            <a:stretch/>
          </p:blipFill>
          <p:spPr>
            <a:xfrm>
              <a:off x="5435178" y="3953867"/>
              <a:ext cx="426720" cy="674659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55A412F-9AE7-4B45-806C-566A5745FB71}"/>
              </a:ext>
            </a:extLst>
          </p:cNvPr>
          <p:cNvGrpSpPr/>
          <p:nvPr/>
        </p:nvGrpSpPr>
        <p:grpSpPr>
          <a:xfrm>
            <a:off x="9286660" y="3971505"/>
            <a:ext cx="2503928" cy="1785104"/>
            <a:chOff x="9356120" y="4455759"/>
            <a:chExt cx="2503928" cy="178510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2FF0D8A-2BCF-4861-8CAC-B1F52C1F9BBF}"/>
                </a:ext>
              </a:extLst>
            </p:cNvPr>
            <p:cNvGrpSpPr/>
            <p:nvPr/>
          </p:nvGrpSpPr>
          <p:grpSpPr>
            <a:xfrm>
              <a:off x="9356120" y="4455759"/>
              <a:ext cx="2503928" cy="1785104"/>
              <a:chOff x="1178565" y="2600686"/>
              <a:chExt cx="6431275" cy="1785104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4218282-6721-462A-98F0-DFAC8E2D6EC1}"/>
                  </a:ext>
                </a:extLst>
              </p:cNvPr>
              <p:cNvSpPr txBox="1"/>
              <p:nvPr/>
            </p:nvSpPr>
            <p:spPr>
              <a:xfrm>
                <a:off x="1178565" y="3062351"/>
                <a:ext cx="643127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pi = 3.14159  </a:t>
                </a:r>
              </a:p>
              <a:p>
                <a:r>
                  <a:rPr lang="it-IT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temperature = -12.5  </a:t>
                </a:r>
              </a:p>
              <a:p>
                <a:r>
                  <a:rPr lang="it-IT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scientific_notation = 2.5e3  # 2500.0 </a:t>
                </a:r>
                <a:endParaRPr lang="en-US" sz="2000" dirty="0">
                  <a:solidFill>
                    <a:schemeClr val="bg1"/>
                  </a:solidFill>
                  <a:highlight>
                    <a:srgbClr val="C0C0C0"/>
                  </a:highlight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13C502D-F88E-441E-8EB5-606D8351DF3A}"/>
                  </a:ext>
                </a:extLst>
              </p:cNvPr>
              <p:cNvSpPr txBox="1"/>
              <p:nvPr/>
            </p:nvSpPr>
            <p:spPr>
              <a:xfrm>
                <a:off x="1583131" y="260068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Example</a:t>
                </a:r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952F34D-5EC6-4C83-B6A6-30DFC0DA0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6600" y="4468412"/>
              <a:ext cx="426721" cy="426721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26C4E550-E746-4AA4-B34E-1BE6A83DDD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867" y="1558900"/>
            <a:ext cx="644843" cy="64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83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Strings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EDF4A14-2BDF-4940-9BD3-A6E545776466}"/>
              </a:ext>
            </a:extLst>
          </p:cNvPr>
          <p:cNvGrpSpPr/>
          <p:nvPr/>
        </p:nvGrpSpPr>
        <p:grpSpPr>
          <a:xfrm>
            <a:off x="360870" y="1658390"/>
            <a:ext cx="7085340" cy="1364009"/>
            <a:chOff x="-661005" y="2600686"/>
            <a:chExt cx="9564212" cy="136400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485DF9-B9E4-45AD-8775-2FBC9FC5AAC0}"/>
                </a:ext>
              </a:extLst>
            </p:cNvPr>
            <p:cNvSpPr txBox="1"/>
            <p:nvPr/>
          </p:nvSpPr>
          <p:spPr>
            <a:xfrm>
              <a:off x="-661005" y="3133698"/>
              <a:ext cx="95642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A sequence of characters enclosed in quotes (' ' or " ").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chemeClr val="bg1"/>
                  </a:solidFill>
                </a:rPr>
                <a:t>Used to represent text data in Python.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96A387-CB08-4CD8-978B-445468BC1B53}"/>
                </a:ext>
              </a:extLst>
            </p:cNvPr>
            <p:cNvSpPr txBox="1"/>
            <p:nvPr/>
          </p:nvSpPr>
          <p:spPr>
            <a:xfrm>
              <a:off x="1583130" y="2600686"/>
              <a:ext cx="5051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accent6"/>
                  </a:solidFill>
                </a:rPr>
                <a:t>What is a String?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59A82CA-B7FC-4B78-B1AB-6F0D7FFDEA62}"/>
              </a:ext>
            </a:extLst>
          </p:cNvPr>
          <p:cNvGrpSpPr/>
          <p:nvPr/>
        </p:nvGrpSpPr>
        <p:grpSpPr>
          <a:xfrm>
            <a:off x="8550074" y="1843056"/>
            <a:ext cx="3891280" cy="872095"/>
            <a:chOff x="990474" y="4646770"/>
            <a:chExt cx="3891280" cy="87209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E0FE9DE-9365-4920-B2A6-4CDC51E88F78}"/>
                </a:ext>
              </a:extLst>
            </p:cNvPr>
            <p:cNvGrpSpPr/>
            <p:nvPr/>
          </p:nvGrpSpPr>
          <p:grpSpPr>
            <a:xfrm>
              <a:off x="990474" y="4646770"/>
              <a:ext cx="3891280" cy="872095"/>
              <a:chOff x="400141" y="2600686"/>
              <a:chExt cx="8923089" cy="872095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D631F6-886A-48FB-9BA9-6AD45077B8ED}"/>
                  </a:ext>
                </a:extLst>
              </p:cNvPr>
              <p:cNvSpPr txBox="1"/>
              <p:nvPr/>
            </p:nvSpPr>
            <p:spPr>
              <a:xfrm>
                <a:off x="400141" y="3072671"/>
                <a:ext cx="89230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string_name</a:t>
                </a:r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"text"  # or 'text'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59D105-AF86-4CFE-83E4-234E78C85CBD}"/>
                  </a:ext>
                </a:extLst>
              </p:cNvPr>
              <p:cNvSpPr txBox="1"/>
              <p:nvPr/>
            </p:nvSpPr>
            <p:spPr>
              <a:xfrm>
                <a:off x="1722917" y="2600686"/>
                <a:ext cx="50513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Syntax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A14DED2-DDE1-414B-A4C2-585F35A38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8677" y="4685036"/>
              <a:ext cx="382025" cy="38202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B43798-B96D-4457-BFC9-1BD89B5CEAB3}"/>
              </a:ext>
            </a:extLst>
          </p:cNvPr>
          <p:cNvGrpSpPr/>
          <p:nvPr/>
        </p:nvGrpSpPr>
        <p:grpSpPr>
          <a:xfrm>
            <a:off x="1342412" y="3924745"/>
            <a:ext cx="7207662" cy="1755514"/>
            <a:chOff x="4007561" y="3953867"/>
            <a:chExt cx="7926558" cy="175551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B757A8F-CF4E-4138-AFCE-1E322E0FAEAF}"/>
                </a:ext>
              </a:extLst>
            </p:cNvPr>
            <p:cNvGrpSpPr/>
            <p:nvPr/>
          </p:nvGrpSpPr>
          <p:grpSpPr>
            <a:xfrm>
              <a:off x="4007561" y="4000627"/>
              <a:ext cx="7926558" cy="1708754"/>
              <a:chOff x="-5518699" y="2553926"/>
              <a:chExt cx="13962868" cy="170875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2DD5E64-B71A-482E-A56B-A71F513945AE}"/>
                  </a:ext>
                </a:extLst>
              </p:cNvPr>
              <p:cNvSpPr txBox="1"/>
              <p:nvPr/>
            </p:nvSpPr>
            <p:spPr>
              <a:xfrm>
                <a:off x="-5518699" y="3062351"/>
                <a:ext cx="1396286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1"/>
                    </a:solidFill>
                  </a:rPr>
                  <a:t>Immutable: </a:t>
                </a:r>
                <a:r>
                  <a:rPr lang="en-US" sz="2400" dirty="0">
                    <a:solidFill>
                      <a:schemeClr val="bg1"/>
                    </a:solidFill>
                  </a:rPr>
                  <a:t>Cannot be changed after creation.</a:t>
                </a:r>
              </a:p>
              <a:p>
                <a:r>
                  <a:rPr lang="en-US" sz="2400" b="1" dirty="0">
                    <a:solidFill>
                      <a:schemeClr val="bg1"/>
                    </a:solidFill>
                  </a:rPr>
                  <a:t>Indexed: </a:t>
                </a:r>
                <a:r>
                  <a:rPr lang="en-US" sz="2400" dirty="0">
                    <a:solidFill>
                      <a:schemeClr val="bg1"/>
                    </a:solidFill>
                  </a:rPr>
                  <a:t>Access characters using indices (starts at 0).</a:t>
                </a:r>
              </a:p>
              <a:p>
                <a:r>
                  <a:rPr lang="en-US" sz="2400" b="1" dirty="0" err="1">
                    <a:solidFill>
                      <a:schemeClr val="bg1"/>
                    </a:solidFill>
                  </a:rPr>
                  <a:t>Iterable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: </a:t>
                </a:r>
                <a:r>
                  <a:rPr lang="en-US" sz="2400" dirty="0">
                    <a:solidFill>
                      <a:schemeClr val="bg1"/>
                    </a:solidFill>
                  </a:rPr>
                  <a:t>Can loop through characters.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BCD06C-F1C8-44ED-97BD-08B4077E55C2}"/>
                  </a:ext>
                </a:extLst>
              </p:cNvPr>
              <p:cNvSpPr txBox="1"/>
              <p:nvPr/>
            </p:nvSpPr>
            <p:spPr>
              <a:xfrm>
                <a:off x="-2628070" y="255392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Key Properties</a:t>
                </a: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EC2A49D-A2E3-48E8-A742-41359FE12A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71" t="15565" r="23926" b="6484"/>
            <a:stretch/>
          </p:blipFill>
          <p:spPr>
            <a:xfrm>
              <a:off x="5435178" y="3953867"/>
              <a:ext cx="426720" cy="674659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AD73D8-CD2E-437C-BAC8-BC785469E6EB}"/>
              </a:ext>
            </a:extLst>
          </p:cNvPr>
          <p:cNvGrpSpPr/>
          <p:nvPr/>
        </p:nvGrpSpPr>
        <p:grpSpPr>
          <a:xfrm>
            <a:off x="9286660" y="3971505"/>
            <a:ext cx="2503928" cy="2092881"/>
            <a:chOff x="9356120" y="4455759"/>
            <a:chExt cx="2503928" cy="209288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C06E3A3-135D-4D94-A639-BB49C1820D59}"/>
                </a:ext>
              </a:extLst>
            </p:cNvPr>
            <p:cNvGrpSpPr/>
            <p:nvPr/>
          </p:nvGrpSpPr>
          <p:grpSpPr>
            <a:xfrm>
              <a:off x="9356120" y="4455759"/>
              <a:ext cx="2503928" cy="2092881"/>
              <a:chOff x="1178565" y="2600686"/>
              <a:chExt cx="6431275" cy="2092881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A1E96D-9AED-4D4A-BF31-5FDF303A16AD}"/>
                  </a:ext>
                </a:extLst>
              </p:cNvPr>
              <p:cNvSpPr txBox="1"/>
              <p:nvPr/>
            </p:nvSpPr>
            <p:spPr>
              <a:xfrm>
                <a:off x="1178565" y="3062351"/>
                <a:ext cx="6431275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name = "Alice"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greeting = 'Hello, World!'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multiline = """This is a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multi-line string"""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F9AAD39-DA7E-4ECF-9218-EA4289656A8E}"/>
                  </a:ext>
                </a:extLst>
              </p:cNvPr>
              <p:cNvSpPr txBox="1"/>
              <p:nvPr/>
            </p:nvSpPr>
            <p:spPr>
              <a:xfrm>
                <a:off x="1583131" y="2600686"/>
                <a:ext cx="50513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accent6"/>
                    </a:solidFill>
                  </a:rPr>
                  <a:t>Example</a:t>
                </a: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0AA2254-E9F8-44CC-8953-560AB1F8A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6600" y="4468412"/>
              <a:ext cx="426721" cy="426721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C148BD66-7488-43BB-9859-130F4636B0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867" y="1558900"/>
            <a:ext cx="644843" cy="64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61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Boolean (bool)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BA3461-170F-4EF7-92DC-572D0B3E2287}"/>
              </a:ext>
            </a:extLst>
          </p:cNvPr>
          <p:cNvSpPr txBox="1">
            <a:spLocks/>
          </p:cNvSpPr>
          <p:nvPr/>
        </p:nvSpPr>
        <p:spPr>
          <a:xfrm>
            <a:off x="944880" y="1802150"/>
            <a:ext cx="4870559" cy="937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Definition</a:t>
            </a:r>
            <a:endParaRPr lang="en-US" sz="2000" b="1" dirty="0">
              <a:solidFill>
                <a:schemeClr val="bg1"/>
              </a:solidFill>
            </a:endParaRPr>
          </a:p>
          <a:p>
            <a:pPr marL="0" lvl="1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Represent True or False values.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9CDF42-A9E6-482D-BE1D-50E5BEC6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417" y="3914092"/>
            <a:ext cx="3889784" cy="212837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0DB74CE-246C-461E-98D7-DE8FBBB9BBC5}"/>
              </a:ext>
            </a:extLst>
          </p:cNvPr>
          <p:cNvGrpSpPr/>
          <p:nvPr/>
        </p:nvGrpSpPr>
        <p:grpSpPr>
          <a:xfrm>
            <a:off x="8060235" y="1756910"/>
            <a:ext cx="2499442" cy="1926069"/>
            <a:chOff x="3714800" y="4653207"/>
            <a:chExt cx="2519680" cy="196622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5CA7FA-2DF8-4042-A5D1-C21ACC07E2B1}"/>
                </a:ext>
              </a:extLst>
            </p:cNvPr>
            <p:cNvGrpSpPr/>
            <p:nvPr/>
          </p:nvGrpSpPr>
          <p:grpSpPr>
            <a:xfrm>
              <a:off x="3714800" y="4693586"/>
              <a:ext cx="2519680" cy="1925846"/>
              <a:chOff x="2262941" y="2118830"/>
              <a:chExt cx="3161428" cy="192584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82DE9A-FECC-4C4D-9165-51B59CA04753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24985C-EA5A-4623-B45B-769CF2D677A4}"/>
                  </a:ext>
                </a:extLst>
              </p:cNvPr>
              <p:cNvSpPr txBox="1"/>
              <p:nvPr/>
            </p:nvSpPr>
            <p:spPr>
              <a:xfrm>
                <a:off x="2262941" y="2819322"/>
                <a:ext cx="3161428" cy="1225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is_logged_in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True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is_logged_in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print("User is logged in")  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Output: User is logged in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C18E248-4A4B-4B29-9361-361DDEF65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CD91375-299A-4414-B11E-31252DB83AA8}"/>
              </a:ext>
            </a:extLst>
          </p:cNvPr>
          <p:cNvSpPr txBox="1">
            <a:spLocks/>
          </p:cNvSpPr>
          <p:nvPr/>
        </p:nvSpPr>
        <p:spPr>
          <a:xfrm>
            <a:off x="1459739" y="5276870"/>
            <a:ext cx="3102102" cy="937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1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Conversions:</a:t>
            </a:r>
          </a:p>
          <a:p>
            <a:pPr marL="0" lvl="1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bool(0) → False, </a:t>
            </a:r>
          </a:p>
          <a:p>
            <a:pPr marL="0" lvl="1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bool(1) → True.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9FCC5E0-BD3B-4D3B-A3CB-E08BA3CDD6D7}"/>
              </a:ext>
            </a:extLst>
          </p:cNvPr>
          <p:cNvSpPr txBox="1">
            <a:spLocks/>
          </p:cNvSpPr>
          <p:nvPr/>
        </p:nvSpPr>
        <p:spPr>
          <a:xfrm>
            <a:off x="843280" y="2976581"/>
            <a:ext cx="5872428" cy="9375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Key Uses:</a:t>
            </a:r>
          </a:p>
          <a:p>
            <a:pPr marL="342900" lvl="1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Control flow in if and while statements.</a:t>
            </a:r>
          </a:p>
          <a:p>
            <a:pPr marL="342900" lvl="1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Result of logical operations (e.g., 5 &gt; 3 → True).</a:t>
            </a:r>
          </a:p>
          <a:p>
            <a:pPr marL="342900" lvl="1" indent="-3429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Represent states (e.g., on/off, open/closed).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5E13A-7042-44EA-BF4F-4FE65715CD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98" y="1813245"/>
            <a:ext cx="689402" cy="6894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CAB96D-CA51-4225-A467-FD8583865F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96" y="3665951"/>
            <a:ext cx="689403" cy="68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BA3461-170F-4EF7-92DC-572D0B3E2287}"/>
              </a:ext>
            </a:extLst>
          </p:cNvPr>
          <p:cNvSpPr txBox="1">
            <a:spLocks/>
          </p:cNvSpPr>
          <p:nvPr/>
        </p:nvSpPr>
        <p:spPr>
          <a:xfrm>
            <a:off x="950819" y="1925474"/>
            <a:ext cx="5801361" cy="329081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Definition: </a:t>
            </a:r>
            <a:r>
              <a:rPr lang="en-US" sz="2000" dirty="0">
                <a:solidFill>
                  <a:schemeClr val="bg1"/>
                </a:solidFill>
              </a:rPr>
              <a:t>Ordered, mutable collections of items.</a:t>
            </a:r>
          </a:p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Key Features: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Can store mixed data types (e.g., integers, strings, lists).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Indexed from 0.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Supports operations: .append(), .remove(), .sort().</a:t>
            </a:r>
          </a:p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Use Cases: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Store sequences (e.g., names, numbers, objects).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A5C0A5-D371-4DED-BFFC-A6FE2A785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682" y="4134151"/>
            <a:ext cx="3993847" cy="163226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D9EC584-AC4A-45EC-9E2B-0F41488AD1AE}"/>
              </a:ext>
            </a:extLst>
          </p:cNvPr>
          <p:cNvGrpSpPr/>
          <p:nvPr/>
        </p:nvGrpSpPr>
        <p:grpSpPr>
          <a:xfrm>
            <a:off x="7152641" y="1766230"/>
            <a:ext cx="3881120" cy="1875836"/>
            <a:chOff x="2618878" y="4653207"/>
            <a:chExt cx="3881120" cy="191494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D80118-BFE9-4799-BECB-B10817273D85}"/>
                </a:ext>
              </a:extLst>
            </p:cNvPr>
            <p:cNvGrpSpPr/>
            <p:nvPr/>
          </p:nvGrpSpPr>
          <p:grpSpPr>
            <a:xfrm>
              <a:off x="2618878" y="4693586"/>
              <a:ext cx="3881120" cy="1874566"/>
              <a:chOff x="887894" y="2118830"/>
              <a:chExt cx="4869619" cy="187456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67FDD89-E4E6-4985-88EC-11C9719894FA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7F955E-6C53-43D7-ABFA-DC564CAE9DA7}"/>
                  </a:ext>
                </a:extLst>
              </p:cNvPr>
              <p:cNvSpPr txBox="1"/>
              <p:nvPr/>
            </p:nvSpPr>
            <p:spPr>
              <a:xfrm>
                <a:off x="887894" y="2768042"/>
                <a:ext cx="4869619" cy="1225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fruits = ["apple", "banana", "cherry"]</a:t>
                </a:r>
              </a:p>
              <a:p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fruits.append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("orange")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print(fruits)  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Output: ['apple', 'banana', 'cherry', 'orange']</a:t>
                </a: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760F186-BCA7-454B-B153-6FC8CF17B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3710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Tuple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BA3461-170F-4EF7-92DC-572D0B3E2287}"/>
              </a:ext>
            </a:extLst>
          </p:cNvPr>
          <p:cNvSpPr txBox="1">
            <a:spLocks/>
          </p:cNvSpPr>
          <p:nvPr/>
        </p:nvSpPr>
        <p:spPr>
          <a:xfrm>
            <a:off x="1473199" y="1768100"/>
            <a:ext cx="5994401" cy="415441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Definition: </a:t>
            </a:r>
            <a:r>
              <a:rPr lang="en-US" sz="2000" dirty="0">
                <a:solidFill>
                  <a:schemeClr val="bg1"/>
                </a:solidFill>
              </a:rPr>
              <a:t>Ordered, immutable collections of items.</a:t>
            </a:r>
          </a:p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Key Features: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Values cannot be changed after creation.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Indexed from 0, like lists.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Can store mixed data types (e.g., integers, strings, tuples).</a:t>
            </a:r>
          </a:p>
          <a:p>
            <a:pPr marL="0" lvl="1" algn="l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</a:rPr>
              <a:t>Use Cases: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Fixed data sets (e.g., coordinates, color values).</a:t>
            </a:r>
          </a:p>
          <a:p>
            <a:pPr marL="0" lvl="1" algn="l">
              <a:lnSpc>
                <a:spcPct val="110000"/>
              </a:lnSpc>
            </a:pPr>
            <a:r>
              <a:rPr lang="en-US" sz="2000" dirty="0">
                <a:solidFill>
                  <a:schemeClr val="bg1"/>
                </a:solidFill>
              </a:rPr>
              <a:t>Unpacking: x, y = (10, 20).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5FA528-2CDA-43E4-B74F-B578D9FE3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050" y="3231932"/>
            <a:ext cx="3402597" cy="286095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0409F54-D38C-42A4-9BE6-EDF7B0664485}"/>
              </a:ext>
            </a:extLst>
          </p:cNvPr>
          <p:cNvGrpSpPr/>
          <p:nvPr/>
        </p:nvGrpSpPr>
        <p:grpSpPr>
          <a:xfrm>
            <a:off x="7912338" y="1726377"/>
            <a:ext cx="3781822" cy="1321838"/>
            <a:chOff x="3805296" y="4653207"/>
            <a:chExt cx="3781822" cy="13493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49B9D9D-3630-4016-B820-E25563310ABD}"/>
                </a:ext>
              </a:extLst>
            </p:cNvPr>
            <p:cNvGrpSpPr/>
            <p:nvPr/>
          </p:nvGrpSpPr>
          <p:grpSpPr>
            <a:xfrm>
              <a:off x="3805296" y="4693586"/>
              <a:ext cx="3781822" cy="1309018"/>
              <a:chOff x="2376486" y="2118830"/>
              <a:chExt cx="4745030" cy="130901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728E2B-8962-46E1-BB82-4C7BE0144AF5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36F24E9-2A4B-48D5-AC6D-8B0CF01998A0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745030" cy="659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coordinates = (34.0522, -118.2437)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print(coordinates[0])  # Output: 34.0522</a:t>
                </a: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344A55C-92F6-4969-9C0C-126309FB9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421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Dictionary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7A9410-3A7B-4A7C-BE96-69EBB86119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02"/>
          <a:stretch/>
        </p:blipFill>
        <p:spPr>
          <a:xfrm>
            <a:off x="7912338" y="3822986"/>
            <a:ext cx="3154650" cy="217082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DA97FE-2C5A-4176-843A-4FB667BA9E4E}"/>
              </a:ext>
            </a:extLst>
          </p:cNvPr>
          <p:cNvGrpSpPr/>
          <p:nvPr/>
        </p:nvGrpSpPr>
        <p:grpSpPr>
          <a:xfrm>
            <a:off x="1138479" y="1722786"/>
            <a:ext cx="6461761" cy="4080656"/>
            <a:chOff x="1138479" y="1722786"/>
            <a:chExt cx="6461761" cy="4080656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C7BA3461-170F-4EF7-92DC-572D0B3E2287}"/>
                </a:ext>
              </a:extLst>
            </p:cNvPr>
            <p:cNvSpPr txBox="1">
              <a:spLocks/>
            </p:cNvSpPr>
            <p:nvPr/>
          </p:nvSpPr>
          <p:spPr>
            <a:xfrm>
              <a:off x="1138479" y="1722786"/>
              <a:ext cx="6461761" cy="19903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Definition: </a:t>
              </a:r>
              <a:r>
                <a:rPr lang="en-US" sz="2000" dirty="0">
                  <a:solidFill>
                    <a:schemeClr val="bg1"/>
                  </a:solidFill>
                </a:rPr>
                <a:t>Stores data in key-value pairs for fast lookups.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Keys</a:t>
              </a:r>
              <a:r>
                <a:rPr lang="en-US" sz="2000" dirty="0">
                  <a:solidFill>
                    <a:schemeClr val="bg1"/>
                  </a:solidFill>
                </a:rPr>
                <a:t>: Unique, immutable (e.g., strings, numbers, tuples).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Values:</a:t>
              </a:r>
              <a:r>
                <a:rPr lang="en-US" sz="2000" dirty="0">
                  <a:solidFill>
                    <a:schemeClr val="bg1"/>
                  </a:solidFill>
                </a:rPr>
                <a:t> Any data type, mutable.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Use Cases:</a:t>
              </a:r>
              <a:r>
                <a:rPr lang="en-US" sz="2000" dirty="0">
                  <a:solidFill>
                    <a:schemeClr val="bg1"/>
                  </a:solidFill>
                </a:rPr>
                <a:t> Structured data (e.g., user profiles, settings, JSON).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E2F911A7-E5EB-496B-BBA0-EAC534A916E5}"/>
                </a:ext>
              </a:extLst>
            </p:cNvPr>
            <p:cNvSpPr txBox="1">
              <a:spLocks/>
            </p:cNvSpPr>
            <p:nvPr/>
          </p:nvSpPr>
          <p:spPr>
            <a:xfrm>
              <a:off x="1229918" y="3813106"/>
              <a:ext cx="4683761" cy="19903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0" lvl="1">
                <a:lnSpc>
                  <a:spcPct val="110000"/>
                </a:lnSpc>
              </a:pPr>
              <a:r>
                <a:rPr lang="en-US" sz="2000" b="1" u="sng" dirty="0">
                  <a:solidFill>
                    <a:schemeClr val="bg1"/>
                  </a:solidFill>
                </a:rPr>
                <a:t>Key Operations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Add: </a:t>
              </a:r>
              <a:r>
                <a:rPr lang="en-US" sz="2000" dirty="0" err="1">
                  <a:solidFill>
                    <a:schemeClr val="bg1"/>
                  </a:solidFill>
                </a:rPr>
                <a:t>dict</a:t>
              </a:r>
              <a:r>
                <a:rPr lang="en-US" sz="2000" dirty="0">
                  <a:solidFill>
                    <a:schemeClr val="bg1"/>
                  </a:solidFill>
                </a:rPr>
                <a:t>['key'] = value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Remove: del </a:t>
              </a:r>
              <a:r>
                <a:rPr lang="en-US" sz="2000" dirty="0" err="1">
                  <a:solidFill>
                    <a:schemeClr val="bg1"/>
                  </a:solidFill>
                </a:rPr>
                <a:t>dict</a:t>
              </a:r>
              <a:r>
                <a:rPr lang="en-US" sz="2000" dirty="0">
                  <a:solidFill>
                    <a:schemeClr val="bg1"/>
                  </a:solidFill>
                </a:rPr>
                <a:t>['key']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Advantage: </a:t>
              </a:r>
              <a:r>
                <a:rPr lang="en-US" sz="2000" dirty="0">
                  <a:solidFill>
                    <a:schemeClr val="bg1"/>
                  </a:solidFill>
                </a:rPr>
                <a:t>Fast key-based access via hashing.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808F6-1DAB-4D8E-A130-2E45A58A7FE4}"/>
              </a:ext>
            </a:extLst>
          </p:cNvPr>
          <p:cNvGrpSpPr/>
          <p:nvPr/>
        </p:nvGrpSpPr>
        <p:grpSpPr>
          <a:xfrm>
            <a:off x="7912338" y="1726376"/>
            <a:ext cx="3576290" cy="1308638"/>
            <a:chOff x="3805296" y="4653207"/>
            <a:chExt cx="3576290" cy="133592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E3EE48D-883D-47FC-96B1-4A50972C80FB}"/>
                </a:ext>
              </a:extLst>
            </p:cNvPr>
            <p:cNvGrpSpPr/>
            <p:nvPr/>
          </p:nvGrpSpPr>
          <p:grpSpPr>
            <a:xfrm>
              <a:off x="3805296" y="4693586"/>
              <a:ext cx="3576290" cy="1295543"/>
              <a:chOff x="2376486" y="2118830"/>
              <a:chExt cx="4487150" cy="1295543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2777E7-D55A-4A41-8F8D-2F77A55A98D7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B297B2-20BC-4F6E-A74F-F22DE14478A2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48715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student = {"name": "Alice", "age": 22}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print(student["name"])  # Output: Alice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7A83984-5C45-49C6-85E5-1130EE8C2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8403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22680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DA97FE-2C5A-4176-843A-4FB667BA9E4E}"/>
              </a:ext>
            </a:extLst>
          </p:cNvPr>
          <p:cNvGrpSpPr/>
          <p:nvPr/>
        </p:nvGrpSpPr>
        <p:grpSpPr>
          <a:xfrm>
            <a:off x="740943" y="1540714"/>
            <a:ext cx="8569013" cy="4677685"/>
            <a:chOff x="1138479" y="1722786"/>
            <a:chExt cx="8569013" cy="4677685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C7BA3461-170F-4EF7-92DC-572D0B3E2287}"/>
                </a:ext>
              </a:extLst>
            </p:cNvPr>
            <p:cNvSpPr txBox="1">
              <a:spLocks/>
            </p:cNvSpPr>
            <p:nvPr/>
          </p:nvSpPr>
          <p:spPr>
            <a:xfrm>
              <a:off x="1138479" y="1722786"/>
              <a:ext cx="7141921" cy="19903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Definition: </a:t>
              </a:r>
              <a:r>
                <a:rPr lang="en-US" sz="2000" dirty="0">
                  <a:solidFill>
                    <a:schemeClr val="bg1"/>
                  </a:solidFill>
                </a:rPr>
                <a:t>Stores unique, unordered elements..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Keys</a:t>
              </a:r>
              <a:r>
                <a:rPr lang="en-US" sz="2000" dirty="0">
                  <a:solidFill>
                    <a:schemeClr val="bg1"/>
                  </a:solidFill>
                </a:rPr>
                <a:t>: Unique, immutable (e.g., strings, numbers, tuples).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Values:</a:t>
              </a:r>
              <a:r>
                <a:rPr lang="en-US" sz="2000" dirty="0">
                  <a:solidFill>
                    <a:schemeClr val="bg1"/>
                  </a:solidFill>
                </a:rPr>
                <a:t> Elements must be immutable (e.g., strings, numbers, tuples).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Use Cases:</a:t>
              </a:r>
              <a:r>
                <a:rPr lang="en-US" sz="2000" dirty="0">
                  <a:solidFill>
                    <a:schemeClr val="bg1"/>
                  </a:solidFill>
                </a:rPr>
                <a:t> Membership testing, removing duplicates, mathematical set operations (union, intersection, difference).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E2F911A7-E5EB-496B-BBA0-EAC534A916E5}"/>
                </a:ext>
              </a:extLst>
            </p:cNvPr>
            <p:cNvSpPr txBox="1">
              <a:spLocks/>
            </p:cNvSpPr>
            <p:nvPr/>
          </p:nvSpPr>
          <p:spPr>
            <a:xfrm>
              <a:off x="1229918" y="3896839"/>
              <a:ext cx="8477574" cy="2503632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l">
                <a:lnSpc>
                  <a:spcPct val="110000"/>
                </a:lnSpc>
              </a:pPr>
              <a:endParaRPr lang="en-US" sz="2000" b="1" u="sng" dirty="0">
                <a:solidFill>
                  <a:schemeClr val="bg1"/>
                </a:solidFill>
              </a:endParaRPr>
            </a:p>
            <a:p>
              <a:pPr marL="0" lvl="1" algn="l">
                <a:lnSpc>
                  <a:spcPct val="110000"/>
                </a:lnSpc>
              </a:pPr>
              <a:r>
                <a:rPr lang="en-US" sz="2000" b="1" u="sng" dirty="0">
                  <a:solidFill>
                    <a:schemeClr val="bg1"/>
                  </a:solidFill>
                </a:rPr>
                <a:t>Key Operations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Add: </a:t>
              </a:r>
              <a:r>
                <a:rPr lang="en-US" sz="2000" dirty="0" err="1">
                  <a:solidFill>
                    <a:schemeClr val="bg1"/>
                  </a:solidFill>
                </a:rPr>
                <a:t>set.add</a:t>
              </a:r>
              <a:r>
                <a:rPr lang="en-US" sz="2000" dirty="0">
                  <a:solidFill>
                    <a:schemeClr val="bg1"/>
                  </a:solidFill>
                </a:rPr>
                <a:t>(element) 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Remove: </a:t>
              </a:r>
              <a:r>
                <a:rPr lang="en-US" sz="2000" dirty="0" err="1">
                  <a:solidFill>
                    <a:schemeClr val="bg1"/>
                  </a:solidFill>
                </a:rPr>
                <a:t>set.remove</a:t>
              </a:r>
              <a:r>
                <a:rPr lang="en-US" sz="2000" dirty="0">
                  <a:solidFill>
                    <a:schemeClr val="bg1"/>
                  </a:solidFill>
                </a:rPr>
                <a:t>(element)</a:t>
              </a:r>
            </a:p>
            <a:p>
              <a:pPr marL="0" lvl="1" algn="l">
                <a:lnSpc>
                  <a:spcPct val="110000"/>
                </a:lnSpc>
              </a:pPr>
              <a:r>
                <a:rPr lang="en-US" sz="2000" b="1" dirty="0">
                  <a:solidFill>
                    <a:schemeClr val="bg1"/>
                  </a:solidFill>
                </a:rPr>
                <a:t>Advantage: </a:t>
              </a:r>
              <a:r>
                <a:rPr lang="en-US" sz="2000" dirty="0">
                  <a:solidFill>
                    <a:schemeClr val="bg1"/>
                  </a:solidFill>
                </a:rPr>
                <a:t>Fast membership testing via hashing; automatic duplicate removal.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BF808F6-1DAB-4D8E-A130-2E45A58A7FE4}"/>
              </a:ext>
            </a:extLst>
          </p:cNvPr>
          <p:cNvGrpSpPr/>
          <p:nvPr/>
        </p:nvGrpSpPr>
        <p:grpSpPr>
          <a:xfrm>
            <a:off x="7912338" y="1726376"/>
            <a:ext cx="3576290" cy="2152835"/>
            <a:chOff x="3805296" y="4653207"/>
            <a:chExt cx="3576290" cy="219772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E3EE48D-883D-47FC-96B1-4A50972C80FB}"/>
                </a:ext>
              </a:extLst>
            </p:cNvPr>
            <p:cNvGrpSpPr/>
            <p:nvPr/>
          </p:nvGrpSpPr>
          <p:grpSpPr>
            <a:xfrm>
              <a:off x="3805296" y="4693586"/>
              <a:ext cx="3576290" cy="2157341"/>
              <a:chOff x="2376486" y="2118830"/>
              <a:chExt cx="4487150" cy="215734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2777E7-D55A-4A41-8F8D-2F77A55A98D7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EB297B2-20BC-4F6E-A74F-F22DE14478A2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487150" cy="1508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numbers = {1, 2, 3, 3, 4}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print(numbers) 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Output: {1, 2, 3, 4} (order may vary) 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print(2 in numbers) 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Output: True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7A83984-5C45-49C6-85E5-1130EE8C2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B9A568F-8A04-4C8A-B79F-B92F28E4F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065" y="3976252"/>
            <a:ext cx="2063095" cy="2063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9E3689-2DC2-442C-842F-B67B61899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77" y="3933882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438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99849"/>
            <a:ext cx="11653520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effectLst/>
              </a:rPr>
              <a:t>Comparison of Mutability and Use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03E25B-A842-4A3F-8B0B-FEA5ABFCE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175014"/>
              </p:ext>
            </p:extLst>
          </p:nvPr>
        </p:nvGraphicFramePr>
        <p:xfrm>
          <a:off x="1351280" y="1620521"/>
          <a:ext cx="9848436" cy="45719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63679">
                  <a:extLst>
                    <a:ext uri="{9D8B030D-6E8A-4147-A177-3AD203B41FA5}">
                      <a16:colId xmlns:a16="http://schemas.microsoft.com/office/drawing/2014/main" val="147271633"/>
                    </a:ext>
                  </a:extLst>
                </a:gridCol>
                <a:gridCol w="2673041">
                  <a:extLst>
                    <a:ext uri="{9D8B030D-6E8A-4147-A177-3AD203B41FA5}">
                      <a16:colId xmlns:a16="http://schemas.microsoft.com/office/drawing/2014/main" val="3297199651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154692783"/>
                    </a:ext>
                  </a:extLst>
                </a:gridCol>
                <a:gridCol w="3854036">
                  <a:extLst>
                    <a:ext uri="{9D8B030D-6E8A-4147-A177-3AD203B41FA5}">
                      <a16:colId xmlns:a16="http://schemas.microsoft.com/office/drawing/2014/main" val="136337471"/>
                    </a:ext>
                  </a:extLst>
                </a:gridCol>
              </a:tblGrid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628571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x 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Whole numbers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70490"/>
                  </a:ext>
                </a:extLst>
              </a:tr>
              <a:tr h="55286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y = 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Decimals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075112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 = ‘text’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effectLst/>
                        </a:rPr>
                        <a:t>❌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6804430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Flag =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True/False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179273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[1,2,3]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effectLst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Modifiable collection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024378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effectLst/>
                        </a:rPr>
                        <a:t>❌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Fixed Collection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092966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/>
                        <a:t>Dict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{“key” : “value”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effectLst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Key-Value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740328"/>
                  </a:ext>
                </a:extLst>
              </a:tr>
              <a:tr h="502392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{1,2,3}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dirty="0">
                          <a:effectLst/>
                        </a:rPr>
                        <a:t>✅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Unique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86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99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</a:rPr>
              <a:t>Huawei HCCDA-AI certification 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1140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5747390-A979-4824-ADC5-8D4220DDAA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54"/>
          <a:stretch/>
        </p:blipFill>
        <p:spPr>
          <a:xfrm>
            <a:off x="6754392" y="3692005"/>
            <a:ext cx="1080283" cy="9036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Conditional Statements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127818F-E959-4AF3-8FF4-7899F4B118C5}"/>
              </a:ext>
            </a:extLst>
          </p:cNvPr>
          <p:cNvGrpSpPr/>
          <p:nvPr/>
        </p:nvGrpSpPr>
        <p:grpSpPr>
          <a:xfrm>
            <a:off x="210632" y="1519390"/>
            <a:ext cx="6606728" cy="1174110"/>
            <a:chOff x="352872" y="2118830"/>
            <a:chExt cx="6606728" cy="11741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9F07F-67C2-43DA-A667-D86608FE643C}"/>
                </a:ext>
              </a:extLst>
            </p:cNvPr>
            <p:cNvSpPr txBox="1"/>
            <p:nvPr/>
          </p:nvSpPr>
          <p:spPr>
            <a:xfrm>
              <a:off x="352872" y="2585054"/>
              <a:ext cx="6606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Conditional statements enable programs to execute different actions based on whether a condition evaluates to True or False.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1D0C0-284F-4309-B8F9-D5A3534F709F}"/>
                </a:ext>
              </a:extLst>
            </p:cNvPr>
            <p:cNvSpPr txBox="1"/>
            <p:nvPr/>
          </p:nvSpPr>
          <p:spPr>
            <a:xfrm>
              <a:off x="2935440" y="2118830"/>
              <a:ext cx="1514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Definition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346895-5A98-4701-B6CA-0E55D26D1779}"/>
              </a:ext>
            </a:extLst>
          </p:cNvPr>
          <p:cNvGrpSpPr/>
          <p:nvPr/>
        </p:nvGrpSpPr>
        <p:grpSpPr>
          <a:xfrm>
            <a:off x="1098053" y="5263112"/>
            <a:ext cx="4742373" cy="1200399"/>
            <a:chOff x="464632" y="2092541"/>
            <a:chExt cx="4742373" cy="120039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EF55E-4E6C-47F6-92A7-45B5219A1EF5}"/>
                </a:ext>
              </a:extLst>
            </p:cNvPr>
            <p:cNvSpPr txBox="1"/>
            <p:nvPr/>
          </p:nvSpPr>
          <p:spPr>
            <a:xfrm>
              <a:off x="464632" y="2585054"/>
              <a:ext cx="47423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Execute actions when a condition is True.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Skip actions when a condition is False.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BA8235-0A1E-461B-9450-207E6BAF603E}"/>
                </a:ext>
              </a:extLst>
            </p:cNvPr>
            <p:cNvSpPr txBox="1"/>
            <p:nvPr/>
          </p:nvSpPr>
          <p:spPr>
            <a:xfrm>
              <a:off x="1854206" y="2092541"/>
              <a:ext cx="2998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Why Use Them?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3D4EB81-C637-4ACD-B701-8026916D9116}"/>
              </a:ext>
            </a:extLst>
          </p:cNvPr>
          <p:cNvGrpSpPr/>
          <p:nvPr/>
        </p:nvGrpSpPr>
        <p:grpSpPr>
          <a:xfrm>
            <a:off x="8448035" y="3093331"/>
            <a:ext cx="3195325" cy="2801949"/>
            <a:chOff x="8448035" y="3509891"/>
            <a:chExt cx="3195325" cy="280194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C81A182-F390-4C0E-A663-D5E144D131E1}"/>
                </a:ext>
              </a:extLst>
            </p:cNvPr>
            <p:cNvGrpSpPr/>
            <p:nvPr/>
          </p:nvGrpSpPr>
          <p:grpSpPr>
            <a:xfrm>
              <a:off x="8448035" y="4803664"/>
              <a:ext cx="3195325" cy="1508176"/>
              <a:chOff x="464632" y="2092541"/>
              <a:chExt cx="4742373" cy="1508176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E727F4-C851-4151-A226-774D680009F2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474237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solidFill>
                      <a:schemeClr val="bg1"/>
                    </a:solidFill>
                  </a:rPr>
                  <a:t>Traffic light: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	</a:t>
                </a:r>
                <a:r>
                  <a:rPr lang="en-US" sz="2000" dirty="0">
                    <a:solidFill>
                      <a:srgbClr val="00B050"/>
                    </a:solidFill>
                  </a:rPr>
                  <a:t>Green</a:t>
                </a:r>
                <a:r>
                  <a:rPr lang="en-US" sz="2000" dirty="0">
                    <a:solidFill>
                      <a:schemeClr val="bg1"/>
                    </a:solidFill>
                  </a:rPr>
                  <a:t> → Cars go.</a:t>
                </a:r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	Red </a:t>
                </a:r>
                <a:r>
                  <a:rPr lang="en-US" sz="2000" dirty="0">
                    <a:solidFill>
                      <a:schemeClr val="bg1"/>
                    </a:solidFill>
                  </a:rPr>
                  <a:t>→ Cars stop.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BBB63B8-3E39-40A2-9A65-A8F2CEF45244}"/>
                  </a:ext>
                </a:extLst>
              </p:cNvPr>
              <p:cNvSpPr txBox="1"/>
              <p:nvPr/>
            </p:nvSpPr>
            <p:spPr>
              <a:xfrm>
                <a:off x="999946" y="2092541"/>
                <a:ext cx="385303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Real-Life Analogy</a:t>
                </a: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1B199A0-AEC1-4FA0-90D2-1E46D0811F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538"/>
            <a:stretch/>
          </p:blipFill>
          <p:spPr>
            <a:xfrm>
              <a:off x="9561253" y="3509891"/>
              <a:ext cx="1254763" cy="1197348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469F69D7-1DDD-4F4F-88AC-E66C16ACDE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489" y="1381331"/>
            <a:ext cx="1514641" cy="1514641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DC6AF6E-2DCE-401D-9C0F-B926663D0B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190" y="1475960"/>
            <a:ext cx="519866" cy="519866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85074BDE-A6ED-47FD-8D12-2DD7254CEDB1}"/>
              </a:ext>
            </a:extLst>
          </p:cNvPr>
          <p:cNvGrpSpPr/>
          <p:nvPr/>
        </p:nvGrpSpPr>
        <p:grpSpPr>
          <a:xfrm>
            <a:off x="291912" y="2895972"/>
            <a:ext cx="6220648" cy="866370"/>
            <a:chOff x="200472" y="2997572"/>
            <a:chExt cx="6220648" cy="86637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68BDF2B-12D3-43C8-AA3B-819CFFB0531E}"/>
                </a:ext>
              </a:extLst>
            </p:cNvPr>
            <p:cNvGrpSpPr/>
            <p:nvPr/>
          </p:nvGrpSpPr>
          <p:grpSpPr>
            <a:xfrm>
              <a:off x="200472" y="2997608"/>
              <a:ext cx="6220648" cy="866334"/>
              <a:chOff x="464632" y="2118830"/>
              <a:chExt cx="6220648" cy="866334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604F4B-D8D0-481F-85B3-EB6029CA49E5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62206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A logical expression resulting in a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boolean</a:t>
                </a:r>
                <a:r>
                  <a:rPr lang="en-US" sz="2000" dirty="0">
                    <a:solidFill>
                      <a:schemeClr val="bg1"/>
                    </a:solidFill>
                  </a:rPr>
                  <a:t> (True or False).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1B9514-5194-4F0A-AD6B-0014DB1EB656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Condition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E7788F6-5617-4F3F-B86C-F06C4ABE3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0750" y="2997572"/>
              <a:ext cx="390843" cy="390843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CFE9DD2-93C4-4866-AB72-F1FE7A416913}"/>
              </a:ext>
            </a:extLst>
          </p:cNvPr>
          <p:cNvGrpSpPr/>
          <p:nvPr/>
        </p:nvGrpSpPr>
        <p:grpSpPr>
          <a:xfrm>
            <a:off x="352872" y="4056763"/>
            <a:ext cx="5865048" cy="866334"/>
            <a:chOff x="230952" y="4046603"/>
            <a:chExt cx="5865048" cy="8663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CF756E-3862-48BB-8118-915015BA471D}"/>
                </a:ext>
              </a:extLst>
            </p:cNvPr>
            <p:cNvGrpSpPr/>
            <p:nvPr/>
          </p:nvGrpSpPr>
          <p:grpSpPr>
            <a:xfrm>
              <a:off x="230952" y="4046603"/>
              <a:ext cx="5865048" cy="866334"/>
              <a:chOff x="464632" y="2118830"/>
              <a:chExt cx="5865048" cy="86633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D0021E-6BBE-4384-89F6-C566C4D836CF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5865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Controls program flow by enabling decision-making.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9C35AE-E990-4985-9978-9A08784B7690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7AD9C63-7EBB-440A-803A-568F56D05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4089820"/>
              <a:ext cx="400110" cy="400110"/>
            </a:xfrm>
            <a:prstGeom prst="rect">
              <a:avLst/>
            </a:prstGeom>
          </p:spPr>
        </p:pic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4FF1CD69-B085-4929-8459-850646AEDF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1492" y="5235020"/>
            <a:ext cx="1122091" cy="635218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5374776-7547-45C4-9D81-10860CAB1D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3915" y="2290352"/>
            <a:ext cx="733766" cy="41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06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Conditions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1" y="6238241"/>
            <a:ext cx="3860800" cy="461665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9C35AE-E990-4985-9978-9A08784B7690}"/>
              </a:ext>
            </a:extLst>
          </p:cNvPr>
          <p:cNvSpPr txBox="1"/>
          <p:nvPr/>
        </p:nvSpPr>
        <p:spPr>
          <a:xfrm>
            <a:off x="7759824" y="2052575"/>
            <a:ext cx="3272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</a:rPr>
              <a:t>Comparison Operators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E6360D-05A0-421D-AE8F-22D7E39116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89"/>
          <a:stretch/>
        </p:blipFill>
        <p:spPr>
          <a:xfrm>
            <a:off x="7767669" y="2705369"/>
            <a:ext cx="3048348" cy="259211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DE2FE4D-A330-438C-99DD-205A15860AFD}"/>
              </a:ext>
            </a:extLst>
          </p:cNvPr>
          <p:cNvGrpSpPr/>
          <p:nvPr/>
        </p:nvGrpSpPr>
        <p:grpSpPr>
          <a:xfrm>
            <a:off x="81280" y="1386187"/>
            <a:ext cx="6606728" cy="1081313"/>
            <a:chOff x="-144968" y="1346289"/>
            <a:chExt cx="6606728" cy="108131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7818F-E959-4AF3-8FF4-7899F4B118C5}"/>
                </a:ext>
              </a:extLst>
            </p:cNvPr>
            <p:cNvGrpSpPr/>
            <p:nvPr/>
          </p:nvGrpSpPr>
          <p:grpSpPr>
            <a:xfrm>
              <a:off x="-144968" y="1509230"/>
              <a:ext cx="6606728" cy="918372"/>
              <a:chOff x="88712" y="2118830"/>
              <a:chExt cx="6606728" cy="91837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49F07F-67C2-43DA-A667-D86608FE643C}"/>
                  </a:ext>
                </a:extLst>
              </p:cNvPr>
              <p:cNvSpPr txBox="1"/>
              <p:nvPr/>
            </p:nvSpPr>
            <p:spPr>
              <a:xfrm>
                <a:off x="88712" y="2637092"/>
                <a:ext cx="660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Expressions evaluating to True or False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1D0C0-284F-4309-B8F9-D5A3534F709F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F979923-D81D-46FE-8754-10D3E1FE2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0397" y="1346289"/>
              <a:ext cx="691363" cy="69136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93051B-03EF-4518-91A2-5281FEADEEB4}"/>
              </a:ext>
            </a:extLst>
          </p:cNvPr>
          <p:cNvGrpSpPr/>
          <p:nvPr/>
        </p:nvGrpSpPr>
        <p:grpSpPr>
          <a:xfrm>
            <a:off x="859171" y="2675606"/>
            <a:ext cx="5265608" cy="1139030"/>
            <a:chOff x="936724" y="3836899"/>
            <a:chExt cx="5265608" cy="113903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68BDF2B-12D3-43C8-AA3B-819CFFB0531E}"/>
                </a:ext>
              </a:extLst>
            </p:cNvPr>
            <p:cNvGrpSpPr/>
            <p:nvPr/>
          </p:nvGrpSpPr>
          <p:grpSpPr>
            <a:xfrm>
              <a:off x="936724" y="4001427"/>
              <a:ext cx="5265608" cy="974502"/>
              <a:chOff x="82201" y="2118830"/>
              <a:chExt cx="6606728" cy="97450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604F4B-D8D0-481F-85B3-EB6029CA49E5}"/>
                  </a:ext>
                </a:extLst>
              </p:cNvPr>
              <p:cNvSpPr txBox="1"/>
              <p:nvPr/>
            </p:nvSpPr>
            <p:spPr>
              <a:xfrm>
                <a:off x="82201" y="2693222"/>
                <a:ext cx="660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Control flow in if, if-else, if-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elif</a:t>
                </a:r>
                <a:r>
                  <a:rPr lang="en-US" sz="2000" dirty="0">
                    <a:solidFill>
                      <a:schemeClr val="bg1"/>
                    </a:solidFill>
                  </a:rPr>
                  <a:t>-else statements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1B9514-5194-4F0A-AD6B-0014DB1EB656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Usage</a:t>
                </a: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0C00393-CBE7-4E5B-8D17-7C803A8DD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6365" y="3836899"/>
              <a:ext cx="614363" cy="614363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7D2832-7096-4980-A561-383FE57576EA}"/>
              </a:ext>
            </a:extLst>
          </p:cNvPr>
          <p:cNvGrpSpPr/>
          <p:nvPr/>
        </p:nvGrpSpPr>
        <p:grpSpPr>
          <a:xfrm>
            <a:off x="740943" y="4117659"/>
            <a:ext cx="7018632" cy="1660987"/>
            <a:chOff x="1976736" y="4653207"/>
            <a:chExt cx="7018632" cy="16609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676B74-2657-4433-8BC0-88B30B9D8308}"/>
                </a:ext>
              </a:extLst>
            </p:cNvPr>
            <p:cNvGrpSpPr/>
            <p:nvPr/>
          </p:nvGrpSpPr>
          <p:grpSpPr>
            <a:xfrm>
              <a:off x="1976736" y="4693586"/>
              <a:ext cx="7018632" cy="1620608"/>
              <a:chOff x="82201" y="2118830"/>
              <a:chExt cx="8806237" cy="162060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DA7130-234D-4979-9E25-0DE53FDEAC05}"/>
                  </a:ext>
                </a:extLst>
              </p:cNvPr>
              <p:cNvSpPr txBox="1"/>
              <p:nvPr/>
            </p:nvSpPr>
            <p:spPr>
              <a:xfrm>
                <a:off x="82201" y="2693222"/>
                <a:ext cx="410233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>
                    <a:solidFill>
                      <a:schemeClr val="bg1"/>
                    </a:solidFill>
                  </a:rPr>
                  <a:t>How It Works: x &gt; 5 evaluates to True, triggering the print statement.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3CA621-D2AB-480E-8DBF-5DA04BE28399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D700D2-BAFE-439A-8038-938B097EA1DC}"/>
                  </a:ext>
                </a:extLst>
              </p:cNvPr>
              <p:cNvSpPr txBox="1"/>
              <p:nvPr/>
            </p:nvSpPr>
            <p:spPr>
              <a:xfrm>
                <a:off x="4786100" y="2723775"/>
                <a:ext cx="410233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x = 5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x &gt; 5: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print("x is greater than 5")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4B7DCF-D644-4CD1-BA8C-49117C4C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0747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Logical Operators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1" y="6238241"/>
            <a:ext cx="3860800" cy="461665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1064072" y="2652963"/>
            <a:ext cx="4356569" cy="1804541"/>
            <a:chOff x="82201" y="2212120"/>
            <a:chExt cx="6606728" cy="18045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82201" y="2693222"/>
              <a:ext cx="660672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and: </a:t>
              </a:r>
              <a:r>
                <a:rPr lang="en-US" sz="2000" dirty="0">
                  <a:solidFill>
                    <a:schemeClr val="bg1"/>
                  </a:solidFill>
                </a:rPr>
                <a:t>True if both conditions are True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or: </a:t>
              </a:r>
              <a:r>
                <a:rPr lang="en-US" sz="2000" dirty="0">
                  <a:solidFill>
                    <a:schemeClr val="bg1"/>
                  </a:solidFill>
                </a:rPr>
                <a:t>True if at least one condition is True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not: </a:t>
              </a:r>
              <a:r>
                <a:rPr lang="en-US" sz="2000" dirty="0">
                  <a:solidFill>
                    <a:schemeClr val="bg1"/>
                  </a:solidFill>
                </a:rPr>
                <a:t>Reverses a condition 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        (True → False, False → True)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628243" y="2212120"/>
              <a:ext cx="15146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Types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7D2832-7096-4980-A561-383FE57576EA}"/>
              </a:ext>
            </a:extLst>
          </p:cNvPr>
          <p:cNvGrpSpPr/>
          <p:nvPr/>
        </p:nvGrpSpPr>
        <p:grpSpPr>
          <a:xfrm>
            <a:off x="6268445" y="3199682"/>
            <a:ext cx="6630788" cy="2952385"/>
            <a:chOff x="2365394" y="4795447"/>
            <a:chExt cx="6630788" cy="295238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676B74-2657-4433-8BC0-88B30B9D8308}"/>
                </a:ext>
              </a:extLst>
            </p:cNvPr>
            <p:cNvGrpSpPr/>
            <p:nvPr/>
          </p:nvGrpSpPr>
          <p:grpSpPr>
            <a:xfrm>
              <a:off x="2365394" y="4835826"/>
              <a:ext cx="6630788" cy="2912006"/>
              <a:chOff x="569849" y="2261070"/>
              <a:chExt cx="8319613" cy="2912006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DA7130-234D-4979-9E25-0DE53FDEAC05}"/>
                  </a:ext>
                </a:extLst>
              </p:cNvPr>
              <p:cNvSpPr txBox="1"/>
              <p:nvPr/>
            </p:nvSpPr>
            <p:spPr>
              <a:xfrm>
                <a:off x="569849" y="2782637"/>
                <a:ext cx="3932726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b="1" dirty="0">
                    <a:solidFill>
                      <a:schemeClr val="bg1"/>
                    </a:solidFill>
                  </a:rPr>
                  <a:t>and: </a:t>
                </a:r>
                <a:r>
                  <a:rPr lang="en-US" sz="2000" dirty="0">
                    <a:solidFill>
                      <a:schemeClr val="bg1"/>
                    </a:solidFill>
                  </a:rPr>
                  <a:t>Both age &gt; 18 and age &lt; 30 must be True to print.</a:t>
                </a:r>
              </a:p>
              <a:p>
                <a:pPr algn="just"/>
                <a:endParaRPr lang="en-US" sz="2000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en-US" sz="2000" b="1" dirty="0">
                    <a:solidFill>
                      <a:schemeClr val="bg1"/>
                    </a:solidFill>
                  </a:rPr>
                  <a:t>or: </a:t>
                </a:r>
                <a:r>
                  <a:rPr lang="en-US" sz="2000" dirty="0">
                    <a:solidFill>
                      <a:schemeClr val="bg1"/>
                    </a:solidFill>
                  </a:rPr>
                  <a:t>Either grade == 'A' or grade == 'B' being True triggers the print.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3CA621-D2AB-480E-8DBF-5DA04BE28399}"/>
                  </a:ext>
                </a:extLst>
              </p:cNvPr>
              <p:cNvSpPr txBox="1"/>
              <p:nvPr/>
            </p:nvSpPr>
            <p:spPr>
              <a:xfrm>
                <a:off x="3292375" y="2261070"/>
                <a:ext cx="20904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D700D2-BAFE-439A-8038-938B097EA1DC}"/>
                  </a:ext>
                </a:extLst>
              </p:cNvPr>
              <p:cNvSpPr txBox="1"/>
              <p:nvPr/>
            </p:nvSpPr>
            <p:spPr>
              <a:xfrm>
                <a:off x="4787123" y="2833974"/>
                <a:ext cx="4102339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and operator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age = 20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age &gt; 18 and age &lt; 30: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print("You're a young adult")</a:t>
                </a:r>
              </a:p>
              <a:p>
                <a:b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</a:br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or operator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grade = 'B'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grade == 'A' or grade == 'B':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print("You passed")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4B7DCF-D644-4CD1-BA8C-49117C4C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776" y="4795447"/>
              <a:ext cx="524712" cy="52471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57871B-7BBB-40F4-AFD4-0604F060F041}"/>
              </a:ext>
            </a:extLst>
          </p:cNvPr>
          <p:cNvGrpSpPr/>
          <p:nvPr/>
        </p:nvGrpSpPr>
        <p:grpSpPr>
          <a:xfrm>
            <a:off x="309833" y="1632663"/>
            <a:ext cx="5865048" cy="866334"/>
            <a:chOff x="230952" y="1539776"/>
            <a:chExt cx="5865048" cy="8663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95A39A-8ACC-4E00-BC59-6E3696A98C2B}"/>
                </a:ext>
              </a:extLst>
            </p:cNvPr>
            <p:cNvGrpSpPr/>
            <p:nvPr/>
          </p:nvGrpSpPr>
          <p:grpSpPr>
            <a:xfrm>
              <a:off x="230952" y="1539776"/>
              <a:ext cx="5865048" cy="866334"/>
              <a:chOff x="464632" y="2118830"/>
              <a:chExt cx="5865048" cy="86633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5EE307-786C-4370-83C7-DE86D0F303F9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5865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Combine multiple conditions to return True or False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53DD1-2755-417E-9D17-FA1D97028F78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34C5AD5-C197-437A-B750-AAF3597DA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1570140"/>
              <a:ext cx="400110" cy="400110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B63B2F8-040B-43E2-833C-E025CC964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186" y="1378021"/>
            <a:ext cx="3001255" cy="16882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C287B07-F0D5-4227-B790-AE4E53B9C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355" y="4590961"/>
            <a:ext cx="2599651" cy="146230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2657C48-BD17-45D0-90A7-33B193EE47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614" y="4476941"/>
            <a:ext cx="2864816" cy="16903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757164-A2F8-4D9F-8756-4A47B79725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147" y="2687942"/>
            <a:ext cx="396206" cy="3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9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If Statements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1" y="6238241"/>
            <a:ext cx="3860800" cy="461665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522192" y="3012306"/>
            <a:ext cx="5206487" cy="881212"/>
            <a:chOff x="82201" y="2212120"/>
            <a:chExt cx="7895627" cy="881212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82201" y="2693222"/>
              <a:ext cx="7895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if keyword, followed by a condition, then a colon :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628243" y="2212120"/>
              <a:ext cx="1726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Syntax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7D2832-7096-4980-A561-383FE57576EA}"/>
              </a:ext>
            </a:extLst>
          </p:cNvPr>
          <p:cNvGrpSpPr/>
          <p:nvPr/>
        </p:nvGrpSpPr>
        <p:grpSpPr>
          <a:xfrm>
            <a:off x="7141474" y="2134782"/>
            <a:ext cx="3781953" cy="2953534"/>
            <a:chOff x="3663027" y="4653207"/>
            <a:chExt cx="3781953" cy="295353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676B74-2657-4433-8BC0-88B30B9D8308}"/>
                </a:ext>
              </a:extLst>
            </p:cNvPr>
            <p:cNvGrpSpPr/>
            <p:nvPr/>
          </p:nvGrpSpPr>
          <p:grpSpPr>
            <a:xfrm>
              <a:off x="3663027" y="4693586"/>
              <a:ext cx="3781953" cy="2913155"/>
              <a:chOff x="2197982" y="2118830"/>
              <a:chExt cx="4745194" cy="291315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FDA7130-234D-4979-9E25-0DE53FDEAC05}"/>
                  </a:ext>
                </a:extLst>
              </p:cNvPr>
              <p:cNvSpPr txBox="1"/>
              <p:nvPr/>
            </p:nvSpPr>
            <p:spPr>
              <a:xfrm>
                <a:off x="2197982" y="3708546"/>
                <a:ext cx="4745194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num &gt; 5 evaluates to True, so the message is printed.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If num &lt;= 5, the print statement is skipped.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3CA621-D2AB-480E-8DBF-5DA04BE28399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D700D2-BAFE-439A-8038-938B097EA1DC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num = 10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num &gt; 5: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print("The number is greater than 5")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4B7DCF-D644-4CD1-BA8C-49117C4C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57871B-7BBB-40F4-AFD4-0604F060F041}"/>
              </a:ext>
            </a:extLst>
          </p:cNvPr>
          <p:cNvGrpSpPr/>
          <p:nvPr/>
        </p:nvGrpSpPr>
        <p:grpSpPr>
          <a:xfrm>
            <a:off x="-102692" y="1859803"/>
            <a:ext cx="5865048" cy="866334"/>
            <a:chOff x="230952" y="1539776"/>
            <a:chExt cx="5865048" cy="8663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95A39A-8ACC-4E00-BC59-6E3696A98C2B}"/>
                </a:ext>
              </a:extLst>
            </p:cNvPr>
            <p:cNvGrpSpPr/>
            <p:nvPr/>
          </p:nvGrpSpPr>
          <p:grpSpPr>
            <a:xfrm>
              <a:off x="230952" y="1539776"/>
              <a:ext cx="5865048" cy="866334"/>
              <a:chOff x="464632" y="2118830"/>
              <a:chExt cx="5865048" cy="86633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5EE307-786C-4370-83C7-DE86D0F303F9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5865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Execute a code block only if a condition is True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53DD1-2755-417E-9D17-FA1D97028F78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34C5AD5-C197-437A-B750-AAF3597DA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1570140"/>
              <a:ext cx="400110" cy="40011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B6C192-4E0F-4E2A-ADF6-7DE0A056B97B}"/>
              </a:ext>
            </a:extLst>
          </p:cNvPr>
          <p:cNvGrpSpPr/>
          <p:nvPr/>
        </p:nvGrpSpPr>
        <p:grpSpPr>
          <a:xfrm>
            <a:off x="872181" y="4136635"/>
            <a:ext cx="4506508" cy="1191122"/>
            <a:chOff x="82201" y="2209986"/>
            <a:chExt cx="7895627" cy="119112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037A74-F8E4-4447-8156-17C5DDFEDF10}"/>
                </a:ext>
              </a:extLst>
            </p:cNvPr>
            <p:cNvSpPr txBox="1"/>
            <p:nvPr/>
          </p:nvSpPr>
          <p:spPr>
            <a:xfrm>
              <a:off x="82201" y="2693222"/>
              <a:ext cx="78956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True condition: </a:t>
              </a:r>
              <a:r>
                <a:rPr lang="en-US" sz="2000" dirty="0">
                  <a:solidFill>
                    <a:schemeClr val="bg1"/>
                  </a:solidFill>
                </a:rPr>
                <a:t>Code block executes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False condition: </a:t>
              </a:r>
              <a:r>
                <a:rPr lang="en-US" sz="2000" dirty="0">
                  <a:solidFill>
                    <a:schemeClr val="bg1"/>
                  </a:solidFill>
                </a:rPr>
                <a:t>Code block is skipped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3206EC-48C9-44FC-AD8D-68815CC9BAC2}"/>
                </a:ext>
              </a:extLst>
            </p:cNvPr>
            <p:cNvSpPr txBox="1"/>
            <p:nvPr/>
          </p:nvSpPr>
          <p:spPr>
            <a:xfrm>
              <a:off x="2287862" y="2209986"/>
              <a:ext cx="2331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Behavior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E85CB1D2-8223-45AB-8FA4-514E5EB308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54"/>
          <a:stretch/>
        </p:blipFill>
        <p:spPr>
          <a:xfrm>
            <a:off x="9757383" y="1435970"/>
            <a:ext cx="2117268" cy="177099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34CDE5-1537-4038-B262-D6601301F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678" y="2670796"/>
            <a:ext cx="1138150" cy="1138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A2F1B-2560-40C8-9A7A-AFB74537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604" y="5001860"/>
            <a:ext cx="2641629" cy="1625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F42B91-7069-4C04-979E-2D39145EE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42" y="2999138"/>
            <a:ext cx="461666" cy="4616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5FC78FF-1C01-445A-8F55-FBD8646A9B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44" y="4040251"/>
            <a:ext cx="620640" cy="6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29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If-else Statements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1" y="6238241"/>
            <a:ext cx="3860800" cy="461665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522192" y="3012306"/>
            <a:ext cx="5206487" cy="1188988"/>
            <a:chOff x="82201" y="2212120"/>
            <a:chExt cx="7895627" cy="118898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82201" y="2693222"/>
              <a:ext cx="78956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If a condition is True, then execute a code block; else, execute a different code block.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628243" y="2212120"/>
              <a:ext cx="17260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Syntax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7D2832-7096-4980-A561-383FE57576EA}"/>
              </a:ext>
            </a:extLst>
          </p:cNvPr>
          <p:cNvGrpSpPr/>
          <p:nvPr/>
        </p:nvGrpSpPr>
        <p:grpSpPr>
          <a:xfrm>
            <a:off x="7283743" y="2134782"/>
            <a:ext cx="3269591" cy="2259251"/>
            <a:chOff x="3805296" y="4653207"/>
            <a:chExt cx="3269591" cy="225925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676B74-2657-4433-8BC0-88B30B9D8308}"/>
                </a:ext>
              </a:extLst>
            </p:cNvPr>
            <p:cNvGrpSpPr/>
            <p:nvPr/>
          </p:nvGrpSpPr>
          <p:grpSpPr>
            <a:xfrm>
              <a:off x="3805296" y="4693586"/>
              <a:ext cx="3269591" cy="2218872"/>
              <a:chOff x="2376486" y="2118830"/>
              <a:chExt cx="4102336" cy="2218872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3CA621-D2AB-480E-8DBF-5DA04BE28399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D700D2-BAFE-439A-8038-938B097EA1DC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num = 10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num &gt; 5: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print("The number is greater than 5")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else: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   print(“The number is not greater than 5”)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4B7DCF-D644-4CD1-BA8C-49117C4C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57871B-7BBB-40F4-AFD4-0604F060F041}"/>
              </a:ext>
            </a:extLst>
          </p:cNvPr>
          <p:cNvGrpSpPr/>
          <p:nvPr/>
        </p:nvGrpSpPr>
        <p:grpSpPr>
          <a:xfrm>
            <a:off x="786894" y="1859803"/>
            <a:ext cx="4816932" cy="1164936"/>
            <a:chOff x="1120538" y="1539776"/>
            <a:chExt cx="4816932" cy="116493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95A39A-8ACC-4E00-BC59-6E3696A98C2B}"/>
                </a:ext>
              </a:extLst>
            </p:cNvPr>
            <p:cNvGrpSpPr/>
            <p:nvPr/>
          </p:nvGrpSpPr>
          <p:grpSpPr>
            <a:xfrm>
              <a:off x="1120538" y="1539776"/>
              <a:ext cx="4816932" cy="1164936"/>
              <a:chOff x="1354218" y="2118830"/>
              <a:chExt cx="4816932" cy="1164936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5EE307-786C-4370-83C7-DE86D0F303F9}"/>
                  </a:ext>
                </a:extLst>
              </p:cNvPr>
              <p:cNvSpPr txBox="1"/>
              <p:nvPr/>
            </p:nvSpPr>
            <p:spPr>
              <a:xfrm>
                <a:off x="1354218" y="2575880"/>
                <a:ext cx="48169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Execute one code block if a condition is True,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otherwise execute a different code block.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53DD1-2755-417E-9D17-FA1D97028F78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34C5AD5-C197-437A-B750-AAF3597DA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1570140"/>
              <a:ext cx="400110" cy="40011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B6C192-4E0F-4E2A-ADF6-7DE0A056B97B}"/>
              </a:ext>
            </a:extLst>
          </p:cNvPr>
          <p:cNvGrpSpPr/>
          <p:nvPr/>
        </p:nvGrpSpPr>
        <p:grpSpPr>
          <a:xfrm>
            <a:off x="872181" y="4553195"/>
            <a:ext cx="4506508" cy="1191122"/>
            <a:chOff x="82201" y="2209986"/>
            <a:chExt cx="7895627" cy="119112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037A74-F8E4-4447-8156-17C5DDFEDF10}"/>
                </a:ext>
              </a:extLst>
            </p:cNvPr>
            <p:cNvSpPr txBox="1"/>
            <p:nvPr/>
          </p:nvSpPr>
          <p:spPr>
            <a:xfrm>
              <a:off x="82201" y="2693222"/>
              <a:ext cx="78956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True condition: </a:t>
              </a:r>
              <a:r>
                <a:rPr lang="en-US" sz="2000" dirty="0">
                  <a:solidFill>
                    <a:schemeClr val="bg1"/>
                  </a:solidFill>
                </a:rPr>
                <a:t>Code block 1 executes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False condition: </a:t>
              </a:r>
              <a:r>
                <a:rPr lang="en-US" sz="2000" dirty="0">
                  <a:solidFill>
                    <a:schemeClr val="bg1"/>
                  </a:solidFill>
                </a:rPr>
                <a:t>Code block 2 executes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3206EC-48C9-44FC-AD8D-68815CC9BAC2}"/>
                </a:ext>
              </a:extLst>
            </p:cNvPr>
            <p:cNvSpPr txBox="1"/>
            <p:nvPr/>
          </p:nvSpPr>
          <p:spPr>
            <a:xfrm>
              <a:off x="2287862" y="2209986"/>
              <a:ext cx="2331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Behavior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E85CB1D2-8223-45AB-8FA4-514E5EB308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54"/>
          <a:stretch/>
        </p:blipFill>
        <p:spPr>
          <a:xfrm>
            <a:off x="9757383" y="1435970"/>
            <a:ext cx="2117268" cy="177099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34CDE5-1537-4038-B262-D6601301F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20" y="3871630"/>
            <a:ext cx="1138150" cy="1138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4A2F1B-2560-40C8-9A7A-AFB74537C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812" y="4393609"/>
            <a:ext cx="2641629" cy="162561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4F42B91-7069-4C04-979E-2D39145EE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42" y="2999138"/>
            <a:ext cx="461666" cy="46166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5FC78FF-1C01-445A-8F55-FBD8646A9B9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644" y="4456811"/>
            <a:ext cx="620640" cy="6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9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If-</a:t>
            </a:r>
            <a:r>
              <a:rPr lang="en-US" b="1" dirty="0" err="1">
                <a:solidFill>
                  <a:schemeClr val="accent3"/>
                </a:solidFill>
                <a:effectLst/>
              </a:rPr>
              <a:t>Elif</a:t>
            </a:r>
            <a:r>
              <a:rPr lang="en-US" b="1" dirty="0">
                <a:solidFill>
                  <a:schemeClr val="accent3"/>
                </a:solidFill>
                <a:effectLst/>
              </a:rPr>
              <a:t>-Else Statements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1" y="6238241"/>
            <a:ext cx="3860800" cy="461665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536533" y="2919077"/>
            <a:ext cx="6340363" cy="1496835"/>
            <a:chOff x="-1825110" y="2212120"/>
            <a:chExt cx="14093917" cy="149683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-1825110" y="2693292"/>
              <a:ext cx="140939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if: </a:t>
              </a:r>
              <a:r>
                <a:rPr lang="en-US" sz="2000" dirty="0">
                  <a:solidFill>
                    <a:schemeClr val="bg1"/>
                  </a:solidFill>
                </a:rPr>
                <a:t>Checks the first condition</a:t>
              </a:r>
            </a:p>
            <a:p>
              <a:r>
                <a:rPr lang="en-US" sz="2000" b="1" dirty="0" err="1">
                  <a:solidFill>
                    <a:schemeClr val="bg1"/>
                  </a:solidFill>
                </a:rPr>
                <a:t>elif</a:t>
              </a:r>
              <a:r>
                <a:rPr lang="en-US" sz="2000" dirty="0">
                  <a:solidFill>
                    <a:schemeClr val="bg1"/>
                  </a:solidFill>
                </a:rPr>
                <a:t>: Checks additional conditions if previous ones are </a:t>
              </a:r>
              <a:r>
                <a:rPr lang="en-US" sz="2000" b="1" dirty="0">
                  <a:solidFill>
                    <a:schemeClr val="bg1"/>
                  </a:solidFill>
                </a:rPr>
                <a:t>False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else: </a:t>
              </a:r>
              <a:r>
                <a:rPr lang="en-US" sz="2000" dirty="0">
                  <a:solidFill>
                    <a:schemeClr val="bg1"/>
                  </a:solidFill>
                </a:rPr>
                <a:t>Runs if no conditions are </a:t>
              </a:r>
              <a:r>
                <a:rPr lang="en-US" sz="2000" b="1" dirty="0">
                  <a:solidFill>
                    <a:schemeClr val="bg1"/>
                  </a:solidFill>
                </a:rPr>
                <a:t>True</a:t>
              </a:r>
              <a:r>
                <a:rPr lang="en-US" sz="2000" dirty="0">
                  <a:solidFill>
                    <a:schemeClr val="bg1"/>
                  </a:solidFill>
                </a:rPr>
                <a:t> (optional fallback)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725370" y="2212120"/>
              <a:ext cx="23741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Syntax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57D2832-7096-4980-A561-383FE57576EA}"/>
              </a:ext>
            </a:extLst>
          </p:cNvPr>
          <p:cNvGrpSpPr/>
          <p:nvPr/>
        </p:nvGrpSpPr>
        <p:grpSpPr>
          <a:xfrm>
            <a:off x="7283743" y="2134782"/>
            <a:ext cx="3269591" cy="3551913"/>
            <a:chOff x="3805296" y="4653207"/>
            <a:chExt cx="3269591" cy="3551913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676B74-2657-4433-8BC0-88B30B9D8308}"/>
                </a:ext>
              </a:extLst>
            </p:cNvPr>
            <p:cNvGrpSpPr/>
            <p:nvPr/>
          </p:nvGrpSpPr>
          <p:grpSpPr>
            <a:xfrm>
              <a:off x="3805296" y="4693586"/>
              <a:ext cx="3269591" cy="3511534"/>
              <a:chOff x="2376486" y="2118830"/>
              <a:chExt cx="4102336" cy="3511534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F3CA621-D2AB-480E-8DBF-5DA04BE28399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D700D2-BAFE-439A-8038-938B097EA1DC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score = 75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if score &gt;= 90: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print("Grade: A")</a:t>
                </a:r>
              </a:p>
              <a:p>
                <a:r>
                  <a:rPr lang="en-US" sz="20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elif</a:t>
                </a:r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score &gt;= 80: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print("Grade: B")</a:t>
                </a:r>
              </a:p>
              <a:p>
                <a:r>
                  <a:rPr lang="en-US" sz="20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elif</a:t>
                </a:r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score &gt;= 70: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print("Grade: C")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else:</a:t>
                </a:r>
              </a:p>
              <a:p>
                <a:r>
                  <a:rPr lang="en-US" sz="20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print("Grade: D")</a:t>
                </a:r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D4B7DCF-D644-4CD1-BA8C-49117C4C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57871B-7BBB-40F4-AFD4-0604F060F041}"/>
              </a:ext>
            </a:extLst>
          </p:cNvPr>
          <p:cNvGrpSpPr/>
          <p:nvPr/>
        </p:nvGrpSpPr>
        <p:grpSpPr>
          <a:xfrm>
            <a:off x="-78203" y="1875498"/>
            <a:ext cx="6391732" cy="866334"/>
            <a:chOff x="230952" y="1539776"/>
            <a:chExt cx="5865048" cy="86633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95A39A-8ACC-4E00-BC59-6E3696A98C2B}"/>
                </a:ext>
              </a:extLst>
            </p:cNvPr>
            <p:cNvGrpSpPr/>
            <p:nvPr/>
          </p:nvGrpSpPr>
          <p:grpSpPr>
            <a:xfrm>
              <a:off x="230952" y="1539776"/>
              <a:ext cx="5865048" cy="866334"/>
              <a:chOff x="464632" y="2118830"/>
              <a:chExt cx="5865048" cy="866334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5EE307-786C-4370-83C7-DE86D0F303F9}"/>
                  </a:ext>
                </a:extLst>
              </p:cNvPr>
              <p:cNvSpPr txBox="1"/>
              <p:nvPr/>
            </p:nvSpPr>
            <p:spPr>
              <a:xfrm>
                <a:off x="464632" y="2585054"/>
                <a:ext cx="58650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Evaluate multiple conditions sequentially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5B53DD1-2755-417E-9D17-FA1D97028F78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34C5AD5-C197-437A-B750-AAF3597DA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1570140"/>
              <a:ext cx="400110" cy="40011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BB6C192-4E0F-4E2A-ADF6-7DE0A056B97B}"/>
              </a:ext>
            </a:extLst>
          </p:cNvPr>
          <p:cNvGrpSpPr/>
          <p:nvPr/>
        </p:nvGrpSpPr>
        <p:grpSpPr>
          <a:xfrm>
            <a:off x="256047" y="4656492"/>
            <a:ext cx="5829793" cy="1191122"/>
            <a:chOff x="-1144197" y="2209986"/>
            <a:chExt cx="9122025" cy="119112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037A74-F8E4-4447-8156-17C5DDFEDF10}"/>
                </a:ext>
              </a:extLst>
            </p:cNvPr>
            <p:cNvSpPr txBox="1"/>
            <p:nvPr/>
          </p:nvSpPr>
          <p:spPr>
            <a:xfrm>
              <a:off x="-1144197" y="2693222"/>
              <a:ext cx="91220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Executes the first True condition’s block or the else block if none are True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3206EC-48C9-44FC-AD8D-68815CC9BAC2}"/>
                </a:ext>
              </a:extLst>
            </p:cNvPr>
            <p:cNvSpPr txBox="1"/>
            <p:nvPr/>
          </p:nvSpPr>
          <p:spPr>
            <a:xfrm>
              <a:off x="2287862" y="2209986"/>
              <a:ext cx="2331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Behavior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E85CB1D2-8223-45AB-8FA4-514E5EB308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54"/>
          <a:stretch/>
        </p:blipFill>
        <p:spPr>
          <a:xfrm>
            <a:off x="9292132" y="2923852"/>
            <a:ext cx="2899868" cy="24256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77B45B-8A70-45A4-830C-8F0FE6C7A8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970" y="2927798"/>
            <a:ext cx="461666" cy="4616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A9E0BC-F7D3-42B4-9B8E-4C2086F0BA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996" y="4577004"/>
            <a:ext cx="620640" cy="6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656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</a:rPr>
              <a:t>Huawei HCCDA-AI certification 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6652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Loops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127818F-E959-4AF3-8FF4-7899F4B118C5}"/>
              </a:ext>
            </a:extLst>
          </p:cNvPr>
          <p:cNvGrpSpPr/>
          <p:nvPr/>
        </p:nvGrpSpPr>
        <p:grpSpPr>
          <a:xfrm>
            <a:off x="323756" y="1519390"/>
            <a:ext cx="8029128" cy="1205102"/>
            <a:chOff x="465996" y="2118830"/>
            <a:chExt cx="8029128" cy="12051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9F07F-67C2-43DA-A667-D86608FE643C}"/>
                </a:ext>
              </a:extLst>
            </p:cNvPr>
            <p:cNvSpPr txBox="1"/>
            <p:nvPr/>
          </p:nvSpPr>
          <p:spPr>
            <a:xfrm>
              <a:off x="465996" y="2616046"/>
              <a:ext cx="8029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Programming structures that repeat instructions until a condition is met.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Enable iteration over data structures or repetitive task automation.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1D0C0-284F-4309-B8F9-D5A3534F709F}"/>
                </a:ext>
              </a:extLst>
            </p:cNvPr>
            <p:cNvSpPr txBox="1"/>
            <p:nvPr/>
          </p:nvSpPr>
          <p:spPr>
            <a:xfrm>
              <a:off x="2092960" y="2118830"/>
              <a:ext cx="426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What Are Loops?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346895-5A98-4701-B6CA-0E55D26D1779}"/>
              </a:ext>
            </a:extLst>
          </p:cNvPr>
          <p:cNvGrpSpPr/>
          <p:nvPr/>
        </p:nvGrpSpPr>
        <p:grpSpPr>
          <a:xfrm>
            <a:off x="738737" y="4617951"/>
            <a:ext cx="6591493" cy="1538994"/>
            <a:chOff x="-320772" y="2092541"/>
            <a:chExt cx="6591493" cy="15389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EF55E-4E6C-47F6-92A7-45B5219A1EF5}"/>
                </a:ext>
              </a:extLst>
            </p:cNvPr>
            <p:cNvSpPr txBox="1"/>
            <p:nvPr/>
          </p:nvSpPr>
          <p:spPr>
            <a:xfrm>
              <a:off x="-320772" y="2615872"/>
              <a:ext cx="65914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</a:rPr>
                <a:t>while Loop: </a:t>
              </a:r>
              <a:r>
                <a:rPr lang="en-US" sz="2000" dirty="0">
                  <a:solidFill>
                    <a:schemeClr val="bg1"/>
                  </a:solidFill>
                </a:rPr>
                <a:t>Repeats while a condition is `True`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dirty="0">
                  <a:solidFill>
                    <a:schemeClr val="bg1"/>
                  </a:solidFill>
                </a:rPr>
                <a:t>for Loop</a:t>
              </a:r>
              <a:r>
                <a:rPr lang="en-US" sz="2000" dirty="0">
                  <a:solidFill>
                    <a:schemeClr val="bg1"/>
                  </a:solidFill>
                </a:rPr>
                <a:t>: Iterates over a sequence (e.g., lists, tuples, strings)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BA8235-0A1E-461B-9450-207E6BAF603E}"/>
                </a:ext>
              </a:extLst>
            </p:cNvPr>
            <p:cNvSpPr txBox="1"/>
            <p:nvPr/>
          </p:nvSpPr>
          <p:spPr>
            <a:xfrm>
              <a:off x="1854206" y="2092541"/>
              <a:ext cx="2998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Types of Loops</a:t>
              </a:r>
            </a:p>
          </p:txBody>
        </p:sp>
      </p:grpSp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2086516" y="2867482"/>
            <a:ext cx="4503608" cy="1512515"/>
            <a:chOff x="2242632" y="2118830"/>
            <a:chExt cx="4503608" cy="151251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2242632" y="2615682"/>
              <a:ext cx="45036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 Reduce code redundancy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 Automate repetitive tasks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 Improve code efficiency and readability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935440" y="2118830"/>
              <a:ext cx="2510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Why Use Loops?</a:t>
              </a: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126D1517-C924-4C0A-A3A8-F18B2FC1B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99" y="1563129"/>
            <a:ext cx="353214" cy="35321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F38825D-EEF7-4849-8674-446B3990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4" y="2831230"/>
            <a:ext cx="1540245" cy="154024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B9908F-2D1F-44DF-9E4C-A589F9F543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097" y="4580524"/>
            <a:ext cx="470618" cy="373506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3E3F60B-5A78-4FFA-9903-F2C7FF5F52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098" y="1546636"/>
            <a:ext cx="2771775" cy="164782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DE89E96-1B9A-4BEB-9099-DA57C6820F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066" y="3881574"/>
            <a:ext cx="2629917" cy="14727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35308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Iterating with Python Loops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127818F-E959-4AF3-8FF4-7899F4B118C5}"/>
              </a:ext>
            </a:extLst>
          </p:cNvPr>
          <p:cNvGrpSpPr/>
          <p:nvPr/>
        </p:nvGrpSpPr>
        <p:grpSpPr>
          <a:xfrm>
            <a:off x="323756" y="1519390"/>
            <a:ext cx="8029128" cy="897326"/>
            <a:chOff x="465996" y="2118830"/>
            <a:chExt cx="8029128" cy="8973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9F07F-67C2-43DA-A667-D86608FE643C}"/>
                </a:ext>
              </a:extLst>
            </p:cNvPr>
            <p:cNvSpPr txBox="1"/>
            <p:nvPr/>
          </p:nvSpPr>
          <p:spPr>
            <a:xfrm>
              <a:off x="465996" y="2616046"/>
              <a:ext cx="80291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Accessing each item in a collection (e.g., list, tuple, string) one by one.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1D0C0-284F-4309-B8F9-D5A3534F709F}"/>
                </a:ext>
              </a:extLst>
            </p:cNvPr>
            <p:cNvSpPr txBox="1"/>
            <p:nvPr/>
          </p:nvSpPr>
          <p:spPr>
            <a:xfrm>
              <a:off x="2092960" y="2118830"/>
              <a:ext cx="426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What Is Iteration?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346895-5A98-4701-B6CA-0E55D26D1779}"/>
              </a:ext>
            </a:extLst>
          </p:cNvPr>
          <p:cNvGrpSpPr/>
          <p:nvPr/>
        </p:nvGrpSpPr>
        <p:grpSpPr>
          <a:xfrm>
            <a:off x="820017" y="4638271"/>
            <a:ext cx="7125329" cy="1538994"/>
            <a:chOff x="-320772" y="2092541"/>
            <a:chExt cx="6591493" cy="153899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0EF55E-4E6C-47F6-92A7-45B5219A1EF5}"/>
                </a:ext>
              </a:extLst>
            </p:cNvPr>
            <p:cNvSpPr txBox="1"/>
            <p:nvPr/>
          </p:nvSpPr>
          <p:spPr>
            <a:xfrm>
              <a:off x="-320772" y="2615872"/>
              <a:ext cx="65914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Loops provide sequential access to elements.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Use loops to read or modify items in sequences (e.g., lists, strings).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BA8235-0A1E-461B-9450-207E6BAF603E}"/>
                </a:ext>
              </a:extLst>
            </p:cNvPr>
            <p:cNvSpPr txBox="1"/>
            <p:nvPr/>
          </p:nvSpPr>
          <p:spPr>
            <a:xfrm>
              <a:off x="1854206" y="2092541"/>
              <a:ext cx="2998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Key Points</a:t>
              </a:r>
            </a:p>
          </p:txBody>
        </p:sp>
      </p:grpSp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662525" y="3050954"/>
            <a:ext cx="7545164" cy="1820291"/>
            <a:chOff x="2242632" y="2118830"/>
            <a:chExt cx="4503608" cy="182029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2242632" y="2615682"/>
              <a:ext cx="450360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Iterate over Python data structures: lists, dictionaries, sets, strings. 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Enable sequential processing of items in an </a:t>
              </a:r>
              <a:r>
                <a:rPr lang="en-US" sz="2000" dirty="0" err="1">
                  <a:solidFill>
                    <a:schemeClr val="bg1"/>
                  </a:solidFill>
                </a:rPr>
                <a:t>iterable</a:t>
              </a:r>
              <a:r>
                <a:rPr lang="en-US" sz="20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935440" y="2118830"/>
              <a:ext cx="2762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How Loops Work</a:t>
              </a: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126D1517-C924-4C0A-A3A8-F18B2FC1B1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799" y="1563129"/>
            <a:ext cx="353214" cy="35321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F38825D-EEF7-4849-8674-446B3990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938" y="1367671"/>
            <a:ext cx="636816" cy="636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04DA9E-6FDB-44C6-86C3-E71DCA0860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887" y="2852479"/>
            <a:ext cx="804917" cy="7364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8EBFAE-F7DF-4E76-85E9-3903F4444B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600" y="4509372"/>
            <a:ext cx="636515" cy="6365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BD471A-5542-434D-ADD6-8A02F28BF6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709" y="1686079"/>
            <a:ext cx="2143125" cy="21431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4C8B661-1337-4B8B-922E-6AE48FACA0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884" y="4112688"/>
            <a:ext cx="2701482" cy="151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473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while Loop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9D0ACA-4487-4516-94F2-13136605DC07}"/>
              </a:ext>
            </a:extLst>
          </p:cNvPr>
          <p:cNvGrpSpPr/>
          <p:nvPr/>
        </p:nvGrpSpPr>
        <p:grpSpPr>
          <a:xfrm>
            <a:off x="323756" y="1923307"/>
            <a:ext cx="6320884" cy="1359985"/>
            <a:chOff x="323756" y="1364507"/>
            <a:chExt cx="6320884" cy="13599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7818F-E959-4AF3-8FF4-7899F4B118C5}"/>
                </a:ext>
              </a:extLst>
            </p:cNvPr>
            <p:cNvGrpSpPr/>
            <p:nvPr/>
          </p:nvGrpSpPr>
          <p:grpSpPr>
            <a:xfrm>
              <a:off x="323756" y="1519390"/>
              <a:ext cx="6320884" cy="1205102"/>
              <a:chOff x="465996" y="2118830"/>
              <a:chExt cx="8029128" cy="120510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49F07F-67C2-43DA-A667-D86608FE643C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80291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Executes a code block as long as a condition is True.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Stops when the condition becomes False.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1D0C0-284F-4309-B8F9-D5A3534F709F}"/>
                  </a:ext>
                </a:extLst>
              </p:cNvPr>
              <p:cNvSpPr txBox="1"/>
              <p:nvPr/>
            </p:nvSpPr>
            <p:spPr>
              <a:xfrm>
                <a:off x="2092960" y="2118830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How It Works</a:t>
                </a: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204DA9E-6FDB-44C6-86C3-E71DCA086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4393" y="1364507"/>
              <a:ext cx="550202" cy="503376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96A59D-C12F-4134-B617-DDBDFF647FD6}"/>
              </a:ext>
            </a:extLst>
          </p:cNvPr>
          <p:cNvGrpSpPr/>
          <p:nvPr/>
        </p:nvGrpSpPr>
        <p:grpSpPr>
          <a:xfrm>
            <a:off x="7493239" y="2276624"/>
            <a:ext cx="4132772" cy="3316683"/>
            <a:chOff x="3373705" y="4653207"/>
            <a:chExt cx="4132772" cy="331668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6B31BD-1F02-40D4-B8CE-7F4951DAF68C}"/>
                </a:ext>
              </a:extLst>
            </p:cNvPr>
            <p:cNvGrpSpPr/>
            <p:nvPr/>
          </p:nvGrpSpPr>
          <p:grpSpPr>
            <a:xfrm>
              <a:off x="3373705" y="4693586"/>
              <a:ext cx="4132772" cy="3276304"/>
              <a:chOff x="1834971" y="2118830"/>
              <a:chExt cx="5185365" cy="3276304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FDA9B0-D8D8-456E-A77B-99047AF07428}"/>
                  </a:ext>
                </a:extLst>
              </p:cNvPr>
              <p:cNvSpPr txBox="1"/>
              <p:nvPr/>
            </p:nvSpPr>
            <p:spPr>
              <a:xfrm>
                <a:off x="1834971" y="4010139"/>
                <a:ext cx="518536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Explanation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Checks if count &lt; 3 (True initially).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Prints count and increments by 1.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Stops when count reaches 3 (False).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907911-F2D3-4E6F-BC24-5C73AEAEE8AA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0A36F6-576A-4466-B0D2-DD1E3FC4EADD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6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count = 0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while count &lt; 3: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print("Counting:", count)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count += 1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F5B09F3-0234-42EB-A289-FAE681A0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79637F-0054-4BD8-A508-5D506C0DDAE4}"/>
              </a:ext>
            </a:extLst>
          </p:cNvPr>
          <p:cNvGrpSpPr/>
          <p:nvPr/>
        </p:nvGrpSpPr>
        <p:grpSpPr>
          <a:xfrm>
            <a:off x="1021691" y="3982473"/>
            <a:ext cx="4925013" cy="1012813"/>
            <a:chOff x="1021691" y="3982473"/>
            <a:chExt cx="4925013" cy="101281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68BDF2B-12D3-43C8-AA3B-819CFFB0531E}"/>
                </a:ext>
              </a:extLst>
            </p:cNvPr>
            <p:cNvGrpSpPr/>
            <p:nvPr/>
          </p:nvGrpSpPr>
          <p:grpSpPr>
            <a:xfrm>
              <a:off x="1021691" y="4098324"/>
              <a:ext cx="4925013" cy="896962"/>
              <a:chOff x="2242632" y="2118830"/>
              <a:chExt cx="4503608" cy="89696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604F4B-D8D0-481F-85B3-EB6029CA49E5}"/>
                  </a:ext>
                </a:extLst>
              </p:cNvPr>
              <p:cNvSpPr txBox="1"/>
              <p:nvPr/>
            </p:nvSpPr>
            <p:spPr>
              <a:xfrm>
                <a:off x="2242632" y="2615682"/>
                <a:ext cx="45036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When the number of iterations is unknown (e.g., reading a file until its end).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1B9514-5194-4F0A-AD6B-0014DB1EB656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34827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Useful Scenarios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3408D8D-7C24-4004-BE94-5EC80FA73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749"/>
            <a:stretch/>
          </p:blipFill>
          <p:spPr>
            <a:xfrm>
              <a:off x="2055886" y="3982473"/>
              <a:ext cx="536777" cy="524712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901C3DC-FEFA-4616-87EE-8CECDA2C7D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101" y="3018596"/>
            <a:ext cx="1625036" cy="16250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2EE07A-A64E-457C-B63C-ED3B963866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888" y="2507289"/>
            <a:ext cx="1826097" cy="10226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FA1E0E-2C6C-4782-B1AD-9BECEB3D7B1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4"/>
          <a:stretch/>
        </p:blipFill>
        <p:spPr>
          <a:xfrm>
            <a:off x="8187186" y="4139106"/>
            <a:ext cx="564550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08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for Loop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9D0ACA-4487-4516-94F2-13136605DC07}"/>
              </a:ext>
            </a:extLst>
          </p:cNvPr>
          <p:cNvGrpSpPr/>
          <p:nvPr/>
        </p:nvGrpSpPr>
        <p:grpSpPr>
          <a:xfrm>
            <a:off x="323756" y="1923307"/>
            <a:ext cx="5904324" cy="1359985"/>
            <a:chOff x="323756" y="1364507"/>
            <a:chExt cx="5904324" cy="13599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7818F-E959-4AF3-8FF4-7899F4B118C5}"/>
                </a:ext>
              </a:extLst>
            </p:cNvPr>
            <p:cNvGrpSpPr/>
            <p:nvPr/>
          </p:nvGrpSpPr>
          <p:grpSpPr>
            <a:xfrm>
              <a:off x="323756" y="1519390"/>
              <a:ext cx="5904324" cy="1205102"/>
              <a:chOff x="465996" y="2118830"/>
              <a:chExt cx="7499991" cy="1205102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B49F07F-67C2-43DA-A667-D86608FE643C}"/>
                  </a:ext>
                </a:extLst>
              </p:cNvPr>
              <p:cNvSpPr txBox="1"/>
              <p:nvPr/>
            </p:nvSpPr>
            <p:spPr>
              <a:xfrm>
                <a:off x="465996" y="2616046"/>
                <a:ext cx="74999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Iterates over each item in an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iterable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(e.g., list, string, dictionary) until all items are processed.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1D0C0-284F-4309-B8F9-D5A3534F709F}"/>
                  </a:ext>
                </a:extLst>
              </p:cNvPr>
              <p:cNvSpPr txBox="1"/>
              <p:nvPr/>
            </p:nvSpPr>
            <p:spPr>
              <a:xfrm>
                <a:off x="2092960" y="2118830"/>
                <a:ext cx="426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How It Works</a:t>
                </a: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204DA9E-6FDB-44C6-86C3-E71DCA086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4393" y="1364507"/>
              <a:ext cx="550202" cy="503376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96A59D-C12F-4134-B617-DDBDFF647FD6}"/>
              </a:ext>
            </a:extLst>
          </p:cNvPr>
          <p:cNvGrpSpPr/>
          <p:nvPr/>
        </p:nvGrpSpPr>
        <p:grpSpPr>
          <a:xfrm>
            <a:off x="7493239" y="2276624"/>
            <a:ext cx="4132772" cy="2947351"/>
            <a:chOff x="3373705" y="4653207"/>
            <a:chExt cx="4132772" cy="294735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6B31BD-1F02-40D4-B8CE-7F4951DAF68C}"/>
                </a:ext>
              </a:extLst>
            </p:cNvPr>
            <p:cNvGrpSpPr/>
            <p:nvPr/>
          </p:nvGrpSpPr>
          <p:grpSpPr>
            <a:xfrm>
              <a:off x="3373705" y="4693586"/>
              <a:ext cx="4132772" cy="2906972"/>
              <a:chOff x="1834971" y="2118830"/>
              <a:chExt cx="5185365" cy="290697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FDA9B0-D8D8-456E-A77B-99047AF07428}"/>
                  </a:ext>
                </a:extLst>
              </p:cNvPr>
              <p:cNvSpPr txBox="1"/>
              <p:nvPr/>
            </p:nvSpPr>
            <p:spPr>
              <a:xfrm>
                <a:off x="1834971" y="4010139"/>
                <a:ext cx="518536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Explanation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List: Loops through colors, printing each item.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907911-F2D3-4E6F-BC24-5C73AEAEE8AA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0A36F6-576A-4466-B0D2-DD1E3FC4EADD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colors = ["red", "green", "blue"]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color in colors: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print("Color:", color)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F5B09F3-0234-42EB-A289-FAE681A0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79637F-0054-4BD8-A508-5D506C0DDAE4}"/>
              </a:ext>
            </a:extLst>
          </p:cNvPr>
          <p:cNvGrpSpPr/>
          <p:nvPr/>
        </p:nvGrpSpPr>
        <p:grpSpPr>
          <a:xfrm>
            <a:off x="1021691" y="3982473"/>
            <a:ext cx="4925013" cy="1320589"/>
            <a:chOff x="1021691" y="3982473"/>
            <a:chExt cx="4925013" cy="132058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68BDF2B-12D3-43C8-AA3B-819CFFB0531E}"/>
                </a:ext>
              </a:extLst>
            </p:cNvPr>
            <p:cNvGrpSpPr/>
            <p:nvPr/>
          </p:nvGrpSpPr>
          <p:grpSpPr>
            <a:xfrm>
              <a:off x="1021691" y="4098324"/>
              <a:ext cx="4925013" cy="1204738"/>
              <a:chOff x="2242632" y="2118830"/>
              <a:chExt cx="4503608" cy="120473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0604F4B-D8D0-481F-85B3-EB6029CA49E5}"/>
                  </a:ext>
                </a:extLst>
              </p:cNvPr>
              <p:cNvSpPr txBox="1"/>
              <p:nvPr/>
            </p:nvSpPr>
            <p:spPr>
              <a:xfrm>
                <a:off x="2242632" y="2615682"/>
                <a:ext cx="45036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When the number of iterations is known or iterating over a collection (e.g., lists, strings).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1B9514-5194-4F0A-AD6B-0014DB1EB656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34827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Useful Scenarios</a:t>
                </a:r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3408D8D-7C24-4004-BE94-5EC80FA731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749"/>
            <a:stretch/>
          </p:blipFill>
          <p:spPr>
            <a:xfrm>
              <a:off x="2055886" y="3982473"/>
              <a:ext cx="536777" cy="524712"/>
            </a:xfrm>
            <a:prstGeom prst="rect">
              <a:avLst/>
            </a:prstGeom>
          </p:spPr>
        </p:pic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901C3DC-FEFA-4616-87EE-8CECDA2C7D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396"/>
          <a:stretch/>
        </p:blipFill>
        <p:spPr>
          <a:xfrm>
            <a:off x="5864561" y="3342517"/>
            <a:ext cx="1506471" cy="14885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DF6C137-7CBF-4319-828D-E648DD8A25C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4"/>
          <a:stretch/>
        </p:blipFill>
        <p:spPr>
          <a:xfrm>
            <a:off x="8339840" y="4116872"/>
            <a:ext cx="564550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91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range() Function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96A59D-C12F-4134-B617-DDBDFF647FD6}"/>
              </a:ext>
            </a:extLst>
          </p:cNvPr>
          <p:cNvGrpSpPr/>
          <p:nvPr/>
        </p:nvGrpSpPr>
        <p:grpSpPr>
          <a:xfrm>
            <a:off x="6985727" y="2027347"/>
            <a:ext cx="3830290" cy="1299055"/>
            <a:chOff x="3805296" y="4653207"/>
            <a:chExt cx="4951673" cy="129905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66B31BD-1F02-40D4-B8CE-7F4951DAF68C}"/>
                </a:ext>
              </a:extLst>
            </p:cNvPr>
            <p:cNvGrpSpPr/>
            <p:nvPr/>
          </p:nvGrpSpPr>
          <p:grpSpPr>
            <a:xfrm>
              <a:off x="3805296" y="4693586"/>
              <a:ext cx="4951673" cy="1258676"/>
              <a:chOff x="2376486" y="2118830"/>
              <a:chExt cx="6212832" cy="1258676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6907911-F2D3-4E6F-BC24-5C73AEAEE8AA}"/>
                  </a:ext>
                </a:extLst>
              </p:cNvPr>
              <p:cNvSpPr txBox="1"/>
              <p:nvPr/>
            </p:nvSpPr>
            <p:spPr>
              <a:xfrm>
                <a:off x="4528946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0A36F6-576A-4466-B0D2-DD1E3FC4EADD}"/>
                  </a:ext>
                </a:extLst>
              </p:cNvPr>
              <p:cNvSpPr txBox="1"/>
              <p:nvPr/>
            </p:nvSpPr>
            <p:spPr>
              <a:xfrm>
                <a:off x="2376486" y="2768042"/>
                <a:ext cx="41023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</a:t>
                </a:r>
                <a:r>
                  <a:rPr lang="en-US" sz="16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in range(1, 6):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</a:t>
                </a:r>
                <a:r>
                  <a:rPr lang="en-US" sz="16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EC9100D-ADB0-448E-A363-0191BFEC3D27}"/>
                  </a:ext>
                </a:extLst>
              </p:cNvPr>
              <p:cNvSpPr txBox="1"/>
              <p:nvPr/>
            </p:nvSpPr>
            <p:spPr>
              <a:xfrm>
                <a:off x="5607608" y="2792731"/>
                <a:ext cx="298171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</a:t>
                </a:r>
                <a:r>
                  <a:rPr lang="en-US" sz="16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in range(5, 0, -1):</a:t>
                </a:r>
              </a:p>
              <a:p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</a:t>
                </a:r>
                <a:r>
                  <a:rPr lang="en-US" sz="1600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sz="1600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</a:t>
                </a:r>
              </a:p>
            </p:txBody>
          </p:sp>
        </p:grp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F5B09F3-0234-42EB-A289-FAE681A00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5331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B21C234-1857-4F24-BA11-F0E10CA2C0D1}"/>
              </a:ext>
            </a:extLst>
          </p:cNvPr>
          <p:cNvGrpSpPr/>
          <p:nvPr/>
        </p:nvGrpSpPr>
        <p:grpSpPr>
          <a:xfrm>
            <a:off x="1527137" y="1697839"/>
            <a:ext cx="4640146" cy="1397159"/>
            <a:chOff x="1624058" y="1571754"/>
            <a:chExt cx="4640146" cy="13971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9F07F-67C2-43DA-A667-D86608FE643C}"/>
                </a:ext>
              </a:extLst>
            </p:cNvPr>
            <p:cNvSpPr txBox="1"/>
            <p:nvPr/>
          </p:nvSpPr>
          <p:spPr>
            <a:xfrm>
              <a:off x="1624058" y="2261027"/>
              <a:ext cx="46401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Generates a sequence of numbers for iterating a specific number of times.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1776CFB-456D-466E-BB30-43001CEEC193}"/>
                </a:ext>
              </a:extLst>
            </p:cNvPr>
            <p:cNvGrpSpPr/>
            <p:nvPr/>
          </p:nvGrpSpPr>
          <p:grpSpPr>
            <a:xfrm>
              <a:off x="2793676" y="1571754"/>
              <a:ext cx="1289325" cy="780131"/>
              <a:chOff x="284156" y="2166176"/>
              <a:chExt cx="1289325" cy="780131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1D0C0-284F-4309-B8F9-D5A3534F709F}"/>
                  </a:ext>
                </a:extLst>
              </p:cNvPr>
              <p:cNvSpPr txBox="1"/>
              <p:nvPr/>
            </p:nvSpPr>
            <p:spPr>
              <a:xfrm>
                <a:off x="284156" y="2484642"/>
                <a:ext cx="12893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5F2870D-7B1B-40F1-A9A1-769343FDCF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7986" y="2166176"/>
                <a:ext cx="461666" cy="461666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F55AA63-E5C3-4446-8D06-CD85CB4A1416}"/>
              </a:ext>
            </a:extLst>
          </p:cNvPr>
          <p:cNvGrpSpPr/>
          <p:nvPr/>
        </p:nvGrpSpPr>
        <p:grpSpPr>
          <a:xfrm>
            <a:off x="1617518" y="3722925"/>
            <a:ext cx="4456939" cy="1959543"/>
            <a:chOff x="1618741" y="3196520"/>
            <a:chExt cx="4456939" cy="19595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1618741" y="4140400"/>
              <a:ext cx="445693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Start: </a:t>
              </a:r>
              <a:r>
                <a:rPr lang="en-US" sz="2000" dirty="0">
                  <a:solidFill>
                    <a:schemeClr val="bg1"/>
                  </a:solidFill>
                </a:rPr>
                <a:t>starting number (default: 0)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Stop:</a:t>
              </a:r>
              <a:r>
                <a:rPr lang="en-US" sz="2000" dirty="0">
                  <a:solidFill>
                    <a:schemeClr val="bg1"/>
                  </a:solidFill>
                </a:rPr>
                <a:t> end number (non-inclusive)</a:t>
              </a:r>
            </a:p>
            <a:p>
              <a:r>
                <a:rPr lang="en-US" sz="2000" b="1" dirty="0">
                  <a:solidFill>
                    <a:schemeClr val="bg1"/>
                  </a:solidFill>
                </a:rPr>
                <a:t>Step:</a:t>
              </a:r>
              <a:r>
                <a:rPr lang="en-US" sz="2000" dirty="0">
                  <a:solidFill>
                    <a:schemeClr val="bg1"/>
                  </a:solidFill>
                </a:rPr>
                <a:t> increment/decrement (default: 1)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70476F-D3FB-4BAF-AAE3-0BA0ED52F4BD}"/>
                </a:ext>
              </a:extLst>
            </p:cNvPr>
            <p:cNvGrpSpPr/>
            <p:nvPr/>
          </p:nvGrpSpPr>
          <p:grpSpPr>
            <a:xfrm>
              <a:off x="2468881" y="3196520"/>
              <a:ext cx="1751418" cy="939465"/>
              <a:chOff x="264161" y="4114469"/>
              <a:chExt cx="1751418" cy="93946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41B9514-5194-4F0A-AD6B-0014DB1EB656}"/>
                  </a:ext>
                </a:extLst>
              </p:cNvPr>
              <p:cNvSpPr txBox="1"/>
              <p:nvPr/>
            </p:nvSpPr>
            <p:spPr>
              <a:xfrm>
                <a:off x="264161" y="4592269"/>
                <a:ext cx="1751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Parameters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C481D3E-041A-4F08-8A6C-12093CE069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3744" y="4114469"/>
                <a:ext cx="543754" cy="543754"/>
              </a:xfrm>
              <a:prstGeom prst="rect">
                <a:avLst/>
              </a:prstGeom>
            </p:spPr>
          </p:pic>
        </p:grp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F38F3B8-454D-4DB2-BF1A-0C800D4CB86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212" t="23575" r="18548" b="20497"/>
          <a:stretch/>
        </p:blipFill>
        <p:spPr>
          <a:xfrm>
            <a:off x="6603754" y="3722925"/>
            <a:ext cx="4405303" cy="200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99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break Statement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DF936AB-A264-4AD4-B391-8ECE642B7994}"/>
              </a:ext>
            </a:extLst>
          </p:cNvPr>
          <p:cNvGrpSpPr/>
          <p:nvPr/>
        </p:nvGrpSpPr>
        <p:grpSpPr>
          <a:xfrm>
            <a:off x="7542402" y="1935421"/>
            <a:ext cx="2709038" cy="2095688"/>
            <a:chOff x="5000142" y="4653207"/>
            <a:chExt cx="2707462" cy="20956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57C196-86E0-4D3C-887E-1480625E4185}"/>
                </a:ext>
              </a:extLst>
            </p:cNvPr>
            <p:cNvGrpSpPr/>
            <p:nvPr/>
          </p:nvGrpSpPr>
          <p:grpSpPr>
            <a:xfrm>
              <a:off x="5000142" y="4693586"/>
              <a:ext cx="2707462" cy="2055309"/>
              <a:chOff x="3875651" y="2118830"/>
              <a:chExt cx="3397035" cy="2055309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FEB2C45-4158-4F61-BE30-8B8911702528}"/>
                  </a:ext>
                </a:extLst>
              </p:cNvPr>
              <p:cNvSpPr txBox="1"/>
              <p:nvPr/>
            </p:nvSpPr>
            <p:spPr>
              <a:xfrm>
                <a:off x="4528946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96DC5BE-FC53-479C-A098-8C0B68A892E7}"/>
                  </a:ext>
                </a:extLst>
              </p:cNvPr>
              <p:cNvSpPr txBox="1"/>
              <p:nvPr/>
            </p:nvSpPr>
            <p:spPr>
              <a:xfrm>
                <a:off x="3875651" y="2696811"/>
                <a:ext cx="339703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number in range(10):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if number == 5: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    break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print(number)</a:t>
                </a: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9E0204D-D386-4A6C-9F0E-DE36C6003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5331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07A0FE-B0D2-49CD-8195-28B745FB934E}"/>
              </a:ext>
            </a:extLst>
          </p:cNvPr>
          <p:cNvGrpSpPr/>
          <p:nvPr/>
        </p:nvGrpSpPr>
        <p:grpSpPr>
          <a:xfrm>
            <a:off x="1364577" y="2045591"/>
            <a:ext cx="4640146" cy="1083108"/>
            <a:chOff x="1624058" y="1885805"/>
            <a:chExt cx="4640146" cy="108310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61EC9A6-FBFC-447F-AEC6-4705E4D486EB}"/>
                </a:ext>
              </a:extLst>
            </p:cNvPr>
            <p:cNvSpPr txBox="1"/>
            <p:nvPr/>
          </p:nvSpPr>
          <p:spPr>
            <a:xfrm>
              <a:off x="1624058" y="2261027"/>
              <a:ext cx="46401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Exits a loop prematurely when a specific condition is met.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9CB6431-E43D-48BB-931F-BCBFD6798246}"/>
                </a:ext>
              </a:extLst>
            </p:cNvPr>
            <p:cNvGrpSpPr/>
            <p:nvPr/>
          </p:nvGrpSpPr>
          <p:grpSpPr>
            <a:xfrm>
              <a:off x="2555308" y="1885805"/>
              <a:ext cx="1951053" cy="466080"/>
              <a:chOff x="45788" y="2480227"/>
              <a:chExt cx="1951053" cy="466080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C2E05D-D543-4256-9D93-2681D8A9AC9B}"/>
                  </a:ext>
                </a:extLst>
              </p:cNvPr>
              <p:cNvSpPr txBox="1"/>
              <p:nvPr/>
            </p:nvSpPr>
            <p:spPr>
              <a:xfrm>
                <a:off x="284156" y="2484642"/>
                <a:ext cx="17126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958B8A09-1C77-4D25-9AA9-236D0F48CC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88" y="2480227"/>
                <a:ext cx="461666" cy="461666"/>
              </a:xfrm>
              <a:prstGeom prst="rect">
                <a:avLst/>
              </a:prstGeom>
            </p:spPr>
          </p:pic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B185BF8-109E-4B19-BDCC-F182E35E5E65}"/>
              </a:ext>
            </a:extLst>
          </p:cNvPr>
          <p:cNvGrpSpPr/>
          <p:nvPr/>
        </p:nvGrpSpPr>
        <p:grpSpPr>
          <a:xfrm>
            <a:off x="1123569" y="3964532"/>
            <a:ext cx="4456939" cy="1256055"/>
            <a:chOff x="1618741" y="3592231"/>
            <a:chExt cx="4456939" cy="1256055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B805C54-06E2-445D-9272-0AB0C788E80D}"/>
                </a:ext>
              </a:extLst>
            </p:cNvPr>
            <p:cNvSpPr txBox="1"/>
            <p:nvPr/>
          </p:nvSpPr>
          <p:spPr>
            <a:xfrm>
              <a:off x="1618741" y="4140400"/>
              <a:ext cx="44569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To stop a loop immediately (e.g., when finding a target element in a list).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923C934-EA61-4290-82D8-D943C6E4A2BD}"/>
                </a:ext>
              </a:extLst>
            </p:cNvPr>
            <p:cNvGrpSpPr/>
            <p:nvPr/>
          </p:nvGrpSpPr>
          <p:grpSpPr>
            <a:xfrm>
              <a:off x="2281017" y="3592231"/>
              <a:ext cx="2751250" cy="543754"/>
              <a:chOff x="76297" y="4510180"/>
              <a:chExt cx="2751250" cy="543754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668670C-7E5D-40B9-8F68-FBCCF75A6C14}"/>
                  </a:ext>
                </a:extLst>
              </p:cNvPr>
              <p:cNvSpPr txBox="1"/>
              <p:nvPr/>
            </p:nvSpPr>
            <p:spPr>
              <a:xfrm>
                <a:off x="264161" y="4592269"/>
                <a:ext cx="25633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When to Use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EF9B7BE2-0342-4E61-974E-31BE05C8E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97" y="4510180"/>
                <a:ext cx="543754" cy="543754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2C9574-BF2B-421B-8CD6-A12BC4786CE6}"/>
              </a:ext>
            </a:extLst>
          </p:cNvPr>
          <p:cNvGrpSpPr/>
          <p:nvPr/>
        </p:nvGrpSpPr>
        <p:grpSpPr>
          <a:xfrm>
            <a:off x="6659098" y="3935037"/>
            <a:ext cx="4456940" cy="1426824"/>
            <a:chOff x="6663659" y="3774744"/>
            <a:chExt cx="4456940" cy="142682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F81CD36-965B-445F-8CB6-55B9D22A55D9}"/>
                </a:ext>
              </a:extLst>
            </p:cNvPr>
            <p:cNvSpPr txBox="1"/>
            <p:nvPr/>
          </p:nvSpPr>
          <p:spPr>
            <a:xfrm>
              <a:off x="6663659" y="3816573"/>
              <a:ext cx="44569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Loops through numbers 0 to 9.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When number == 5, break stops the loop.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Output: Prints 0, 1, 2, 3, 4.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AD0B06-8464-4E21-8BC9-0AE2849E9E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7483158" y="3774744"/>
              <a:ext cx="564550" cy="46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5342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2" y="99849"/>
            <a:ext cx="9921937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continue Statement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552728-E36A-4DCC-89F4-64CB0126293B}"/>
              </a:ext>
            </a:extLst>
          </p:cNvPr>
          <p:cNvGrpSpPr/>
          <p:nvPr/>
        </p:nvGrpSpPr>
        <p:grpSpPr>
          <a:xfrm>
            <a:off x="7542402" y="1935421"/>
            <a:ext cx="2709038" cy="1818689"/>
            <a:chOff x="5000142" y="4653207"/>
            <a:chExt cx="2707462" cy="181868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E1FC796-258C-44B3-B6FB-630419E39E84}"/>
                </a:ext>
              </a:extLst>
            </p:cNvPr>
            <p:cNvGrpSpPr/>
            <p:nvPr/>
          </p:nvGrpSpPr>
          <p:grpSpPr>
            <a:xfrm>
              <a:off x="5000142" y="4693586"/>
              <a:ext cx="2707462" cy="1778310"/>
              <a:chOff x="3875651" y="2118830"/>
              <a:chExt cx="3397035" cy="1778310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920B42-134E-41B2-86A6-D478F082B217}"/>
                  </a:ext>
                </a:extLst>
              </p:cNvPr>
              <p:cNvSpPr txBox="1"/>
              <p:nvPr/>
            </p:nvSpPr>
            <p:spPr>
              <a:xfrm>
                <a:off x="4528946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F0F1D18-88A5-4200-85A1-1410E6D8920E}"/>
                  </a:ext>
                </a:extLst>
              </p:cNvPr>
              <p:cNvSpPr txBox="1"/>
              <p:nvPr/>
            </p:nvSpPr>
            <p:spPr>
              <a:xfrm>
                <a:off x="3875651" y="2696811"/>
                <a:ext cx="33970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in range(5):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if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== 2: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    continue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</a:t>
                </a: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E79188F-C574-4C2F-8E19-6E7BC48FB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5331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5EF1DF-3C40-4DB1-8525-9242DD73BD64}"/>
              </a:ext>
            </a:extLst>
          </p:cNvPr>
          <p:cNvGrpSpPr/>
          <p:nvPr/>
        </p:nvGrpSpPr>
        <p:grpSpPr>
          <a:xfrm>
            <a:off x="1364577" y="2045591"/>
            <a:ext cx="4640146" cy="1083108"/>
            <a:chOff x="1624058" y="1885805"/>
            <a:chExt cx="4640146" cy="108310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B1E08D-0AE1-4AB6-8822-7213A8A6FE0B}"/>
                </a:ext>
              </a:extLst>
            </p:cNvPr>
            <p:cNvSpPr txBox="1"/>
            <p:nvPr/>
          </p:nvSpPr>
          <p:spPr>
            <a:xfrm>
              <a:off x="1624058" y="2261027"/>
              <a:ext cx="46401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Skips the current iteration and proceeds to the next one without exiting the loop.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400234F-7922-4085-B3C4-DFC3238DD68C}"/>
                </a:ext>
              </a:extLst>
            </p:cNvPr>
            <p:cNvGrpSpPr/>
            <p:nvPr/>
          </p:nvGrpSpPr>
          <p:grpSpPr>
            <a:xfrm>
              <a:off x="2555308" y="1885805"/>
              <a:ext cx="1951053" cy="466080"/>
              <a:chOff x="45788" y="2480227"/>
              <a:chExt cx="1951053" cy="466080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0C8377-61CD-41AC-A58C-3C26C747CD18}"/>
                  </a:ext>
                </a:extLst>
              </p:cNvPr>
              <p:cNvSpPr txBox="1"/>
              <p:nvPr/>
            </p:nvSpPr>
            <p:spPr>
              <a:xfrm>
                <a:off x="284156" y="2484642"/>
                <a:ext cx="17126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6E31B7AF-7A18-4A19-9169-413BCAEAE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788" y="2480227"/>
                <a:ext cx="461666" cy="461666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1B88E52-E105-4374-9372-F27E329383CF}"/>
              </a:ext>
            </a:extLst>
          </p:cNvPr>
          <p:cNvGrpSpPr/>
          <p:nvPr/>
        </p:nvGrpSpPr>
        <p:grpSpPr>
          <a:xfrm>
            <a:off x="1123569" y="3964532"/>
            <a:ext cx="4456939" cy="1256055"/>
            <a:chOff x="1618741" y="3592231"/>
            <a:chExt cx="4456939" cy="125605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6FDA800-E1D9-4923-AF67-C6FD870E1091}"/>
                </a:ext>
              </a:extLst>
            </p:cNvPr>
            <p:cNvSpPr txBox="1"/>
            <p:nvPr/>
          </p:nvSpPr>
          <p:spPr>
            <a:xfrm>
              <a:off x="1618741" y="4140400"/>
              <a:ext cx="44569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To bypass specific iterations (e.g., skipping unwanted values in a dataset).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42137C3-2188-44F6-BDFC-6F0B0A59D3A8}"/>
                </a:ext>
              </a:extLst>
            </p:cNvPr>
            <p:cNvGrpSpPr/>
            <p:nvPr/>
          </p:nvGrpSpPr>
          <p:grpSpPr>
            <a:xfrm>
              <a:off x="2281017" y="3592231"/>
              <a:ext cx="2751250" cy="543754"/>
              <a:chOff x="76297" y="4510180"/>
              <a:chExt cx="2751250" cy="54375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DDA0B27-94F5-4478-9E85-AFD8D5788797}"/>
                  </a:ext>
                </a:extLst>
              </p:cNvPr>
              <p:cNvSpPr txBox="1"/>
              <p:nvPr/>
            </p:nvSpPr>
            <p:spPr>
              <a:xfrm>
                <a:off x="264161" y="4592269"/>
                <a:ext cx="25633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When to Use</a:t>
                </a:r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B9796DF-3ADA-4AA2-9508-12F124F56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97" y="4510180"/>
                <a:ext cx="543754" cy="543754"/>
              </a:xfrm>
              <a:prstGeom prst="rect">
                <a:avLst/>
              </a:prstGeom>
            </p:spPr>
          </p:pic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79B2228-FFA6-45F6-9B14-4B48FE94700D}"/>
              </a:ext>
            </a:extLst>
          </p:cNvPr>
          <p:cNvGrpSpPr/>
          <p:nvPr/>
        </p:nvGrpSpPr>
        <p:grpSpPr>
          <a:xfrm>
            <a:off x="6668451" y="3935037"/>
            <a:ext cx="4456940" cy="1414490"/>
            <a:chOff x="6673012" y="3774744"/>
            <a:chExt cx="4456940" cy="1414490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576536D-6718-428F-90F6-0B02D60A52D0}"/>
                </a:ext>
              </a:extLst>
            </p:cNvPr>
            <p:cNvSpPr txBox="1"/>
            <p:nvPr/>
          </p:nvSpPr>
          <p:spPr>
            <a:xfrm>
              <a:off x="6673012" y="3804239"/>
              <a:ext cx="44569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Loops through numbers 0 to 4.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When </a:t>
              </a:r>
              <a:r>
                <a:rPr lang="en-US" sz="2000" dirty="0" err="1">
                  <a:solidFill>
                    <a:schemeClr val="bg1"/>
                  </a:solidFill>
                </a:rPr>
                <a:t>i</a:t>
              </a:r>
              <a:r>
                <a:rPr lang="en-US" sz="2000" dirty="0">
                  <a:solidFill>
                    <a:schemeClr val="bg1"/>
                  </a:solidFill>
                </a:rPr>
                <a:t> == 2, continue skips the print statement.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FA99117-5E44-4D7E-8145-A243955BCB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7483158" y="3774744"/>
              <a:ext cx="564550" cy="46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25385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2" y="99849"/>
            <a:ext cx="10033697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The Pass Statement in Python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9310703-4843-4AAC-B6AD-66E3751B4998}"/>
              </a:ext>
            </a:extLst>
          </p:cNvPr>
          <p:cNvGrpSpPr/>
          <p:nvPr/>
        </p:nvGrpSpPr>
        <p:grpSpPr>
          <a:xfrm>
            <a:off x="7542402" y="1935421"/>
            <a:ext cx="2709038" cy="1818689"/>
            <a:chOff x="5000142" y="4653207"/>
            <a:chExt cx="2707462" cy="181868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B1927D4-3410-4B6E-8324-CC708B3EEE30}"/>
                </a:ext>
              </a:extLst>
            </p:cNvPr>
            <p:cNvGrpSpPr/>
            <p:nvPr/>
          </p:nvGrpSpPr>
          <p:grpSpPr>
            <a:xfrm>
              <a:off x="5000142" y="4693586"/>
              <a:ext cx="2707462" cy="1778310"/>
              <a:chOff x="3875651" y="2118830"/>
              <a:chExt cx="3397035" cy="1778310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415EA2-700F-4446-A654-EC5F34348752}"/>
                  </a:ext>
                </a:extLst>
              </p:cNvPr>
              <p:cNvSpPr txBox="1"/>
              <p:nvPr/>
            </p:nvSpPr>
            <p:spPr>
              <a:xfrm>
                <a:off x="4528946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DFA594A-B6D5-496C-9FAF-C59CB2C2977B}"/>
                  </a:ext>
                </a:extLst>
              </p:cNvPr>
              <p:cNvSpPr txBox="1"/>
              <p:nvPr/>
            </p:nvSpPr>
            <p:spPr>
              <a:xfrm>
                <a:off x="3875651" y="2696811"/>
                <a:ext cx="33970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for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in range(5):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if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&lt; 3: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    pass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</a:t>
                </a: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08D969D-92E2-4473-990A-B16E025AF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5331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25C494F-798E-44E3-9800-D1CA4480E4C1}"/>
              </a:ext>
            </a:extLst>
          </p:cNvPr>
          <p:cNvGrpSpPr/>
          <p:nvPr/>
        </p:nvGrpSpPr>
        <p:grpSpPr>
          <a:xfrm>
            <a:off x="566295" y="1638587"/>
            <a:ext cx="5143625" cy="1819868"/>
            <a:chOff x="-130989" y="1885805"/>
            <a:chExt cx="8553843" cy="181986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D8072C-A20C-426F-B2B6-81F746F64416}"/>
                </a:ext>
              </a:extLst>
            </p:cNvPr>
            <p:cNvSpPr txBox="1"/>
            <p:nvPr/>
          </p:nvSpPr>
          <p:spPr>
            <a:xfrm>
              <a:off x="-130989" y="2382234"/>
              <a:ext cx="855384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 null operation; acts as a placeholder when no action is needed.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Used where code is syntactically required but not yet implemented.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185F6B0-C1C2-44DD-B987-8D3E08097831}"/>
                </a:ext>
              </a:extLst>
            </p:cNvPr>
            <p:cNvGrpSpPr/>
            <p:nvPr/>
          </p:nvGrpSpPr>
          <p:grpSpPr>
            <a:xfrm>
              <a:off x="2358964" y="1885805"/>
              <a:ext cx="2635783" cy="466080"/>
              <a:chOff x="-150556" y="2480227"/>
              <a:chExt cx="2635783" cy="466080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C871E13-6DBF-4D1F-AD09-6412F18FC41F}"/>
                  </a:ext>
                </a:extLst>
              </p:cNvPr>
              <p:cNvSpPr txBox="1"/>
              <p:nvPr/>
            </p:nvSpPr>
            <p:spPr>
              <a:xfrm>
                <a:off x="284154" y="2484642"/>
                <a:ext cx="22010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928AED5E-D076-4021-A5C4-ACF0DB2DA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50556" y="2480227"/>
                <a:ext cx="658012" cy="461666"/>
              </a:xfrm>
              <a:prstGeom prst="rect">
                <a:avLst/>
              </a:prstGeom>
            </p:spPr>
          </p:pic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152003-262B-4306-9B8E-9649358B8E74}"/>
              </a:ext>
            </a:extLst>
          </p:cNvPr>
          <p:cNvGrpSpPr/>
          <p:nvPr/>
        </p:nvGrpSpPr>
        <p:grpSpPr>
          <a:xfrm>
            <a:off x="1123569" y="3964532"/>
            <a:ext cx="4456939" cy="1256055"/>
            <a:chOff x="1618741" y="3592231"/>
            <a:chExt cx="4456939" cy="125605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6E23D10-B0CB-4893-B3AB-6B1EC2FF1915}"/>
                </a:ext>
              </a:extLst>
            </p:cNvPr>
            <p:cNvSpPr txBox="1"/>
            <p:nvPr/>
          </p:nvSpPr>
          <p:spPr>
            <a:xfrm>
              <a:off x="1618741" y="4140400"/>
              <a:ext cx="44569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As a temporary placeholder (e.g., in empty loops, functions, or try blocks).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3F7CD70-0E0D-4556-B586-CB912BF30ADD}"/>
                </a:ext>
              </a:extLst>
            </p:cNvPr>
            <p:cNvGrpSpPr/>
            <p:nvPr/>
          </p:nvGrpSpPr>
          <p:grpSpPr>
            <a:xfrm>
              <a:off x="2281017" y="3592231"/>
              <a:ext cx="2751250" cy="543754"/>
              <a:chOff x="76297" y="4510180"/>
              <a:chExt cx="2751250" cy="54375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764957F-3B3E-4D56-9CF5-F0D157241616}"/>
                  </a:ext>
                </a:extLst>
              </p:cNvPr>
              <p:cNvSpPr txBox="1"/>
              <p:nvPr/>
            </p:nvSpPr>
            <p:spPr>
              <a:xfrm>
                <a:off x="264161" y="4592269"/>
                <a:ext cx="25633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When to Use</a:t>
                </a:r>
              </a:p>
            </p:txBody>
          </p: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AABE30C0-1FDC-4234-8877-C4FCEC901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297" y="4510180"/>
                <a:ext cx="543754" cy="543754"/>
              </a:xfrm>
              <a:prstGeom prst="rect">
                <a:avLst/>
              </a:prstGeom>
            </p:spPr>
          </p:pic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32D75EC-B81F-481C-92D2-6C502F384F9F}"/>
              </a:ext>
            </a:extLst>
          </p:cNvPr>
          <p:cNvGrpSpPr/>
          <p:nvPr/>
        </p:nvGrpSpPr>
        <p:grpSpPr>
          <a:xfrm>
            <a:off x="6668451" y="3935037"/>
            <a:ext cx="4456940" cy="1743311"/>
            <a:chOff x="6673012" y="3774744"/>
            <a:chExt cx="4456940" cy="1743311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61E9847-3345-4B11-BE15-16E42A583EEE}"/>
                </a:ext>
              </a:extLst>
            </p:cNvPr>
            <p:cNvSpPr txBox="1"/>
            <p:nvPr/>
          </p:nvSpPr>
          <p:spPr>
            <a:xfrm>
              <a:off x="6673012" y="3825284"/>
              <a:ext cx="445694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Loops through numbers 0 to 4.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When </a:t>
              </a:r>
              <a:r>
                <a:rPr lang="en-US" sz="2000" dirty="0" err="1">
                  <a:solidFill>
                    <a:schemeClr val="bg1"/>
                  </a:solidFill>
                </a:rPr>
                <a:t>i</a:t>
              </a:r>
              <a:r>
                <a:rPr lang="en-US" sz="2000" dirty="0">
                  <a:solidFill>
                    <a:schemeClr val="bg1"/>
                  </a:solidFill>
                </a:rPr>
                <a:t> &lt; 3, pass does nothing, and the loop continues.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Output: Prints 0, 1, 2, 3, 4.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5F901C6-C2D6-49CA-8D78-7E7B5F2F1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7483158" y="3774744"/>
              <a:ext cx="564550" cy="46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287089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/>
              </a:rPr>
              <a:t>Huawei HCCDA-AI certification 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Trainer: Fawad Bahadur Marwat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65717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Function in Python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EE5060-43E7-4AB8-B29D-6D196586E7B3}"/>
              </a:ext>
            </a:extLst>
          </p:cNvPr>
          <p:cNvGrpSpPr/>
          <p:nvPr/>
        </p:nvGrpSpPr>
        <p:grpSpPr>
          <a:xfrm>
            <a:off x="7493238" y="2276624"/>
            <a:ext cx="4200921" cy="3008906"/>
            <a:chOff x="7493238" y="2276624"/>
            <a:chExt cx="4200921" cy="300890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0FEA2-F40A-4240-B2EF-91A536BB0F3D}"/>
                </a:ext>
              </a:extLst>
            </p:cNvPr>
            <p:cNvGrpSpPr/>
            <p:nvPr/>
          </p:nvGrpSpPr>
          <p:grpSpPr>
            <a:xfrm>
              <a:off x="7493238" y="2276624"/>
              <a:ext cx="4200921" cy="3008906"/>
              <a:chOff x="3373704" y="4653207"/>
              <a:chExt cx="4200921" cy="300890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C7A15DB-6AB3-49B0-90AF-3AB5A0EEBB9D}"/>
                  </a:ext>
                </a:extLst>
              </p:cNvPr>
              <p:cNvGrpSpPr/>
              <p:nvPr/>
            </p:nvGrpSpPr>
            <p:grpSpPr>
              <a:xfrm>
                <a:off x="3373704" y="4693586"/>
                <a:ext cx="4200921" cy="2968527"/>
                <a:chOff x="1834970" y="2118830"/>
                <a:chExt cx="5270871" cy="2968527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F75FC54-4C97-44BB-8F2E-2387A3918365}"/>
                    </a:ext>
                  </a:extLst>
                </p:cNvPr>
                <p:cNvSpPr txBox="1"/>
                <p:nvPr/>
              </p:nvSpPr>
              <p:spPr>
                <a:xfrm>
                  <a:off x="1834970" y="4010139"/>
                  <a:ext cx="5270871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Explanation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greet function takes </a:t>
                  </a:r>
                  <a:r>
                    <a:rPr lang="en-US" sz="2000" b="1" dirty="0">
                      <a:solidFill>
                        <a:schemeClr val="bg1"/>
                      </a:solidFill>
                    </a:rPr>
                    <a:t>name</a:t>
                  </a:r>
                  <a:r>
                    <a:rPr lang="en-US" sz="2000" dirty="0">
                      <a:solidFill>
                        <a:schemeClr val="bg1"/>
                      </a:solidFill>
                    </a:rPr>
                    <a:t> parameter and prints a greeting.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1374E2D-910D-4964-97E1-D401047F344C}"/>
                    </a:ext>
                  </a:extLst>
                </p:cNvPr>
                <p:cNvSpPr txBox="1"/>
                <p:nvPr/>
              </p:nvSpPr>
              <p:spPr>
                <a:xfrm>
                  <a:off x="2935440" y="2118830"/>
                  <a:ext cx="209044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Example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D78B0C-E40B-4B3B-B680-93412D1EF246}"/>
                    </a:ext>
                  </a:extLst>
                </p:cNvPr>
                <p:cNvSpPr txBox="1"/>
                <p:nvPr/>
              </p:nvSpPr>
              <p:spPr>
                <a:xfrm>
                  <a:off x="2376486" y="2768042"/>
                  <a:ext cx="4102336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def greet(name):</a:t>
                  </a:r>
                </a:p>
                <a:p>
                  <a:r>
                    <a:rPr lang="en-US" sz="1600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    print(</a:t>
                  </a:r>
                  <a:r>
                    <a:rPr lang="en-US" sz="1600" i="1" dirty="0" err="1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f"Hello</a:t>
                  </a:r>
                  <a:r>
                    <a:rPr lang="en-US" sz="1600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, {name}!")</a:t>
                  </a:r>
                </a:p>
                <a:p>
                  <a:r>
                    <a:rPr lang="en-US" sz="1600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greet("Alice")  # Output: Hello, Alice!</a:t>
                  </a:r>
                </a:p>
              </p:txBody>
            </p:sp>
          </p:grp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0AB870B-B5FF-4DE7-95B5-62FAE5371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5296" y="4653207"/>
                <a:ext cx="524712" cy="524712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94677A-0445-443F-8DC0-FA27CDF391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8187186" y="4139106"/>
              <a:ext cx="564550" cy="46166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38295E-A749-44B0-BAE3-065460019D7D}"/>
              </a:ext>
            </a:extLst>
          </p:cNvPr>
          <p:cNvGrpSpPr/>
          <p:nvPr/>
        </p:nvGrpSpPr>
        <p:grpSpPr>
          <a:xfrm>
            <a:off x="1184900" y="4683458"/>
            <a:ext cx="4452456" cy="1200399"/>
            <a:chOff x="464633" y="2092541"/>
            <a:chExt cx="4452456" cy="120039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7FF3CC-DB96-4AAD-90BB-499F19CB4F20}"/>
                </a:ext>
              </a:extLst>
            </p:cNvPr>
            <p:cNvSpPr txBox="1"/>
            <p:nvPr/>
          </p:nvSpPr>
          <p:spPr>
            <a:xfrm>
              <a:off x="464633" y="2585054"/>
              <a:ext cx="44524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Use def keyword, function name, and parameters in ().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6B9B2F-7CD1-4E8C-8BCE-2BA2012A01BE}"/>
                </a:ext>
              </a:extLst>
            </p:cNvPr>
            <p:cNvSpPr txBox="1"/>
            <p:nvPr/>
          </p:nvSpPr>
          <p:spPr>
            <a:xfrm>
              <a:off x="1854206" y="2092541"/>
              <a:ext cx="2998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Syntax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420D1AD-9E6B-4CDA-AC00-F4899726B93D}"/>
              </a:ext>
            </a:extLst>
          </p:cNvPr>
          <p:cNvGrpSpPr/>
          <p:nvPr/>
        </p:nvGrpSpPr>
        <p:grpSpPr>
          <a:xfrm>
            <a:off x="210632" y="1475960"/>
            <a:ext cx="6606728" cy="909764"/>
            <a:chOff x="210632" y="1475960"/>
            <a:chExt cx="6606728" cy="90976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B803C3F8-FA6C-4B65-AC37-9CC1DE22CEC1}"/>
                </a:ext>
              </a:extLst>
            </p:cNvPr>
            <p:cNvGrpSpPr/>
            <p:nvPr/>
          </p:nvGrpSpPr>
          <p:grpSpPr>
            <a:xfrm>
              <a:off x="210632" y="1519390"/>
              <a:ext cx="6606728" cy="866334"/>
              <a:chOff x="352872" y="2118830"/>
              <a:chExt cx="6606728" cy="866334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C3DCC3-DA02-4626-B54B-9870CD665236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660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Named, reusable code blocks for specific tasks.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975451-B788-4651-98D7-8702B24614B0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2BB4DEE-7105-4ADD-A1EA-7DAE4C3AD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190" y="1475960"/>
              <a:ext cx="519866" cy="51986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14E00D9-0C3D-4BE2-AAA9-15F99A7401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988" y="4486381"/>
            <a:ext cx="2295525" cy="199072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72210CF-0D3D-4FC7-95B6-AE9B850D700A}"/>
              </a:ext>
            </a:extLst>
          </p:cNvPr>
          <p:cNvGrpSpPr/>
          <p:nvPr/>
        </p:nvGrpSpPr>
        <p:grpSpPr>
          <a:xfrm>
            <a:off x="787172" y="2935288"/>
            <a:ext cx="5522187" cy="1481887"/>
            <a:chOff x="573812" y="4046603"/>
            <a:chExt cx="5522187" cy="148188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15B9F6C-3D35-4E7A-901D-E57FA1A9C618}"/>
                </a:ext>
              </a:extLst>
            </p:cNvPr>
            <p:cNvGrpSpPr/>
            <p:nvPr/>
          </p:nvGrpSpPr>
          <p:grpSpPr>
            <a:xfrm>
              <a:off x="573812" y="4046603"/>
              <a:ext cx="5522187" cy="1481887"/>
              <a:chOff x="807492" y="2118830"/>
              <a:chExt cx="5522187" cy="1481887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1641A4-2E75-4107-9B2B-5F76CFE8C729}"/>
                  </a:ext>
                </a:extLst>
              </p:cNvPr>
              <p:cNvSpPr txBox="1"/>
              <p:nvPr/>
            </p:nvSpPr>
            <p:spPr>
              <a:xfrm>
                <a:off x="807492" y="2585054"/>
                <a:ext cx="5522187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Organize code into manageable parts.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Promote reusability, reduce redundancy.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Enable multiple calls throughout a program.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6D333F-0B74-45AD-86BB-74565FDDB4E1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01F3410-7FA3-4BCF-A33C-F0CA37169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4089820"/>
              <a:ext cx="400110" cy="40011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138" y="2780697"/>
            <a:ext cx="1721691" cy="74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95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81841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Functions: Modularity &amp; Reusability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127818F-E959-4AF3-8FF4-7899F4B118C5}"/>
              </a:ext>
            </a:extLst>
          </p:cNvPr>
          <p:cNvGrpSpPr/>
          <p:nvPr/>
        </p:nvGrpSpPr>
        <p:grpSpPr>
          <a:xfrm>
            <a:off x="892716" y="1653736"/>
            <a:ext cx="6107524" cy="1512879"/>
            <a:chOff x="465996" y="2118830"/>
            <a:chExt cx="8029128" cy="151287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49F07F-67C2-43DA-A667-D86608FE643C}"/>
                </a:ext>
              </a:extLst>
            </p:cNvPr>
            <p:cNvSpPr txBox="1"/>
            <p:nvPr/>
          </p:nvSpPr>
          <p:spPr>
            <a:xfrm>
              <a:off x="465996" y="2616046"/>
              <a:ext cx="802912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Encapsulate functionality for organized, navigable code.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Develop, test, and debug functions independently.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Enhances software quality and maintainability.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41D0C0-284F-4309-B8F9-D5A3534F709F}"/>
                </a:ext>
              </a:extLst>
            </p:cNvPr>
            <p:cNvSpPr txBox="1"/>
            <p:nvPr/>
          </p:nvSpPr>
          <p:spPr>
            <a:xfrm>
              <a:off x="2092960" y="2118830"/>
              <a:ext cx="426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Modularity</a:t>
              </a:r>
            </a:p>
          </p:txBody>
        </p:sp>
      </p:grpSp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8BDF2B-12D3-43C8-AA3B-819CFFB0531E}"/>
              </a:ext>
            </a:extLst>
          </p:cNvPr>
          <p:cNvGrpSpPr/>
          <p:nvPr/>
        </p:nvGrpSpPr>
        <p:grpSpPr>
          <a:xfrm>
            <a:off x="892716" y="3822134"/>
            <a:ext cx="6422484" cy="1512515"/>
            <a:chOff x="2242632" y="2118830"/>
            <a:chExt cx="4503608" cy="151251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0604F4B-D8D0-481F-85B3-EB6029CA49E5}"/>
                </a:ext>
              </a:extLst>
            </p:cNvPr>
            <p:cNvSpPr txBox="1"/>
            <p:nvPr/>
          </p:nvSpPr>
          <p:spPr>
            <a:xfrm>
              <a:off x="2242632" y="2615682"/>
              <a:ext cx="450360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Reuse functions across programs or sections.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Eliminates redundant code.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Keeps codebase clean and maintainable.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B9514-5194-4F0A-AD6B-0014DB1EB656}"/>
                </a:ext>
              </a:extLst>
            </p:cNvPr>
            <p:cNvSpPr txBox="1"/>
            <p:nvPr/>
          </p:nvSpPr>
          <p:spPr>
            <a:xfrm>
              <a:off x="2935440" y="2118830"/>
              <a:ext cx="2762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Code Reusability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CE1A5B46-1CA6-412F-8617-2DB4C8CC1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553" y="1832653"/>
            <a:ext cx="2466975" cy="18573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D44B0F-FAB4-4D94-9AC2-EAA4A8C70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540" y="1778005"/>
            <a:ext cx="1905000" cy="1905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68B657-6724-4765-9E98-5D741BBBC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398" y="3992675"/>
            <a:ext cx="1668283" cy="16682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10EEA0-9B08-4747-B3FF-D6F26E1CD7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915" y="388906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31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Function Definition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EE5060-43E7-4AB8-B29D-6D196586E7B3}"/>
              </a:ext>
            </a:extLst>
          </p:cNvPr>
          <p:cNvGrpSpPr/>
          <p:nvPr/>
        </p:nvGrpSpPr>
        <p:grpSpPr>
          <a:xfrm>
            <a:off x="7493238" y="2276624"/>
            <a:ext cx="4452456" cy="3008906"/>
            <a:chOff x="7493238" y="2276624"/>
            <a:chExt cx="4452456" cy="300890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0FEA2-F40A-4240-B2EF-91A536BB0F3D}"/>
                </a:ext>
              </a:extLst>
            </p:cNvPr>
            <p:cNvGrpSpPr/>
            <p:nvPr/>
          </p:nvGrpSpPr>
          <p:grpSpPr>
            <a:xfrm>
              <a:off x="7493238" y="2276624"/>
              <a:ext cx="4452456" cy="3008906"/>
              <a:chOff x="3373704" y="4653207"/>
              <a:chExt cx="4452456" cy="3008906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C7A15DB-6AB3-49B0-90AF-3AB5A0EEBB9D}"/>
                  </a:ext>
                </a:extLst>
              </p:cNvPr>
              <p:cNvGrpSpPr/>
              <p:nvPr/>
            </p:nvGrpSpPr>
            <p:grpSpPr>
              <a:xfrm>
                <a:off x="3373704" y="4693586"/>
                <a:ext cx="4452456" cy="2968527"/>
                <a:chOff x="1834970" y="2118830"/>
                <a:chExt cx="5586470" cy="2968527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F75FC54-4C97-44BB-8F2E-2387A3918365}"/>
                    </a:ext>
                  </a:extLst>
                </p:cNvPr>
                <p:cNvSpPr txBox="1"/>
                <p:nvPr/>
              </p:nvSpPr>
              <p:spPr>
                <a:xfrm>
                  <a:off x="1834970" y="4010139"/>
                  <a:ext cx="5586470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Explanation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add function takes parameters a and b.</a:t>
                  </a:r>
                </a:p>
                <a:p>
                  <a:pPr marL="342900" indent="-342900">
                    <a:buFont typeface="Arial" panose="020B0604020202020204" pitchFamily="34" charset="0"/>
                    <a:buChar char="•"/>
                  </a:pPr>
                  <a:r>
                    <a:rPr lang="en-US" sz="2000" dirty="0">
                      <a:solidFill>
                        <a:schemeClr val="bg1"/>
                      </a:solidFill>
                    </a:rPr>
                    <a:t>Returns their sum using return.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1374E2D-910D-4964-97E1-D401047F344C}"/>
                    </a:ext>
                  </a:extLst>
                </p:cNvPr>
                <p:cNvSpPr txBox="1"/>
                <p:nvPr/>
              </p:nvSpPr>
              <p:spPr>
                <a:xfrm>
                  <a:off x="2935440" y="2118830"/>
                  <a:ext cx="209044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Example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D78B0C-E40B-4B3B-B680-93412D1EF246}"/>
                    </a:ext>
                  </a:extLst>
                </p:cNvPr>
                <p:cNvSpPr txBox="1"/>
                <p:nvPr/>
              </p:nvSpPr>
              <p:spPr>
                <a:xfrm>
                  <a:off x="2376486" y="2768042"/>
                  <a:ext cx="4102335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def add(a, b):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    return a + b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print(add(3, 4))  # Output: 7</a:t>
                  </a:r>
                </a:p>
              </p:txBody>
            </p:sp>
          </p:grp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0AB870B-B5FF-4DE7-95B5-62FAE5371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5296" y="4653207"/>
                <a:ext cx="524712" cy="524712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94677A-0445-443F-8DC0-FA27CDF391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8187186" y="4139106"/>
              <a:ext cx="564550" cy="461665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38295E-A749-44B0-BAE3-065460019D7D}"/>
              </a:ext>
            </a:extLst>
          </p:cNvPr>
          <p:cNvGrpSpPr/>
          <p:nvPr/>
        </p:nvGrpSpPr>
        <p:grpSpPr>
          <a:xfrm>
            <a:off x="477075" y="1487794"/>
            <a:ext cx="5860876" cy="1200399"/>
            <a:chOff x="464633" y="2092541"/>
            <a:chExt cx="4452456" cy="120039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F7FF3CC-DB96-4AAD-90BB-499F19CB4F20}"/>
                </a:ext>
              </a:extLst>
            </p:cNvPr>
            <p:cNvSpPr txBox="1"/>
            <p:nvPr/>
          </p:nvSpPr>
          <p:spPr>
            <a:xfrm>
              <a:off x="464633" y="2585054"/>
              <a:ext cx="44524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Use </a:t>
              </a:r>
              <a:r>
                <a:rPr lang="en-US" sz="2000" b="1" dirty="0">
                  <a:solidFill>
                    <a:schemeClr val="bg1"/>
                  </a:solidFill>
                </a:rPr>
                <a:t>def</a:t>
              </a:r>
              <a:r>
                <a:rPr lang="en-US" sz="2000" dirty="0">
                  <a:solidFill>
                    <a:schemeClr val="bg1"/>
                  </a:solidFill>
                </a:rPr>
                <a:t> keyword, function </a:t>
              </a:r>
              <a:r>
                <a:rPr lang="en-US" sz="2000" b="1" dirty="0">
                  <a:solidFill>
                    <a:schemeClr val="bg1"/>
                  </a:solidFill>
                </a:rPr>
                <a:t>name</a:t>
              </a:r>
              <a:r>
                <a:rPr lang="en-US" sz="2000" dirty="0">
                  <a:solidFill>
                    <a:schemeClr val="bg1"/>
                  </a:solidFill>
                </a:rPr>
                <a:t>, and </a:t>
              </a:r>
              <a:r>
                <a:rPr lang="en-US" sz="2000" b="1" dirty="0">
                  <a:solidFill>
                    <a:schemeClr val="bg1"/>
                  </a:solidFill>
                </a:rPr>
                <a:t>()</a:t>
              </a:r>
              <a:r>
                <a:rPr lang="en-US" sz="2000" dirty="0">
                  <a:solidFill>
                    <a:schemeClr val="bg1"/>
                  </a:solidFill>
                </a:rPr>
                <a:t> for parameters.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Parameters (optional) accept inputs for the function.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6B9B2F-7CD1-4E8C-8BCE-2BA2012A01BE}"/>
                </a:ext>
              </a:extLst>
            </p:cNvPr>
            <p:cNvSpPr txBox="1"/>
            <p:nvPr/>
          </p:nvSpPr>
          <p:spPr>
            <a:xfrm>
              <a:off x="464633" y="2092541"/>
              <a:ext cx="43883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u="sng" dirty="0">
                  <a:solidFill>
                    <a:schemeClr val="bg1"/>
                  </a:solidFill>
                </a:rPr>
                <a:t>Syntax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72210CF-0D3D-4FC7-95B6-AE9B850D700A}"/>
              </a:ext>
            </a:extLst>
          </p:cNvPr>
          <p:cNvGrpSpPr/>
          <p:nvPr/>
        </p:nvGrpSpPr>
        <p:grpSpPr>
          <a:xfrm>
            <a:off x="646419" y="3195828"/>
            <a:ext cx="5522187" cy="1174110"/>
            <a:chOff x="573812" y="4046603"/>
            <a:chExt cx="5522187" cy="1174110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15B9F6C-3D35-4E7A-901D-E57FA1A9C618}"/>
                </a:ext>
              </a:extLst>
            </p:cNvPr>
            <p:cNvGrpSpPr/>
            <p:nvPr/>
          </p:nvGrpSpPr>
          <p:grpSpPr>
            <a:xfrm>
              <a:off x="573812" y="4046603"/>
              <a:ext cx="5522187" cy="1174110"/>
              <a:chOff x="807492" y="2118830"/>
              <a:chExt cx="5522187" cy="117411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1641A4-2E75-4107-9B2B-5F76CFE8C729}"/>
                  </a:ext>
                </a:extLst>
              </p:cNvPr>
              <p:cNvSpPr txBox="1"/>
              <p:nvPr/>
            </p:nvSpPr>
            <p:spPr>
              <a:xfrm>
                <a:off x="807492" y="2585054"/>
                <a:ext cx="55221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Define reusable code to perform specific tasks.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Return results using return (optional).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6D333F-0B74-45AD-86BB-74565FDDB4E1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15146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Purpose</a:t>
                </a:r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01F3410-7FA3-4BCF-A33C-F0CA37169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8266" y="4089820"/>
              <a:ext cx="400110" cy="40011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104985C-BA98-4EDD-AFDF-6D37EC618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943" y="2899130"/>
            <a:ext cx="1721691" cy="7400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021EC2C-7C77-41E3-8465-25E9489FF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9921" y="4727056"/>
            <a:ext cx="5347452" cy="1972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7160198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Executing Functions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EE5060-43E7-4AB8-B29D-6D196586E7B3}"/>
              </a:ext>
            </a:extLst>
          </p:cNvPr>
          <p:cNvGrpSpPr/>
          <p:nvPr/>
        </p:nvGrpSpPr>
        <p:grpSpPr>
          <a:xfrm>
            <a:off x="7159224" y="1874507"/>
            <a:ext cx="4452456" cy="3781074"/>
            <a:chOff x="7538232" y="2276624"/>
            <a:chExt cx="4452456" cy="3781074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40FEA2-F40A-4240-B2EF-91A536BB0F3D}"/>
                </a:ext>
              </a:extLst>
            </p:cNvPr>
            <p:cNvGrpSpPr/>
            <p:nvPr/>
          </p:nvGrpSpPr>
          <p:grpSpPr>
            <a:xfrm>
              <a:off x="7538232" y="2276624"/>
              <a:ext cx="4452456" cy="3781074"/>
              <a:chOff x="3418698" y="4653207"/>
              <a:chExt cx="4452456" cy="3781074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DC7A15DB-6AB3-49B0-90AF-3AB5A0EEBB9D}"/>
                  </a:ext>
                </a:extLst>
              </p:cNvPr>
              <p:cNvGrpSpPr/>
              <p:nvPr/>
            </p:nvGrpSpPr>
            <p:grpSpPr>
              <a:xfrm>
                <a:off x="3418698" y="4693586"/>
                <a:ext cx="4452456" cy="3740695"/>
                <a:chOff x="1891424" y="2118830"/>
                <a:chExt cx="5586470" cy="3740695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F75FC54-4C97-44BB-8F2E-2387A3918365}"/>
                    </a:ext>
                  </a:extLst>
                </p:cNvPr>
                <p:cNvSpPr txBox="1"/>
                <p:nvPr/>
              </p:nvSpPr>
              <p:spPr>
                <a:xfrm>
                  <a:off x="1891424" y="4782307"/>
                  <a:ext cx="5586470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Explanation</a:t>
                  </a:r>
                </a:p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greet function is called multiple </a:t>
                  </a:r>
                </a:p>
                <a:p>
                  <a:pPr algn="ctr"/>
                  <a:r>
                    <a:rPr lang="en-US" sz="2000" dirty="0">
                      <a:solidFill>
                        <a:schemeClr val="bg1"/>
                      </a:solidFill>
                    </a:rPr>
                    <a:t>times with different arguments.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1374E2D-910D-4964-97E1-D401047F344C}"/>
                    </a:ext>
                  </a:extLst>
                </p:cNvPr>
                <p:cNvSpPr txBox="1"/>
                <p:nvPr/>
              </p:nvSpPr>
              <p:spPr>
                <a:xfrm>
                  <a:off x="2935440" y="2118830"/>
                  <a:ext cx="209044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b="1" u="sng" dirty="0">
                      <a:solidFill>
                        <a:schemeClr val="bg1"/>
                      </a:solidFill>
                    </a:rPr>
                    <a:t>Example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4D78B0C-E40B-4B3B-B680-93412D1EF246}"/>
                    </a:ext>
                  </a:extLst>
                </p:cNvPr>
                <p:cNvSpPr txBox="1"/>
                <p:nvPr/>
              </p:nvSpPr>
              <p:spPr>
                <a:xfrm>
                  <a:off x="2376485" y="2768042"/>
                  <a:ext cx="4616349" cy="14773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def greet(name):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    print(</a:t>
                  </a:r>
                  <a:r>
                    <a:rPr lang="en-US" i="1" dirty="0" err="1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f"Hello</a:t>
                  </a:r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, {name}!")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greet("Alice")    # Output: Hello, Alice!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greet("Bob")      # Output: Hello, Bob!</a:t>
                  </a:r>
                </a:p>
                <a:p>
                  <a:r>
                    <a:rPr lang="en-US" i="1" dirty="0">
                      <a:solidFill>
                        <a:schemeClr val="bg1"/>
                      </a:solidFill>
                      <a:highlight>
                        <a:srgbClr val="C0C0C0"/>
                      </a:highlight>
                    </a:rPr>
                    <a:t>greet("Charlie")  # Output: Hello, Charlie!</a:t>
                  </a:r>
                </a:p>
              </p:txBody>
            </p:sp>
          </p:grp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0AB870B-B5FF-4DE7-95B5-62FAE5371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5296" y="4653207"/>
                <a:ext cx="524712" cy="524712"/>
              </a:xfrm>
              <a:prstGeom prst="rect">
                <a:avLst/>
              </a:prstGeom>
            </p:spPr>
          </p:pic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94677A-0445-443F-8DC0-FA27CDF391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24"/>
            <a:stretch/>
          </p:blipFill>
          <p:spPr>
            <a:xfrm>
              <a:off x="8291934" y="4944102"/>
              <a:ext cx="564550" cy="461665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3A2F0E5-AC1E-4E98-B119-1B2162809BD2}"/>
              </a:ext>
            </a:extLst>
          </p:cNvPr>
          <p:cNvGrpSpPr/>
          <p:nvPr/>
        </p:nvGrpSpPr>
        <p:grpSpPr>
          <a:xfrm>
            <a:off x="1240881" y="1789042"/>
            <a:ext cx="5860876" cy="4081196"/>
            <a:chOff x="477075" y="1412198"/>
            <a:chExt cx="5860876" cy="408119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D38295E-A749-44B0-BAE3-065460019D7D}"/>
                </a:ext>
              </a:extLst>
            </p:cNvPr>
            <p:cNvGrpSpPr/>
            <p:nvPr/>
          </p:nvGrpSpPr>
          <p:grpSpPr>
            <a:xfrm>
              <a:off x="477075" y="1487794"/>
              <a:ext cx="5860876" cy="892623"/>
              <a:chOff x="464633" y="2092541"/>
              <a:chExt cx="4452456" cy="892623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7FF3CC-DB96-4AAD-90BB-499F19CB4F20}"/>
                  </a:ext>
                </a:extLst>
              </p:cNvPr>
              <p:cNvSpPr txBox="1"/>
              <p:nvPr/>
            </p:nvSpPr>
            <p:spPr>
              <a:xfrm>
                <a:off x="464633" y="2585054"/>
                <a:ext cx="44524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Runs when called, executing the function’s code body.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B9B2F-7CD1-4E8C-8BCE-2BA2012A01BE}"/>
                  </a:ext>
                </a:extLst>
              </p:cNvPr>
              <p:cNvSpPr txBox="1"/>
              <p:nvPr/>
            </p:nvSpPr>
            <p:spPr>
              <a:xfrm>
                <a:off x="464633" y="2092541"/>
                <a:ext cx="43883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Function Execution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15B9F6C-3D35-4E7A-901D-E57FA1A9C618}"/>
                </a:ext>
              </a:extLst>
            </p:cNvPr>
            <p:cNvGrpSpPr/>
            <p:nvPr/>
          </p:nvGrpSpPr>
          <p:grpSpPr>
            <a:xfrm>
              <a:off x="997580" y="2880268"/>
              <a:ext cx="4052344" cy="1174110"/>
              <a:chOff x="1295173" y="2118830"/>
              <a:chExt cx="4052344" cy="117411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41641A4-2E75-4107-9B2B-5F76CFE8C729}"/>
                  </a:ext>
                </a:extLst>
              </p:cNvPr>
              <p:cNvSpPr txBox="1"/>
              <p:nvPr/>
            </p:nvSpPr>
            <p:spPr>
              <a:xfrm>
                <a:off x="1295173" y="2585054"/>
                <a:ext cx="40523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Use function name followed by ().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Include arguments in () if required.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6D333F-0B74-45AD-86BB-74565FDDB4E1}"/>
                  </a:ext>
                </a:extLst>
              </p:cNvPr>
              <p:cNvSpPr txBox="1"/>
              <p:nvPr/>
            </p:nvSpPr>
            <p:spPr>
              <a:xfrm>
                <a:off x="2467393" y="2118830"/>
                <a:ext cx="1982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Calling Syntax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CD5820A-8B6C-4770-8F0D-ED03DA2C861B}"/>
                </a:ext>
              </a:extLst>
            </p:cNvPr>
            <p:cNvGrpSpPr/>
            <p:nvPr/>
          </p:nvGrpSpPr>
          <p:grpSpPr>
            <a:xfrm>
              <a:off x="671720" y="4600771"/>
              <a:ext cx="4978845" cy="892623"/>
              <a:chOff x="464633" y="2092541"/>
              <a:chExt cx="4452456" cy="892623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E9019DD-F603-4C2F-B0B1-04813837C44D}"/>
                  </a:ext>
                </a:extLst>
              </p:cNvPr>
              <p:cNvSpPr txBox="1"/>
              <p:nvPr/>
            </p:nvSpPr>
            <p:spPr>
              <a:xfrm>
                <a:off x="464633" y="2585054"/>
                <a:ext cx="44524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Reuse functions by calling them multiple times.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246FEF2-A025-48BE-9A71-68D0BE5E6023}"/>
                  </a:ext>
                </a:extLst>
              </p:cNvPr>
              <p:cNvSpPr txBox="1"/>
              <p:nvPr/>
            </p:nvSpPr>
            <p:spPr>
              <a:xfrm>
                <a:off x="464633" y="2092541"/>
                <a:ext cx="438835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Multiple Calls</a:t>
                </a:r>
              </a:p>
            </p:txBody>
          </p: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FDD391A-E3D6-4F05-99F4-922AC6F45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2905" y="1412198"/>
              <a:ext cx="528455" cy="52845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C8EE601-C93E-46A1-B8C5-DD0F40F40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5356" y="2782414"/>
              <a:ext cx="554444" cy="5544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BF32B6-879B-44CC-9BB3-72E43C83C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1745" y="4616195"/>
              <a:ext cx="461665" cy="461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3858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Function Arguments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40FEA2-F40A-4240-B2EF-91A536BB0F3D}"/>
              </a:ext>
            </a:extLst>
          </p:cNvPr>
          <p:cNvGrpSpPr/>
          <p:nvPr/>
        </p:nvGrpSpPr>
        <p:grpSpPr>
          <a:xfrm>
            <a:off x="7545821" y="1874507"/>
            <a:ext cx="3679263" cy="1889920"/>
            <a:chOff x="3805295" y="4653207"/>
            <a:chExt cx="3679263" cy="18899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7A15DB-6AB3-49B0-90AF-3AB5A0EEBB9D}"/>
                </a:ext>
              </a:extLst>
            </p:cNvPr>
            <p:cNvGrpSpPr/>
            <p:nvPr/>
          </p:nvGrpSpPr>
          <p:grpSpPr>
            <a:xfrm>
              <a:off x="3805295" y="4693586"/>
              <a:ext cx="3679263" cy="1849541"/>
              <a:chOff x="2376485" y="2118830"/>
              <a:chExt cx="4616349" cy="184954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374E2D-910D-4964-97E1-D401047F344C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D78B0C-E40B-4B3B-B680-93412D1EF246}"/>
                  </a:ext>
                </a:extLst>
              </p:cNvPr>
              <p:cNvSpPr txBox="1"/>
              <p:nvPr/>
            </p:nvSpPr>
            <p:spPr>
              <a:xfrm>
                <a:off x="2376485" y="2768042"/>
                <a:ext cx="461634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def multiply(a, b):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return a * b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result = multiply(4, 5)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print(result)  # Output: 20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AB870B-B5FF-4DE7-95B5-62FAE53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BC92AE4-80C9-4D59-88F9-9134345C82A7}"/>
              </a:ext>
            </a:extLst>
          </p:cNvPr>
          <p:cNvGrpSpPr/>
          <p:nvPr/>
        </p:nvGrpSpPr>
        <p:grpSpPr>
          <a:xfrm>
            <a:off x="1297746" y="1516186"/>
            <a:ext cx="5748310" cy="1217540"/>
            <a:chOff x="210632" y="1475960"/>
            <a:chExt cx="6606728" cy="12175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5FEC6A-5AD9-4262-8798-24EAD342342A}"/>
                </a:ext>
              </a:extLst>
            </p:cNvPr>
            <p:cNvGrpSpPr/>
            <p:nvPr/>
          </p:nvGrpSpPr>
          <p:grpSpPr>
            <a:xfrm>
              <a:off x="210632" y="1519390"/>
              <a:ext cx="6606728" cy="1174110"/>
              <a:chOff x="352872" y="2118830"/>
              <a:chExt cx="6606728" cy="1174110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6480E-821C-47C2-A030-671C1F472929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66067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Values (arguments) passed to a function for processing.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Used as inputs for calculations or manipulations.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F96098-91DD-4988-AD0C-29117999E4DD}"/>
                  </a:ext>
                </a:extLst>
              </p:cNvPr>
              <p:cNvSpPr txBox="1"/>
              <p:nvPr/>
            </p:nvSpPr>
            <p:spPr>
              <a:xfrm>
                <a:off x="2935439" y="2118830"/>
                <a:ext cx="1815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1F1364E-EA45-4D53-BBE2-E2244F77D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190" y="1475960"/>
              <a:ext cx="519866" cy="519866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A8C4D56-AFBA-4386-B9F2-883D52973F2D}"/>
              </a:ext>
            </a:extLst>
          </p:cNvPr>
          <p:cNvGrpSpPr/>
          <p:nvPr/>
        </p:nvGrpSpPr>
        <p:grpSpPr>
          <a:xfrm>
            <a:off x="1522308" y="3192393"/>
            <a:ext cx="5748310" cy="1174110"/>
            <a:chOff x="352872" y="2118830"/>
            <a:chExt cx="6606728" cy="117411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38B166-D7DB-4AF6-B4A1-EEDB8324121C}"/>
                </a:ext>
              </a:extLst>
            </p:cNvPr>
            <p:cNvSpPr txBox="1"/>
            <p:nvPr/>
          </p:nvSpPr>
          <p:spPr>
            <a:xfrm>
              <a:off x="352872" y="2585054"/>
              <a:ext cx="6606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Enable generic, flexible functions.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Avoid hardcoding, work with varied data.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7732F7-B4AE-47F5-B1F4-1752F6C43D92}"/>
                </a:ext>
              </a:extLst>
            </p:cNvPr>
            <p:cNvSpPr txBox="1"/>
            <p:nvPr/>
          </p:nvSpPr>
          <p:spPr>
            <a:xfrm>
              <a:off x="2768031" y="2118830"/>
              <a:ext cx="2100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Importance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3FE54F5-4C01-49A3-AD1F-8F716AD823B1}"/>
              </a:ext>
            </a:extLst>
          </p:cNvPr>
          <p:cNvGrpSpPr/>
          <p:nvPr/>
        </p:nvGrpSpPr>
        <p:grpSpPr>
          <a:xfrm>
            <a:off x="1548052" y="4880149"/>
            <a:ext cx="5748310" cy="1174110"/>
            <a:chOff x="352872" y="2118830"/>
            <a:chExt cx="6606728" cy="1174110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5621993-6CE4-4394-A423-BEDD3B16CD16}"/>
                </a:ext>
              </a:extLst>
            </p:cNvPr>
            <p:cNvSpPr txBox="1"/>
            <p:nvPr/>
          </p:nvSpPr>
          <p:spPr>
            <a:xfrm>
              <a:off x="352872" y="2585054"/>
              <a:ext cx="66067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Dynamic functionality with different inputs.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Improves code readability and maintainability.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045FEED-CBC8-4C43-9732-99E6B2809B02}"/>
                </a:ext>
              </a:extLst>
            </p:cNvPr>
            <p:cNvSpPr txBox="1"/>
            <p:nvPr/>
          </p:nvSpPr>
          <p:spPr>
            <a:xfrm>
              <a:off x="2935439" y="2118830"/>
              <a:ext cx="21004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Benefits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B8092F1-B6D3-46B3-A8B9-766BEE5B6A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729" y="3192393"/>
            <a:ext cx="543990" cy="543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A82F1C-5517-4B3A-AFF4-66172B091B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033" y="4780353"/>
            <a:ext cx="518031" cy="51803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90B7F6F-37E2-4F2A-8AF2-131FC4F4603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b="26243"/>
          <a:stretch/>
        </p:blipFill>
        <p:spPr>
          <a:xfrm>
            <a:off x="7364589" y="3761612"/>
            <a:ext cx="3451428" cy="237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65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Positional Arguments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40FEA2-F40A-4240-B2EF-91A536BB0F3D}"/>
              </a:ext>
            </a:extLst>
          </p:cNvPr>
          <p:cNvGrpSpPr/>
          <p:nvPr/>
        </p:nvGrpSpPr>
        <p:grpSpPr>
          <a:xfrm>
            <a:off x="7545821" y="1874507"/>
            <a:ext cx="3679263" cy="2997915"/>
            <a:chOff x="3805295" y="4653207"/>
            <a:chExt cx="3679263" cy="299791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7A15DB-6AB3-49B0-90AF-3AB5A0EEBB9D}"/>
                </a:ext>
              </a:extLst>
            </p:cNvPr>
            <p:cNvGrpSpPr/>
            <p:nvPr/>
          </p:nvGrpSpPr>
          <p:grpSpPr>
            <a:xfrm>
              <a:off x="3805295" y="4693586"/>
              <a:ext cx="3679263" cy="2957536"/>
              <a:chOff x="2376485" y="2118830"/>
              <a:chExt cx="4616349" cy="2957536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374E2D-910D-4964-97E1-D401047F344C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D78B0C-E40B-4B3B-B680-93412D1EF246}"/>
                  </a:ext>
                </a:extLst>
              </p:cNvPr>
              <p:cNvSpPr txBox="1"/>
              <p:nvPr/>
            </p:nvSpPr>
            <p:spPr>
              <a:xfrm>
                <a:off x="2376485" y="2768042"/>
                <a:ext cx="4616349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def divide(numerator, denominator):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if denominator == 0: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    return "Error: Cannot divide by zero."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return numerator / denominator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result1 = divide(10, 2)  # Output: 5.0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result2 = divide(2, 10)  # Output: 0.2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print(result1)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print(result2)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AB870B-B5FF-4DE7-95B5-62FAE53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BC92AE4-80C9-4D59-88F9-9134345C82A7}"/>
              </a:ext>
            </a:extLst>
          </p:cNvPr>
          <p:cNvGrpSpPr/>
          <p:nvPr/>
        </p:nvGrpSpPr>
        <p:grpSpPr>
          <a:xfrm>
            <a:off x="741274" y="1821146"/>
            <a:ext cx="5748310" cy="1217540"/>
            <a:chOff x="210632" y="1475960"/>
            <a:chExt cx="6606728" cy="12175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5FEC6A-5AD9-4262-8798-24EAD342342A}"/>
                </a:ext>
              </a:extLst>
            </p:cNvPr>
            <p:cNvGrpSpPr/>
            <p:nvPr/>
          </p:nvGrpSpPr>
          <p:grpSpPr>
            <a:xfrm>
              <a:off x="210632" y="1519390"/>
              <a:ext cx="6606728" cy="1174110"/>
              <a:chOff x="352872" y="2118830"/>
              <a:chExt cx="6606728" cy="1174110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6480E-821C-47C2-A030-671C1F472929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660672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Arguments passed in the order of function parameters.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First argument matches first parameter, and so on.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F96098-91DD-4988-AD0C-29117999E4DD}"/>
                  </a:ext>
                </a:extLst>
              </p:cNvPr>
              <p:cNvSpPr txBox="1"/>
              <p:nvPr/>
            </p:nvSpPr>
            <p:spPr>
              <a:xfrm>
                <a:off x="2935439" y="2118830"/>
                <a:ext cx="1815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1F1364E-EA45-4D53-BBE2-E2244F77D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190" y="1475960"/>
              <a:ext cx="519866" cy="51986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64FBB8-4438-426B-90FB-71B98BF31EFB}"/>
              </a:ext>
            </a:extLst>
          </p:cNvPr>
          <p:cNvGrpSpPr/>
          <p:nvPr/>
        </p:nvGrpSpPr>
        <p:grpSpPr>
          <a:xfrm>
            <a:off x="916116" y="3588128"/>
            <a:ext cx="5748310" cy="866334"/>
            <a:chOff x="1522308" y="3192393"/>
            <a:chExt cx="5748310" cy="86633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8C4D56-AFBA-4386-B9F2-883D52973F2D}"/>
                </a:ext>
              </a:extLst>
            </p:cNvPr>
            <p:cNvGrpSpPr/>
            <p:nvPr/>
          </p:nvGrpSpPr>
          <p:grpSpPr>
            <a:xfrm>
              <a:off x="1522308" y="3192393"/>
              <a:ext cx="5748310" cy="866334"/>
              <a:chOff x="352872" y="2118830"/>
              <a:chExt cx="6606728" cy="86633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38B166-D7DB-4AF6-B4A1-EEDB8324121C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66067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Order matters; incorrect order causes logical errors.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7732F7-B4AE-47F5-B1F4-1752F6C43D92}"/>
                  </a:ext>
                </a:extLst>
              </p:cNvPr>
              <p:cNvSpPr txBox="1"/>
              <p:nvPr/>
            </p:nvSpPr>
            <p:spPr>
              <a:xfrm>
                <a:off x="2768031" y="2118830"/>
                <a:ext cx="21004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Key Point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8092F1-B6D3-46B3-A8B9-766BEE5B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7729" y="3192393"/>
              <a:ext cx="543990" cy="54399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371EE4-E9BD-41C4-B074-47C7963C2B30}"/>
              </a:ext>
            </a:extLst>
          </p:cNvPr>
          <p:cNvGrpSpPr/>
          <p:nvPr/>
        </p:nvGrpSpPr>
        <p:grpSpPr>
          <a:xfrm>
            <a:off x="7270618" y="4896257"/>
            <a:ext cx="4911223" cy="1172285"/>
            <a:chOff x="352872" y="2120655"/>
            <a:chExt cx="7893310" cy="1172285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31D6AF-4668-4ED6-94E3-A9F5A913D5C1}"/>
                </a:ext>
              </a:extLst>
            </p:cNvPr>
            <p:cNvSpPr txBox="1"/>
            <p:nvPr/>
          </p:nvSpPr>
          <p:spPr>
            <a:xfrm>
              <a:off x="352872" y="2585054"/>
              <a:ext cx="78933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Correct: divide(10, 2) → 10 / 2 = 5.0.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Incorrect order: divide(2, 10) → 2 / 10 = 0.2.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781635-DFDA-4D5A-A338-39D50B7A8B7A}"/>
                </a:ext>
              </a:extLst>
            </p:cNvPr>
            <p:cNvSpPr txBox="1"/>
            <p:nvPr/>
          </p:nvSpPr>
          <p:spPr>
            <a:xfrm>
              <a:off x="2041568" y="2120655"/>
              <a:ext cx="3420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endParaRPr lang="en-US" sz="2400" b="1" u="sng" dirty="0">
                <a:solidFill>
                  <a:schemeClr val="bg1"/>
                </a:solidFill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90EE3E8-894B-41FA-8EE7-8099E17534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64087" y="4917668"/>
            <a:ext cx="4424690" cy="15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603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Keyword Arguments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28FB0D-0A70-4CF5-8405-1A7763C85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925" b="26822"/>
          <a:stretch/>
        </p:blipFill>
        <p:spPr>
          <a:xfrm>
            <a:off x="1335343" y="5378127"/>
            <a:ext cx="6126985" cy="133625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E40FEA2-F40A-4240-B2EF-91A536BB0F3D}"/>
              </a:ext>
            </a:extLst>
          </p:cNvPr>
          <p:cNvGrpSpPr/>
          <p:nvPr/>
        </p:nvGrpSpPr>
        <p:grpSpPr>
          <a:xfrm>
            <a:off x="7316537" y="2240110"/>
            <a:ext cx="4646179" cy="2086188"/>
            <a:chOff x="2873239" y="4653207"/>
            <a:chExt cx="4646179" cy="208618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7A15DB-6AB3-49B0-90AF-3AB5A0EEBB9D}"/>
                </a:ext>
              </a:extLst>
            </p:cNvPr>
            <p:cNvGrpSpPr/>
            <p:nvPr/>
          </p:nvGrpSpPr>
          <p:grpSpPr>
            <a:xfrm>
              <a:off x="2873239" y="4693586"/>
              <a:ext cx="4646179" cy="2045809"/>
              <a:chOff x="1207040" y="2118830"/>
              <a:chExt cx="5829533" cy="2045809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374E2D-910D-4964-97E1-D401047F344C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D78B0C-E40B-4B3B-B680-93412D1EF246}"/>
                  </a:ext>
                </a:extLst>
              </p:cNvPr>
              <p:cNvSpPr txBox="1"/>
              <p:nvPr/>
            </p:nvSpPr>
            <p:spPr>
              <a:xfrm>
                <a:off x="1207040" y="2687311"/>
                <a:ext cx="582953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def profile(name, age, city):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return f"{name} is {age} years old and lives in {city}."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info = profile(age=30, name="Alice", city="New York")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print(info)  # Output: Alice is 30 years old and lives in New York.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AB870B-B5FF-4DE7-95B5-62FAE53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BC92AE4-80C9-4D59-88F9-9134345C82A7}"/>
              </a:ext>
            </a:extLst>
          </p:cNvPr>
          <p:cNvGrpSpPr/>
          <p:nvPr/>
        </p:nvGrpSpPr>
        <p:grpSpPr>
          <a:xfrm>
            <a:off x="741274" y="1821146"/>
            <a:ext cx="6278952" cy="1217540"/>
            <a:chOff x="210632" y="1475960"/>
            <a:chExt cx="7216613" cy="12175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5FEC6A-5AD9-4262-8798-24EAD342342A}"/>
                </a:ext>
              </a:extLst>
            </p:cNvPr>
            <p:cNvGrpSpPr/>
            <p:nvPr/>
          </p:nvGrpSpPr>
          <p:grpSpPr>
            <a:xfrm>
              <a:off x="210632" y="1519390"/>
              <a:ext cx="7216613" cy="1174110"/>
              <a:chOff x="352872" y="2118830"/>
              <a:chExt cx="7216613" cy="1174110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6480E-821C-47C2-A030-671C1F472929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721661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Specify parameter names and values when calling a function.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Allows arguments to be passed in any order.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F96098-91DD-4988-AD0C-29117999E4DD}"/>
                  </a:ext>
                </a:extLst>
              </p:cNvPr>
              <p:cNvSpPr txBox="1"/>
              <p:nvPr/>
            </p:nvSpPr>
            <p:spPr>
              <a:xfrm>
                <a:off x="2935439" y="2118830"/>
                <a:ext cx="1815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1F1364E-EA45-4D53-BBE2-E2244F77D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190" y="1475960"/>
              <a:ext cx="519866" cy="51986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64FBB8-4438-426B-90FB-71B98BF31EFB}"/>
              </a:ext>
            </a:extLst>
          </p:cNvPr>
          <p:cNvGrpSpPr/>
          <p:nvPr/>
        </p:nvGrpSpPr>
        <p:grpSpPr>
          <a:xfrm>
            <a:off x="296987" y="3588128"/>
            <a:ext cx="6367439" cy="1174110"/>
            <a:chOff x="903179" y="3192393"/>
            <a:chExt cx="6367439" cy="117411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8C4D56-AFBA-4386-B9F2-883D52973F2D}"/>
                </a:ext>
              </a:extLst>
            </p:cNvPr>
            <p:cNvGrpSpPr/>
            <p:nvPr/>
          </p:nvGrpSpPr>
          <p:grpSpPr>
            <a:xfrm>
              <a:off x="903179" y="3192393"/>
              <a:ext cx="6367439" cy="1174110"/>
              <a:chOff x="-358714" y="2118830"/>
              <a:chExt cx="7318314" cy="1174110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38B166-D7DB-4AF6-B4A1-EEDB8324121C}"/>
                  </a:ext>
                </a:extLst>
              </p:cNvPr>
              <p:cNvSpPr txBox="1"/>
              <p:nvPr/>
            </p:nvSpPr>
            <p:spPr>
              <a:xfrm>
                <a:off x="-358714" y="2585054"/>
                <a:ext cx="731831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</a:rPr>
                  <a:t>Clarity: </a:t>
                </a:r>
                <a:r>
                  <a:rPr lang="en-US" sz="2000" dirty="0">
                    <a:solidFill>
                      <a:schemeClr val="bg1"/>
                    </a:solidFill>
                  </a:rPr>
                  <a:t>Clearly indicates what each argument represents.</a:t>
                </a:r>
              </a:p>
              <a:p>
                <a:r>
                  <a:rPr lang="en-US" sz="2000" b="1" dirty="0">
                    <a:solidFill>
                      <a:schemeClr val="bg1"/>
                    </a:solidFill>
                  </a:rPr>
                  <a:t>Flexibility: </a:t>
                </a:r>
                <a:r>
                  <a:rPr lang="en-US" sz="2000" dirty="0">
                    <a:solidFill>
                      <a:schemeClr val="bg1"/>
                    </a:solidFill>
                  </a:rPr>
                  <a:t>Order-independent, ideal for optional parameters.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7732F7-B4AE-47F5-B1F4-1752F6C43D92}"/>
                  </a:ext>
                </a:extLst>
              </p:cNvPr>
              <p:cNvSpPr txBox="1"/>
              <p:nvPr/>
            </p:nvSpPr>
            <p:spPr>
              <a:xfrm>
                <a:off x="2768031" y="2118830"/>
                <a:ext cx="21004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Benefits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8092F1-B6D3-46B3-A8B9-766BEE5B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7729" y="3192393"/>
              <a:ext cx="543990" cy="54399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371EE4-E9BD-41C4-B074-47C7963C2B30}"/>
              </a:ext>
            </a:extLst>
          </p:cNvPr>
          <p:cNvGrpSpPr/>
          <p:nvPr/>
        </p:nvGrpSpPr>
        <p:grpSpPr>
          <a:xfrm>
            <a:off x="7270618" y="4922489"/>
            <a:ext cx="4911223" cy="1146053"/>
            <a:chOff x="352872" y="2146887"/>
            <a:chExt cx="7893310" cy="114605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31D6AF-4668-4ED6-94E3-A9F5A913D5C1}"/>
                </a:ext>
              </a:extLst>
            </p:cNvPr>
            <p:cNvSpPr txBox="1"/>
            <p:nvPr/>
          </p:nvSpPr>
          <p:spPr>
            <a:xfrm>
              <a:off x="352872" y="2585054"/>
              <a:ext cx="78933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Arguments passed using parameter names, ignoring order.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781635-DFDA-4D5A-A338-39D50B7A8B7A}"/>
                </a:ext>
              </a:extLst>
            </p:cNvPr>
            <p:cNvSpPr txBox="1"/>
            <p:nvPr/>
          </p:nvSpPr>
          <p:spPr>
            <a:xfrm>
              <a:off x="2891405" y="2146887"/>
              <a:ext cx="3420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endParaRPr lang="en-US" sz="2400" b="1" u="sng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2840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*</a:t>
            </a:r>
            <a:r>
              <a:rPr lang="en-US" sz="4900" b="1" dirty="0" err="1">
                <a:solidFill>
                  <a:schemeClr val="accent3"/>
                </a:solidFill>
                <a:effectLst/>
              </a:rPr>
              <a:t>args</a:t>
            </a:r>
            <a:r>
              <a:rPr lang="en-US" sz="4900" b="1" dirty="0">
                <a:solidFill>
                  <a:schemeClr val="accent3"/>
                </a:solidFill>
                <a:effectLst/>
              </a:rPr>
              <a:t>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28FB0D-0A70-4CF5-8405-1A7763C857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925" b="26822"/>
          <a:stretch/>
        </p:blipFill>
        <p:spPr>
          <a:xfrm>
            <a:off x="1335343" y="5378127"/>
            <a:ext cx="6126985" cy="133625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AE40FEA2-F40A-4240-B2EF-91A536BB0F3D}"/>
              </a:ext>
            </a:extLst>
          </p:cNvPr>
          <p:cNvGrpSpPr/>
          <p:nvPr/>
        </p:nvGrpSpPr>
        <p:grpSpPr>
          <a:xfrm>
            <a:off x="7545821" y="1874507"/>
            <a:ext cx="4349192" cy="2166919"/>
            <a:chOff x="3805295" y="4653207"/>
            <a:chExt cx="4349192" cy="216691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7A15DB-6AB3-49B0-90AF-3AB5A0EEBB9D}"/>
                </a:ext>
              </a:extLst>
            </p:cNvPr>
            <p:cNvGrpSpPr/>
            <p:nvPr/>
          </p:nvGrpSpPr>
          <p:grpSpPr>
            <a:xfrm>
              <a:off x="3805295" y="4693586"/>
              <a:ext cx="4349192" cy="2126540"/>
              <a:chOff x="2376485" y="2118830"/>
              <a:chExt cx="5456905" cy="212654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374E2D-910D-4964-97E1-D401047F344C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D78B0C-E40B-4B3B-B680-93412D1EF246}"/>
                  </a:ext>
                </a:extLst>
              </p:cNvPr>
              <p:cNvSpPr txBox="1"/>
              <p:nvPr/>
            </p:nvSpPr>
            <p:spPr>
              <a:xfrm>
                <a:off x="2376485" y="2768042"/>
                <a:ext cx="545690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def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concatenate_strings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(*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args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return " ".join(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args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result =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concatenate_strings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("Hello", "world", "from", "Python!")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print(result)  # Output: Hello world from Python!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AB870B-B5FF-4DE7-95B5-62FAE53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2CEB0E1-3D82-4D0D-8F92-3DA0BE55E4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008" y="1610294"/>
            <a:ext cx="1721691" cy="740025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1BC92AE4-80C9-4D59-88F9-9134345C82A7}"/>
              </a:ext>
            </a:extLst>
          </p:cNvPr>
          <p:cNvGrpSpPr/>
          <p:nvPr/>
        </p:nvGrpSpPr>
        <p:grpSpPr>
          <a:xfrm>
            <a:off x="741274" y="1821146"/>
            <a:ext cx="6721054" cy="1217540"/>
            <a:chOff x="210632" y="1475960"/>
            <a:chExt cx="7724736" cy="121754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05FEC6A-5AD9-4262-8798-24EAD342342A}"/>
                </a:ext>
              </a:extLst>
            </p:cNvPr>
            <p:cNvGrpSpPr/>
            <p:nvPr/>
          </p:nvGrpSpPr>
          <p:grpSpPr>
            <a:xfrm>
              <a:off x="210632" y="1519390"/>
              <a:ext cx="7724736" cy="1174110"/>
              <a:chOff x="352872" y="2118830"/>
              <a:chExt cx="7724736" cy="1174110"/>
            </a:xfrm>
          </p:grpSpPr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86480E-821C-47C2-A030-671C1F472929}"/>
                  </a:ext>
                </a:extLst>
              </p:cNvPr>
              <p:cNvSpPr txBox="1"/>
              <p:nvPr/>
            </p:nvSpPr>
            <p:spPr>
              <a:xfrm>
                <a:off x="352872" y="2585054"/>
                <a:ext cx="77247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Allows a function to accept any number of positional arguments.</a:t>
                </a:r>
              </a:p>
              <a:p>
                <a:r>
                  <a:rPr lang="en-US" sz="2000" dirty="0">
                    <a:solidFill>
                      <a:schemeClr val="bg1"/>
                    </a:solidFill>
                  </a:rPr>
                  <a:t>Arguments are collected as a tuple.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F96098-91DD-4988-AD0C-29117999E4DD}"/>
                  </a:ext>
                </a:extLst>
              </p:cNvPr>
              <p:cNvSpPr txBox="1"/>
              <p:nvPr/>
            </p:nvSpPr>
            <p:spPr>
              <a:xfrm>
                <a:off x="2935439" y="2118830"/>
                <a:ext cx="18150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Definition</a:t>
                </a: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51F1364E-EA45-4D53-BBE2-E2244F77D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2190" y="1475960"/>
              <a:ext cx="519866" cy="51986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864FBB8-4438-426B-90FB-71B98BF31EFB}"/>
              </a:ext>
            </a:extLst>
          </p:cNvPr>
          <p:cNvGrpSpPr/>
          <p:nvPr/>
        </p:nvGrpSpPr>
        <p:grpSpPr>
          <a:xfrm>
            <a:off x="296987" y="3588128"/>
            <a:ext cx="6367439" cy="866334"/>
            <a:chOff x="903179" y="3192393"/>
            <a:chExt cx="6367439" cy="86633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8C4D56-AFBA-4386-B9F2-883D52973F2D}"/>
                </a:ext>
              </a:extLst>
            </p:cNvPr>
            <p:cNvGrpSpPr/>
            <p:nvPr/>
          </p:nvGrpSpPr>
          <p:grpSpPr>
            <a:xfrm>
              <a:off x="903179" y="3192393"/>
              <a:ext cx="6367439" cy="866334"/>
              <a:chOff x="-358714" y="2118830"/>
              <a:chExt cx="7318314" cy="86633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C38B166-D7DB-4AF6-B4A1-EEDB8324121C}"/>
                  </a:ext>
                </a:extLst>
              </p:cNvPr>
              <p:cNvSpPr txBox="1"/>
              <p:nvPr/>
            </p:nvSpPr>
            <p:spPr>
              <a:xfrm>
                <a:off x="-358714" y="2585054"/>
                <a:ext cx="731831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Ideal when the number of arguments is unknown.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7732F7-B4AE-47F5-B1F4-1752F6C43D92}"/>
                  </a:ext>
                </a:extLst>
              </p:cNvPr>
              <p:cNvSpPr txBox="1"/>
              <p:nvPr/>
            </p:nvSpPr>
            <p:spPr>
              <a:xfrm>
                <a:off x="2768031" y="2118830"/>
                <a:ext cx="21004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>
                    <a:solidFill>
                      <a:schemeClr val="bg1"/>
                    </a:solidFill>
                  </a:rPr>
                  <a:t>Benefits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8092F1-B6D3-46B3-A8B9-766BEE5B6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7729" y="3192393"/>
              <a:ext cx="543990" cy="54399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371EE4-E9BD-41C4-B074-47C7963C2B30}"/>
              </a:ext>
            </a:extLst>
          </p:cNvPr>
          <p:cNvGrpSpPr/>
          <p:nvPr/>
        </p:nvGrpSpPr>
        <p:grpSpPr>
          <a:xfrm>
            <a:off x="7270618" y="4922489"/>
            <a:ext cx="4911223" cy="1146053"/>
            <a:chOff x="352872" y="2146887"/>
            <a:chExt cx="7893310" cy="114605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31D6AF-4668-4ED6-94E3-A9F5A913D5C1}"/>
                </a:ext>
              </a:extLst>
            </p:cNvPr>
            <p:cNvSpPr txBox="1"/>
            <p:nvPr/>
          </p:nvSpPr>
          <p:spPr>
            <a:xfrm>
              <a:off x="352872" y="2585054"/>
              <a:ext cx="789331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*</a:t>
              </a:r>
              <a:r>
                <a:rPr lang="en-US" sz="2000" dirty="0" err="1">
                  <a:solidFill>
                    <a:schemeClr val="bg1"/>
                  </a:solidFill>
                </a:rPr>
                <a:t>args</a:t>
              </a:r>
              <a:r>
                <a:rPr lang="en-US" sz="2000" dirty="0">
                  <a:solidFill>
                    <a:schemeClr val="bg1"/>
                  </a:solidFill>
                </a:rPr>
                <a:t> gathers all arguments into a tuple.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join() combines them into a single string.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781635-DFDA-4D5A-A338-39D50B7A8B7A}"/>
                </a:ext>
              </a:extLst>
            </p:cNvPr>
            <p:cNvSpPr txBox="1"/>
            <p:nvPr/>
          </p:nvSpPr>
          <p:spPr>
            <a:xfrm>
              <a:off x="2891405" y="2146887"/>
              <a:ext cx="3420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endParaRPr lang="en-US" sz="2400" b="1" u="sng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89585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sz="4900" b="1" dirty="0">
                <a:solidFill>
                  <a:schemeClr val="accent3"/>
                </a:solidFill>
                <a:effectLst/>
              </a:rPr>
              <a:t>Global vs. Local Variables in Python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sp>
        <p:nvSpPr>
          <p:cNvPr id="35" name="Subtitle 2">
            <a:extLst>
              <a:ext uri="{FF2B5EF4-FFF2-40B4-BE49-F238E27FC236}">
                <a16:creationId xmlns:a16="http://schemas.microsoft.com/office/drawing/2014/main" id="{74C42F80-96AB-4F30-AFF9-5EE59641848E}"/>
              </a:ext>
            </a:extLst>
          </p:cNvPr>
          <p:cNvSpPr txBox="1">
            <a:spLocks/>
          </p:cNvSpPr>
          <p:nvPr/>
        </p:nvSpPr>
        <p:spPr>
          <a:xfrm>
            <a:off x="8321041" y="6238241"/>
            <a:ext cx="3860800" cy="4616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chemeClr val="bg1"/>
                </a:solidFill>
              </a:rPr>
              <a:t>Trainer: Fawad Bahadur Marwat</a:t>
            </a:r>
            <a:endParaRPr lang="en-US" sz="24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40FEA2-F40A-4240-B2EF-91A536BB0F3D}"/>
              </a:ext>
            </a:extLst>
          </p:cNvPr>
          <p:cNvGrpSpPr/>
          <p:nvPr/>
        </p:nvGrpSpPr>
        <p:grpSpPr>
          <a:xfrm>
            <a:off x="1137564" y="3247071"/>
            <a:ext cx="4349192" cy="2720916"/>
            <a:chOff x="3805295" y="4653207"/>
            <a:chExt cx="4349192" cy="272091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C7A15DB-6AB3-49B0-90AF-3AB5A0EEBB9D}"/>
                </a:ext>
              </a:extLst>
            </p:cNvPr>
            <p:cNvGrpSpPr/>
            <p:nvPr/>
          </p:nvGrpSpPr>
          <p:grpSpPr>
            <a:xfrm>
              <a:off x="3805295" y="4693586"/>
              <a:ext cx="4349192" cy="2680537"/>
              <a:chOff x="2376485" y="2118830"/>
              <a:chExt cx="5456905" cy="2680537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1374E2D-910D-4964-97E1-D401047F344C}"/>
                  </a:ext>
                </a:extLst>
              </p:cNvPr>
              <p:cNvSpPr txBox="1"/>
              <p:nvPr/>
            </p:nvSpPr>
            <p:spPr>
              <a:xfrm>
                <a:off x="2935440" y="2118830"/>
                <a:ext cx="20904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u="sng" dirty="0">
                    <a:solidFill>
                      <a:schemeClr val="bg1"/>
                    </a:solidFill>
                  </a:rPr>
                  <a:t>Example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D78B0C-E40B-4B3B-B680-93412D1EF246}"/>
                  </a:ext>
                </a:extLst>
              </p:cNvPr>
              <p:cNvSpPr txBox="1"/>
              <p:nvPr/>
            </p:nvSpPr>
            <p:spPr>
              <a:xfrm>
                <a:off x="2376485" y="2768042"/>
                <a:ext cx="5456905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global_var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10  # Global variable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def function():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local_var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= 5  # Local variable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    print(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global_var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  # Output: 10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function()</a:t>
                </a:r>
              </a:p>
              <a:p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# print(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local_var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)  # Error: </a:t>
                </a:r>
                <a:r>
                  <a:rPr lang="en-US" i="1" dirty="0" err="1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local_var</a:t>
                </a:r>
                <a:r>
                  <a:rPr lang="en-US" i="1" dirty="0">
                    <a:solidFill>
                      <a:schemeClr val="bg1"/>
                    </a:solidFill>
                    <a:highlight>
                      <a:srgbClr val="C0C0C0"/>
                    </a:highlight>
                  </a:rPr>
                  <a:t> is not accessible</a:t>
                </a: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AB870B-B5FF-4DE7-95B5-62FAE5371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296" y="4653207"/>
              <a:ext cx="524712" cy="52471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5FEC6A-5AD9-4262-8798-24EAD342342A}"/>
              </a:ext>
            </a:extLst>
          </p:cNvPr>
          <p:cNvGrpSpPr/>
          <p:nvPr/>
        </p:nvGrpSpPr>
        <p:grpSpPr>
          <a:xfrm>
            <a:off x="1034415" y="1598376"/>
            <a:ext cx="3904905" cy="1137612"/>
            <a:chOff x="352872" y="2155328"/>
            <a:chExt cx="7724736" cy="113761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186480E-821C-47C2-A030-671C1F472929}"/>
                </a:ext>
              </a:extLst>
            </p:cNvPr>
            <p:cNvSpPr txBox="1"/>
            <p:nvPr/>
          </p:nvSpPr>
          <p:spPr>
            <a:xfrm>
              <a:off x="352872" y="2585054"/>
              <a:ext cx="77247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Defined outside functions.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Accessible anywhere in the code.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CF96098-91DD-4988-AD0C-29117999E4DD}"/>
                </a:ext>
              </a:extLst>
            </p:cNvPr>
            <p:cNvSpPr txBox="1"/>
            <p:nvPr/>
          </p:nvSpPr>
          <p:spPr>
            <a:xfrm>
              <a:off x="1929000" y="2155328"/>
              <a:ext cx="4809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Global Variables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A8C4D56-AFBA-4386-B9F2-883D52973F2D}"/>
              </a:ext>
            </a:extLst>
          </p:cNvPr>
          <p:cNvGrpSpPr/>
          <p:nvPr/>
        </p:nvGrpSpPr>
        <p:grpSpPr>
          <a:xfrm>
            <a:off x="5986520" y="1581933"/>
            <a:ext cx="5037013" cy="1174110"/>
            <a:chOff x="-358714" y="2118830"/>
            <a:chExt cx="7318314" cy="117411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C38B166-D7DB-4AF6-B4A1-EEDB8324121C}"/>
                </a:ext>
              </a:extLst>
            </p:cNvPr>
            <p:cNvSpPr txBox="1"/>
            <p:nvPr/>
          </p:nvSpPr>
          <p:spPr>
            <a:xfrm>
              <a:off x="-358714" y="2585054"/>
              <a:ext cx="73183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Defined inside a function.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bg1"/>
                  </a:solidFill>
                </a:rPr>
                <a:t>Accessible only within that function’s scope.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B7732F7-B4AE-47F5-B1F4-1752F6C43D92}"/>
                </a:ext>
              </a:extLst>
            </p:cNvPr>
            <p:cNvSpPr txBox="1"/>
            <p:nvPr/>
          </p:nvSpPr>
          <p:spPr>
            <a:xfrm>
              <a:off x="1837346" y="2118830"/>
              <a:ext cx="370733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Local Variables</a:t>
              </a:r>
            </a:p>
            <a:p>
              <a:endParaRPr lang="en-US" sz="2400" b="1" u="sng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371EE4-E9BD-41C4-B074-47C7963C2B30}"/>
              </a:ext>
            </a:extLst>
          </p:cNvPr>
          <p:cNvGrpSpPr/>
          <p:nvPr/>
        </p:nvGrpSpPr>
        <p:grpSpPr>
          <a:xfrm>
            <a:off x="5872587" y="4294827"/>
            <a:ext cx="5862321" cy="1453830"/>
            <a:chOff x="352872" y="2146887"/>
            <a:chExt cx="7893310" cy="145383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31D6AF-4668-4ED6-94E3-A9F5A913D5C1}"/>
                </a:ext>
              </a:extLst>
            </p:cNvPr>
            <p:cNvSpPr txBox="1"/>
            <p:nvPr/>
          </p:nvSpPr>
          <p:spPr>
            <a:xfrm>
              <a:off x="352872" y="2585054"/>
              <a:ext cx="78933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chemeClr val="bg1"/>
                  </a:solidFill>
                </a:rPr>
                <a:t>global_var</a:t>
              </a:r>
              <a:r>
                <a:rPr lang="en-US" sz="2000" dirty="0">
                  <a:solidFill>
                    <a:schemeClr val="bg1"/>
                  </a:solidFill>
                </a:rPr>
                <a:t> is accessible everywhere.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chemeClr val="bg1"/>
                  </a:solidFill>
                </a:rPr>
                <a:t>local_var</a:t>
              </a:r>
              <a:r>
                <a:rPr lang="en-US" sz="2000" dirty="0">
                  <a:solidFill>
                    <a:schemeClr val="bg1"/>
                  </a:solidFill>
                </a:rPr>
                <a:t> is limited to the function; accessing it outside raises an error.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781635-DFDA-4D5A-A338-39D50B7A8B7A}"/>
                </a:ext>
              </a:extLst>
            </p:cNvPr>
            <p:cNvSpPr txBox="1"/>
            <p:nvPr/>
          </p:nvSpPr>
          <p:spPr>
            <a:xfrm>
              <a:off x="2891405" y="2146887"/>
              <a:ext cx="3420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u="sng" dirty="0">
                  <a:solidFill>
                    <a:schemeClr val="bg1"/>
                  </a:solidFill>
                </a:rPr>
                <a:t>Explanation</a:t>
              </a:r>
            </a:p>
            <a:p>
              <a:endParaRPr lang="en-US" sz="2400" b="1" u="sng" dirty="0">
                <a:solidFill>
                  <a:schemeClr val="bg1"/>
                </a:solidFill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A92F246C-41CB-4201-821D-725CDD934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883" y="2901401"/>
            <a:ext cx="2786388" cy="1854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21AADB-0A15-459C-AA08-35CFDCBABB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562" y="2827821"/>
            <a:ext cx="1173163" cy="117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34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3211</Words>
  <Application>Microsoft Office PowerPoint</Application>
  <PresentationFormat>Widescreen</PresentationFormat>
  <Paragraphs>728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Goudy Old Style</vt:lpstr>
      <vt:lpstr>Wingdings 2</vt:lpstr>
      <vt:lpstr>SlateVTI</vt:lpstr>
      <vt:lpstr>Huawei HCCDA-AI certification </vt:lpstr>
      <vt:lpstr>PowerPoint Presentation</vt:lpstr>
      <vt:lpstr>Introduction to Python</vt:lpstr>
      <vt:lpstr>Key characteristics</vt:lpstr>
      <vt:lpstr>Conti…</vt:lpstr>
      <vt:lpstr>Python Programming</vt:lpstr>
      <vt:lpstr>Setting Up the Python Environment</vt:lpstr>
      <vt:lpstr>Setting Up the Python Environment</vt:lpstr>
      <vt:lpstr>Setting Up the Python Environment</vt:lpstr>
      <vt:lpstr>Setting Up the Python Environment</vt:lpstr>
      <vt:lpstr>Setting Up the Python Environment</vt:lpstr>
      <vt:lpstr>Install Python via Anaconda</vt:lpstr>
      <vt:lpstr>Set Up Jupyter Notebook</vt:lpstr>
      <vt:lpstr>Variables in Python</vt:lpstr>
      <vt:lpstr>Data Types</vt:lpstr>
      <vt:lpstr>Integers in Python</vt:lpstr>
      <vt:lpstr>Floating-Point Numbers (Floats) in Python</vt:lpstr>
      <vt:lpstr>Strings in Python</vt:lpstr>
      <vt:lpstr>Boolean (bool)</vt:lpstr>
      <vt:lpstr>List</vt:lpstr>
      <vt:lpstr>Tuple</vt:lpstr>
      <vt:lpstr>Dictionary</vt:lpstr>
      <vt:lpstr>Set</vt:lpstr>
      <vt:lpstr>Comparison of Mutability and Use Case</vt:lpstr>
      <vt:lpstr>Huawei HCCDA-AI certification </vt:lpstr>
      <vt:lpstr>Conditional Statements</vt:lpstr>
      <vt:lpstr>Conditions in Python</vt:lpstr>
      <vt:lpstr>Logical Operators in Python</vt:lpstr>
      <vt:lpstr>If Statements in Python</vt:lpstr>
      <vt:lpstr>If-else Statements in Python</vt:lpstr>
      <vt:lpstr>If-Elif-Else Statements in Python</vt:lpstr>
      <vt:lpstr>Huawei HCCDA-AI certification </vt:lpstr>
      <vt:lpstr>Introduction to Loops in Python</vt:lpstr>
      <vt:lpstr>Iterating with Python Loops</vt:lpstr>
      <vt:lpstr>The while Loop in Python</vt:lpstr>
      <vt:lpstr>The for Loop in Python</vt:lpstr>
      <vt:lpstr>The range() Function in Python</vt:lpstr>
      <vt:lpstr>The break Statement in Python</vt:lpstr>
      <vt:lpstr>The continue Statement in Python</vt:lpstr>
      <vt:lpstr>The Pass Statement in Python</vt:lpstr>
      <vt:lpstr>Huawei HCCDA-AI certification </vt:lpstr>
      <vt:lpstr>Introduction to Function in Python</vt:lpstr>
      <vt:lpstr>Functions: Modularity &amp; Reusability</vt:lpstr>
      <vt:lpstr>Function Definition in Python</vt:lpstr>
      <vt:lpstr>Executing Functions in Python</vt:lpstr>
      <vt:lpstr>Function Arguments in Python</vt:lpstr>
      <vt:lpstr>Positional Arguments in Python</vt:lpstr>
      <vt:lpstr>Keyword Arguments in Python</vt:lpstr>
      <vt:lpstr>*args in Python</vt:lpstr>
      <vt:lpstr>Global vs. Local Variables in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2025-07-15T10:07:06Z</dcterms:modified>
</cp:coreProperties>
</file>