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05" r:id="rId1"/>
  </p:sldMasterIdLst>
  <p:sldIdLst>
    <p:sldId id="259" r:id="rId2"/>
    <p:sldId id="360" r:id="rId3"/>
    <p:sldId id="361" r:id="rId4"/>
    <p:sldId id="404" r:id="rId5"/>
    <p:sldId id="379" r:id="rId6"/>
    <p:sldId id="405" r:id="rId7"/>
    <p:sldId id="409" r:id="rId8"/>
    <p:sldId id="406" r:id="rId9"/>
    <p:sldId id="412" r:id="rId10"/>
    <p:sldId id="413" r:id="rId11"/>
    <p:sldId id="414" r:id="rId12"/>
    <p:sldId id="420" r:id="rId13"/>
    <p:sldId id="424" r:id="rId14"/>
    <p:sldId id="421" r:id="rId15"/>
    <p:sldId id="422" r:id="rId16"/>
    <p:sldId id="410" r:id="rId17"/>
    <p:sldId id="407" r:id="rId18"/>
    <p:sldId id="408" r:id="rId19"/>
    <p:sldId id="26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6578"/>
    <a:srgbClr val="D3074B"/>
    <a:srgbClr val="26B481"/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32" y="4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12CEC21-FD8E-4D6C-A2FA-43FC25C629E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8835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  <p:sldLayoutId id="2147483717" r:id="rId18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jpg"/><Relationship Id="rId7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g"/><Relationship Id="rId5" Type="http://schemas.openxmlformats.org/officeDocument/2006/relationships/image" Target="../media/image11.jpeg"/><Relationship Id="rId4" Type="http://schemas.openxmlformats.org/officeDocument/2006/relationships/image" Target="../media/image10.jpeg"/><Relationship Id="rId9" Type="http://schemas.openxmlformats.org/officeDocument/2006/relationships/image" Target="../media/image1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jpg"/><Relationship Id="rId4" Type="http://schemas.openxmlformats.org/officeDocument/2006/relationships/image" Target="../media/image2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31.jpe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jpeg"/><Relationship Id="rId5" Type="http://schemas.openxmlformats.org/officeDocument/2006/relationships/image" Target="../media/image33.jpe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7680" y="1087120"/>
            <a:ext cx="11440160" cy="2648381"/>
          </a:xfrm>
        </p:spPr>
        <p:txBody>
          <a:bodyPr>
            <a:normAutofit/>
          </a:bodyPr>
          <a:lstStyle/>
          <a:p>
            <a:r>
              <a:rPr lang="en-US" sz="6000" b="1" dirty="0">
                <a:solidFill>
                  <a:srgbClr val="2E6578"/>
                </a:solidFill>
                <a:cs typeface="+mn-cs"/>
              </a:rPr>
              <a:t>Huawei HCCDA-AI certification 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910649"/>
            <a:ext cx="9440034" cy="1397951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Instructor : Fawad Bahadur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480" y="911972"/>
            <a:ext cx="1555039" cy="1555039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BC65A546-6983-47B1-B200-0DD172AAA774}"/>
              </a:ext>
            </a:extLst>
          </p:cNvPr>
          <p:cNvSpPr/>
          <p:nvPr/>
        </p:nvSpPr>
        <p:spPr>
          <a:xfrm>
            <a:off x="5709709" y="4907280"/>
            <a:ext cx="762000" cy="762000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087120"/>
            <a:ext cx="12192000" cy="2648381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7030A0"/>
                </a:solidFill>
                <a:cs typeface="+mn-cs"/>
              </a:rPr>
              <a:t>Machine Learning Basics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8545" y="3910648"/>
            <a:ext cx="10404327" cy="1397951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chemeClr val="tx1">
                    <a:lumMod val="50000"/>
                  </a:schemeClr>
                </a:solidFill>
                <a:effectLst/>
              </a:rPr>
              <a:t>Machine Learning Algorithms and Applications in Python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B66FD8F-78E2-4D71-A6AD-762061E9053D}"/>
              </a:ext>
            </a:extLst>
          </p:cNvPr>
          <p:cNvSpPr txBox="1">
            <a:spLocks/>
          </p:cNvSpPr>
          <p:nvPr/>
        </p:nvSpPr>
        <p:spPr>
          <a:xfrm>
            <a:off x="7121462" y="6077745"/>
            <a:ext cx="4836858" cy="55673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bg1"/>
                </a:solidFill>
              </a:rPr>
              <a:t>Instructor : Fawad Bahadur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0E0B58F5-D20E-4FB6-BC0A-C191F415E89F}"/>
              </a:ext>
            </a:extLst>
          </p:cNvPr>
          <p:cNvSpPr txBox="1">
            <a:spLocks/>
          </p:cNvSpPr>
          <p:nvPr/>
        </p:nvSpPr>
        <p:spPr>
          <a:xfrm>
            <a:off x="172720" y="6159025"/>
            <a:ext cx="2397760" cy="55673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>
                <a:solidFill>
                  <a:schemeClr val="bg1"/>
                </a:solidFill>
              </a:rPr>
              <a:t>Dated: 19 July 2025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C23C091-AD80-44CD-9B47-887162A629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480" y="911972"/>
            <a:ext cx="1555039" cy="1555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784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83240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  <a:cs typeface="+mn-cs"/>
              </a:rPr>
              <a:t>What is Machine Learning?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5707" y="1549938"/>
            <a:ext cx="782828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>
                <a:solidFill>
                  <a:schemeClr val="bg1"/>
                </a:solidFill>
              </a:rPr>
              <a:t>Machine Learning (ML) is the part of AI that lets computers learn from data and get better on their own—no step-by-step programming needed.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4B86B5-A0D5-4CC2-9A38-92E5686EFB9B}"/>
              </a:ext>
            </a:extLst>
          </p:cNvPr>
          <p:cNvSpPr txBox="1"/>
          <p:nvPr/>
        </p:nvSpPr>
        <p:spPr>
          <a:xfrm>
            <a:off x="93747" y="3890150"/>
            <a:ext cx="74179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>
                <a:solidFill>
                  <a:schemeClr val="bg1"/>
                </a:solidFill>
              </a:rPr>
              <a:t>“Machine learning is the science of getting computers to act without being explicitly programmed.” — </a:t>
            </a:r>
            <a:r>
              <a:rPr lang="en-US" sz="2800" b="1" dirty="0">
                <a:solidFill>
                  <a:schemeClr val="bg1"/>
                </a:solidFill>
              </a:rPr>
              <a:t>Arthur Samuel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CE711154-22F0-4CC8-942B-795FD80CF09D}"/>
              </a:ext>
            </a:extLst>
          </p:cNvPr>
          <p:cNvGrpSpPr/>
          <p:nvPr/>
        </p:nvGrpSpPr>
        <p:grpSpPr>
          <a:xfrm>
            <a:off x="1252217" y="5768675"/>
            <a:ext cx="9110983" cy="618038"/>
            <a:chOff x="482595" y="5577840"/>
            <a:chExt cx="8610605" cy="508000"/>
          </a:xfrm>
        </p:grpSpPr>
        <p:sp>
          <p:nvSpPr>
            <p:cNvPr id="27" name="Arrow: Pentagon 26">
              <a:extLst>
                <a:ext uri="{FF2B5EF4-FFF2-40B4-BE49-F238E27FC236}">
                  <a16:creationId xmlns:a16="http://schemas.microsoft.com/office/drawing/2014/main" id="{91AEEC05-0D49-4FFB-B359-CF97AF5CDAFD}"/>
                </a:ext>
              </a:extLst>
            </p:cNvPr>
            <p:cNvSpPr/>
            <p:nvPr/>
          </p:nvSpPr>
          <p:spPr>
            <a:xfrm>
              <a:off x="482595" y="5577840"/>
              <a:ext cx="1965965" cy="508000"/>
            </a:xfrm>
            <a:prstGeom prst="homePlat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Data </a:t>
              </a:r>
              <a:endParaRPr lang="en-US" b="1" dirty="0"/>
            </a:p>
          </p:txBody>
        </p:sp>
        <p:sp>
          <p:nvSpPr>
            <p:cNvPr id="28" name="Arrow: Pentagon 27">
              <a:extLst>
                <a:ext uri="{FF2B5EF4-FFF2-40B4-BE49-F238E27FC236}">
                  <a16:creationId xmlns:a16="http://schemas.microsoft.com/office/drawing/2014/main" id="{DCC14CBC-5FC3-496F-8557-C65E32AC84B2}"/>
                </a:ext>
              </a:extLst>
            </p:cNvPr>
            <p:cNvSpPr/>
            <p:nvPr/>
          </p:nvSpPr>
          <p:spPr>
            <a:xfrm>
              <a:off x="2697475" y="5577840"/>
              <a:ext cx="1965965" cy="508000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Learning Algorithm</a:t>
              </a:r>
              <a:endParaRPr lang="en-US" sz="1600" b="1" dirty="0"/>
            </a:p>
          </p:txBody>
        </p:sp>
        <p:sp>
          <p:nvSpPr>
            <p:cNvPr id="29" name="Arrow: Pentagon 28">
              <a:extLst>
                <a:ext uri="{FF2B5EF4-FFF2-40B4-BE49-F238E27FC236}">
                  <a16:creationId xmlns:a16="http://schemas.microsoft.com/office/drawing/2014/main" id="{7A591D34-CE06-406D-92AD-536656E9CD55}"/>
                </a:ext>
              </a:extLst>
            </p:cNvPr>
            <p:cNvSpPr/>
            <p:nvPr/>
          </p:nvSpPr>
          <p:spPr>
            <a:xfrm>
              <a:off x="4912355" y="5577840"/>
              <a:ext cx="1965965" cy="508000"/>
            </a:xfrm>
            <a:prstGeom prst="homePlat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Model </a:t>
              </a:r>
              <a:r>
                <a:rPr lang="en-US" b="1" dirty="0"/>
                <a:t> </a:t>
              </a:r>
            </a:p>
          </p:txBody>
        </p:sp>
        <p:sp>
          <p:nvSpPr>
            <p:cNvPr id="30" name="Arrow: Pentagon 29">
              <a:extLst>
                <a:ext uri="{FF2B5EF4-FFF2-40B4-BE49-F238E27FC236}">
                  <a16:creationId xmlns:a16="http://schemas.microsoft.com/office/drawing/2014/main" id="{307CE49D-9645-46B5-B74A-DB9625D0C513}"/>
                </a:ext>
              </a:extLst>
            </p:cNvPr>
            <p:cNvSpPr/>
            <p:nvPr/>
          </p:nvSpPr>
          <p:spPr>
            <a:xfrm>
              <a:off x="7127235" y="5577840"/>
              <a:ext cx="1965965" cy="508000"/>
            </a:xfrm>
            <a:prstGeom prst="homePlat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Predictions</a:t>
              </a:r>
              <a:endParaRPr lang="en-US" b="1" dirty="0"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AE9A8246-E4C8-4B59-882F-F02B0710D6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989" y="1672909"/>
            <a:ext cx="3461971" cy="344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261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83240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  <a:cs typeface="+mn-cs"/>
              </a:rPr>
              <a:t>Where ML is Used Today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584507" y="1661698"/>
            <a:ext cx="463773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Face recognition</a:t>
            </a:r>
          </a:p>
          <a:p>
            <a:pPr marL="514350" indent="-514350" algn="just"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Object detection</a:t>
            </a:r>
          </a:p>
          <a:p>
            <a:pPr marL="514350" indent="-514350" algn="just"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Chatbots</a:t>
            </a:r>
          </a:p>
          <a:p>
            <a:pPr marL="514350" indent="-514350" algn="just"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Recommendation systems</a:t>
            </a:r>
          </a:p>
          <a:p>
            <a:pPr marL="514350" indent="-514350" algn="just"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Autonomous vehicles</a:t>
            </a:r>
          </a:p>
          <a:p>
            <a:pPr marL="514350" indent="-514350" algn="just"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Disease diagnosis</a:t>
            </a:r>
          </a:p>
          <a:p>
            <a:pPr marL="514350" indent="-514350" algn="just"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Sentiment analysis</a:t>
            </a:r>
          </a:p>
          <a:p>
            <a:pPr marL="514350" indent="-514350" algn="just"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Yield estimation</a:t>
            </a:r>
          </a:p>
          <a:p>
            <a:pPr marL="514350" indent="-514350" algn="just"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Fraud detection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32535E9-28B0-4438-A5FE-1639E6B4D4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0721" y="1221581"/>
            <a:ext cx="3724275" cy="20081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08CA83D-1C23-4C90-B133-8CD1EBF058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7137" y="5240655"/>
            <a:ext cx="2828925" cy="16192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76F3A0B-46CD-48F0-B386-4F5ADB0263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0798" y="3391492"/>
            <a:ext cx="2562225" cy="17811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59BA4B2-F31A-458A-B5FD-E434BD778BB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1068" y="5192828"/>
            <a:ext cx="2529898" cy="168353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1BD3DC-24C7-456E-97A0-95411797C9D4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149"/>
          <a:stretch/>
        </p:blipFill>
        <p:spPr>
          <a:xfrm>
            <a:off x="6734667" y="5252085"/>
            <a:ext cx="2657475" cy="153084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EE37B68-7BB7-4309-8F48-A73F451C95E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0721" y="3436064"/>
            <a:ext cx="2838450" cy="16097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B5976A8-9285-4485-970A-FDDFE438502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4132" y="1498401"/>
            <a:ext cx="2667000" cy="17145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545654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83240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  <a:cs typeface="+mn-cs"/>
              </a:rPr>
              <a:t>Types of Machine Learning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CBE9390-1BAE-465A-8FE5-1AC0665B7B3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25"/>
          <a:stretch/>
        </p:blipFill>
        <p:spPr>
          <a:xfrm>
            <a:off x="680720" y="2104094"/>
            <a:ext cx="10830560" cy="3461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282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83240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  <a:cs typeface="+mn-cs"/>
              </a:rPr>
              <a:t>Supervised Learning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69BEA9-473A-4885-951F-4ADE212CF1A9}"/>
              </a:ext>
            </a:extLst>
          </p:cNvPr>
          <p:cNvSpPr txBox="1"/>
          <p:nvPr/>
        </p:nvSpPr>
        <p:spPr>
          <a:xfrm>
            <a:off x="371147" y="1600738"/>
            <a:ext cx="505429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chemeClr val="bg1"/>
                </a:solidFill>
              </a:rPr>
              <a:t>Definition:</a:t>
            </a:r>
          </a:p>
          <a:p>
            <a:pPr algn="just"/>
            <a:r>
              <a:rPr lang="en-US" sz="2800" dirty="0">
                <a:solidFill>
                  <a:schemeClr val="bg1"/>
                </a:solidFill>
              </a:rPr>
              <a:t>The model learns from labeled data to make predictions.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</a:rPr>
              <a:t>X </a:t>
            </a:r>
            <a:r>
              <a:rPr lang="en-US" sz="2800" dirty="0">
                <a:solidFill>
                  <a:schemeClr val="bg1"/>
                </a:solidFill>
                <a:sym typeface="Wingdings" panose="05000000000000000000" pitchFamily="2" charset="2"/>
              </a:rPr>
              <a:t> Y</a:t>
            </a:r>
            <a:endParaRPr lang="en-US" sz="2800" dirty="0">
              <a:solidFill>
                <a:schemeClr val="bg1"/>
              </a:solidFill>
            </a:endParaRPr>
          </a:p>
          <a:p>
            <a:pPr algn="just"/>
            <a:r>
              <a:rPr lang="en-US" sz="2800" b="1" dirty="0">
                <a:solidFill>
                  <a:schemeClr val="bg1"/>
                </a:solidFill>
              </a:rPr>
              <a:t>Examples:</a:t>
            </a:r>
          </a:p>
          <a:p>
            <a:pPr algn="just"/>
            <a:r>
              <a:rPr lang="en-US" sz="2800" dirty="0">
                <a:solidFill>
                  <a:schemeClr val="bg1"/>
                </a:solidFill>
              </a:rPr>
              <a:t>Spam email detection, house price prediction, image classification.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38264FD-4F6E-4609-A6C9-F0FBA28A85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5290625"/>
              </p:ext>
            </p:extLst>
          </p:nvPr>
        </p:nvGraphicFramePr>
        <p:xfrm>
          <a:off x="7395634" y="1911350"/>
          <a:ext cx="4536979" cy="232410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0338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31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u="sng" strike="noStrike" dirty="0">
                          <a:solidFill>
                            <a:srgbClr val="7030A0"/>
                          </a:solidFill>
                          <a:effectLst/>
                        </a:rPr>
                        <a:t>Size (x)</a:t>
                      </a:r>
                      <a:endParaRPr lang="en-US" sz="2800" b="1" i="0" u="sng" strike="noStrike" dirty="0">
                        <a:solidFill>
                          <a:srgbClr val="7030A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u="sng" strike="noStrike" dirty="0">
                          <a:solidFill>
                            <a:srgbClr val="7030A0"/>
                          </a:solidFill>
                          <a:effectLst/>
                        </a:rPr>
                        <a:t>Price (y)</a:t>
                      </a:r>
                      <a:endParaRPr lang="en-US" sz="2800" b="1" i="0" u="sng" strike="noStrike" dirty="0">
                        <a:solidFill>
                          <a:srgbClr val="7030A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3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2104</a:t>
                      </a:r>
                      <a:endParaRPr lang="en-US" sz="2400" b="0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460</a:t>
                      </a:r>
                      <a:endParaRPr lang="en-US" sz="2400" b="0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3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1416</a:t>
                      </a:r>
                      <a:endParaRPr lang="en-US" sz="2400" b="0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232</a:t>
                      </a:r>
                      <a:endParaRPr lang="en-US" sz="2400" b="0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3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1534</a:t>
                      </a:r>
                      <a:endParaRPr lang="en-US" sz="2400" b="0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315</a:t>
                      </a:r>
                      <a:endParaRPr lang="en-US" sz="2400" b="0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3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852</a:t>
                      </a:r>
                      <a:endParaRPr lang="en-US" sz="2400" b="0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178</a:t>
                      </a:r>
                      <a:endParaRPr lang="en-US" sz="2400" b="0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3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…</a:t>
                      </a:r>
                      <a:endParaRPr lang="en-US" sz="2400" b="0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…</a:t>
                      </a:r>
                      <a:endParaRPr lang="en-US" sz="2400" b="0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8B51254A-B343-4DDA-873D-40E18D08F8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9521" y="4709280"/>
            <a:ext cx="6471920" cy="2158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59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83240"/>
            <a:ext cx="9440034" cy="119199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  <a:cs typeface="+mn-cs"/>
              </a:rPr>
              <a:t>Types of Supervised Learning Tasks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8DD4887-DD15-4163-BF45-9251CB1253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7822" y="1716096"/>
            <a:ext cx="6898178" cy="505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584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83240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  <a:cs typeface="+mn-cs"/>
              </a:rPr>
              <a:t>Classification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69BEA9-473A-4885-951F-4ADE212CF1A9}"/>
              </a:ext>
            </a:extLst>
          </p:cNvPr>
          <p:cNvSpPr txBox="1"/>
          <p:nvPr/>
        </p:nvSpPr>
        <p:spPr>
          <a:xfrm>
            <a:off x="371147" y="1600738"/>
            <a:ext cx="6629093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chemeClr val="bg1"/>
                </a:solidFill>
              </a:rPr>
              <a:t>Definition:</a:t>
            </a:r>
          </a:p>
          <a:p>
            <a:pPr algn="just"/>
            <a:r>
              <a:rPr lang="en-US" sz="2800" dirty="0">
                <a:solidFill>
                  <a:schemeClr val="bg1"/>
                </a:solidFill>
              </a:rPr>
              <a:t>Predicts discrete labels or categories.</a:t>
            </a:r>
          </a:p>
          <a:p>
            <a:pPr algn="just"/>
            <a:endParaRPr lang="en-US" sz="2800" dirty="0">
              <a:solidFill>
                <a:schemeClr val="bg1"/>
              </a:solidFill>
            </a:endParaRPr>
          </a:p>
          <a:p>
            <a:pPr algn="just"/>
            <a:r>
              <a:rPr lang="en-US" sz="2800" b="1" dirty="0">
                <a:solidFill>
                  <a:schemeClr val="bg1"/>
                </a:solidFill>
              </a:rPr>
              <a:t>Goal:</a:t>
            </a:r>
          </a:p>
          <a:p>
            <a:pPr algn="just"/>
            <a:r>
              <a:rPr lang="en-US" sz="2800" dirty="0">
                <a:solidFill>
                  <a:schemeClr val="bg1"/>
                </a:solidFill>
              </a:rPr>
              <a:t>Assign an input to one of several predefined classes.</a:t>
            </a:r>
          </a:p>
          <a:p>
            <a:pPr algn="just"/>
            <a:endParaRPr lang="en-US" sz="2800" dirty="0">
              <a:solidFill>
                <a:schemeClr val="bg1"/>
              </a:solidFill>
            </a:endParaRPr>
          </a:p>
          <a:p>
            <a:pPr algn="just"/>
            <a:r>
              <a:rPr lang="en-US" sz="2800" b="1" dirty="0">
                <a:solidFill>
                  <a:schemeClr val="bg1"/>
                </a:solidFill>
              </a:rPr>
              <a:t>Examples: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Email spam detection (Spam / Not Spam)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Image recognition (Pedestrian, Car, Motorcycle or Truck)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1656400-7AF0-488E-A10A-98F7019413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6757" y="1432321"/>
            <a:ext cx="4500256" cy="270949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4B3E9B2-0121-4F89-9B7A-E0486D6708F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707"/>
          <a:stretch/>
        </p:blipFill>
        <p:spPr>
          <a:xfrm>
            <a:off x="7473314" y="3522166"/>
            <a:ext cx="3458845" cy="155346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FB2856F-E2EA-40DF-8422-5514DA62922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18" t="17648" r="9341" b="55008"/>
          <a:stretch/>
        </p:blipFill>
        <p:spPr>
          <a:xfrm>
            <a:off x="7076756" y="5578080"/>
            <a:ext cx="5039161" cy="121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762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83240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  <a:cs typeface="+mn-cs"/>
              </a:rPr>
              <a:t>Binary Classification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69BEA9-473A-4885-951F-4ADE212CF1A9}"/>
              </a:ext>
            </a:extLst>
          </p:cNvPr>
          <p:cNvSpPr txBox="1"/>
          <p:nvPr/>
        </p:nvSpPr>
        <p:spPr>
          <a:xfrm>
            <a:off x="371147" y="1600738"/>
            <a:ext cx="662909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chemeClr val="bg1"/>
                </a:solidFill>
              </a:rPr>
              <a:t>Definition:</a:t>
            </a:r>
          </a:p>
          <a:p>
            <a:pPr algn="just"/>
            <a:r>
              <a:rPr lang="en-US" sz="2800" dirty="0">
                <a:solidFill>
                  <a:schemeClr val="bg1"/>
                </a:solidFill>
              </a:rPr>
              <a:t>Classification task with two possible outcomes.</a:t>
            </a:r>
          </a:p>
          <a:p>
            <a:pPr algn="just"/>
            <a:endParaRPr lang="en-US" sz="2800" dirty="0">
              <a:solidFill>
                <a:schemeClr val="bg1"/>
              </a:solidFill>
            </a:endParaRPr>
          </a:p>
          <a:p>
            <a:pPr algn="just"/>
            <a:r>
              <a:rPr lang="en-US" sz="2800" b="1" dirty="0">
                <a:solidFill>
                  <a:schemeClr val="bg1"/>
                </a:solidFill>
              </a:rPr>
              <a:t>Label Format:</a:t>
            </a:r>
          </a:p>
          <a:p>
            <a:pPr algn="just"/>
            <a:r>
              <a:rPr lang="en-US" sz="2800" dirty="0">
                <a:solidFill>
                  <a:schemeClr val="bg1"/>
                </a:solidFill>
              </a:rPr>
              <a:t>Usually 0 and 1 (or True/False)</a:t>
            </a:r>
          </a:p>
          <a:p>
            <a:pPr algn="just"/>
            <a:endParaRPr lang="en-US" sz="2800" dirty="0">
              <a:solidFill>
                <a:schemeClr val="bg1"/>
              </a:solidFill>
            </a:endParaRPr>
          </a:p>
          <a:p>
            <a:pPr algn="just"/>
            <a:r>
              <a:rPr lang="en-US" sz="2800" b="1" dirty="0">
                <a:solidFill>
                  <a:schemeClr val="bg1"/>
                </a:solidFill>
              </a:rPr>
              <a:t>Examples:</a:t>
            </a:r>
          </a:p>
          <a:p>
            <a:pPr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Spam vs. Not Spam</a:t>
            </a:r>
          </a:p>
          <a:p>
            <a:pPr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Disease: Positive vs. Negative</a:t>
            </a:r>
          </a:p>
          <a:p>
            <a:pPr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Pass vs. Fail</a:t>
            </a:r>
          </a:p>
          <a:p>
            <a:pPr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Real vs Fake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1656400-7AF0-488E-A10A-98F7019413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6757" y="1960641"/>
            <a:ext cx="4500256" cy="270949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4B3E9B2-0121-4F89-9B7A-E0486D6708F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707"/>
          <a:stretch/>
        </p:blipFill>
        <p:spPr>
          <a:xfrm>
            <a:off x="7778114" y="4324806"/>
            <a:ext cx="3458845" cy="1553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383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83240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  <a:cs typeface="+mn-cs"/>
              </a:rPr>
              <a:t>Multi-Class Classification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69BEA9-473A-4885-951F-4ADE212CF1A9}"/>
              </a:ext>
            </a:extLst>
          </p:cNvPr>
          <p:cNvSpPr txBox="1"/>
          <p:nvPr/>
        </p:nvSpPr>
        <p:spPr>
          <a:xfrm>
            <a:off x="371147" y="1600738"/>
            <a:ext cx="749269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chemeClr val="bg1"/>
                </a:solidFill>
              </a:rPr>
              <a:t>Definition:</a:t>
            </a:r>
          </a:p>
          <a:p>
            <a:pPr algn="just"/>
            <a:r>
              <a:rPr lang="en-US" sz="2800" dirty="0">
                <a:solidFill>
                  <a:schemeClr val="bg1"/>
                </a:solidFill>
              </a:rPr>
              <a:t>Classification task with more than two classes.</a:t>
            </a:r>
          </a:p>
          <a:p>
            <a:pPr algn="just"/>
            <a:endParaRPr lang="en-US" sz="2800" dirty="0">
              <a:solidFill>
                <a:schemeClr val="bg1"/>
              </a:solidFill>
            </a:endParaRPr>
          </a:p>
          <a:p>
            <a:pPr algn="just"/>
            <a:r>
              <a:rPr lang="en-US" sz="2800" b="1" dirty="0">
                <a:solidFill>
                  <a:schemeClr val="bg1"/>
                </a:solidFill>
              </a:rPr>
              <a:t>Label Format:</a:t>
            </a:r>
          </a:p>
          <a:p>
            <a:pPr algn="just"/>
            <a:r>
              <a:rPr lang="en-US" sz="2800" dirty="0">
                <a:solidFill>
                  <a:schemeClr val="bg1"/>
                </a:solidFill>
              </a:rPr>
              <a:t>Classes like 0, 1, 2, ..., or Cat, Dog, Horse</a:t>
            </a:r>
          </a:p>
          <a:p>
            <a:pPr algn="just"/>
            <a:endParaRPr lang="en-US" sz="2800" dirty="0">
              <a:solidFill>
                <a:schemeClr val="bg1"/>
              </a:solidFill>
            </a:endParaRPr>
          </a:p>
          <a:p>
            <a:pPr algn="just"/>
            <a:r>
              <a:rPr lang="en-US" sz="2800" b="1" dirty="0">
                <a:solidFill>
                  <a:schemeClr val="bg1"/>
                </a:solidFill>
              </a:rPr>
              <a:t>Examples:</a:t>
            </a:r>
          </a:p>
          <a:p>
            <a:pPr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Handwritten digit recognition (0–9)</a:t>
            </a:r>
          </a:p>
          <a:p>
            <a:pPr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Animal type (Cat, Dog, Horse)</a:t>
            </a:r>
          </a:p>
          <a:p>
            <a:pPr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Sentiment analysis (Negative, Neutral, Positive)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41FA2E-8EAD-4A24-B832-0821ADB239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3672" y="1468566"/>
            <a:ext cx="3458845" cy="22033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402281F-EDCD-4509-B598-3C418E0F85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6892" y="4279641"/>
            <a:ext cx="3095625" cy="147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419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83240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  <a:cs typeface="+mn-cs"/>
              </a:rPr>
              <a:t>Regression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69BEA9-473A-4885-951F-4ADE212CF1A9}"/>
              </a:ext>
            </a:extLst>
          </p:cNvPr>
          <p:cNvSpPr txBox="1"/>
          <p:nvPr/>
        </p:nvSpPr>
        <p:spPr>
          <a:xfrm>
            <a:off x="371147" y="1600738"/>
            <a:ext cx="662909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chemeClr val="bg1"/>
                </a:solidFill>
              </a:rPr>
              <a:t>Definition:</a:t>
            </a:r>
          </a:p>
          <a:p>
            <a:pPr algn="just"/>
            <a:r>
              <a:rPr lang="en-US" sz="2800" dirty="0">
                <a:solidFill>
                  <a:schemeClr val="bg1"/>
                </a:solidFill>
              </a:rPr>
              <a:t>Predicts continuous numerical values.</a:t>
            </a:r>
          </a:p>
          <a:p>
            <a:pPr algn="just"/>
            <a:endParaRPr lang="en-US" sz="2800" b="1" dirty="0">
              <a:solidFill>
                <a:schemeClr val="bg1"/>
              </a:solidFill>
            </a:endParaRPr>
          </a:p>
          <a:p>
            <a:pPr algn="just"/>
            <a:r>
              <a:rPr lang="en-US" sz="2800" b="1" dirty="0">
                <a:solidFill>
                  <a:schemeClr val="bg1"/>
                </a:solidFill>
              </a:rPr>
              <a:t>Goal:</a:t>
            </a:r>
          </a:p>
          <a:p>
            <a:pPr algn="just"/>
            <a:r>
              <a:rPr lang="en-US" sz="2800" dirty="0">
                <a:solidFill>
                  <a:schemeClr val="bg1"/>
                </a:solidFill>
              </a:rPr>
              <a:t>Estimate a real value based on input features.</a:t>
            </a:r>
          </a:p>
          <a:p>
            <a:pPr algn="just"/>
            <a:endParaRPr lang="en-US" sz="2800" b="1" dirty="0">
              <a:solidFill>
                <a:schemeClr val="bg1"/>
              </a:solidFill>
            </a:endParaRPr>
          </a:p>
          <a:p>
            <a:pPr algn="just"/>
            <a:r>
              <a:rPr lang="en-US" sz="2800" b="1" dirty="0">
                <a:solidFill>
                  <a:schemeClr val="bg1"/>
                </a:solidFill>
              </a:rPr>
              <a:t>Examples: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Predicting house prices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Forecasting temperature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230E72-F033-47E5-AC1F-527B85E173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2189" y="1601136"/>
            <a:ext cx="3224529" cy="2126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96DBEB-260D-4890-A54F-2DCF4CAE745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93" t="34778" r="7792" b="4879"/>
          <a:stretch/>
        </p:blipFill>
        <p:spPr>
          <a:xfrm>
            <a:off x="7752081" y="4007315"/>
            <a:ext cx="2590797" cy="2767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711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0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  <a:cs typeface="+mn-cs"/>
              </a:rPr>
              <a:t>Understanding Outliers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69BEA9-473A-4885-951F-4ADE212CF1A9}"/>
              </a:ext>
            </a:extLst>
          </p:cNvPr>
          <p:cNvSpPr txBox="1"/>
          <p:nvPr/>
        </p:nvSpPr>
        <p:spPr>
          <a:xfrm>
            <a:off x="198587" y="1573837"/>
            <a:ext cx="759413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fontAlgn="base">
              <a:lnSpc>
                <a:spcPct val="90000"/>
              </a:lnSpc>
              <a:spcBef>
                <a:spcPct val="0"/>
              </a:spcBef>
            </a:pPr>
            <a:r>
              <a:rPr lang="en-US" sz="2800" dirty="0">
                <a:solidFill>
                  <a:schemeClr val="bg1"/>
                </a:solidFill>
              </a:rPr>
              <a:t>An outlier is a data point that significantly </a:t>
            </a:r>
            <a:r>
              <a:rPr lang="en-US" sz="2800" b="1" dirty="0">
                <a:solidFill>
                  <a:schemeClr val="bg1"/>
                </a:solidFill>
              </a:rPr>
              <a:t>differs</a:t>
            </a:r>
            <a:r>
              <a:rPr lang="en-US" sz="2800" dirty="0">
                <a:solidFill>
                  <a:schemeClr val="bg1"/>
                </a:solidFill>
              </a:rPr>
              <a:t> from other observations in the dataset.</a:t>
            </a:r>
          </a:p>
          <a:p>
            <a:pPr defTabSz="457200" fontAlgn="base">
              <a:lnSpc>
                <a:spcPct val="90000"/>
              </a:lnSpc>
              <a:spcBef>
                <a:spcPct val="0"/>
              </a:spcBef>
            </a:pPr>
            <a:endParaRPr lang="en-US" sz="2800" b="1" dirty="0">
              <a:solidFill>
                <a:schemeClr val="bg1"/>
              </a:solidFill>
            </a:endParaRPr>
          </a:p>
          <a:p>
            <a:pPr defTabSz="457200" fontAlgn="base">
              <a:lnSpc>
                <a:spcPct val="90000"/>
              </a:lnSpc>
              <a:spcBef>
                <a:spcPct val="0"/>
              </a:spcBef>
            </a:pPr>
            <a:r>
              <a:rPr lang="en-US" sz="2800" dirty="0">
                <a:solidFill>
                  <a:schemeClr val="bg1"/>
                </a:solidFill>
              </a:rPr>
              <a:t>It </a:t>
            </a:r>
            <a:r>
              <a:rPr lang="en-US" sz="2800" b="1" dirty="0">
                <a:solidFill>
                  <a:schemeClr val="bg1"/>
                </a:solidFill>
              </a:rPr>
              <a:t>doesn’t</a:t>
            </a:r>
            <a:r>
              <a:rPr lang="en-US" sz="2800" dirty="0">
                <a:solidFill>
                  <a:schemeClr val="bg1"/>
                </a:solidFill>
              </a:rPr>
              <a:t> follow the </a:t>
            </a:r>
            <a:r>
              <a:rPr lang="en-US" sz="2800" b="1" dirty="0">
                <a:solidFill>
                  <a:schemeClr val="bg1"/>
                </a:solidFill>
              </a:rPr>
              <a:t>pattern</a:t>
            </a:r>
            <a:r>
              <a:rPr lang="en-US" sz="2800" dirty="0">
                <a:solidFill>
                  <a:schemeClr val="bg1"/>
                </a:solidFill>
              </a:rPr>
              <a:t> of the rest of the data.</a:t>
            </a:r>
          </a:p>
          <a:p>
            <a:pPr defTabSz="457200" fontAlgn="base">
              <a:lnSpc>
                <a:spcPct val="90000"/>
              </a:lnSpc>
              <a:spcBef>
                <a:spcPct val="0"/>
              </a:spcBef>
            </a:pPr>
            <a:endParaRPr lang="en-US" sz="2800" dirty="0">
              <a:solidFill>
                <a:schemeClr val="bg1"/>
              </a:solidFill>
            </a:endParaRPr>
          </a:p>
          <a:p>
            <a:pPr defTabSz="457200" fontAlgn="base">
              <a:lnSpc>
                <a:spcPct val="90000"/>
              </a:lnSpc>
              <a:spcBef>
                <a:spcPct val="0"/>
              </a:spcBef>
            </a:pPr>
            <a:r>
              <a:rPr lang="en-US" sz="2800" b="1" dirty="0">
                <a:solidFill>
                  <a:schemeClr val="bg1"/>
                </a:solidFill>
              </a:rPr>
              <a:t>Examples</a:t>
            </a:r>
          </a:p>
          <a:p>
            <a:pPr marL="457200" indent="-457200" defTabSz="457200" fontAlgn="base">
              <a:lnSpc>
                <a:spcPct val="90000"/>
              </a:lnSpc>
              <a:spcBef>
                <a:spcPct val="0"/>
              </a:spcBef>
              <a:buFont typeface="Goudy Old Style" panose="02020502050305020303" pitchFamily="18" charset="0"/>
              <a:buChar char="^"/>
            </a:pPr>
            <a:r>
              <a:rPr lang="en-US" sz="2800" dirty="0">
                <a:solidFill>
                  <a:schemeClr val="bg1"/>
                </a:solidFill>
              </a:rPr>
              <a:t>A person earning $10 million in a dataset where others earn $30k–$80k.</a:t>
            </a:r>
            <a:endParaRPr lang="en-US" sz="2800" b="1" dirty="0">
              <a:solidFill>
                <a:schemeClr val="bg1"/>
              </a:solidFill>
            </a:endParaRPr>
          </a:p>
          <a:p>
            <a:pPr marL="457200" indent="-457200" defTabSz="457200" fontAlgn="base">
              <a:lnSpc>
                <a:spcPct val="90000"/>
              </a:lnSpc>
              <a:spcBef>
                <a:spcPct val="0"/>
              </a:spcBef>
              <a:buFont typeface="Goudy Old Style" panose="02020502050305020303" pitchFamily="18" charset="0"/>
              <a:buChar char="^"/>
            </a:pPr>
            <a:r>
              <a:rPr lang="en-US" sz="2800" dirty="0">
                <a:solidFill>
                  <a:schemeClr val="bg1"/>
                </a:solidFill>
              </a:rPr>
              <a:t>Temperature reading of 1000°C in a normal weather dataset.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CB6CC7-0B08-44F8-963B-005ADCE2BB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158" y="2415222"/>
            <a:ext cx="4112402" cy="2726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7454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-302840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  <a:cs typeface="+mn-cs"/>
              </a:rPr>
              <a:t>Underfitting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69BEA9-473A-4885-951F-4ADE212CF1A9}"/>
              </a:ext>
            </a:extLst>
          </p:cNvPr>
          <p:cNvSpPr txBox="1"/>
          <p:nvPr/>
        </p:nvSpPr>
        <p:spPr>
          <a:xfrm>
            <a:off x="249387" y="1228397"/>
            <a:ext cx="7594133" cy="43581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fontAlgn="base">
              <a:lnSpc>
                <a:spcPct val="90000"/>
              </a:lnSpc>
              <a:spcBef>
                <a:spcPct val="0"/>
              </a:spcBef>
            </a:pPr>
            <a:r>
              <a:rPr lang="en-US" sz="2800" dirty="0">
                <a:solidFill>
                  <a:schemeClr val="bg1"/>
                </a:solidFill>
              </a:rPr>
              <a:t>Model is too simple → misses even obvious patterns.</a:t>
            </a:r>
          </a:p>
          <a:p>
            <a:pPr fontAlgn="base"/>
            <a:r>
              <a:rPr lang="en-US" sz="2800" b="1" dirty="0">
                <a:solidFill>
                  <a:schemeClr val="bg1"/>
                </a:solidFill>
              </a:rPr>
              <a:t>Symptoms: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Low accuracy on both training &amp; test sets (unseen data)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Flat learning curves (no improvement with more data)</a:t>
            </a:r>
          </a:p>
          <a:p>
            <a:pPr fontAlgn="base"/>
            <a:endParaRPr lang="en-US" sz="2800" b="1" dirty="0">
              <a:solidFill>
                <a:schemeClr val="bg1"/>
              </a:solidFill>
            </a:endParaRPr>
          </a:p>
          <a:p>
            <a:pPr fontAlgn="base"/>
            <a:r>
              <a:rPr lang="en-US" sz="2800" b="1" dirty="0">
                <a:solidFill>
                  <a:schemeClr val="bg1"/>
                </a:solidFill>
              </a:rPr>
              <a:t>Example:</a:t>
            </a:r>
          </a:p>
          <a:p>
            <a:pPr fontAlgn="base"/>
            <a:r>
              <a:rPr lang="en-US" sz="2800" dirty="0">
                <a:solidFill>
                  <a:schemeClr val="bg1"/>
                </a:solidFill>
              </a:rPr>
              <a:t>Predicting house price based on area, number of rooms, location score, etc.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2AFBF4-2A17-4E22-9B2A-17A7C79F7C8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90" t="11101" r="59377" b="31319"/>
          <a:stretch/>
        </p:blipFill>
        <p:spPr>
          <a:xfrm>
            <a:off x="7843520" y="1809291"/>
            <a:ext cx="3581400" cy="3444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839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-302840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  <a:cs typeface="+mn-cs"/>
              </a:rPr>
              <a:t>Overfitting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69BEA9-473A-4885-951F-4ADE212CF1A9}"/>
              </a:ext>
            </a:extLst>
          </p:cNvPr>
          <p:cNvSpPr txBox="1"/>
          <p:nvPr/>
        </p:nvSpPr>
        <p:spPr>
          <a:xfrm>
            <a:off x="249387" y="1228397"/>
            <a:ext cx="8549173" cy="2074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fontAlgn="base">
              <a:lnSpc>
                <a:spcPct val="90000"/>
              </a:lnSpc>
              <a:spcBef>
                <a:spcPct val="0"/>
              </a:spcBef>
            </a:pPr>
            <a:r>
              <a:rPr lang="en-US" sz="2800" dirty="0">
                <a:solidFill>
                  <a:schemeClr val="bg1"/>
                </a:solidFill>
              </a:rPr>
              <a:t>Model is too complex → memorizes noise &amp; outliers.</a:t>
            </a:r>
          </a:p>
          <a:p>
            <a:pPr defTabSz="457200" fontAlgn="base">
              <a:lnSpc>
                <a:spcPct val="90000"/>
              </a:lnSpc>
              <a:spcBef>
                <a:spcPct val="0"/>
              </a:spcBef>
            </a:pPr>
            <a:endParaRPr lang="en-US" sz="2800" b="1" dirty="0">
              <a:solidFill>
                <a:schemeClr val="bg1"/>
              </a:solidFill>
            </a:endParaRPr>
          </a:p>
          <a:p>
            <a:pPr defTabSz="457200" fontAlgn="base">
              <a:lnSpc>
                <a:spcPct val="90000"/>
              </a:lnSpc>
              <a:spcBef>
                <a:spcPct val="0"/>
              </a:spcBef>
            </a:pPr>
            <a:r>
              <a:rPr lang="en-US" sz="2800" b="1" dirty="0">
                <a:solidFill>
                  <a:schemeClr val="bg1"/>
                </a:solidFill>
              </a:rPr>
              <a:t>Symptoms: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High training accuracy, poor test accuracy</a:t>
            </a:r>
          </a:p>
          <a:p>
            <a:pPr indent="-457200" defTabSz="457200" fontAlgn="base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Validation loss rises while training loss keeps dropping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93867C-0079-4813-A6AB-289FC7350B6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67" t="10170" r="29600" b="32250"/>
          <a:stretch/>
        </p:blipFill>
        <p:spPr>
          <a:xfrm>
            <a:off x="4074160" y="3302811"/>
            <a:ext cx="3581400" cy="3444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6738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-302840"/>
            <a:ext cx="9440034" cy="1191998"/>
          </a:xfrm>
        </p:spPr>
        <p:txBody>
          <a:bodyPr>
            <a:normAutofit/>
          </a:bodyPr>
          <a:lstStyle/>
          <a:p>
            <a:pPr fontAlgn="base"/>
            <a:r>
              <a:rPr lang="en-US" b="1" dirty="0">
                <a:solidFill>
                  <a:srgbClr val="7030A0"/>
                </a:solidFill>
                <a:cs typeface="+mn-cs"/>
              </a:rPr>
              <a:t>Just-Right Fit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69BEA9-473A-4885-951F-4ADE212CF1A9}"/>
              </a:ext>
            </a:extLst>
          </p:cNvPr>
          <p:cNvSpPr txBox="1"/>
          <p:nvPr/>
        </p:nvSpPr>
        <p:spPr>
          <a:xfrm>
            <a:off x="249387" y="1228397"/>
            <a:ext cx="8549173" cy="3841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fontAlgn="base">
              <a:lnSpc>
                <a:spcPct val="90000"/>
              </a:lnSpc>
              <a:spcBef>
                <a:spcPct val="0"/>
              </a:spcBef>
            </a:pPr>
            <a:r>
              <a:rPr lang="fr-FR" sz="2800" dirty="0">
                <a:solidFill>
                  <a:schemeClr val="bg1"/>
                </a:solidFill>
              </a:rPr>
              <a:t>Captures </a:t>
            </a:r>
            <a:r>
              <a:rPr lang="fr-FR" sz="2800" dirty="0" err="1">
                <a:solidFill>
                  <a:schemeClr val="bg1"/>
                </a:solidFill>
              </a:rPr>
              <a:t>true</a:t>
            </a:r>
            <a:r>
              <a:rPr lang="fr-FR" sz="2800" dirty="0">
                <a:solidFill>
                  <a:schemeClr val="bg1"/>
                </a:solidFill>
              </a:rPr>
              <a:t> pattern, ignores noise.</a:t>
            </a:r>
          </a:p>
          <a:p>
            <a:pPr defTabSz="457200" fontAlgn="base">
              <a:lnSpc>
                <a:spcPct val="90000"/>
              </a:lnSpc>
              <a:spcBef>
                <a:spcPct val="0"/>
              </a:spcBef>
            </a:pPr>
            <a:endParaRPr lang="en-US" sz="2800" dirty="0">
              <a:solidFill>
                <a:schemeClr val="bg1"/>
              </a:solidFill>
            </a:endParaRPr>
          </a:p>
          <a:p>
            <a:pPr defTabSz="457200" fontAlgn="base">
              <a:lnSpc>
                <a:spcPct val="90000"/>
              </a:lnSpc>
              <a:spcBef>
                <a:spcPct val="0"/>
              </a:spcBef>
            </a:pPr>
            <a:r>
              <a:rPr lang="en-US" sz="2800" b="1" dirty="0">
                <a:solidFill>
                  <a:schemeClr val="bg1"/>
                </a:solidFill>
              </a:rPr>
              <a:t>Symptoms: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Similar, high performance on train &amp; test sets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 fontAlgn="base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 fontAlgn="base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</a:rPr>
              <a:t>Overfitting is memorizing; </a:t>
            </a:r>
          </a:p>
          <a:p>
            <a:pPr marL="457200" indent="-457200" fontAlgn="base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</a:rPr>
              <a:t>underfitting is ignoring. </a:t>
            </a:r>
          </a:p>
          <a:p>
            <a:pPr marL="457200" indent="-457200" fontAlgn="base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</a:rPr>
              <a:t>Good modeling is learning.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AB00F5-D3C2-4680-B1B5-A23B9405470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667" t="11359" b="31061"/>
          <a:stretch/>
        </p:blipFill>
        <p:spPr>
          <a:xfrm>
            <a:off x="7548880" y="1625209"/>
            <a:ext cx="3581400" cy="3444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962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F52C9FC-7EEE-4B0C-BF38-B2F593C21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7" y="83240"/>
            <a:ext cx="913776" cy="8664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83240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  <a:cs typeface="+mn-cs"/>
              </a:rPr>
              <a:t>Unsupervised Learning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69BEA9-473A-4885-951F-4ADE212CF1A9}"/>
              </a:ext>
            </a:extLst>
          </p:cNvPr>
          <p:cNvSpPr txBox="1"/>
          <p:nvPr/>
        </p:nvSpPr>
        <p:spPr>
          <a:xfrm>
            <a:off x="371147" y="1600738"/>
            <a:ext cx="595853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chemeClr val="bg1"/>
                </a:solidFill>
              </a:rPr>
              <a:t>Definition:</a:t>
            </a:r>
          </a:p>
          <a:p>
            <a:pPr algn="just"/>
            <a:r>
              <a:rPr lang="en-US" sz="2800" dirty="0">
                <a:solidFill>
                  <a:schemeClr val="bg1"/>
                </a:solidFill>
              </a:rPr>
              <a:t>The model finds patterns or groupings in unlabeled data.</a:t>
            </a:r>
          </a:p>
          <a:p>
            <a:pPr algn="just"/>
            <a:r>
              <a:rPr lang="en-US" sz="2800" b="1" dirty="0">
                <a:solidFill>
                  <a:schemeClr val="bg1"/>
                </a:solidFill>
              </a:rPr>
              <a:t>Examples:</a:t>
            </a:r>
          </a:p>
          <a:p>
            <a:pPr algn="just"/>
            <a:r>
              <a:rPr lang="en-US" sz="2800" dirty="0">
                <a:solidFill>
                  <a:schemeClr val="bg1"/>
                </a:solidFill>
              </a:rPr>
              <a:t>Anomaly detection, Pattern Recognition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56C56E-19B6-4E9F-9A82-EFEE707C539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97"/>
          <a:stretch/>
        </p:blipFill>
        <p:spPr>
          <a:xfrm>
            <a:off x="1375983" y="3865501"/>
            <a:ext cx="3509963" cy="27835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CF185D-7BBE-4799-8F14-572656F653B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066" r="16933" b="31270"/>
          <a:stretch/>
        </p:blipFill>
        <p:spPr>
          <a:xfrm>
            <a:off x="6751013" y="3600078"/>
            <a:ext cx="5069840" cy="30489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2E907D8-3AA6-48FF-878E-08B2B13C11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6613" y="1799892"/>
            <a:ext cx="4416425" cy="204761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1681366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F52C9FC-7EEE-4B0C-BF38-B2F593C21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7" y="83240"/>
            <a:ext cx="913776" cy="8664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83240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  <a:cs typeface="+mn-cs"/>
              </a:rPr>
              <a:t>Reinforcement Learning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69BEA9-473A-4885-951F-4ADE212CF1A9}"/>
              </a:ext>
            </a:extLst>
          </p:cNvPr>
          <p:cNvSpPr txBox="1"/>
          <p:nvPr/>
        </p:nvSpPr>
        <p:spPr>
          <a:xfrm>
            <a:off x="371147" y="1600738"/>
            <a:ext cx="629381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chemeClr val="bg1"/>
                </a:solidFill>
              </a:rPr>
              <a:t>Definition:</a:t>
            </a:r>
          </a:p>
          <a:p>
            <a:pPr algn="just"/>
            <a:r>
              <a:rPr lang="en-US" sz="2800" dirty="0">
                <a:solidFill>
                  <a:schemeClr val="bg1"/>
                </a:solidFill>
              </a:rPr>
              <a:t>The model learns by interacting with an environment and receiving rewards or penalties. </a:t>
            </a:r>
          </a:p>
          <a:p>
            <a:pPr algn="just"/>
            <a:r>
              <a:rPr lang="en-US" sz="2800" b="1" dirty="0">
                <a:solidFill>
                  <a:schemeClr val="bg1"/>
                </a:solidFill>
              </a:rPr>
              <a:t>Examples:</a:t>
            </a:r>
          </a:p>
          <a:p>
            <a:pPr algn="just"/>
            <a:r>
              <a:rPr lang="en-US" sz="2800" dirty="0">
                <a:solidFill>
                  <a:schemeClr val="bg1"/>
                </a:solidFill>
              </a:rPr>
              <a:t>Game-playing AI (e.g., AlphaGo), robotic navigation.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F40194-55B7-4091-AED9-7F97E728EC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7090" y="4379468"/>
            <a:ext cx="4425950" cy="24785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5246ECE-A085-4473-AB05-B2BEAC79AFE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33"/>
          <a:stretch/>
        </p:blipFill>
        <p:spPr>
          <a:xfrm>
            <a:off x="7601268" y="3923983"/>
            <a:ext cx="3397630" cy="293401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36C80E4-4410-44BF-9265-BBC892D717E9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13"/>
          <a:stretch/>
        </p:blipFill>
        <p:spPr>
          <a:xfrm>
            <a:off x="7413001" y="1600738"/>
            <a:ext cx="4407852" cy="201967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95586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F52C9FC-7EEE-4B0C-BF38-B2F593C21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7" y="83240"/>
            <a:ext cx="913776" cy="8664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83240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  <a:cs typeface="+mn-cs"/>
              </a:rPr>
              <a:t>Types of Machine Learning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D31C581-E16A-4733-AC10-3BA8D27BCB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288121"/>
              </p:ext>
            </p:extLst>
          </p:nvPr>
        </p:nvGraphicFramePr>
        <p:xfrm>
          <a:off x="939483" y="1948760"/>
          <a:ext cx="10256525" cy="3616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62899">
                  <a:extLst>
                    <a:ext uri="{9D8B030D-6E8A-4147-A177-3AD203B41FA5}">
                      <a16:colId xmlns:a16="http://schemas.microsoft.com/office/drawing/2014/main" val="3323337137"/>
                    </a:ext>
                  </a:extLst>
                </a:gridCol>
                <a:gridCol w="2292827">
                  <a:extLst>
                    <a:ext uri="{9D8B030D-6E8A-4147-A177-3AD203B41FA5}">
                      <a16:colId xmlns:a16="http://schemas.microsoft.com/office/drawing/2014/main" val="2680466239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42742815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3617457792"/>
                    </a:ext>
                  </a:extLst>
                </a:gridCol>
                <a:gridCol w="2560319">
                  <a:extLst>
                    <a:ext uri="{9D8B030D-6E8A-4147-A177-3AD203B41FA5}">
                      <a16:colId xmlns:a16="http://schemas.microsoft.com/office/drawing/2014/main" val="3113853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400" b="1" dirty="0">
                          <a:solidFill>
                            <a:srgbClr val="002060"/>
                          </a:solidFill>
                          <a:effectLst/>
                          <a:latin typeface="inherit"/>
                        </a:rPr>
                        <a:t>Type</a:t>
                      </a:r>
                    </a:p>
                  </a:txBody>
                  <a:tcPr marL="76200" marR="76200" marT="50800" marB="5080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400" b="1" dirty="0">
                          <a:solidFill>
                            <a:srgbClr val="002060"/>
                          </a:solidFill>
                          <a:effectLst/>
                          <a:latin typeface="inherit"/>
                        </a:rPr>
                        <a:t>Core Idea</a:t>
                      </a:r>
                    </a:p>
                  </a:txBody>
                  <a:tcPr marL="76200" marR="76200" marT="50800" marB="508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400" b="1" dirty="0">
                          <a:solidFill>
                            <a:srgbClr val="002060"/>
                          </a:solidFill>
                          <a:effectLst/>
                          <a:latin typeface="inherit"/>
                        </a:rPr>
                        <a:t>Typical Data</a:t>
                      </a:r>
                    </a:p>
                  </a:txBody>
                  <a:tcPr marL="76200" marR="76200" marT="50800" marB="5080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400" b="1" dirty="0">
                          <a:solidFill>
                            <a:srgbClr val="002060"/>
                          </a:solidFill>
                          <a:effectLst/>
                          <a:latin typeface="inherit"/>
                        </a:rPr>
                        <a:t>Use-Cases</a:t>
                      </a:r>
                    </a:p>
                  </a:txBody>
                  <a:tcPr marL="76200" marR="76200" marT="50800" marB="5080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400" b="1" dirty="0">
                          <a:solidFill>
                            <a:srgbClr val="002060"/>
                          </a:solidFill>
                          <a:effectLst/>
                          <a:latin typeface="inherit"/>
                        </a:rPr>
                        <a:t>Key Algorithms</a:t>
                      </a:r>
                    </a:p>
                  </a:txBody>
                  <a:tcPr marL="76200" marR="76200" marT="50800" marB="508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720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457200" rtl="0" eaLnBrk="1" fontAlgn="base" latinLnBrk="0" hangingPunct="1"/>
                      <a:r>
                        <a:rPr lang="en-US" sz="1800" b="1" kern="1200" dirty="0">
                          <a:solidFill>
                            <a:schemeClr val="bg1"/>
                          </a:solidFill>
                          <a:effectLst/>
                        </a:rPr>
                        <a:t>Supervised</a:t>
                      </a:r>
                      <a:endParaRPr lang="en-US" sz="1800" b="1" kern="1200" dirty="0">
                        <a:solidFill>
                          <a:schemeClr val="bg1"/>
                        </a:solidFill>
                        <a:effectLst/>
                        <a:latin typeface="inherit"/>
                        <a:ea typeface="+mn-ea"/>
                        <a:cs typeface="+mn-cs"/>
                      </a:endParaRPr>
                    </a:p>
                  </a:txBody>
                  <a:tcPr marL="76200" marR="76200" marT="50800" marB="5080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fontAlgn="base" latinLnBrk="0" hangingPunct="1"/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</a:rPr>
                        <a:t>Learn from labeled examples (input + correct output).</a:t>
                      </a:r>
                      <a:endParaRPr lang="en-US" sz="1800" b="1" kern="1200" dirty="0">
                        <a:solidFill>
                          <a:schemeClr val="bg1"/>
                        </a:solidFill>
                        <a:effectLst/>
                        <a:latin typeface="inherit"/>
                        <a:ea typeface="+mn-ea"/>
                        <a:cs typeface="+mn-cs"/>
                      </a:endParaRPr>
                    </a:p>
                  </a:txBody>
                  <a:tcPr marL="76200" marR="76200" marT="50800" marB="508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fontAlgn="base" latinLnBrk="0" hangingPunct="1"/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</a:rPr>
                        <a:t>Labeled data: e.g., images tagged “cat” or “dog”.</a:t>
                      </a:r>
                      <a:endParaRPr lang="en-US" sz="1800" b="1" kern="1200" dirty="0">
                        <a:solidFill>
                          <a:schemeClr val="bg1"/>
                        </a:solidFill>
                        <a:effectLst/>
                        <a:latin typeface="inherit"/>
                        <a:ea typeface="+mn-ea"/>
                        <a:cs typeface="+mn-cs"/>
                      </a:endParaRPr>
                    </a:p>
                  </a:txBody>
                  <a:tcPr marL="76200" marR="76200" marT="50800" marB="5080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fontAlgn="base" latinLnBrk="0" hangingPunct="1"/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</a:rPr>
                        <a:t>Spam detection</a:t>
                      </a:r>
                      <a:br>
                        <a:rPr lang="en-US" sz="1800" kern="1200" dirty="0">
                          <a:solidFill>
                            <a:schemeClr val="bg1"/>
                          </a:solidFill>
                          <a:effectLst/>
                        </a:rPr>
                      </a:br>
                      <a:endParaRPr lang="en-US" sz="1800" b="1" kern="1200" dirty="0">
                        <a:solidFill>
                          <a:schemeClr val="bg1"/>
                        </a:solidFill>
                        <a:effectLst/>
                        <a:latin typeface="inherit"/>
                        <a:ea typeface="+mn-ea"/>
                        <a:cs typeface="+mn-cs"/>
                      </a:endParaRPr>
                    </a:p>
                  </a:txBody>
                  <a:tcPr marL="76200" marR="76200" marT="50800" marB="5080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fontAlgn="base" latinLnBrk="0" hangingPunct="1"/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</a:rPr>
                        <a:t>Linear / Logistic regression, Random forest, SVM</a:t>
                      </a:r>
                      <a:endParaRPr lang="en-US" sz="1800" b="1" kern="1200" dirty="0">
                        <a:solidFill>
                          <a:schemeClr val="bg1"/>
                        </a:solidFill>
                        <a:effectLst/>
                        <a:latin typeface="inherit"/>
                        <a:ea typeface="+mn-ea"/>
                        <a:cs typeface="+mn-cs"/>
                      </a:endParaRPr>
                    </a:p>
                  </a:txBody>
                  <a:tcPr marL="76200" marR="76200" marT="50800" marB="508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8914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ase"/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Unsupervised </a:t>
                      </a:r>
                      <a:endParaRPr lang="en-US" b="1" dirty="0">
                        <a:solidFill>
                          <a:schemeClr val="bg1"/>
                        </a:solidFill>
                        <a:effectLst/>
                        <a:latin typeface="inherit"/>
                      </a:endParaRPr>
                    </a:p>
                  </a:txBody>
                  <a:tcPr marL="76200" marR="76200" marT="50800" marB="5080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Discover hidden patterns without labels.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  <a:latin typeface="inherit"/>
                      </a:endParaRPr>
                    </a:p>
                  </a:txBody>
                  <a:tcPr marL="76200" marR="76200" marT="50800" marB="508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Unlabeled data.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  <a:latin typeface="inherit"/>
                      </a:endParaRPr>
                    </a:p>
                  </a:txBody>
                  <a:tcPr marL="76200" marR="76200" marT="50800" marB="5080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Customer segmentation</a:t>
                      </a:r>
                      <a:b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</a:br>
                      <a:endParaRPr lang="en-US" dirty="0">
                        <a:solidFill>
                          <a:schemeClr val="bg1"/>
                        </a:solidFill>
                        <a:effectLst/>
                        <a:latin typeface="inherit"/>
                      </a:endParaRPr>
                    </a:p>
                  </a:txBody>
                  <a:tcPr marL="76200" marR="76200" marT="50800" marB="5080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K-Means, DBSCAN,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  <a:effectLst/>
                        </a:rPr>
                        <a:t>Apriori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  <a:latin typeface="inherit"/>
                      </a:endParaRPr>
                    </a:p>
                  </a:txBody>
                  <a:tcPr marL="76200" marR="76200" marT="50800" marB="508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239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ase"/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Semi-Supervised </a:t>
                      </a:r>
                      <a:endParaRPr lang="en-US" b="1" dirty="0">
                        <a:solidFill>
                          <a:schemeClr val="bg1"/>
                        </a:solidFill>
                        <a:effectLst/>
                        <a:latin typeface="inherit"/>
                      </a:endParaRPr>
                    </a:p>
                  </a:txBody>
                  <a:tcPr marL="76200" marR="76200" marT="50800" marB="5080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Small labeled set + large unlabeled set.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  <a:latin typeface="inherit"/>
                      </a:endParaRPr>
                    </a:p>
                  </a:txBody>
                  <a:tcPr marL="76200" marR="76200" marT="50800" marB="508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Mix of the above.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  <a:latin typeface="inherit"/>
                      </a:endParaRPr>
                    </a:p>
                  </a:txBody>
                  <a:tcPr marL="76200" marR="76200" marT="50800" marB="5080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Fraud detection</a:t>
                      </a:r>
                      <a:b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</a:br>
                      <a:endParaRPr lang="en-US" dirty="0">
                        <a:solidFill>
                          <a:schemeClr val="bg1"/>
                        </a:solidFill>
                        <a:effectLst/>
                        <a:latin typeface="inherit"/>
                      </a:endParaRPr>
                    </a:p>
                  </a:txBody>
                  <a:tcPr marL="76200" marR="76200" marT="50800" marB="5080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Self-training, Label propagation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  <a:latin typeface="inherit"/>
                      </a:endParaRPr>
                    </a:p>
                  </a:txBody>
                  <a:tcPr marL="76200" marR="76200" marT="50800" marB="508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646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ase"/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Reinforcement </a:t>
                      </a:r>
                      <a:endParaRPr lang="en-US" b="1" dirty="0">
                        <a:solidFill>
                          <a:schemeClr val="bg1"/>
                        </a:solidFill>
                        <a:effectLst/>
                        <a:latin typeface="inherit"/>
                      </a:endParaRPr>
                    </a:p>
                  </a:txBody>
                  <a:tcPr marL="76200" marR="76200" marT="50800" marB="5080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Agent learns by trial-and-error via rewards.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  <a:latin typeface="inherit"/>
                      </a:endParaRPr>
                    </a:p>
                  </a:txBody>
                  <a:tcPr marL="76200" marR="76200" marT="50800" marB="508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Environment + reward signals.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  <a:latin typeface="inherit"/>
                      </a:endParaRPr>
                    </a:p>
                  </a:txBody>
                  <a:tcPr marL="76200" marR="76200" marT="50800" marB="5080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Game playing</a:t>
                      </a:r>
                      <a:b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</a:br>
                      <a:endParaRPr lang="en-US" dirty="0">
                        <a:solidFill>
                          <a:schemeClr val="bg1"/>
                        </a:solidFill>
                        <a:effectLst/>
                        <a:latin typeface="inherit"/>
                      </a:endParaRPr>
                    </a:p>
                  </a:txBody>
                  <a:tcPr marL="76200" marR="76200" marT="50800" marB="5080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Q-Learning, Deep RL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  <a:latin typeface="inherit"/>
                      </a:endParaRPr>
                    </a:p>
                  </a:txBody>
                  <a:tcPr marL="76200" marR="76200" marT="50800" marB="508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1737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84691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BBE9C5C-6569-4C5C-98FD-4514941A1A59}"/>
              </a:ext>
            </a:extLst>
          </p:cNvPr>
          <p:cNvSpPr/>
          <p:nvPr/>
        </p:nvSpPr>
        <p:spPr>
          <a:xfrm rot="2700000">
            <a:off x="4776987" y="1498228"/>
            <a:ext cx="2013391" cy="2013391"/>
          </a:xfrm>
          <a:prstGeom prst="roundRect">
            <a:avLst>
              <a:gd name="adj" fmla="val 20464"/>
            </a:avLst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06BA146-A655-415F-8DCE-ED10500F28D3}"/>
              </a:ext>
            </a:extLst>
          </p:cNvPr>
          <p:cNvSpPr/>
          <p:nvPr/>
        </p:nvSpPr>
        <p:spPr>
          <a:xfrm rot="2700000">
            <a:off x="6838259" y="3069049"/>
            <a:ext cx="1719112" cy="1719112"/>
          </a:xfrm>
          <a:prstGeom prst="roundRect">
            <a:avLst>
              <a:gd name="adj" fmla="val 20464"/>
            </a:avLst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F5C243C-8AFA-48C1-BC37-34FA15F457A4}"/>
              </a:ext>
            </a:extLst>
          </p:cNvPr>
          <p:cNvSpPr/>
          <p:nvPr/>
        </p:nvSpPr>
        <p:spPr>
          <a:xfrm rot="2700000" flipV="1">
            <a:off x="4540879" y="4118095"/>
            <a:ext cx="952612" cy="952612"/>
          </a:xfrm>
          <a:prstGeom prst="roundRect">
            <a:avLst>
              <a:gd name="adj" fmla="val 20464"/>
            </a:avLst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7236F8A-92A8-462D-9C5C-EBB0391EE255}"/>
              </a:ext>
            </a:extLst>
          </p:cNvPr>
          <p:cNvSpPr/>
          <p:nvPr/>
        </p:nvSpPr>
        <p:spPr>
          <a:xfrm rot="2700000">
            <a:off x="4873774" y="2476034"/>
            <a:ext cx="2632087" cy="2632087"/>
          </a:xfrm>
          <a:prstGeom prst="roundRect">
            <a:avLst>
              <a:gd name="adj" fmla="val 19126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72742A2-6260-4172-8D34-B3FEEEF9BC92}"/>
              </a:ext>
            </a:extLst>
          </p:cNvPr>
          <p:cNvSpPr txBox="1">
            <a:spLocks/>
          </p:cNvSpPr>
          <p:nvPr/>
        </p:nvSpPr>
        <p:spPr>
          <a:xfrm>
            <a:off x="5052519" y="3279223"/>
            <a:ext cx="2274595" cy="1239069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IN" sz="4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THANK YOU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2A43068-9F93-4923-849F-C40C2616E5FD}"/>
              </a:ext>
            </a:extLst>
          </p:cNvPr>
          <p:cNvSpPr/>
          <p:nvPr/>
        </p:nvSpPr>
        <p:spPr>
          <a:xfrm rot="2700000">
            <a:off x="6514438" y="5459984"/>
            <a:ext cx="1597667" cy="1597667"/>
          </a:xfrm>
          <a:custGeom>
            <a:avLst/>
            <a:gdLst>
              <a:gd name="connsiteX0" fmla="*/ 89500 w 1597666"/>
              <a:gd name="connsiteY0" fmla="*/ 89500 h 1597666"/>
              <a:gd name="connsiteX1" fmla="*/ 305570 w 1597666"/>
              <a:gd name="connsiteY1" fmla="*/ 0 h 1597666"/>
              <a:gd name="connsiteX2" fmla="*/ 1292096 w 1597666"/>
              <a:gd name="connsiteY2" fmla="*/ 0 h 1597666"/>
              <a:gd name="connsiteX3" fmla="*/ 1597666 w 1597666"/>
              <a:gd name="connsiteY3" fmla="*/ 305570 h 1597666"/>
              <a:gd name="connsiteX4" fmla="*/ 1597666 w 1597666"/>
              <a:gd name="connsiteY4" fmla="*/ 828667 h 1597666"/>
              <a:gd name="connsiteX5" fmla="*/ 828667 w 1597666"/>
              <a:gd name="connsiteY5" fmla="*/ 1597666 h 1597666"/>
              <a:gd name="connsiteX6" fmla="*/ 305570 w 1597666"/>
              <a:gd name="connsiteY6" fmla="*/ 1597666 h 1597666"/>
              <a:gd name="connsiteX7" fmla="*/ 0 w 1597666"/>
              <a:gd name="connsiteY7" fmla="*/ 1292096 h 1597666"/>
              <a:gd name="connsiteX8" fmla="*/ 0 w 1597666"/>
              <a:gd name="connsiteY8" fmla="*/ 305570 h 1597666"/>
              <a:gd name="connsiteX9" fmla="*/ 89500 w 1597666"/>
              <a:gd name="connsiteY9" fmla="*/ 89500 h 1597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97666" h="1597666">
                <a:moveTo>
                  <a:pt x="89500" y="89500"/>
                </a:moveTo>
                <a:cubicBezTo>
                  <a:pt x="144796" y="34202"/>
                  <a:pt x="221189" y="0"/>
                  <a:pt x="305570" y="0"/>
                </a:cubicBezTo>
                <a:lnTo>
                  <a:pt x="1292096" y="0"/>
                </a:lnTo>
                <a:cubicBezTo>
                  <a:pt x="1460858" y="0"/>
                  <a:pt x="1597666" y="136808"/>
                  <a:pt x="1597666" y="305570"/>
                </a:cubicBezTo>
                <a:lnTo>
                  <a:pt x="1597666" y="828667"/>
                </a:lnTo>
                <a:lnTo>
                  <a:pt x="828667" y="1597666"/>
                </a:lnTo>
                <a:lnTo>
                  <a:pt x="305570" y="1597666"/>
                </a:lnTo>
                <a:cubicBezTo>
                  <a:pt x="136808" y="1597666"/>
                  <a:pt x="0" y="1460858"/>
                  <a:pt x="0" y="1292096"/>
                </a:cubicBezTo>
                <a:lnTo>
                  <a:pt x="0" y="305570"/>
                </a:lnTo>
                <a:cubicBezTo>
                  <a:pt x="0" y="221189"/>
                  <a:pt x="34202" y="144796"/>
                  <a:pt x="89500" y="89500"/>
                </a:cubicBezTo>
                <a:close/>
              </a:path>
            </a:pathLst>
          </a:custGeom>
          <a:solidFill>
            <a:schemeClr val="accent2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140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3F0C82F-60D6-4E8E-8658-1945239ECDC7}"/>
              </a:ext>
            </a:extLst>
          </p:cNvPr>
          <p:cNvSpPr/>
          <p:nvPr/>
        </p:nvSpPr>
        <p:spPr>
          <a:xfrm rot="2700000">
            <a:off x="6510290" y="359620"/>
            <a:ext cx="1597667" cy="1597667"/>
          </a:xfrm>
          <a:prstGeom prst="roundRect">
            <a:avLst>
              <a:gd name="adj" fmla="val 19126"/>
            </a:avLst>
          </a:prstGeom>
          <a:solidFill>
            <a:schemeClr val="accent2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632F3FE-74FC-4251-9C8C-0D58948AEC51}"/>
              </a:ext>
            </a:extLst>
          </p:cNvPr>
          <p:cNvSpPr/>
          <p:nvPr/>
        </p:nvSpPr>
        <p:spPr>
          <a:xfrm rot="2700000">
            <a:off x="2631201" y="2321567"/>
            <a:ext cx="1597667" cy="1597667"/>
          </a:xfrm>
          <a:prstGeom prst="roundRect">
            <a:avLst>
              <a:gd name="adj" fmla="val 19126"/>
            </a:avLst>
          </a:prstGeom>
          <a:solidFill>
            <a:schemeClr val="accent2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81B9AA9D-A8FA-472A-8829-35C9E7182704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6671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REE.pptx" id="{E781C72B-3D65-4B8D-9071-33B66AF0EF30}" vid="{3A5A58F2-9BE1-435C-B12D-88FD9BF701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Earthy inspiration</Template>
  <TotalTime>0</TotalTime>
  <Words>670</Words>
  <Application>Microsoft Office PowerPoint</Application>
  <PresentationFormat>Widescreen</PresentationFormat>
  <Paragraphs>156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Goudy Old Style</vt:lpstr>
      <vt:lpstr>inherit</vt:lpstr>
      <vt:lpstr>Wingdings</vt:lpstr>
      <vt:lpstr>Wingdings 2</vt:lpstr>
      <vt:lpstr>SlateVTI</vt:lpstr>
      <vt:lpstr>Huawei HCCDA-AI certification </vt:lpstr>
      <vt:lpstr>Machine Learning Basics</vt:lpstr>
      <vt:lpstr>What is Machine Learning?</vt:lpstr>
      <vt:lpstr>Where ML is Used Today</vt:lpstr>
      <vt:lpstr>Types of Machine Learning</vt:lpstr>
      <vt:lpstr>Supervised Learning</vt:lpstr>
      <vt:lpstr>Types of Supervised Learning Tasks</vt:lpstr>
      <vt:lpstr>Classification</vt:lpstr>
      <vt:lpstr>Binary Classification</vt:lpstr>
      <vt:lpstr>Multi-Class Classification</vt:lpstr>
      <vt:lpstr>Regression</vt:lpstr>
      <vt:lpstr>Understanding Outliers</vt:lpstr>
      <vt:lpstr>Underfitting </vt:lpstr>
      <vt:lpstr>Overfitting</vt:lpstr>
      <vt:lpstr>Just-Right Fit</vt:lpstr>
      <vt:lpstr>Unsupervised Learning</vt:lpstr>
      <vt:lpstr>Reinforcement Learning</vt:lpstr>
      <vt:lpstr>Types of Machine Learning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2025-05-18T04:39:12Z</dcterms:created>
  <dcterms:modified xsi:type="dcterms:W3CDTF">2025-07-19T18:13:29Z</dcterms:modified>
</cp:coreProperties>
</file>