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379" r:id="rId2"/>
    <p:sldId id="321" r:id="rId3"/>
    <p:sldId id="382" r:id="rId4"/>
    <p:sldId id="383" r:id="rId5"/>
    <p:sldId id="384" r:id="rId6"/>
    <p:sldId id="385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mailto:https://github.com/bahadurCorv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10" Type="http://schemas.microsoft.com/office/2007/relationships/hdphoto" Target="../media/hdphoto1.wdp"/><Relationship Id="rId4" Type="http://schemas.openxmlformats.org/officeDocument/2006/relationships/image" Target="../media/image9.jp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5128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3"/>
                </a:solidFill>
                <a:effectLst/>
              </a:rPr>
              <a:t>Introduction to LaTeX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5106ABC-BEE6-4063-AC81-226D67D1C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174809"/>
            <a:ext cx="9440034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5"/>
                </a:solidFill>
                <a:effectLst/>
              </a:rPr>
              <a:t>A Typesetting System for Research and Publications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24D3E3-467B-46E3-A72C-AEA0D5A7854C}"/>
              </a:ext>
            </a:extLst>
          </p:cNvPr>
          <p:cNvGrpSpPr/>
          <p:nvPr/>
        </p:nvGrpSpPr>
        <p:grpSpPr>
          <a:xfrm>
            <a:off x="172720" y="6159025"/>
            <a:ext cx="12405360" cy="835104"/>
            <a:chOff x="172720" y="6159025"/>
            <a:chExt cx="12405360" cy="835104"/>
          </a:xfrm>
        </p:grpSpPr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0A5C0BEA-56F9-40CD-89F1-042698620EFE}"/>
                </a:ext>
              </a:extLst>
            </p:cNvPr>
            <p:cNvSpPr txBox="1">
              <a:spLocks/>
            </p:cNvSpPr>
            <p:nvPr/>
          </p:nvSpPr>
          <p:spPr>
            <a:xfrm>
              <a:off x="7741222" y="6159025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>
                  <a:solidFill>
                    <a:schemeClr val="bg1"/>
                  </a:solidFill>
                </a:rPr>
                <a:t>Instructor : Fawad Bahadur</a:t>
              </a:r>
            </a:p>
          </p:txBody>
        </p: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3F264889-F64F-4A04-96BF-53D8143898F9}"/>
                </a:ext>
              </a:extLst>
            </p:cNvPr>
            <p:cNvSpPr txBox="1">
              <a:spLocks/>
            </p:cNvSpPr>
            <p:nvPr/>
          </p:nvSpPr>
          <p:spPr>
            <a:xfrm>
              <a:off x="172720" y="6159025"/>
              <a:ext cx="2397760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chemeClr val="bg1"/>
                  </a:solidFill>
                </a:rPr>
                <a:t>Dated</a:t>
              </a:r>
              <a:r>
                <a:rPr lang="en-US" sz="2000">
                  <a:solidFill>
                    <a:schemeClr val="bg1"/>
                  </a:solidFill>
                </a:rPr>
                <a:t>: 23 Aug </a:t>
              </a:r>
              <a:r>
                <a:rPr lang="en-US" sz="2000" dirty="0">
                  <a:solidFill>
                    <a:schemeClr val="bg1"/>
                  </a:solidFill>
                </a:rPr>
                <a:t>2025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02B1E4EF-E880-408F-98F8-DFB777D8F9D6}"/>
                </a:ext>
              </a:extLst>
            </p:cNvPr>
            <p:cNvSpPr txBox="1">
              <a:spLocks/>
            </p:cNvSpPr>
            <p:nvPr/>
          </p:nvSpPr>
          <p:spPr>
            <a:xfrm>
              <a:off x="3672281" y="6437393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 err="1">
                  <a:solidFill>
                    <a:schemeClr val="accent3"/>
                  </a:solidFill>
                </a:rPr>
                <a:t>Github</a:t>
              </a:r>
              <a:r>
                <a:rPr lang="en-US" sz="2000" dirty="0">
                  <a:solidFill>
                    <a:schemeClr val="accent3"/>
                  </a:solidFill>
                </a:rPr>
                <a:t>: </a:t>
              </a:r>
              <a:r>
                <a:rPr lang="en-US" sz="2000" dirty="0" err="1">
                  <a:solidFill>
                    <a:schemeClr val="accent3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bahadurCorvit</a:t>
              </a:r>
              <a:endParaRPr lang="en-US" sz="2800" dirty="0">
                <a:solidFill>
                  <a:schemeClr val="accent3"/>
                </a:solidFill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07E2D9E-806B-4BB0-8E40-69B1F9177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423"/>
            <a:ext cx="1219200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0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D6F5805-B0B4-4DB0-A9D7-94CFAC0B0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445" y="2095213"/>
            <a:ext cx="2336687" cy="16037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What is LaTeX?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206695" y="1885144"/>
            <a:ext cx="82397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A document preparation system widely used in academia.</a:t>
            </a:r>
          </a:p>
          <a:p>
            <a:pPr marL="342900" indent="-342900">
              <a:buFont typeface="Goudy Old Style" panose="02020502050305020303" pitchFamily="18" charset="0"/>
              <a:buChar char="–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Based on </a:t>
            </a:r>
            <a:r>
              <a:rPr lang="en-US" sz="2400" dirty="0" err="1">
                <a:solidFill>
                  <a:schemeClr val="bg1"/>
                </a:solidFill>
              </a:rPr>
              <a:t>TeX</a:t>
            </a:r>
            <a:r>
              <a:rPr lang="en-US" sz="2400" dirty="0">
                <a:solidFill>
                  <a:schemeClr val="bg1"/>
                </a:solidFill>
              </a:rPr>
              <a:t>, created by Donald Knuth.</a:t>
            </a:r>
          </a:p>
          <a:p>
            <a:pPr marL="342900" indent="-342900">
              <a:buFont typeface="Goudy Old Style" panose="02020502050305020303" pitchFamily="18" charset="0"/>
              <a:buChar char="–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Ideal for scientific writing, research papers, thesis, and books.</a:t>
            </a:r>
          </a:p>
          <a:p>
            <a:pPr marL="342900" indent="-342900">
              <a:buFont typeface="Goudy Old Style" panose="02020502050305020303" pitchFamily="18" charset="0"/>
              <a:buChar char="–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Handles mathematics, references, and formatting with ease.</a:t>
            </a:r>
          </a:p>
          <a:p>
            <a:pPr marL="342900" indent="-342900">
              <a:buFont typeface="Goudy Old Style" panose="02020502050305020303" pitchFamily="18" charset="0"/>
              <a:buChar char="–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Produces professional-quality documents.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327E9-FD69-4869-B75E-18148A36E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994" y="1165225"/>
            <a:ext cx="2300288" cy="17318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E9D814-17B0-4271-8A55-C411FCF57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731" y="2961640"/>
            <a:ext cx="2377833" cy="13360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3439F5-E2E9-4CDC-8A6C-F18CBD65D7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538" y="3751673"/>
            <a:ext cx="1851694" cy="12322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14FB50D-9189-4523-8F59-9EC77C4CE3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236" y="4580056"/>
            <a:ext cx="2121328" cy="14428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17BF870-9B7B-43A4-9F53-9CECB4AD7F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865" y="5089334"/>
            <a:ext cx="2390775" cy="19145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2BD015B-0BCB-48EB-BF2C-CD20A66A8E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775" y="5373944"/>
            <a:ext cx="2480038" cy="138420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E08BB87-AD5C-4AC1-8CC0-83AC55F5B7B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976"/>
          <a:stretch/>
        </p:blipFill>
        <p:spPr>
          <a:xfrm>
            <a:off x="690880" y="5301463"/>
            <a:ext cx="1973065" cy="129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8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Why Use LaTeX?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203200" y="1590504"/>
            <a:ext cx="7630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Professional quality typesetting.</a:t>
            </a:r>
          </a:p>
          <a:p>
            <a:pPr marL="342900" indent="-342900">
              <a:buFont typeface="Goudy Old Style" panose="02020502050305020303" pitchFamily="18" charset="0"/>
              <a:buChar char="–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Handles mathematics beautifully (equations, symbols).</a:t>
            </a:r>
          </a:p>
          <a:p>
            <a:pPr marL="342900" indent="-342900">
              <a:buFont typeface="Goudy Old Style" panose="02020502050305020303" pitchFamily="18" charset="0"/>
              <a:buChar char="–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Automated referencing (bibliography, citations, cross-references).</a:t>
            </a:r>
          </a:p>
          <a:p>
            <a:pPr marL="342900" indent="-342900">
              <a:buFont typeface="Goudy Old Style" panose="02020502050305020303" pitchFamily="18" charset="0"/>
              <a:buChar char="–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Consistent formatting across large documents.</a:t>
            </a:r>
          </a:p>
          <a:p>
            <a:pPr marL="342900" indent="-342900">
              <a:buFont typeface="Goudy Old Style" panose="02020502050305020303" pitchFamily="18" charset="0"/>
              <a:buChar char="–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Widely used in academia → journals, conferences, theses.</a:t>
            </a:r>
          </a:p>
          <a:p>
            <a:pPr marL="342900" indent="-342900">
              <a:buFont typeface="Goudy Old Style" panose="02020502050305020303" pitchFamily="18" charset="0"/>
              <a:buChar char="–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Goudy Old Style" panose="02020502050305020303" pitchFamily="18" charset="0"/>
              <a:buChar char="–"/>
            </a:pPr>
            <a:r>
              <a:rPr lang="en-US" sz="2400" dirty="0">
                <a:solidFill>
                  <a:schemeClr val="bg1"/>
                </a:solidFill>
              </a:rPr>
              <a:t>Free &amp; Open Source (runs on all platforms).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79A633-BD4A-4CB1-9515-E16507414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115" y="1429758"/>
            <a:ext cx="2417421" cy="16442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D9EE59-E331-4FAD-A8C2-DADBDB5E7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849" y="5170173"/>
            <a:ext cx="2336687" cy="16037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B7203D-0970-4C73-A171-BC95AF426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12" y="3121832"/>
            <a:ext cx="2000469" cy="2000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69079C-47F0-4ACE-AD10-0224D102C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089" y="3429000"/>
            <a:ext cx="2211711" cy="15655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797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LaTeX vs MS Word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1167BB-D21E-47B5-B4CA-830FDA182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39712"/>
              </p:ext>
            </p:extLst>
          </p:nvPr>
        </p:nvGraphicFramePr>
        <p:xfrm>
          <a:off x="1062464" y="1766146"/>
          <a:ext cx="9316719" cy="3920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573">
                  <a:extLst>
                    <a:ext uri="{9D8B030D-6E8A-4147-A177-3AD203B41FA5}">
                      <a16:colId xmlns:a16="http://schemas.microsoft.com/office/drawing/2014/main" val="4058069270"/>
                    </a:ext>
                  </a:extLst>
                </a:gridCol>
                <a:gridCol w="3105573">
                  <a:extLst>
                    <a:ext uri="{9D8B030D-6E8A-4147-A177-3AD203B41FA5}">
                      <a16:colId xmlns:a16="http://schemas.microsoft.com/office/drawing/2014/main" val="1790150160"/>
                    </a:ext>
                  </a:extLst>
                </a:gridCol>
                <a:gridCol w="3105573">
                  <a:extLst>
                    <a:ext uri="{9D8B030D-6E8A-4147-A177-3AD203B41FA5}">
                      <a16:colId xmlns:a16="http://schemas.microsoft.com/office/drawing/2014/main" val="1802959899"/>
                    </a:ext>
                  </a:extLst>
                </a:gridCol>
              </a:tblGrid>
              <a:tr h="541029">
                <a:tc>
                  <a:txBody>
                    <a:bodyPr/>
                    <a:lstStyle/>
                    <a:p>
                      <a:r>
                        <a:rPr lang="en-US" sz="24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MS Word 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LaTeX 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244483"/>
                  </a:ext>
                </a:extLst>
              </a:tr>
              <a:tr h="541029">
                <a:tc>
                  <a:txBody>
                    <a:bodyPr/>
                    <a:lstStyle/>
                    <a:p>
                      <a:r>
                        <a:rPr lang="en-US" sz="2400"/>
                        <a:t>Formatting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Automatic &amp; consistent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344402"/>
                  </a:ext>
                </a:extLst>
              </a:tr>
              <a:tr h="541029">
                <a:tc>
                  <a:txBody>
                    <a:bodyPr/>
                    <a:lstStyle/>
                    <a:p>
                      <a:r>
                        <a:rPr lang="en-US" sz="2400" dirty="0"/>
                        <a:t>Equations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Basic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Advanced, professional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892034"/>
                  </a:ext>
                </a:extLst>
              </a:tr>
              <a:tr h="541029">
                <a:tc>
                  <a:txBody>
                    <a:bodyPr/>
                    <a:lstStyle/>
                    <a:p>
                      <a:r>
                        <a:rPr lang="en-US" sz="2400"/>
                        <a:t>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Automated with BibTeX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056369"/>
                  </a:ext>
                </a:extLst>
              </a:tr>
              <a:tr h="541029">
                <a:tc>
                  <a:txBody>
                    <a:bodyPr/>
                    <a:lstStyle/>
                    <a:p>
                      <a:r>
                        <a:rPr lang="en-US" sz="2400"/>
                        <a:t>Large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Hard to manage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Easy &amp; structured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270753"/>
                  </a:ext>
                </a:extLst>
              </a:tr>
              <a:tr h="933830">
                <a:tc>
                  <a:txBody>
                    <a:bodyPr/>
                    <a:lstStyle/>
                    <a:p>
                      <a:r>
                        <a:rPr lang="en-US" sz="2400"/>
                        <a:t>Output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Varies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High-quality, publisher 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386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68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First LaTeX Document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82880" y="1265384"/>
            <a:ext cx="591312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Content (Minimal Example):</a:t>
            </a:r>
          </a:p>
          <a:p>
            <a:pPr algn="just"/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\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documentclass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{article}</a:t>
            </a:r>
          </a:p>
          <a:p>
            <a:pPr algn="just"/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\begin{document}</a:t>
            </a:r>
          </a:p>
          <a:p>
            <a:pPr algn="just"/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Hello World! This is my first LaTeX document.</a:t>
            </a:r>
          </a:p>
          <a:p>
            <a:pPr algn="just"/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\end{document}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9CFD12-368D-493F-BFF1-052680AEB35E}"/>
              </a:ext>
            </a:extLst>
          </p:cNvPr>
          <p:cNvSpPr txBox="1"/>
          <p:nvPr/>
        </p:nvSpPr>
        <p:spPr>
          <a:xfrm>
            <a:off x="182880" y="4025106"/>
            <a:ext cx="59131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Explanation:</a:t>
            </a:r>
          </a:p>
          <a:p>
            <a:pPr algn="just"/>
            <a:endParaRPr lang="en-US" sz="2800" b="1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\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documentclass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{article} → Defines type of document.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\begin{document} ... \end{document} → Main content goes here.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Compile to get a PDF output.</a:t>
            </a:r>
          </a:p>
        </p:txBody>
      </p:sp>
    </p:spTree>
    <p:extLst>
      <p:ext uri="{BB962C8B-B14F-4D97-AF65-F5344CB8AC3E}">
        <p14:creationId xmlns:p14="http://schemas.microsoft.com/office/powerpoint/2010/main" val="301870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Document Structure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670560" y="1225689"/>
            <a:ext cx="35255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\</a:t>
            </a:r>
            <a:r>
              <a:rPr lang="en-US" dirty="0" err="1">
                <a:solidFill>
                  <a:schemeClr val="bg1"/>
                </a:solidFill>
              </a:rPr>
              <a:t>documentclass</a:t>
            </a:r>
            <a:r>
              <a:rPr lang="en-US" dirty="0">
                <a:solidFill>
                  <a:schemeClr val="bg1"/>
                </a:solidFill>
              </a:rPr>
              <a:t>{article}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\title{My First Paper}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\author{Your Name}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\date{\today}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\begin{document}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\</a:t>
            </a:r>
            <a:r>
              <a:rPr lang="en-US" dirty="0" err="1">
                <a:solidFill>
                  <a:schemeClr val="bg1"/>
                </a:solidFill>
              </a:rPr>
              <a:t>maketitle</a:t>
            </a:r>
            <a:r>
              <a:rPr lang="en-US" dirty="0">
                <a:solidFill>
                  <a:schemeClr val="bg1"/>
                </a:solidFill>
              </a:rPr>
              <a:t>  % Generates title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\section{Introduction}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This is the introduction.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\subsection{Background}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Here goes the background.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\section{Conclusion}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This is the conclusion.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\end{document}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F238FC-00C0-4A34-9FA6-372FD12F107A}"/>
              </a:ext>
            </a:extLst>
          </p:cNvPr>
          <p:cNvSpPr txBox="1"/>
          <p:nvPr/>
        </p:nvSpPr>
        <p:spPr>
          <a:xfrm>
            <a:off x="6167120" y="2634936"/>
            <a:ext cx="4216400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Key Points:</a:t>
            </a:r>
          </a:p>
          <a:p>
            <a:r>
              <a:rPr lang="en-US" dirty="0">
                <a:solidFill>
                  <a:schemeClr val="bg1"/>
                </a:solidFill>
              </a:rPr>
              <a:t>\title{} → Document title</a:t>
            </a:r>
          </a:p>
          <a:p>
            <a:r>
              <a:rPr lang="en-US" dirty="0">
                <a:solidFill>
                  <a:schemeClr val="bg1"/>
                </a:solidFill>
              </a:rPr>
              <a:t>\author{} → Author name(s)</a:t>
            </a:r>
          </a:p>
          <a:p>
            <a:r>
              <a:rPr lang="en-US" dirty="0">
                <a:solidFill>
                  <a:schemeClr val="bg1"/>
                </a:solidFill>
              </a:rPr>
              <a:t>\date{} → Can be \today or custom</a:t>
            </a:r>
          </a:p>
          <a:p>
            <a:r>
              <a:rPr lang="en-US" dirty="0">
                <a:solidFill>
                  <a:schemeClr val="bg1"/>
                </a:solidFill>
              </a:rPr>
              <a:t>\section{}, \subsection{} → Structure text</a:t>
            </a:r>
          </a:p>
        </p:txBody>
      </p:sp>
    </p:spTree>
    <p:extLst>
      <p:ext uri="{BB962C8B-B14F-4D97-AF65-F5344CB8AC3E}">
        <p14:creationId xmlns:p14="http://schemas.microsoft.com/office/powerpoint/2010/main" val="157667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Writing Mathematics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518160" y="1351483"/>
            <a:ext cx="4876800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Inline Math:</a:t>
            </a:r>
          </a:p>
          <a:p>
            <a:r>
              <a:rPr lang="en-US" sz="2000" dirty="0">
                <a:solidFill>
                  <a:schemeClr val="bg1"/>
                </a:solidFill>
              </a:rPr>
              <a:t>Written inside $ ... $</a:t>
            </a:r>
          </a:p>
          <a:p>
            <a:r>
              <a:rPr lang="en-US" sz="2000" dirty="0">
                <a:solidFill>
                  <a:schemeClr val="bg1"/>
                </a:solidFill>
              </a:rPr>
              <a:t>Example: Euler's identity: $e^{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\pi} + 1 = 0$</a:t>
            </a:r>
          </a:p>
          <a:p>
            <a:r>
              <a:rPr lang="en-US" sz="2000" dirty="0">
                <a:solidFill>
                  <a:schemeClr val="bg1"/>
                </a:solidFill>
              </a:rPr>
              <a:t>Output: 𝑒</a:t>
            </a:r>
            <a:r>
              <a:rPr lang="en-US" sz="2000" baseline="30000" dirty="0">
                <a:solidFill>
                  <a:schemeClr val="bg1"/>
                </a:solidFill>
              </a:rPr>
              <a:t>𝑖𝜋</a:t>
            </a:r>
            <a:r>
              <a:rPr lang="en-US" sz="2000" dirty="0">
                <a:solidFill>
                  <a:schemeClr val="bg1"/>
                </a:solidFill>
              </a:rPr>
              <a:t> + 1 = 0</a:t>
            </a:r>
            <a:endParaRPr lang="el-GR" sz="2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F238FC-00C0-4A34-9FA6-372FD12F107A}"/>
              </a:ext>
            </a:extLst>
          </p:cNvPr>
          <p:cNvSpPr txBox="1"/>
          <p:nvPr/>
        </p:nvSpPr>
        <p:spPr>
          <a:xfrm>
            <a:off x="518160" y="3021016"/>
            <a:ext cx="5466080" cy="201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Display Math:</a:t>
            </a:r>
          </a:p>
          <a:p>
            <a:r>
              <a:rPr lang="en-US" sz="2000" dirty="0">
                <a:solidFill>
                  <a:schemeClr val="bg1"/>
                </a:solidFill>
              </a:rPr>
              <a:t>Written inside \[ ... \] or equation environment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\[</a:t>
            </a:r>
          </a:p>
          <a:p>
            <a:r>
              <a:rPr lang="pt-BR" sz="2000" dirty="0">
                <a:solidFill>
                  <a:schemeClr val="bg1"/>
                </a:solidFill>
              </a:rPr>
              <a:t>a^2 + b^2 = c^2</a:t>
            </a:r>
          </a:p>
          <a:p>
            <a:r>
              <a:rPr lang="pt-BR" sz="2000" dirty="0">
                <a:solidFill>
                  <a:schemeClr val="bg1"/>
                </a:solidFill>
              </a:rPr>
              <a:t>\]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F9FA0-FBF7-40E0-988C-778F74AAC9EF}"/>
              </a:ext>
            </a:extLst>
          </p:cNvPr>
          <p:cNvSpPr txBox="1"/>
          <p:nvPr/>
        </p:nvSpPr>
        <p:spPr>
          <a:xfrm>
            <a:off x="518160" y="5164776"/>
            <a:ext cx="546608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Symbols:</a:t>
            </a:r>
            <a:endParaRPr lang="pt-BR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accent3"/>
              </a:solidFill>
              <a:latin typeface="+mj-lt"/>
              <a:ea typeface="+mj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F7FA05-A495-4F3E-A3C9-1BC6F25E6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0" y="5644907"/>
            <a:ext cx="4610620" cy="11549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FA3DB8-6775-49BB-B47E-A8A376CCCC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52"/>
          <a:stretch/>
        </p:blipFill>
        <p:spPr>
          <a:xfrm>
            <a:off x="6980932" y="2247239"/>
            <a:ext cx="3619500" cy="35665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8527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Figures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47040" y="1493723"/>
            <a:ext cx="7406640" cy="252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32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Insert a Figure: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\begin{figure}[h]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\centering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\</a:t>
            </a:r>
            <a:r>
              <a:rPr lang="en-US" sz="2400" dirty="0" err="1">
                <a:solidFill>
                  <a:schemeClr val="bg1"/>
                </a:solidFill>
              </a:rPr>
              <a:t>includegraphics</a:t>
            </a:r>
            <a:r>
              <a:rPr lang="en-US" sz="2400" dirty="0">
                <a:solidFill>
                  <a:schemeClr val="bg1"/>
                </a:solidFill>
              </a:rPr>
              <a:t>[width=0.5\</a:t>
            </a:r>
            <a:r>
              <a:rPr lang="en-US" sz="2400" dirty="0" err="1">
                <a:solidFill>
                  <a:schemeClr val="bg1"/>
                </a:solidFill>
              </a:rPr>
              <a:t>textwidth</a:t>
            </a:r>
            <a:r>
              <a:rPr lang="en-US" sz="2400" dirty="0">
                <a:solidFill>
                  <a:schemeClr val="bg1"/>
                </a:solidFill>
              </a:rPr>
              <a:t>]{image.png}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\caption{An example figure}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\label{</a:t>
            </a:r>
            <a:r>
              <a:rPr lang="en-US" sz="2400" dirty="0" err="1">
                <a:solidFill>
                  <a:schemeClr val="bg1"/>
                </a:solidFill>
              </a:rPr>
              <a:t>fig:sample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\end{figure}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F238FC-00C0-4A34-9FA6-372FD12F107A}"/>
              </a:ext>
            </a:extLst>
          </p:cNvPr>
          <p:cNvSpPr txBox="1"/>
          <p:nvPr/>
        </p:nvSpPr>
        <p:spPr>
          <a:xfrm>
            <a:off x="314960" y="4764112"/>
            <a:ext cx="7538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\</a:t>
            </a:r>
            <a:r>
              <a:rPr lang="en-US" sz="2400" dirty="0" err="1">
                <a:solidFill>
                  <a:schemeClr val="bg1"/>
                </a:solidFill>
              </a:rPr>
              <a:t>includegraphics</a:t>
            </a:r>
            <a:r>
              <a:rPr lang="en-US" sz="2400" dirty="0">
                <a:solidFill>
                  <a:schemeClr val="bg1"/>
                </a:solidFill>
              </a:rPr>
              <a:t>{} → Insert image (needs </a:t>
            </a:r>
            <a:r>
              <a:rPr lang="en-US" sz="2400" dirty="0" err="1">
                <a:solidFill>
                  <a:schemeClr val="bg1"/>
                </a:solidFill>
              </a:rPr>
              <a:t>graphicx</a:t>
            </a:r>
            <a:r>
              <a:rPr lang="en-US" sz="2400" dirty="0">
                <a:solidFill>
                  <a:schemeClr val="bg1"/>
                </a:solidFill>
              </a:rPr>
              <a:t> package)</a:t>
            </a:r>
          </a:p>
          <a:p>
            <a:r>
              <a:rPr lang="en-US" sz="2400" dirty="0">
                <a:solidFill>
                  <a:schemeClr val="bg1"/>
                </a:solidFill>
              </a:rPr>
              <a:t>\caption{} → Adds caption</a:t>
            </a:r>
          </a:p>
          <a:p>
            <a:r>
              <a:rPr lang="en-US" sz="2400" dirty="0">
                <a:solidFill>
                  <a:schemeClr val="bg1"/>
                </a:solidFill>
              </a:rPr>
              <a:t>\label{} → Reference figure in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AAF275-F52F-4530-9E3F-959A8F798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102" y="1493723"/>
            <a:ext cx="3238818" cy="48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5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Tables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36880" y="1291847"/>
            <a:ext cx="7406640" cy="3859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Insert a Table: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\begin{table}[h]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\centering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\begin{tabular}{|</a:t>
            </a:r>
            <a:r>
              <a:rPr lang="en-US" sz="2400" dirty="0" err="1">
                <a:solidFill>
                  <a:schemeClr val="bg1"/>
                </a:solidFill>
              </a:rPr>
              <a:t>c|c</a:t>
            </a:r>
            <a:r>
              <a:rPr lang="en-US" sz="2400" dirty="0">
                <a:solidFill>
                  <a:schemeClr val="bg1"/>
                </a:solidFill>
              </a:rPr>
              <a:t>|}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    \</a:t>
            </a:r>
            <a:r>
              <a:rPr lang="en-US" sz="2400" dirty="0" err="1">
                <a:solidFill>
                  <a:schemeClr val="bg1"/>
                </a:solidFill>
              </a:rPr>
              <a:t>hline</a:t>
            </a: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    A &amp; B \\ \</a:t>
            </a:r>
            <a:r>
              <a:rPr lang="en-US" sz="2400" dirty="0" err="1">
                <a:solidFill>
                  <a:schemeClr val="bg1"/>
                </a:solidFill>
              </a:rPr>
              <a:t>hline</a:t>
            </a: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    1 &amp; 2 \\ \</a:t>
            </a:r>
            <a:r>
              <a:rPr lang="en-US" sz="2400" dirty="0" err="1">
                <a:solidFill>
                  <a:schemeClr val="bg1"/>
                </a:solidFill>
              </a:rPr>
              <a:t>hline</a:t>
            </a: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\end{tabular}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\caption{Simple Table}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  \label{</a:t>
            </a:r>
            <a:r>
              <a:rPr lang="en-US" sz="2400" dirty="0" err="1">
                <a:solidFill>
                  <a:schemeClr val="bg1"/>
                </a:solidFill>
              </a:rPr>
              <a:t>tab:sample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\end{table}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0829D-1665-4745-B4FE-5EEDA3941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370" y="2483845"/>
            <a:ext cx="6269990" cy="185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3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References and Citations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36880" y="1291847"/>
            <a:ext cx="7406640" cy="5299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Step 1: Create a .bib file (e.g., </a:t>
            </a:r>
            <a:r>
              <a:rPr lang="en-US" sz="28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references.bib</a:t>
            </a: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)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@article{einstein1905,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author  = {Albert Einstein},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title   = {On the Electrodynamics of Moving Bodies},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journal = {</a:t>
            </a:r>
            <a:r>
              <a:rPr lang="en-US" sz="2400" dirty="0" err="1">
                <a:solidFill>
                  <a:schemeClr val="bg1"/>
                </a:solidFill>
              </a:rPr>
              <a:t>Annalen</a:t>
            </a:r>
            <a:r>
              <a:rPr lang="en-US" sz="2400" dirty="0">
                <a:solidFill>
                  <a:schemeClr val="bg1"/>
                </a:solidFill>
              </a:rPr>
              <a:t> der </a:t>
            </a:r>
            <a:r>
              <a:rPr lang="en-US" sz="2400" dirty="0" err="1">
                <a:solidFill>
                  <a:schemeClr val="bg1"/>
                </a:solidFill>
              </a:rPr>
              <a:t>Physik</a:t>
            </a:r>
            <a:r>
              <a:rPr lang="en-US" sz="2400" dirty="0">
                <a:solidFill>
                  <a:schemeClr val="bg1"/>
                </a:solidFill>
              </a:rPr>
              <a:t>},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year    = {1905}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Step 2: Cite in Your Document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Einstein introduced relativity in \cite{einstein1905}.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accent3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Step 3: Add Bibliography Section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</a:t>
            </a:r>
            <a:r>
              <a:rPr lang="en-US" sz="2400" dirty="0" err="1">
                <a:solidFill>
                  <a:schemeClr val="bg1"/>
                </a:solidFill>
              </a:rPr>
              <a:t>bibliographystyle</a:t>
            </a:r>
            <a:r>
              <a:rPr lang="en-US" sz="2400" dirty="0">
                <a:solidFill>
                  <a:schemeClr val="bg1"/>
                </a:solidFill>
              </a:rPr>
              <a:t>{plain}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\bibliography{references}</a:t>
            </a:r>
          </a:p>
        </p:txBody>
      </p:sp>
    </p:spTree>
    <p:extLst>
      <p:ext uri="{BB962C8B-B14F-4D97-AF65-F5344CB8AC3E}">
        <p14:creationId xmlns:p14="http://schemas.microsoft.com/office/powerpoint/2010/main" val="429323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Useful LaTeX Packages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36880" y="1291847"/>
            <a:ext cx="74066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Mathematics &amp; Symbols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</a:t>
            </a:r>
            <a:r>
              <a:rPr lang="en-US" sz="2400" dirty="0" err="1">
                <a:solidFill>
                  <a:schemeClr val="bg1"/>
                </a:solidFill>
              </a:rPr>
              <a:t>usepackage</a:t>
            </a:r>
            <a:r>
              <a:rPr lang="en-US" sz="2400" dirty="0">
                <a:solidFill>
                  <a:schemeClr val="bg1"/>
                </a:solidFill>
              </a:rPr>
              <a:t>{</a:t>
            </a:r>
            <a:r>
              <a:rPr lang="en-US" sz="2400" dirty="0" err="1">
                <a:solidFill>
                  <a:schemeClr val="bg1"/>
                </a:solidFill>
              </a:rPr>
              <a:t>amsmath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amssymb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Figures &amp; Graphics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</a:t>
            </a:r>
            <a:r>
              <a:rPr lang="en-US" sz="2400" dirty="0" err="1">
                <a:solidFill>
                  <a:schemeClr val="bg1"/>
                </a:solidFill>
              </a:rPr>
              <a:t>usepackage</a:t>
            </a:r>
            <a:r>
              <a:rPr lang="en-US" sz="2400" dirty="0">
                <a:solidFill>
                  <a:schemeClr val="bg1"/>
                </a:solidFill>
              </a:rPr>
              <a:t>{</a:t>
            </a:r>
            <a:r>
              <a:rPr lang="en-US" sz="2400" dirty="0" err="1">
                <a:solidFill>
                  <a:schemeClr val="bg1"/>
                </a:solidFill>
              </a:rPr>
              <a:t>graphicx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accent3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References &amp; Hyperlinks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</a:t>
            </a:r>
            <a:r>
              <a:rPr lang="en-US" sz="2400" dirty="0" err="1">
                <a:solidFill>
                  <a:schemeClr val="bg1"/>
                </a:solidFill>
              </a:rPr>
              <a:t>usepackage</a:t>
            </a:r>
            <a:r>
              <a:rPr lang="en-US" sz="2400" dirty="0">
                <a:solidFill>
                  <a:schemeClr val="bg1"/>
                </a:solidFill>
              </a:rPr>
              <a:t>{</a:t>
            </a:r>
            <a:r>
              <a:rPr lang="en-US" sz="2400" dirty="0" err="1">
                <a:solidFill>
                  <a:schemeClr val="bg1"/>
                </a:solidFill>
              </a:rPr>
              <a:t>hyperref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Better Tables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</a:t>
            </a:r>
            <a:r>
              <a:rPr lang="en-US" sz="2400" dirty="0" err="1">
                <a:solidFill>
                  <a:schemeClr val="bg1"/>
                </a:solidFill>
              </a:rPr>
              <a:t>usepackage</a:t>
            </a:r>
            <a:r>
              <a:rPr lang="en-US" sz="2400" dirty="0">
                <a:solidFill>
                  <a:schemeClr val="bg1"/>
                </a:solidFill>
              </a:rPr>
              <a:t>{</a:t>
            </a:r>
            <a:r>
              <a:rPr lang="en-US" sz="2400" dirty="0" err="1">
                <a:solidFill>
                  <a:schemeClr val="bg1"/>
                </a:solidFill>
              </a:rPr>
              <a:t>booktabs</a:t>
            </a: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accent3"/>
              </a:solidFill>
              <a:latin typeface="+mj-lt"/>
              <a:ea typeface="+mj-ea"/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Page Layout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</a:t>
            </a:r>
            <a:r>
              <a:rPr lang="en-US" sz="2400" dirty="0" err="1">
                <a:solidFill>
                  <a:schemeClr val="bg1"/>
                </a:solidFill>
              </a:rPr>
              <a:t>usepackage</a:t>
            </a:r>
            <a:r>
              <a:rPr lang="en-US" sz="2400" dirty="0">
                <a:solidFill>
                  <a:schemeClr val="bg1"/>
                </a:solidFill>
              </a:rPr>
              <a:t>{geometry}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accent3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3152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Advanced Features in LaTeX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365760" y="1225689"/>
            <a:ext cx="7406640" cy="552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Cross-References: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As shown in Figure~\ref{</a:t>
            </a:r>
            <a:r>
              <a:rPr lang="en-US" sz="2400" dirty="0" err="1">
                <a:solidFill>
                  <a:schemeClr val="bg1"/>
                </a:solidFill>
              </a:rPr>
              <a:t>fig:sample</a:t>
            </a:r>
            <a:r>
              <a:rPr lang="en-US" sz="2400" dirty="0">
                <a:solidFill>
                  <a:schemeClr val="bg1"/>
                </a:solidFill>
              </a:rPr>
              <a:t>}, results are significant.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\label{} + \ref{} → Auto numbering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/>
                </a:solidFill>
                <a:latin typeface="+mj-lt"/>
                <a:ea typeface="+mj-ea"/>
              </a:rPr>
              <a:t>Lists: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\begin{itemize}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\item First point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\item Second point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\end{itemize}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</a:endParaRP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\begin{enumerate}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\item Step one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  \item Step two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\end{enumerate}</a:t>
            </a:r>
          </a:p>
        </p:txBody>
      </p:sp>
    </p:spTree>
    <p:extLst>
      <p:ext uri="{BB962C8B-B14F-4D97-AF65-F5344CB8AC3E}">
        <p14:creationId xmlns:p14="http://schemas.microsoft.com/office/powerpoint/2010/main" val="109418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Tips &amp; Best Practices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93040" y="1495172"/>
            <a:ext cx="75285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Keep each chapter/section in a separate .</a:t>
            </a:r>
            <a:r>
              <a:rPr lang="en-US" sz="2400" dirty="0" err="1">
                <a:solidFill>
                  <a:schemeClr val="bg1"/>
                </a:solidFill>
              </a:rPr>
              <a:t>tex</a:t>
            </a:r>
            <a:r>
              <a:rPr lang="en-US" sz="2400" dirty="0">
                <a:solidFill>
                  <a:schemeClr val="bg1"/>
                </a:solidFill>
              </a:rPr>
              <a:t> file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Always use version control (Git) for collaborative writing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Learn to use a reference manager (</a:t>
            </a:r>
            <a:r>
              <a:rPr lang="en-US" sz="2400" dirty="0" err="1">
                <a:solidFill>
                  <a:schemeClr val="bg1"/>
                </a:solidFill>
              </a:rPr>
              <a:t>JabRef</a:t>
            </a:r>
            <a:r>
              <a:rPr lang="en-US" sz="2400" dirty="0">
                <a:solidFill>
                  <a:schemeClr val="bg1"/>
                </a:solidFill>
              </a:rPr>
              <a:t>, Zotero, Mendeley) with </a:t>
            </a:r>
            <a:r>
              <a:rPr lang="en-US" sz="2400" dirty="0" err="1">
                <a:solidFill>
                  <a:schemeClr val="bg1"/>
                </a:solidFill>
              </a:rPr>
              <a:t>BibTeX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 Overleaf for online editing &amp; collaboration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Comment code with % to stay organized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 packages only when needed → avoids conflicts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Always compile twice if references don’t appear</a:t>
            </a:r>
          </a:p>
        </p:txBody>
      </p:sp>
    </p:spTree>
    <p:extLst>
      <p:ext uri="{BB962C8B-B14F-4D97-AF65-F5344CB8AC3E}">
        <p14:creationId xmlns:p14="http://schemas.microsoft.com/office/powerpoint/2010/main" val="399683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Summary &amp; Conclusion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162560" y="1698372"/>
            <a:ext cx="75285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LaTeX is a powerful tool for academic writing.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Produces professional-quality documents (papers, theses, books).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Handles math, references, figures, and large documents with 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Widely used in research, publishing, and academia.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Learning LaTeX saves time &amp; ensures consistency.</a:t>
            </a:r>
          </a:p>
        </p:txBody>
      </p:sp>
    </p:spTree>
    <p:extLst>
      <p:ext uri="{BB962C8B-B14F-4D97-AF65-F5344CB8AC3E}">
        <p14:creationId xmlns:p14="http://schemas.microsoft.com/office/powerpoint/2010/main" val="332352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874</Words>
  <Application>Microsoft Office PowerPoint</Application>
  <PresentationFormat>Widescreen</PresentationFormat>
  <Paragraphs>193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Goudy Old Style</vt:lpstr>
      <vt:lpstr>Wingdings 2</vt:lpstr>
      <vt:lpstr>SlateVTI</vt:lpstr>
      <vt:lpstr>Introduction to LaTeX</vt:lpstr>
      <vt:lpstr>What is LaTeX?</vt:lpstr>
      <vt:lpstr>Why Use LaTeX?</vt:lpstr>
      <vt:lpstr>LaTeX vs MS Word</vt:lpstr>
      <vt:lpstr>First LaTeX Document</vt:lpstr>
      <vt:lpstr>Document Structure</vt:lpstr>
      <vt:lpstr>Writing Mathematics</vt:lpstr>
      <vt:lpstr>Figures</vt:lpstr>
      <vt:lpstr>Tables</vt:lpstr>
      <vt:lpstr>References and Citations</vt:lpstr>
      <vt:lpstr>Useful LaTeX Packages</vt:lpstr>
      <vt:lpstr>Advanced Features in LaTeX</vt:lpstr>
      <vt:lpstr>Tips &amp; Best Practices</vt:lpstr>
      <vt:lpstr>Summary &amp;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2025-08-23T09:40:26Z</dcterms:modified>
</cp:coreProperties>
</file>