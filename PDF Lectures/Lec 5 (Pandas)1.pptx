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05" r:id="rId1"/>
  </p:sldMasterIdLst>
  <p:sldIdLst>
    <p:sldId id="259" r:id="rId2"/>
    <p:sldId id="360" r:id="rId3"/>
    <p:sldId id="377" r:id="rId4"/>
    <p:sldId id="361" r:id="rId5"/>
    <p:sldId id="378" r:id="rId6"/>
    <p:sldId id="362" r:id="rId7"/>
    <p:sldId id="323" r:id="rId8"/>
    <p:sldId id="363" r:id="rId9"/>
    <p:sldId id="325" r:id="rId10"/>
    <p:sldId id="365" r:id="rId11"/>
    <p:sldId id="366" r:id="rId12"/>
    <p:sldId id="374" r:id="rId13"/>
    <p:sldId id="375" r:id="rId14"/>
    <p:sldId id="367" r:id="rId15"/>
    <p:sldId id="368" r:id="rId16"/>
    <p:sldId id="370" r:id="rId17"/>
    <p:sldId id="379" r:id="rId18"/>
    <p:sldId id="347" r:id="rId19"/>
    <p:sldId id="369" r:id="rId20"/>
    <p:sldId id="349" r:id="rId21"/>
    <p:sldId id="324" r:id="rId22"/>
    <p:sldId id="328" r:id="rId23"/>
    <p:sldId id="358" r:id="rId24"/>
    <p:sldId id="357" r:id="rId25"/>
    <p:sldId id="356" r:id="rId26"/>
    <p:sldId id="320" r:id="rId27"/>
    <p:sldId id="26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578"/>
    <a:srgbClr val="D3074B"/>
    <a:srgbClr val="26B481"/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32" y="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12CEC21-FD8E-4D6C-A2FA-43FC25C62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883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6/24/2025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  <p:sldLayoutId id="2147483717" r:id="rId18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4.wdp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microsoft.com/office/2007/relationships/hdphoto" Target="../media/hdphoto5.wdp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microsoft.com/office/2007/relationships/hdphoto" Target="../media/hdphoto6.wdp"/><Relationship Id="rId5" Type="http://schemas.openxmlformats.org/officeDocument/2006/relationships/image" Target="../media/image26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7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7.pn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jpe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" y="1087120"/>
            <a:ext cx="11440160" cy="2648381"/>
          </a:xfrm>
        </p:spPr>
        <p:txBody>
          <a:bodyPr>
            <a:normAutofit/>
          </a:bodyPr>
          <a:lstStyle/>
          <a:p>
            <a:r>
              <a:rPr lang="en-US" sz="6000" b="1" dirty="0">
                <a:solidFill>
                  <a:srgbClr val="2E6578"/>
                </a:solidFill>
                <a:cs typeface="+mn-cs"/>
              </a:rPr>
              <a:t>Huawei HCCDA-AI certification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65A546-6983-47B1-B200-0DD172AAA774}"/>
              </a:ext>
            </a:extLst>
          </p:cNvPr>
          <p:cNvSpPr/>
          <p:nvPr/>
        </p:nvSpPr>
        <p:spPr>
          <a:xfrm>
            <a:off x="5709709" y="4907280"/>
            <a:ext cx="762000" cy="762000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87120"/>
            <a:ext cx="12192000" cy="2648381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Mastering Pandas: From Basics to Expert Level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910649"/>
            <a:ext cx="9440034" cy="1397951"/>
          </a:xfrm>
        </p:spPr>
        <p:txBody>
          <a:bodyPr>
            <a:normAutofit/>
          </a:bodyPr>
          <a:lstStyle/>
          <a:p>
            <a:r>
              <a:rPr lang="en-US" sz="3200" b="1" u="sng" dirty="0">
                <a:solidFill>
                  <a:schemeClr val="tx1">
                    <a:lumMod val="50000"/>
                  </a:schemeClr>
                </a:solidFill>
                <a:effectLst/>
              </a:rPr>
              <a:t>Powerful Data Analysis &amp; Manipulation with Python 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B66FD8F-78E2-4D71-A6AD-762061E9053D}"/>
              </a:ext>
            </a:extLst>
          </p:cNvPr>
          <p:cNvSpPr txBox="1">
            <a:spLocks/>
          </p:cNvSpPr>
          <p:nvPr/>
        </p:nvSpPr>
        <p:spPr>
          <a:xfrm>
            <a:off x="7121462" y="6077745"/>
            <a:ext cx="4836858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Instructor : Fawad Bahadur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E0B58F5-D20E-4FB6-BC0A-C191F415E89F}"/>
              </a:ext>
            </a:extLst>
          </p:cNvPr>
          <p:cNvSpPr txBox="1">
            <a:spLocks/>
          </p:cNvSpPr>
          <p:nvPr/>
        </p:nvSpPr>
        <p:spPr>
          <a:xfrm>
            <a:off x="172720" y="6159025"/>
            <a:ext cx="2397760" cy="556736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000" dirty="0">
                <a:solidFill>
                  <a:schemeClr val="bg1"/>
                </a:solidFill>
              </a:rPr>
              <a:t>Dated: 14 June 2025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9E5B43-B18D-44FE-8AAE-BA6DAFA542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5091089" y="4938962"/>
            <a:ext cx="1999240" cy="73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784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Training Objectives &amp;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93FB3F-A8D4-46D3-A1C6-C79C64563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09956" y="6504690"/>
            <a:ext cx="3012121" cy="457275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Instructor : Fawad Bahadur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C458CA-3562-4692-9466-1A396CE234B3}"/>
              </a:ext>
            </a:extLst>
          </p:cNvPr>
          <p:cNvGrpSpPr/>
          <p:nvPr/>
        </p:nvGrpSpPr>
        <p:grpSpPr>
          <a:xfrm>
            <a:off x="1406463" y="1381760"/>
            <a:ext cx="9658844" cy="1063847"/>
            <a:chOff x="1406463" y="1381760"/>
            <a:chExt cx="9647617" cy="1191998"/>
          </a:xfrm>
        </p:grpSpPr>
        <p:sp>
          <p:nvSpPr>
            <p:cNvPr id="13" name="Isosceles Triangle 12">
              <a:extLst>
                <a:ext uri="{FF2B5EF4-FFF2-40B4-BE49-F238E27FC236}">
                  <a16:creationId xmlns:a16="http://schemas.microsoft.com/office/drawing/2014/main" id="{2F8926FA-2B11-44D3-9525-F7038991D380}"/>
                </a:ext>
              </a:extLst>
            </p:cNvPr>
            <p:cNvSpPr/>
            <p:nvPr/>
          </p:nvSpPr>
          <p:spPr>
            <a:xfrm rot="5400000">
              <a:off x="1379702" y="1525570"/>
              <a:ext cx="822963" cy="769441"/>
            </a:xfrm>
            <a:prstGeom prst="triangle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Lato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40F910-A1F8-4713-8081-E9A7C666E9A0}"/>
                </a:ext>
              </a:extLst>
            </p:cNvPr>
            <p:cNvSpPr/>
            <p:nvPr/>
          </p:nvSpPr>
          <p:spPr>
            <a:xfrm>
              <a:off x="1790507" y="1381760"/>
              <a:ext cx="8623493" cy="1191998"/>
            </a:xfrm>
            <a:prstGeom prst="rect">
              <a:avLst/>
            </a:prstGeom>
            <a:solidFill>
              <a:schemeClr val="tx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000" b="1" dirty="0">
                <a:solidFill>
                  <a:schemeClr val="tx1"/>
                </a:solidFill>
                <a:latin typeface="Lato"/>
                <a:ea typeface="Lato"/>
                <a:cs typeface="Lato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A74814D-8C12-4C1D-B377-2E9EB7858819}"/>
                </a:ext>
              </a:extLst>
            </p:cNvPr>
            <p:cNvSpPr txBox="1"/>
            <p:nvPr/>
          </p:nvSpPr>
          <p:spPr>
            <a:xfrm>
              <a:off x="3129280" y="1608427"/>
              <a:ext cx="792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ato"/>
                  <a:ea typeface="Lato"/>
                  <a:cs typeface="Lato"/>
                </a:rPr>
                <a:t>Understand the fundamentals of Pandas Series and </a:t>
              </a:r>
              <a:r>
                <a:rPr lang="en-US" b="1" dirty="0" err="1">
                  <a:latin typeface="Lato"/>
                  <a:ea typeface="Lato"/>
                  <a:cs typeface="Lato"/>
                </a:rPr>
                <a:t>DataFrames</a:t>
              </a:r>
              <a:r>
                <a:rPr lang="en-US" b="1" dirty="0">
                  <a:latin typeface="Lato"/>
                  <a:ea typeface="Lato"/>
                  <a:cs typeface="Lato"/>
                </a:rPr>
                <a:t> 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84D54A1B-68EA-4CD7-9E87-62D6482037B4}"/>
                </a:ext>
              </a:extLst>
            </p:cNvPr>
            <p:cNvSpPr txBox="1"/>
            <p:nvPr/>
          </p:nvSpPr>
          <p:spPr>
            <a:xfrm>
              <a:off x="2123440" y="1620993"/>
              <a:ext cx="9347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Lato"/>
                  <a:ea typeface="Lato"/>
                  <a:cs typeface="Lato"/>
                </a:rPr>
                <a:t>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9DBE74C-A62C-4C5F-8A43-6DA4340D5F1F}"/>
              </a:ext>
            </a:extLst>
          </p:cNvPr>
          <p:cNvGrpSpPr/>
          <p:nvPr/>
        </p:nvGrpSpPr>
        <p:grpSpPr>
          <a:xfrm>
            <a:off x="1487743" y="2751227"/>
            <a:ext cx="9577470" cy="1063847"/>
            <a:chOff x="1518223" y="2568841"/>
            <a:chExt cx="9566337" cy="1191998"/>
          </a:xfrm>
        </p:grpSpPr>
        <p:sp>
          <p:nvSpPr>
            <p:cNvPr id="28" name="Isosceles Triangle 27">
              <a:extLst>
                <a:ext uri="{FF2B5EF4-FFF2-40B4-BE49-F238E27FC236}">
                  <a16:creationId xmlns:a16="http://schemas.microsoft.com/office/drawing/2014/main" id="{7DF234C9-766E-4DB9-94EF-B1310B12D53E}"/>
                </a:ext>
              </a:extLst>
            </p:cNvPr>
            <p:cNvSpPr/>
            <p:nvPr/>
          </p:nvSpPr>
          <p:spPr>
            <a:xfrm rot="5400000">
              <a:off x="1491462" y="2755814"/>
              <a:ext cx="822963" cy="769441"/>
            </a:xfrm>
            <a:prstGeom prst="triangle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9D7CBFD-8FB3-4EBA-9344-61E6D9C6657B}"/>
                </a:ext>
              </a:extLst>
            </p:cNvPr>
            <p:cNvSpPr/>
            <p:nvPr/>
          </p:nvSpPr>
          <p:spPr>
            <a:xfrm>
              <a:off x="1790506" y="2568841"/>
              <a:ext cx="8623493" cy="1191998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02BF9A-3FE0-4427-B3FA-E9AD053D4CC6}"/>
                </a:ext>
              </a:extLst>
            </p:cNvPr>
            <p:cNvSpPr txBox="1"/>
            <p:nvPr/>
          </p:nvSpPr>
          <p:spPr>
            <a:xfrm>
              <a:off x="3159760" y="2798145"/>
              <a:ext cx="7924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ato"/>
                </a:rPr>
                <a:t>Perform efficient data cleaning, filtering, and transformation 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2DA57A9-0B1D-4E1E-815C-9291C87B1F15}"/>
                </a:ext>
              </a:extLst>
            </p:cNvPr>
            <p:cNvSpPr txBox="1"/>
            <p:nvPr/>
          </p:nvSpPr>
          <p:spPr>
            <a:xfrm>
              <a:off x="2123440" y="2777482"/>
              <a:ext cx="9347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Lato"/>
                  <a:ea typeface="Lato"/>
                  <a:cs typeface="Lato"/>
                </a:rPr>
                <a:t>2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5C05718-0CDC-4387-A53C-5875C92EDC44}"/>
              </a:ext>
            </a:extLst>
          </p:cNvPr>
          <p:cNvGrpSpPr/>
          <p:nvPr/>
        </p:nvGrpSpPr>
        <p:grpSpPr>
          <a:xfrm>
            <a:off x="1558865" y="4103437"/>
            <a:ext cx="8865440" cy="1063847"/>
            <a:chOff x="1558863" y="3755922"/>
            <a:chExt cx="8855135" cy="1191998"/>
          </a:xfrm>
        </p:grpSpPr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C98B90DD-AA13-4BB4-A74F-A405A711E2FE}"/>
                </a:ext>
              </a:extLst>
            </p:cNvPr>
            <p:cNvSpPr/>
            <p:nvPr/>
          </p:nvSpPr>
          <p:spPr>
            <a:xfrm rot="5400000">
              <a:off x="1532102" y="3986058"/>
              <a:ext cx="822963" cy="769441"/>
            </a:xfrm>
            <a:prstGeom prst="triangl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388D8E5-BCA7-4F7F-937C-BF49B25DD09C}"/>
                </a:ext>
              </a:extLst>
            </p:cNvPr>
            <p:cNvSpPr/>
            <p:nvPr/>
          </p:nvSpPr>
          <p:spPr>
            <a:xfrm>
              <a:off x="1790505" y="3755922"/>
              <a:ext cx="8623493" cy="1191998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6D511BB-48AC-4F5A-B371-6AAB987BEBBD}"/>
                </a:ext>
              </a:extLst>
            </p:cNvPr>
            <p:cNvSpPr txBox="1"/>
            <p:nvPr/>
          </p:nvSpPr>
          <p:spPr>
            <a:xfrm>
              <a:off x="3190240" y="3987863"/>
              <a:ext cx="72237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ato"/>
                </a:rPr>
                <a:t>Master advanced techniques like grouping, merging, reshaping, and time series handling 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165FB806-486B-40AD-BEDE-97E0BDF4D04D}"/>
                </a:ext>
              </a:extLst>
            </p:cNvPr>
            <p:cNvSpPr txBox="1"/>
            <p:nvPr/>
          </p:nvSpPr>
          <p:spPr>
            <a:xfrm>
              <a:off x="2123440" y="3936454"/>
              <a:ext cx="9347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Lato"/>
                  <a:ea typeface="Lato"/>
                  <a:cs typeface="Lato"/>
                </a:rPr>
                <a:t>3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6561706-8A25-4C46-B4FE-94C81C64BC97}"/>
              </a:ext>
            </a:extLst>
          </p:cNvPr>
          <p:cNvGrpSpPr/>
          <p:nvPr/>
        </p:nvGrpSpPr>
        <p:grpSpPr>
          <a:xfrm>
            <a:off x="1680782" y="5440843"/>
            <a:ext cx="8743377" cy="1063847"/>
            <a:chOff x="1680783" y="4943003"/>
            <a:chExt cx="8733214" cy="1191998"/>
          </a:xfrm>
        </p:grpSpPr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BF3824F3-D393-4228-A39D-97A1770BBFC0}"/>
                </a:ext>
              </a:extLst>
            </p:cNvPr>
            <p:cNvSpPr/>
            <p:nvPr/>
          </p:nvSpPr>
          <p:spPr>
            <a:xfrm rot="5400000">
              <a:off x="1654022" y="5216302"/>
              <a:ext cx="822963" cy="769441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01D9C1-B42B-4FE3-B016-4EB1EE4F9E50}"/>
                </a:ext>
              </a:extLst>
            </p:cNvPr>
            <p:cNvSpPr/>
            <p:nvPr/>
          </p:nvSpPr>
          <p:spPr>
            <a:xfrm>
              <a:off x="1790504" y="4943003"/>
              <a:ext cx="8623493" cy="119199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51F8859-FFEA-4933-BF5C-CA5218F90483}"/>
                </a:ext>
              </a:extLst>
            </p:cNvPr>
            <p:cNvSpPr txBox="1"/>
            <p:nvPr/>
          </p:nvSpPr>
          <p:spPr>
            <a:xfrm>
              <a:off x="3220720" y="5177581"/>
              <a:ext cx="718077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Lato"/>
                </a:rPr>
                <a:t>Apply Pandas to real-world data analysis, reporting, and machine learning workflows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D0397ED-BB7F-4909-B376-7611A8E0E755}"/>
                </a:ext>
              </a:extLst>
            </p:cNvPr>
            <p:cNvSpPr txBox="1"/>
            <p:nvPr/>
          </p:nvSpPr>
          <p:spPr>
            <a:xfrm>
              <a:off x="2123440" y="5095426"/>
              <a:ext cx="93472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400" b="1" dirty="0">
                  <a:latin typeface="Lato"/>
                  <a:ea typeface="Lato"/>
                  <a:cs typeface="Lato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26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Introduction to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098014"/>
            <a:ext cx="7335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What is Pandas?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Open</a:t>
            </a:r>
            <a:r>
              <a:rPr lang="en-US" sz="2000" dirty="0">
                <a:solidFill>
                  <a:schemeClr val="bg1"/>
                </a:solidFill>
                <a:latin typeface="Agency FB" panose="020B0503020202020204" pitchFamily="34" charset="0"/>
              </a:rPr>
              <a:t>-</a:t>
            </a:r>
            <a:r>
              <a:rPr lang="en-US" sz="2000" dirty="0">
                <a:solidFill>
                  <a:schemeClr val="bg1"/>
                </a:solidFill>
              </a:rPr>
              <a:t>source Python library for data manipulation and analysis.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Provides powerful data structures: Series and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Built on top of </a:t>
            </a:r>
            <a:r>
              <a:rPr lang="en-US" sz="2000" dirty="0" err="1">
                <a:solidFill>
                  <a:schemeClr val="bg1"/>
                </a:solidFill>
              </a:rPr>
              <a:t>NumPy</a:t>
            </a:r>
            <a:r>
              <a:rPr lang="en-US" sz="2000" dirty="0">
                <a:solidFill>
                  <a:schemeClr val="bg1"/>
                </a:solidFill>
              </a:rPr>
              <a:t>, designed for working with structured data.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7040" y="2465196"/>
            <a:ext cx="362712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Why Use Pandas?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Easy handling of missing data.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Flexible reshaping and pivoting.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Powerful group-by functionality.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Supports time series data.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4109774"/>
            <a:ext cx="710184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Example: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 data = {'Name': ['Alice', 'Bob', 'Charlie'], 'Age': [25, 30, 35]}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pd.DataFrame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(data)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A074D36-F9BA-4A3E-AAC1-8FCDD5DD4C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5181" y="1204678"/>
            <a:ext cx="2900331" cy="19125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1FFB828-02C5-4343-8FE2-07C5BF2F93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90" t="7673" r="6925" b="5089"/>
          <a:stretch/>
        </p:blipFill>
        <p:spPr>
          <a:xfrm>
            <a:off x="6650672" y="3556033"/>
            <a:ext cx="5425440" cy="2509838"/>
          </a:xfrm>
          <a:prstGeom prst="rect">
            <a:avLst/>
          </a:prstGeom>
        </p:spPr>
      </p:pic>
      <p:sp>
        <p:nvSpPr>
          <p:cNvPr id="23" name="Arrow: Down 22">
            <a:extLst>
              <a:ext uri="{FF2B5EF4-FFF2-40B4-BE49-F238E27FC236}">
                <a16:creationId xmlns:a16="http://schemas.microsoft.com/office/drawing/2014/main" id="{BC04BDC4-09BA-4349-ADA0-64020775D02D}"/>
              </a:ext>
            </a:extLst>
          </p:cNvPr>
          <p:cNvSpPr/>
          <p:nvPr/>
        </p:nvSpPr>
        <p:spPr>
          <a:xfrm>
            <a:off x="10802650" y="3142614"/>
            <a:ext cx="542863" cy="721043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44ACCDD-AD88-463D-88C1-9511A71CAE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386" y="5403883"/>
            <a:ext cx="3457575" cy="132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61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006308-E77C-4EBD-A0E9-08D6A2544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1847"/>
            <a:ext cx="5298758" cy="32494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2E6578"/>
                </a:solidFill>
                <a:effectLst/>
              </a:rPr>
              <a:t>Setting Up Pandas in Your Environment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261519"/>
            <a:ext cx="7335520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Pandas?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Open-source Python library for data analysis and manipulation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Built on top of NumPy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7040" y="2578628"/>
            <a:ext cx="4978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Prerequisites-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Python installed (preferably 3.6 or above)</a:t>
            </a:r>
          </a:p>
          <a:p>
            <a:pPr marL="342900" indent="-342900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pip (Python package installer)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3806850"/>
            <a:ext cx="394208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Installation Using pip: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pip install pandas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3E1B84-4119-48B1-A97B-D7B097854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AFEA9C-4E90-4497-9E85-B3E552CAAC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E41AC98A-25CC-412E-BA3E-4899148AD83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9A71AAB-49CE-4BDB-9B68-18CCF624CB2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435E064-4A78-48C6-8F08-340770FAFD60}"/>
              </a:ext>
            </a:extLst>
          </p:cNvPr>
          <p:cNvSpPr txBox="1"/>
          <p:nvPr/>
        </p:nvSpPr>
        <p:spPr>
          <a:xfrm>
            <a:off x="508000" y="4747615"/>
            <a:ext cx="3881120" cy="11633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Verify Installation: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pd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r>
              <a:rPr lang="en-US" sz="2800" dirty="0" err="1">
                <a:solidFill>
                  <a:schemeClr val="bg1"/>
                </a:solidFill>
                <a:highlight>
                  <a:srgbClr val="C0C0C0"/>
                </a:highlight>
              </a:rPr>
              <a:t>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_version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_)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6D8C3D-39D7-48BD-8927-8049406C2A0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4114800" y="4896373"/>
            <a:ext cx="4236720" cy="156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98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Series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21885" y="1912263"/>
            <a:ext cx="73355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a Series?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One-dimensional labeled array.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Can hold any data type (integers, strings, floats, etc.).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Labels (index) identify each element.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321885" y="3917674"/>
            <a:ext cx="53898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Creating a Series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 s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pd.Series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([10, 20, 30, 40], index=['a', 'b', 'c', 'd'])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print(s)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1FA7619-D879-4E5C-B6E6-3D3C3B57E8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A43D0C-E0F5-44CC-86E6-561B2AB266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B5DB256-5AB2-4461-AF0A-771E9514D94E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AD734F0-0CAF-49A3-B9F2-79C2749078F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47A7428-2BAC-45FF-B7C7-F1099811CB88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Series is the building block for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columns.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7E4113-E897-47FF-9628-4BBE49327A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4939" y="2834640"/>
            <a:ext cx="3999123" cy="28367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BA4A7A8-E4E4-41D0-8BD9-B04126C6E517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5" t="25042" r="16191" b="18027"/>
          <a:stretch/>
        </p:blipFill>
        <p:spPr>
          <a:xfrm>
            <a:off x="8514080" y="1186616"/>
            <a:ext cx="3199365" cy="1568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336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C32652A-E2C6-42E6-B495-CE11E2F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0" y="1492956"/>
            <a:ext cx="6977270" cy="37622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</a:t>
            </a:r>
            <a:r>
              <a:rPr lang="en-US" b="1" dirty="0" err="1">
                <a:solidFill>
                  <a:srgbClr val="2E6578"/>
                </a:solidFill>
                <a:cs typeface="+mn-cs"/>
              </a:rPr>
              <a:t>DataFrame</a:t>
            </a:r>
            <a:r>
              <a:rPr lang="en-US" b="1" dirty="0">
                <a:solidFill>
                  <a:srgbClr val="2E6578"/>
                </a:solidFill>
                <a:cs typeface="+mn-cs"/>
              </a:rPr>
              <a:t> Basics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628592"/>
            <a:ext cx="4978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a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DataFrame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Two-dimensional labeled data structure with columns of potentially different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Like a spreadsheet or SQL table.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366704" y="3424507"/>
            <a:ext cx="495884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Creating a </a:t>
            </a: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DataFrame</a:t>
            </a:r>
            <a:endParaRPr lang="en-US" sz="2400" b="1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2E6578"/>
              </a:solidFill>
              <a:latin typeface="+mj-lt"/>
              <a:ea typeface="+mj-ea"/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import pandas as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pd</a:t>
            </a:r>
            <a:endParaRPr lang="en-US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 data = {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'Name': ['Alice', 'Bob', 'Charlie'], 'Age': [25, 30, 35],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    'Salary': [50000, 60000, 70000]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}</a:t>
            </a:r>
          </a:p>
          <a:p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 = 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pd.DataFrame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(data)</a:t>
            </a:r>
          </a:p>
          <a:p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dirty="0">
                <a:solidFill>
                  <a:schemeClr val="bg1"/>
                </a:solidFill>
                <a:highlight>
                  <a:srgbClr val="C0C0C0"/>
                </a:highlight>
              </a:rPr>
              <a:t>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2A6195-9D9B-4CA4-8B28-1429E978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2AAA77-F801-4408-BA26-0EF5678593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C74B83CC-3CBB-4487-B678-916151D982D6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9900299-484E-48F1-BDD7-E009F13C2D59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01431DF-C55A-45DE-A7EC-0CB2784A905F}"/>
              </a:ext>
            </a:extLst>
          </p:cNvPr>
          <p:cNvSpPr txBox="1"/>
          <p:nvPr/>
        </p:nvSpPr>
        <p:spPr>
          <a:xfrm>
            <a:off x="4145282" y="5825164"/>
            <a:ext cx="396240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marL="342900" indent="-342900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is the core structure for data analysis in Pandas.</a:t>
            </a:r>
          </a:p>
        </p:txBody>
      </p:sp>
    </p:spTree>
    <p:extLst>
      <p:ext uri="{BB962C8B-B14F-4D97-AF65-F5344CB8AC3E}">
        <p14:creationId xmlns:p14="http://schemas.microsoft.com/office/powerpoint/2010/main" val="339272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Selection &amp; Indexing?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7040" y="1098014"/>
            <a:ext cx="5445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Selecting Columns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['Age']          # Single column (Series)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[['Name', 'Age']] # Multiple columns (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7040" y="2184928"/>
            <a:ext cx="425704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Selecting Rows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Using .loc (label-based)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[0]           # First row by index label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[0:2]         # Rows 0 to 2 inclusive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Using .</a:t>
            </a:r>
            <a:r>
              <a:rPr lang="en-US" sz="2000" b="1" dirty="0" err="1">
                <a:solidFill>
                  <a:schemeClr val="bg1"/>
                </a:solidFill>
              </a:rPr>
              <a:t>iloc</a:t>
            </a:r>
            <a:r>
              <a:rPr lang="en-US" sz="2000" b="1" dirty="0">
                <a:solidFill>
                  <a:schemeClr val="bg1"/>
                </a:solidFill>
              </a:rPr>
              <a:t> (integer position-based)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df.iloc</a:t>
            </a:r>
            <a:r>
              <a:rPr lang="en-US" sz="2000" dirty="0">
                <a:solidFill>
                  <a:schemeClr val="bg1"/>
                </a:solidFill>
              </a:rPr>
              <a:t>[0]          # First row by position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df.iloc</a:t>
            </a:r>
            <a:r>
              <a:rPr lang="en-US" sz="2000" dirty="0">
                <a:solidFill>
                  <a:schemeClr val="bg1"/>
                </a:solidFill>
              </a:rPr>
              <a:t>[0:2]        # Rows 0 and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5861071"/>
            <a:ext cx="479552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Aditional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Selection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df[df['Age'] &gt; 25]  # Rows where Age &gt; 25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4897896"/>
            <a:ext cx="2865120" cy="7325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Setting Values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df.loc</a:t>
            </a:r>
            <a:r>
              <a:rPr lang="en-US" sz="2000" dirty="0">
                <a:solidFill>
                  <a:schemeClr val="bg1"/>
                </a:solidFill>
              </a:rPr>
              <a:t>[1, 'Salary'] = 65000</a:t>
            </a:r>
            <a:endParaRPr lang="en-US" sz="2000" dirty="0">
              <a:solidFill>
                <a:srgbClr val="00B05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38908D-C088-41CA-876E-B65D551A3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7497EE-8504-43CB-9A5F-760F4183A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54B88526-6341-47E9-8502-C05CEF1BCEB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60D4C4-E631-491A-B1FA-B0A0DCDC2F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0BBFF1F-6685-430C-A757-C7D330A5B739}"/>
              </a:ext>
            </a:extLst>
          </p:cNvPr>
          <p:cNvSpPr txBox="1"/>
          <p:nvPr/>
        </p:nvSpPr>
        <p:spPr>
          <a:xfrm>
            <a:off x="5242560" y="5742488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.loc for label indexing and .</a:t>
            </a:r>
            <a:r>
              <a:rPr lang="en-US" sz="2000" dirty="0" err="1">
                <a:solidFill>
                  <a:schemeClr val="bg1"/>
                </a:solidFill>
              </a:rPr>
              <a:t>iloc</a:t>
            </a:r>
            <a:r>
              <a:rPr lang="en-US" sz="2000" dirty="0">
                <a:solidFill>
                  <a:schemeClr val="bg1"/>
                </a:solidFill>
              </a:rPr>
              <a:t> for positional indexing.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61E388-D2CA-40E9-8B6A-9170D51DE68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731" t="31556" r="13111" b="9098"/>
          <a:stretch/>
        </p:blipFill>
        <p:spPr>
          <a:xfrm>
            <a:off x="4871722" y="2364577"/>
            <a:ext cx="7172960" cy="32102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52810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Handling Missing Data?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443220" y="1234520"/>
            <a:ext cx="7335520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Detecting Missing Data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df.isnull</a:t>
            </a:r>
            <a:r>
              <a:rPr lang="en-US" sz="2000" dirty="0">
                <a:solidFill>
                  <a:schemeClr val="bg1"/>
                </a:solidFill>
              </a:rPr>
              <a:t>()          # Returns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of True/False for missing values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df.isnull</a:t>
            </a:r>
            <a:r>
              <a:rPr lang="en-US" sz="2000" dirty="0">
                <a:solidFill>
                  <a:schemeClr val="bg1"/>
                </a:solidFill>
              </a:rPr>
              <a:t>().sum()    # Count missing values per column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43220" y="2995484"/>
            <a:ext cx="3478540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Changing Data Types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df['Age'] = df['Age'].</a:t>
            </a:r>
            <a:r>
              <a:rPr lang="en-US" sz="2000" dirty="0" err="1">
                <a:solidFill>
                  <a:schemeClr val="bg1"/>
                </a:solidFill>
              </a:rPr>
              <a:t>astype</a:t>
            </a:r>
            <a:r>
              <a:rPr lang="en-US" sz="2000" dirty="0">
                <a:solidFill>
                  <a:schemeClr val="bg1"/>
                </a:solidFill>
              </a:rPr>
              <a:t>(float)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47040" y="4594831"/>
            <a:ext cx="5963920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8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Removing Duplicates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df.drop_duplicates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df.drop_duplicates</a:t>
            </a:r>
            <a:r>
              <a:rPr lang="en-US" sz="2000" dirty="0">
                <a:solidFill>
                  <a:schemeClr val="bg1"/>
                </a:solidFill>
              </a:rPr>
              <a:t>(subset=['ID', 'Email'], </a:t>
            </a:r>
            <a:r>
              <a:rPr lang="en-US" sz="2000" dirty="0" err="1">
                <a:solidFill>
                  <a:schemeClr val="bg1"/>
                </a:solidFill>
              </a:rPr>
              <a:t>inplace</a:t>
            </a:r>
            <a:r>
              <a:rPr lang="en-US" sz="2000" dirty="0">
                <a:solidFill>
                  <a:schemeClr val="bg1"/>
                </a:solidFill>
              </a:rPr>
              <a:t>=True)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356CAE-6691-4DF0-85EE-582D89F1D9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BB3A514-32FF-4D20-B7F1-C852BCA940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34623B0E-5723-4B5D-9915-C01BEA9BA1E8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B99EFC2-33B1-433C-82A5-0145DD13D6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52DB2DF-46BB-4D38-947B-C38B74416BE5}"/>
              </a:ext>
            </a:extLst>
          </p:cNvPr>
          <p:cNvSpPr txBox="1"/>
          <p:nvPr/>
        </p:nvSpPr>
        <p:spPr>
          <a:xfrm>
            <a:off x="4145282" y="5764204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Clean and transform your data to prepare it for analysis.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2ECE62-5187-44C1-9C61-5416E8A73F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9859" y="1658118"/>
            <a:ext cx="5312143" cy="18075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F430ED9-E2AE-4FB0-BD5D-42AE70061878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555"/>
          <a:stretch/>
        </p:blipFill>
        <p:spPr>
          <a:xfrm>
            <a:off x="6048596" y="3655295"/>
            <a:ext cx="6070428" cy="2016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250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777C6AB-363C-4988-86FD-5B068E8B81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22710"/>
            <a:ext cx="5325406" cy="39889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Aggregation &amp; Grouping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130988"/>
            <a:ext cx="5038472" cy="1040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lnSpc>
                <a:spcPct val="90000"/>
              </a:lnSpc>
              <a:spcBef>
                <a:spcPct val="0"/>
              </a:spcBef>
            </a:pPr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GroupBy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Basics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Split data into groups based on column values.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Apply aggregation functions.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4139780"/>
            <a:ext cx="368255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Example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grouped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df.groupby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AgeGroup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')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print(grouped['Income'].mean())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2167897"/>
            <a:ext cx="437574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Common Aggregation Functions</a:t>
            </a:r>
            <a:r>
              <a:rPr lang="en-US" sz="2400" b="1" dirty="0">
                <a:solidFill>
                  <a:schemeClr val="accent1"/>
                </a:solidFill>
              </a:rPr>
              <a:t> 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.sum()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.mean()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.count()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.min()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.max()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B19B33F-20D7-4D98-9FAC-FDA25DD83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47313"/>
            <a:ext cx="1186184" cy="531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7162700-0407-4487-8F00-ABB731E47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29609"/>
            <a:ext cx="721043" cy="721043"/>
          </a:xfrm>
          <a:prstGeom prst="rect">
            <a:avLst/>
          </a:prstGeom>
        </p:spPr>
      </p:pic>
      <p:sp>
        <p:nvSpPr>
          <p:cNvPr id="16" name="Subtitle 2">
            <a:extLst>
              <a:ext uri="{FF2B5EF4-FFF2-40B4-BE49-F238E27FC236}">
                <a16:creationId xmlns:a16="http://schemas.microsoft.com/office/drawing/2014/main" id="{DBB61AC0-A836-47C8-A1A6-202F65B404C5}"/>
              </a:ext>
            </a:extLst>
          </p:cNvPr>
          <p:cNvSpPr txBox="1">
            <a:spLocks/>
          </p:cNvSpPr>
          <p:nvPr/>
        </p:nvSpPr>
        <p:spPr>
          <a:xfrm>
            <a:off x="9309956" y="649453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ECAB653-9AF2-4777-BC16-CED66C9C1443}"/>
              </a:ext>
            </a:extLst>
          </p:cNvPr>
          <p:cNvSpPr txBox="1"/>
          <p:nvPr/>
        </p:nvSpPr>
        <p:spPr>
          <a:xfrm>
            <a:off x="4394201" y="5806362"/>
            <a:ext cx="34035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GroupBy</a:t>
            </a:r>
            <a:r>
              <a:rPr lang="en-US" sz="2000" dirty="0">
                <a:solidFill>
                  <a:schemeClr val="bg1"/>
                </a:solidFill>
              </a:rPr>
              <a:t> is powerful for summarizing data by categories.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780A1-B9BF-4F0A-A3B4-3755B8AEBE9B}"/>
              </a:ext>
            </a:extLst>
          </p:cNvPr>
          <p:cNvSpPr txBox="1"/>
          <p:nvPr/>
        </p:nvSpPr>
        <p:spPr>
          <a:xfrm>
            <a:off x="296602" y="5220925"/>
            <a:ext cx="46598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Multiple Aggregations</a:t>
            </a:r>
          </a:p>
          <a:p>
            <a:pPr marL="0" lvl="2"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grouped['Income'].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agg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(['mean', 'max', 'min'])</a:t>
            </a:r>
          </a:p>
        </p:txBody>
      </p:sp>
    </p:spTree>
    <p:extLst>
      <p:ext uri="{BB962C8B-B14F-4D97-AF65-F5344CB8AC3E}">
        <p14:creationId xmlns:p14="http://schemas.microsoft.com/office/powerpoint/2010/main" val="3424768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56497-52C8-4AB0-A821-7BF166DCA9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405"/>
          <a:stretch/>
        </p:blipFill>
        <p:spPr>
          <a:xfrm>
            <a:off x="8286634" y="2336468"/>
            <a:ext cx="3905366" cy="23746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Concatenation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2880" y="1106641"/>
            <a:ext cx="54152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Used to stack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or Series vertically or horizontally along an axis.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7290" y="2151262"/>
            <a:ext cx="901719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Combines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by appending them along a specified axis (rows or columns).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Does not perform any relational operations or key-based joining.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handle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 different columns or indices.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result in duplicate indices if not handled properly.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6942" y="3787722"/>
            <a:ext cx="787977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 similar structures or append new data to existing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without considering common keys.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EEE905B-B31E-4E9A-A79B-7E85F1132402}"/>
              </a:ext>
            </a:extLst>
          </p:cNvPr>
          <p:cNvSpPr txBox="1"/>
          <p:nvPr/>
        </p:nvSpPr>
        <p:spPr>
          <a:xfrm>
            <a:off x="182880" y="4869451"/>
            <a:ext cx="54965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Code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pd.concat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([df1, df2], axis=0)  # Vertical (rows)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pd.concat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([df1, df2], axis=1)  # Horizontal (columns)</a:t>
            </a:r>
          </a:p>
        </p:txBody>
      </p:sp>
    </p:spTree>
    <p:extLst>
      <p:ext uri="{BB962C8B-B14F-4D97-AF65-F5344CB8AC3E}">
        <p14:creationId xmlns:p14="http://schemas.microsoft.com/office/powerpoint/2010/main" val="3375973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Merge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82880" y="1000065"/>
            <a:ext cx="5181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Used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common columns or indices, similar to SQL joins.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57290" y="2095486"/>
            <a:ext cx="68531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Functionality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Merges two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specified columns or indices.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Supports different types of joins: inner, outer, left, right.</a:t>
            </a:r>
          </a:p>
          <a:p>
            <a:pPr marL="342900" indent="-342900" font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handle complex merging scenarios with multiple keys.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result in duplicate columns if not handled properly.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166943" y="3797882"/>
            <a:ext cx="77273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related columns, similar to joining tables in a database. 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6089238" y="5444872"/>
            <a:ext cx="3220718" cy="1323439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merging and joining to combine related datasets effectively.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940764-5D68-4614-B386-167AE62CBE60}"/>
              </a:ext>
            </a:extLst>
          </p:cNvPr>
          <p:cNvSpPr txBox="1"/>
          <p:nvPr/>
        </p:nvSpPr>
        <p:spPr>
          <a:xfrm>
            <a:off x="172720" y="4853392"/>
            <a:ext cx="56303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Code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pd.merge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(df1, df2, on='key', how='inner')  # Inner join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pd.merge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(df1, df2, on='key', how='left')   # Left join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821DFC6-86B1-434F-95C5-0A1D97067A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8459951"/>
              </p:ext>
            </p:extLst>
          </p:nvPr>
        </p:nvGraphicFramePr>
        <p:xfrm>
          <a:off x="7010400" y="1738394"/>
          <a:ext cx="5136576" cy="22001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57540">
                  <a:extLst>
                    <a:ext uri="{9D8B030D-6E8A-4147-A177-3AD203B41FA5}">
                      <a16:colId xmlns:a16="http://schemas.microsoft.com/office/drawing/2014/main" val="1224509705"/>
                    </a:ext>
                  </a:extLst>
                </a:gridCol>
                <a:gridCol w="1321258">
                  <a:extLst>
                    <a:ext uri="{9D8B030D-6E8A-4147-A177-3AD203B41FA5}">
                      <a16:colId xmlns:a16="http://schemas.microsoft.com/office/drawing/2014/main" val="3833766748"/>
                    </a:ext>
                  </a:extLst>
                </a:gridCol>
                <a:gridCol w="2857778">
                  <a:extLst>
                    <a:ext uri="{9D8B030D-6E8A-4147-A177-3AD203B41FA5}">
                      <a16:colId xmlns:a16="http://schemas.microsoft.com/office/drawing/2014/main" val="3383430382"/>
                    </a:ext>
                  </a:extLst>
                </a:gridCol>
              </a:tblGrid>
              <a:tr h="34159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600" kern="1200" dirty="0">
                          <a:effectLst/>
                        </a:rPr>
                        <a:t>Join Type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Returns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227022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Inner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how='inner'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Only matching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790105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Left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how='left'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left rows + matching right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228887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Right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how='right'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right rows + matching left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6238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Outer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how='outer'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rows from both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3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609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9ECDBB5-A928-4C17-B827-79A45584BC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6555428"/>
              </p:ext>
            </p:extLst>
          </p:nvPr>
        </p:nvGraphicFramePr>
        <p:xfrm>
          <a:off x="7055424" y="1910734"/>
          <a:ext cx="5136576" cy="220011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57540">
                  <a:extLst>
                    <a:ext uri="{9D8B030D-6E8A-4147-A177-3AD203B41FA5}">
                      <a16:colId xmlns:a16="http://schemas.microsoft.com/office/drawing/2014/main" val="1224509705"/>
                    </a:ext>
                  </a:extLst>
                </a:gridCol>
                <a:gridCol w="1321258">
                  <a:extLst>
                    <a:ext uri="{9D8B030D-6E8A-4147-A177-3AD203B41FA5}">
                      <a16:colId xmlns:a16="http://schemas.microsoft.com/office/drawing/2014/main" val="3833766748"/>
                    </a:ext>
                  </a:extLst>
                </a:gridCol>
                <a:gridCol w="2857778">
                  <a:extLst>
                    <a:ext uri="{9D8B030D-6E8A-4147-A177-3AD203B41FA5}">
                      <a16:colId xmlns:a16="http://schemas.microsoft.com/office/drawing/2014/main" val="3383430382"/>
                    </a:ext>
                  </a:extLst>
                </a:gridCol>
              </a:tblGrid>
              <a:tr h="341598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lang="en-US" sz="1600" kern="1200" dirty="0">
                          <a:effectLst/>
                        </a:rPr>
                        <a:t>Join Type</a:t>
                      </a:r>
                      <a:endParaRPr lang="en-US" sz="16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Syntax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Returns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227022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Inner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how='inner'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Only matching rows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7790105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effectLst/>
                        </a:rPr>
                        <a:t>Left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how='left'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left rows + matching right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228887"/>
                  </a:ext>
                </a:extLst>
              </a:tr>
              <a:tr h="513317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Right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how='right'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right rows + matching left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2616238"/>
                  </a:ext>
                </a:extLst>
              </a:tr>
              <a:tr h="341598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effectLst/>
                        </a:rPr>
                        <a:t>Outer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63500" marT="63500" marB="63500" anchor="ctr"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how='outer'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effectLst/>
                        </a:rPr>
                        <a:t>All rows from both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883567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Join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0480" y="1177761"/>
            <a:ext cx="63093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Purpose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A specialized version of merge() optimized for joining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their indices or key columns.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4890" y="2323982"/>
            <a:ext cx="77573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Functionality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Combines two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indices or specified key columns.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By default, performs a left join, but other types can be specified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Can be more efficient than merge() when joining on indices.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4890" y="3697599"/>
            <a:ext cx="787977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Case</a:t>
            </a:r>
          </a:p>
          <a:p>
            <a:pPr fontAlgn="ctr"/>
            <a:r>
              <a:rPr lang="en-US" sz="2000" dirty="0">
                <a:solidFill>
                  <a:schemeClr val="bg1"/>
                </a:solidFill>
              </a:rPr>
              <a:t>When you want to combine </a:t>
            </a:r>
            <a:r>
              <a:rPr lang="en-US" sz="2000" dirty="0" err="1">
                <a:solidFill>
                  <a:schemeClr val="bg1"/>
                </a:solidFill>
              </a:rPr>
              <a:t>DataFrames</a:t>
            </a:r>
            <a:r>
              <a:rPr lang="en-US" sz="2000" dirty="0">
                <a:solidFill>
                  <a:schemeClr val="bg1"/>
                </a:solidFill>
              </a:rPr>
              <a:t> based on their indices or specific key columns, similar to joining tables in a database but with a focus on index-based joins.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C690BAD-F4F2-44BC-AFD7-A93C9BB485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5B3C635-AB47-4D09-A5F5-526EC5843D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0B768C7E-E4A0-4CA2-808E-1D1343D877D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07F690-7EDA-4BBF-A269-B69C65C2EA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05976FF-A99E-4783-AD39-7FD28C0CB7E7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merging and joining to combine related datasets effectively.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FD1EC0-298D-4F53-B3B9-FD81A02252D1}"/>
              </a:ext>
            </a:extLst>
          </p:cNvPr>
          <p:cNvSpPr txBox="1"/>
          <p:nvPr/>
        </p:nvSpPr>
        <p:spPr>
          <a:xfrm>
            <a:off x="4890" y="5100797"/>
            <a:ext cx="2748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Code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df1.join(df2, how='outer')</a:t>
            </a:r>
          </a:p>
        </p:txBody>
      </p:sp>
    </p:spTree>
    <p:extLst>
      <p:ext uri="{BB962C8B-B14F-4D97-AF65-F5344CB8AC3E}">
        <p14:creationId xmlns:p14="http://schemas.microsoft.com/office/powerpoint/2010/main" val="27430570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Working with Time Series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119357"/>
            <a:ext cx="56489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DateTime</a:t>
            </a:r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 Index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 </a:t>
            </a:r>
            <a:r>
              <a:rPr lang="en-US" sz="2000" dirty="0" err="1">
                <a:solidFill>
                  <a:schemeClr val="bg1"/>
                </a:solidFill>
              </a:rPr>
              <a:t>pd.to_datetime</a:t>
            </a:r>
            <a:r>
              <a:rPr lang="en-US" sz="2000" dirty="0">
                <a:solidFill>
                  <a:schemeClr val="bg1"/>
                </a:solidFill>
              </a:rPr>
              <a:t>() to convert columns to datetime.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['Date'] =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pd.to_datetime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['Date'])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df.set_index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('Date', 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inplace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=True)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2764802"/>
            <a:ext cx="53289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Resampling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Aggregate time series data at different frequencies.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df.resample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('M').mean()  # Monthly average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4011992"/>
            <a:ext cx="3373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Time-based Selection</a:t>
            </a:r>
          </a:p>
          <a:p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df.loc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['2023-01-01':'2023-01-31']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5037449"/>
            <a:ext cx="35231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Shifting Data</a:t>
            </a:r>
          </a:p>
          <a:p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PrevDay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'] = df['Value'].shift(1)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32CBC2-426C-4E76-A53F-D9ADED1658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BC6199E-F649-41FB-8164-9F35E781D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435A867E-79B5-4C7F-BD87-33C968FBAA95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3A5A427-4837-48E5-9908-24FD0AD6E84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8A8BE29-AF34-4A0B-87C8-A3AB89F64A2A}"/>
              </a:ext>
            </a:extLst>
          </p:cNvPr>
          <p:cNvSpPr txBox="1"/>
          <p:nvPr/>
        </p:nvSpPr>
        <p:spPr>
          <a:xfrm>
            <a:off x="4145282" y="5742488"/>
            <a:ext cx="397255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makes time series manipulation intuitive and powerful.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5EBAD4-B152-4667-8F34-3BAF55EA72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5" t="25042" r="16191" b="18027"/>
          <a:stretch/>
        </p:blipFill>
        <p:spPr>
          <a:xfrm>
            <a:off x="6679526" y="2346457"/>
            <a:ext cx="4572991" cy="2242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975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Handling Text Data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96987" y="1362731"/>
            <a:ext cx="515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String Methods</a:t>
            </a:r>
          </a:p>
          <a:p>
            <a:r>
              <a:rPr lang="en-US" sz="2000" dirty="0">
                <a:solidFill>
                  <a:schemeClr val="bg1"/>
                </a:solidFill>
              </a:rPr>
              <a:t>- Use .</a:t>
            </a:r>
            <a:r>
              <a:rPr lang="en-US" sz="2000" dirty="0" err="1">
                <a:solidFill>
                  <a:schemeClr val="bg1"/>
                </a:solidFill>
              </a:rPr>
              <a:t>str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accessor</a:t>
            </a:r>
            <a:r>
              <a:rPr lang="en-US" sz="2000" dirty="0">
                <a:solidFill>
                  <a:schemeClr val="bg1"/>
                </a:solidFill>
              </a:rPr>
              <a:t> for </a:t>
            </a:r>
            <a:r>
              <a:rPr lang="en-US" sz="2000" dirty="0" err="1">
                <a:solidFill>
                  <a:schemeClr val="bg1"/>
                </a:solidFill>
              </a:rPr>
              <a:t>vectorized</a:t>
            </a:r>
            <a:r>
              <a:rPr lang="en-US" sz="2000" dirty="0">
                <a:solidFill>
                  <a:schemeClr val="bg1"/>
                </a:solidFill>
              </a:rPr>
              <a:t> string operations.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['Name'].</a:t>
            </a:r>
            <a:r>
              <a:rPr lang="en-US" sz="2000" dirty="0" err="1">
                <a:solidFill>
                  <a:schemeClr val="bg1"/>
                </a:solidFill>
              </a:rPr>
              <a:t>str.lower</a:t>
            </a:r>
            <a:r>
              <a:rPr lang="en-US" sz="2000" dirty="0">
                <a:solidFill>
                  <a:schemeClr val="bg1"/>
                </a:solidFill>
              </a:rPr>
              <a:t>()       # Convert to lowercase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df['Name'].</a:t>
            </a:r>
            <a:r>
              <a:rPr lang="en-US" sz="2000" dirty="0" err="1">
                <a:solidFill>
                  <a:schemeClr val="bg1"/>
                </a:solidFill>
              </a:rPr>
              <a:t>str.contains</a:t>
            </a:r>
            <a:r>
              <a:rPr lang="en-US" sz="2000" dirty="0">
                <a:solidFill>
                  <a:schemeClr val="bg1"/>
                </a:solidFill>
              </a:rPr>
              <a:t>('a') # Check if 'a' in string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7" y="2989364"/>
            <a:ext cx="30937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Extracting Substrings</a:t>
            </a:r>
          </a:p>
          <a:p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['Initial'] = </a:t>
            </a:r>
            <a:r>
              <a:rPr lang="en-US" sz="2000" dirty="0" err="1">
                <a:solidFill>
                  <a:schemeClr val="bg1"/>
                </a:solidFill>
              </a:rPr>
              <a:t>df</a:t>
            </a:r>
            <a:r>
              <a:rPr lang="en-US" sz="2000" dirty="0">
                <a:solidFill>
                  <a:schemeClr val="bg1"/>
                </a:solidFill>
              </a:rPr>
              <a:t>['Name'].</a:t>
            </a:r>
            <a:r>
              <a:rPr lang="en-US" sz="2000" dirty="0" err="1">
                <a:solidFill>
                  <a:schemeClr val="bg1"/>
                </a:solidFill>
              </a:rPr>
              <a:t>str</a:t>
            </a:r>
            <a:r>
              <a:rPr lang="en-US" sz="2000" dirty="0">
                <a:solidFill>
                  <a:schemeClr val="bg1"/>
                </a:solidFill>
              </a:rPr>
              <a:t>[0]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3957384"/>
            <a:ext cx="2377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Splitting Strings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df['Name'].</a:t>
            </a:r>
            <a:r>
              <a:rPr lang="en-US" sz="2000" dirty="0" err="1">
                <a:solidFill>
                  <a:schemeClr val="bg1"/>
                </a:solidFill>
              </a:rPr>
              <a:t>str.split</a:t>
            </a:r>
            <a:r>
              <a:rPr lang="en-US" sz="2000" dirty="0">
                <a:solidFill>
                  <a:schemeClr val="bg1"/>
                </a:solidFill>
              </a:rPr>
              <a:t>(' 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4B86B5-A0D5-4CC2-9A38-92E5686EFB9B}"/>
              </a:ext>
            </a:extLst>
          </p:cNvPr>
          <p:cNvSpPr txBox="1"/>
          <p:nvPr/>
        </p:nvSpPr>
        <p:spPr>
          <a:xfrm>
            <a:off x="296987" y="4973047"/>
            <a:ext cx="515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Replacing Text</a:t>
            </a:r>
          </a:p>
          <a:p>
            <a:r>
              <a:rPr lang="en-US" sz="2000" dirty="0">
                <a:solidFill>
                  <a:schemeClr val="bg1"/>
                </a:solidFill>
              </a:rPr>
              <a:t>df['Name'] = df['Name'].</a:t>
            </a:r>
            <a:r>
              <a:rPr lang="en-US" sz="2000" dirty="0" err="1">
                <a:solidFill>
                  <a:schemeClr val="bg1"/>
                </a:solidFill>
              </a:rPr>
              <a:t>str.replace</a:t>
            </a:r>
            <a:r>
              <a:rPr lang="en-US" sz="2000" dirty="0">
                <a:solidFill>
                  <a:schemeClr val="bg1"/>
                </a:solidFill>
              </a:rPr>
              <a:t>('Alice', 'Alicia')</a:t>
            </a:r>
            <a:r>
              <a:rPr lang="en-US" sz="2000" dirty="0">
                <a:solidFill>
                  <a:srgbClr val="00B050"/>
                </a:solidFill>
              </a:rPr>
              <a:t> 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92F6A3-D958-48F7-AF77-76EF71374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7714212-0CF8-440E-BC74-DBC68AB963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31E906A-29C8-4193-B186-6139224A5E5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BDA754-49F4-40B0-A4CA-0DF8C43AD4C1}"/>
              </a:ext>
            </a:extLst>
          </p:cNvPr>
          <p:cNvSpPr txBox="1"/>
          <p:nvPr/>
        </p:nvSpPr>
        <p:spPr>
          <a:xfrm>
            <a:off x="4145282" y="5742488"/>
            <a:ext cx="388111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Text processing in Pandas is efficient and easy with .str methods.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BD082D-40FB-4C5D-88E3-CCFCE4A47E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7548" y="1207566"/>
            <a:ext cx="4813105" cy="444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829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9DB10D-D799-4CD1-8AA4-348DA28117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Pivot Tables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487172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Pivot Tables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A powerful tool to summarize, aggregate, and analyze data. </a:t>
            </a:r>
          </a:p>
          <a:p>
            <a:pPr marL="342900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Rearranges data for better readability and insights.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754B31-952C-4E7B-9192-F85182E1E6EF}"/>
              </a:ext>
            </a:extLst>
          </p:cNvPr>
          <p:cNvSpPr txBox="1"/>
          <p:nvPr/>
        </p:nvSpPr>
        <p:spPr>
          <a:xfrm>
            <a:off x="-218441" y="3103940"/>
            <a:ext cx="5420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Syntax</a:t>
            </a:r>
          </a:p>
          <a:p>
            <a:pPr lvl="1" algn="just"/>
            <a:r>
              <a:rPr lang="en-US" sz="2000" dirty="0" err="1">
                <a:solidFill>
                  <a:schemeClr val="bg1"/>
                </a:solidFill>
              </a:rPr>
              <a:t>df.pivot_table</a:t>
            </a:r>
            <a:r>
              <a:rPr lang="en-US" sz="2000" dirty="0">
                <a:solidFill>
                  <a:schemeClr val="bg1"/>
                </a:solidFill>
              </a:rPr>
              <a:t>(values, index, columns, </a:t>
            </a:r>
            <a:r>
              <a:rPr lang="en-US" sz="2000" dirty="0" err="1">
                <a:solidFill>
                  <a:schemeClr val="bg1"/>
                </a:solidFill>
              </a:rPr>
              <a:t>aggfunc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01EF30-C06D-4222-9C54-8C69497A607F}"/>
              </a:ext>
            </a:extLst>
          </p:cNvPr>
          <p:cNvSpPr txBox="1"/>
          <p:nvPr/>
        </p:nvSpPr>
        <p:spPr>
          <a:xfrm>
            <a:off x="-218442" y="4300479"/>
            <a:ext cx="588772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Parameters</a:t>
            </a:r>
          </a:p>
          <a:p>
            <a:pPr marL="800100" lvl="1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values: Column(s) to aggregate  </a:t>
            </a:r>
          </a:p>
          <a:p>
            <a:pPr marL="800100" lvl="1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index: Rows  </a:t>
            </a:r>
          </a:p>
          <a:p>
            <a:pPr marL="800100" lvl="1" indent="-342900" algn="just">
              <a:buFontTx/>
              <a:buChar char="-"/>
            </a:pPr>
            <a:r>
              <a:rPr lang="en-US" sz="2000" dirty="0">
                <a:solidFill>
                  <a:schemeClr val="bg1"/>
                </a:solidFill>
              </a:rPr>
              <a:t>columns: Columns  </a:t>
            </a:r>
          </a:p>
          <a:p>
            <a:pPr marL="800100" lvl="1" indent="-342900" algn="just">
              <a:buFontTx/>
              <a:buChar char="-"/>
            </a:pPr>
            <a:r>
              <a:rPr lang="en-US" sz="2000" dirty="0" err="1">
                <a:solidFill>
                  <a:schemeClr val="bg1"/>
                </a:solidFill>
              </a:rPr>
              <a:t>aggfunc</a:t>
            </a:r>
            <a:r>
              <a:rPr lang="en-US" sz="2000" dirty="0">
                <a:solidFill>
                  <a:schemeClr val="bg1"/>
                </a:solidFill>
              </a:rPr>
              <a:t>: Aggregation function (default is mean)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D32AD3-3BE7-46C5-95C4-9D29716A3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379" y="2557521"/>
            <a:ext cx="6655880" cy="2264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274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A9DB10D-D799-4CD1-8AA4-348DA281178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Crosstabs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512572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is Crosstab?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 function to compute a simple cross-tabulation of two (or more) factors.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Used to analyze relationships between categorical variables.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EC04C5-8242-4887-8120-D868F265E97E}"/>
              </a:ext>
            </a:extLst>
          </p:cNvPr>
          <p:cNvSpPr txBox="1"/>
          <p:nvPr/>
        </p:nvSpPr>
        <p:spPr>
          <a:xfrm>
            <a:off x="279400" y="3340111"/>
            <a:ext cx="43992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Syntax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pd.crosstab</a:t>
            </a:r>
            <a:r>
              <a:rPr lang="en-US" sz="2000" dirty="0">
                <a:solidFill>
                  <a:schemeClr val="bg1"/>
                </a:solidFill>
              </a:rPr>
              <a:t>(index, columns)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EAFF33-63B0-4F47-AA6B-B1A979BDD2F5}"/>
              </a:ext>
            </a:extLst>
          </p:cNvPr>
          <p:cNvSpPr txBox="1"/>
          <p:nvPr/>
        </p:nvSpPr>
        <p:spPr>
          <a:xfrm>
            <a:off x="198120" y="4674457"/>
            <a:ext cx="478027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Parameters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index: Series (rows)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columns: Series (columns)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Optional: values, </a:t>
            </a:r>
            <a:r>
              <a:rPr lang="en-US" sz="2000" dirty="0" err="1">
                <a:solidFill>
                  <a:schemeClr val="bg1"/>
                </a:solidFill>
              </a:rPr>
              <a:t>aggfunc</a:t>
            </a:r>
            <a:r>
              <a:rPr lang="en-US" sz="2000" dirty="0">
                <a:solidFill>
                  <a:schemeClr val="bg1"/>
                </a:solidFill>
              </a:rPr>
              <a:t>, margins, etc.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F58ED9-82BC-440C-A5E8-6D705FA8FF3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91" b="9353"/>
          <a:stretch/>
        </p:blipFill>
        <p:spPr>
          <a:xfrm>
            <a:off x="4095750" y="2857500"/>
            <a:ext cx="7486650" cy="27421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3520E60-E831-4E9A-8507-D207993D8BF2}"/>
              </a:ext>
            </a:extLst>
          </p:cNvPr>
          <p:cNvSpPr/>
          <p:nvPr/>
        </p:nvSpPr>
        <p:spPr>
          <a:xfrm>
            <a:off x="8876029" y="4968240"/>
            <a:ext cx="3097531" cy="109121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924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54102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Reading Data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CSV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pd.read_csv</a:t>
            </a:r>
            <a:r>
              <a:rPr lang="en-US" sz="2000" dirty="0">
                <a:solidFill>
                  <a:schemeClr val="bg1"/>
                </a:solidFill>
              </a:rPr>
              <a:t>('data.csv’)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Excel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pd.read_excel</a:t>
            </a:r>
            <a:r>
              <a:rPr lang="en-US" sz="2000" dirty="0">
                <a:solidFill>
                  <a:schemeClr val="bg1"/>
                </a:solidFill>
              </a:rPr>
              <a:t>('data.xlsx', </a:t>
            </a:r>
            <a:r>
              <a:rPr lang="en-US" sz="2000" dirty="0" err="1">
                <a:solidFill>
                  <a:schemeClr val="bg1"/>
                </a:solidFill>
              </a:rPr>
              <a:t>sheet_name</a:t>
            </a:r>
            <a:r>
              <a:rPr lang="en-US" sz="2000" dirty="0">
                <a:solidFill>
                  <a:schemeClr val="bg1"/>
                </a:solidFill>
              </a:rPr>
              <a:t>='Sheet1’)</a:t>
            </a:r>
          </a:p>
          <a:p>
            <a:pPr algn="just"/>
            <a:endParaRPr lang="en-US" sz="2000" b="1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JSON files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pd.read_json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data.json</a:t>
            </a:r>
            <a:r>
              <a:rPr lang="en-US" sz="2000" dirty="0">
                <a:solidFill>
                  <a:schemeClr val="bg1"/>
                </a:solidFill>
              </a:rPr>
              <a:t>’)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F5B2CD-0E2F-40AC-9269-FB20A03B2D6C}"/>
              </a:ext>
            </a:extLst>
          </p:cNvPr>
          <p:cNvSpPr txBox="1"/>
          <p:nvPr/>
        </p:nvSpPr>
        <p:spPr>
          <a:xfrm>
            <a:off x="6461759" y="1331767"/>
            <a:ext cx="541020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Writing Data</a:t>
            </a:r>
          </a:p>
          <a:p>
            <a:pPr algn="just"/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CSV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df.to_csv</a:t>
            </a:r>
            <a:r>
              <a:rPr lang="en-US" sz="2000" dirty="0">
                <a:solidFill>
                  <a:schemeClr val="bg1"/>
                </a:solidFill>
              </a:rPr>
              <a:t>('output.csv',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Excel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df.to_excel</a:t>
            </a:r>
            <a:r>
              <a:rPr lang="en-US" sz="2000" dirty="0">
                <a:solidFill>
                  <a:schemeClr val="bg1"/>
                </a:solidFill>
              </a:rPr>
              <a:t>('output.xlsx',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JOSN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Df.to_json</a:t>
            </a:r>
            <a:r>
              <a:rPr lang="en-US" sz="2000" dirty="0">
                <a:solidFill>
                  <a:schemeClr val="bg1"/>
                </a:solidFill>
              </a:rPr>
              <a:t>(‘</a:t>
            </a:r>
            <a:r>
              <a:rPr lang="en-US" sz="2000" dirty="0" err="1">
                <a:solidFill>
                  <a:schemeClr val="bg1"/>
                </a:solidFill>
              </a:rPr>
              <a:t>output.json</a:t>
            </a:r>
            <a:r>
              <a:rPr lang="en-US" sz="2000" dirty="0">
                <a:solidFill>
                  <a:schemeClr val="bg1"/>
                </a:solidFill>
              </a:rPr>
              <a:t>’, index=False)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EFBFB98-DB19-4A28-B680-DB9DC71CD66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Reading &amp; Writing Data with Pandas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CA0B4A-A511-446F-8DC3-ADC47CE7B8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182" y="4790825"/>
            <a:ext cx="7263973" cy="1967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017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71B5A28-D508-4375-BE86-E71A7B4DC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BA76C7-9E24-4FCC-B3C2-70CD58CB79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7840" y="99849"/>
            <a:ext cx="11490959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Categorical Data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98119" y="1258315"/>
            <a:ext cx="659892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What are Categorical Variables?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Variables with a fixed number of possible values (categories).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Saves memory and improves performance.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198119" y="3406584"/>
            <a:ext cx="38464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Benefits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Efficient storage.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Faster operations.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Useful for grouping and analysis.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198119" y="2578570"/>
            <a:ext cx="51663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Converting to Category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df['Gender'] = df['Gender'].</a:t>
            </a:r>
            <a:r>
              <a:rPr lang="en-US" sz="2000" dirty="0" err="1">
                <a:solidFill>
                  <a:schemeClr val="bg1"/>
                </a:solidFill>
              </a:rPr>
              <a:t>astype</a:t>
            </a:r>
            <a:r>
              <a:rPr lang="en-US" sz="2000" dirty="0">
                <a:solidFill>
                  <a:schemeClr val="bg1"/>
                </a:solidFill>
              </a:rPr>
              <a:t>('category')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287520" y="5717664"/>
            <a:ext cx="3616960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Use categorical </a:t>
            </a:r>
            <a:r>
              <a:rPr lang="en-US" sz="2000" dirty="0" err="1">
                <a:solidFill>
                  <a:schemeClr val="bg1"/>
                </a:solidFill>
              </a:rPr>
              <a:t>dtype</a:t>
            </a:r>
            <a:r>
              <a:rPr lang="en-US" sz="2000" dirty="0">
                <a:solidFill>
                  <a:schemeClr val="bg1"/>
                </a:solidFill>
              </a:rPr>
              <a:t> for columns with repeated values.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DD9E541B-FB7C-4ED1-A148-D801DB9781FC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BCAA1-8D48-4BCC-BE34-46B792A4D12F}"/>
              </a:ext>
            </a:extLst>
          </p:cNvPr>
          <p:cNvSpPr txBox="1"/>
          <p:nvPr/>
        </p:nvSpPr>
        <p:spPr>
          <a:xfrm>
            <a:off x="198119" y="4850152"/>
            <a:ext cx="38464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2E6578"/>
                </a:solidFill>
                <a:latin typeface="+mj-lt"/>
                <a:ea typeface="+mj-ea"/>
              </a:rPr>
              <a:t>Categories and Codes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</a:rPr>
              <a:t>cat.categories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print(df['Gender'].</a:t>
            </a:r>
            <a:r>
              <a:rPr lang="en-US" sz="2000" dirty="0" err="1">
                <a:solidFill>
                  <a:schemeClr val="bg1"/>
                </a:solidFill>
              </a:rPr>
              <a:t>cat.codes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4F2C4AF-CD6F-4F64-AD49-DD60644776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992BE6-84F0-4B4F-8C2B-B623D6AC5E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878" y="2223799"/>
            <a:ext cx="6360160" cy="287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870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F9FBC352-5CDF-48D8-88CC-F10FFE2FD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8EA5F0-2CB5-40D2-B65E-BAABC030E7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277560" y="1257669"/>
            <a:ext cx="62999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.apply()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Apply a function along axis of </a:t>
            </a:r>
            <a:r>
              <a:rPr lang="en-US" sz="2000" dirty="0" err="1">
                <a:solidFill>
                  <a:schemeClr val="bg1"/>
                </a:solidFill>
              </a:rPr>
              <a:t>DataFrame</a:t>
            </a:r>
            <a:r>
              <a:rPr lang="en-US" sz="2000" dirty="0">
                <a:solidFill>
                  <a:schemeClr val="bg1"/>
                </a:solidFill>
              </a:rPr>
              <a:t> or Series.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Income_K</a:t>
            </a:r>
            <a:r>
              <a:rPr lang="en-US" sz="2000" dirty="0">
                <a:solidFill>
                  <a:schemeClr val="bg1"/>
                </a:solidFill>
              </a:rPr>
              <a:t>'] = df['Income'].apply(lambda x: x / 1000)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645504-B204-4AC0-81A3-1A8D939D6A74}"/>
              </a:ext>
            </a:extLst>
          </p:cNvPr>
          <p:cNvSpPr txBox="1"/>
          <p:nvPr/>
        </p:nvSpPr>
        <p:spPr>
          <a:xfrm>
            <a:off x="4175760" y="5717664"/>
            <a:ext cx="4229798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Vectorized and built-in functions outperform custom Python loops.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AEB960-654D-432B-9CC0-39D4369A31E8}"/>
              </a:ext>
            </a:extLst>
          </p:cNvPr>
          <p:cNvSpPr txBox="1"/>
          <p:nvPr/>
        </p:nvSpPr>
        <p:spPr>
          <a:xfrm>
            <a:off x="277560" y="4682443"/>
            <a:ext cx="47821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Vectorized Operations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Prefer built-in vectorized functions for speed.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5D2E5-5E0F-4083-95E1-16873EFD8D7B}"/>
              </a:ext>
            </a:extLst>
          </p:cNvPr>
          <p:cNvSpPr txBox="1"/>
          <p:nvPr/>
        </p:nvSpPr>
        <p:spPr>
          <a:xfrm>
            <a:off x="277560" y="2767921"/>
            <a:ext cx="648863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.map()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Map values of a Series according to an input correspondence.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</a:t>
            </a:r>
            <a:r>
              <a:rPr lang="en-US" sz="2000" dirty="0" err="1">
                <a:solidFill>
                  <a:schemeClr val="bg1"/>
                </a:solidFill>
              </a:rPr>
              <a:t>AgeGroup</a:t>
            </a:r>
            <a:r>
              <a:rPr lang="en-US" sz="2000" dirty="0">
                <a:solidFill>
                  <a:schemeClr val="bg1"/>
                </a:solidFill>
              </a:rPr>
              <a:t>'] = df['Age'].map(lambda x: 'Adult' if x &gt;= 18 else 'Minor')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AD7A937C-A6FD-4721-B1B8-B56E172CA7E9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7F92B35-6DAF-41B6-B133-BC73372C81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539" y="11175"/>
            <a:ext cx="11572240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Efficient Function Application in Pandas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BC766A-5EC3-4388-9EA8-5F4559790C4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1071" r="65975"/>
          <a:stretch/>
        </p:blipFill>
        <p:spPr>
          <a:xfrm>
            <a:off x="8051095" y="2717921"/>
            <a:ext cx="2764921" cy="241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331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983" y="99849"/>
            <a:ext cx="9440034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Optimizing Pandas Performance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740943" y="1335507"/>
            <a:ext cx="442976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Vectorized Operations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Avoid loops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use built-in Pandas/NumPy functions.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7253503" y="1335510"/>
            <a:ext cx="48572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Use .query() and .eval()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Faster filtering and evaluation.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df.query</a:t>
            </a:r>
            <a:r>
              <a:rPr lang="en-US" sz="2000" dirty="0">
                <a:solidFill>
                  <a:schemeClr val="bg1"/>
                </a:solidFill>
              </a:rPr>
              <a:t>('Age &gt; 30 &amp; Income &gt; 50000')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649315-B71C-4AE7-9909-712F916A4BDC}"/>
              </a:ext>
            </a:extLst>
          </p:cNvPr>
          <p:cNvSpPr txBox="1"/>
          <p:nvPr/>
        </p:nvSpPr>
        <p:spPr>
          <a:xfrm>
            <a:off x="713944" y="2821050"/>
            <a:ext cx="556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Use Categorical Data Type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Reduce memory and speed up operations on repeated values.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BA6CF4B-BABE-4766-9C41-2AFD49AD15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2F7C3F7-E8F5-4339-B775-D630792B7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6C71160F-DDCB-4B45-AB6F-7826C9E2D97A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99BCE0-21FE-4869-BC27-DB90579E7C1F}"/>
              </a:ext>
            </a:extLst>
          </p:cNvPr>
          <p:cNvSpPr txBox="1"/>
          <p:nvPr/>
        </p:nvSpPr>
        <p:spPr>
          <a:xfrm>
            <a:off x="713943" y="4152010"/>
            <a:ext cx="58290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Downcast Numeric Types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df['Age'] = </a:t>
            </a:r>
            <a:r>
              <a:rPr lang="en-US" sz="2000" dirty="0" err="1">
                <a:solidFill>
                  <a:schemeClr val="bg1"/>
                </a:solidFill>
              </a:rPr>
              <a:t>pd.to_numeric</a:t>
            </a:r>
            <a:r>
              <a:rPr lang="en-US" sz="2000" dirty="0">
                <a:solidFill>
                  <a:schemeClr val="bg1"/>
                </a:solidFill>
              </a:rPr>
              <a:t>(df['Age'], downcast='integer')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1E3112-942F-4194-90DE-DE2FB7928E36}"/>
              </a:ext>
            </a:extLst>
          </p:cNvPr>
          <p:cNvSpPr txBox="1"/>
          <p:nvPr/>
        </p:nvSpPr>
        <p:spPr>
          <a:xfrm>
            <a:off x="7253503" y="2774148"/>
            <a:ext cx="5068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</a:rPr>
              <a:t>Avoid Chained Indexing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Use .loc instead for safe and efficient assignment.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661938-1C89-4F2F-9281-7D3098A8E2DD}"/>
              </a:ext>
            </a:extLst>
          </p:cNvPr>
          <p:cNvSpPr txBox="1"/>
          <p:nvPr/>
        </p:nvSpPr>
        <p:spPr>
          <a:xfrm>
            <a:off x="4371907" y="5742488"/>
            <a:ext cx="353257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Efficient coding drastically improves speed on large data..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F3DE5B-B412-438F-B93B-BF0071F91A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985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AAB4210-0D89-4EC6-9EA1-7E3777B3B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4618" y="1011685"/>
            <a:ext cx="1512253" cy="151225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4FA6EC-768D-4C78-9772-A8D330CC9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1BC77E-FF4F-45B4-BDF4-9FBD1141AB6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E22E37-D105-4F5A-9100-914F0AC52E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Pandas Integration with Other Libraries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95503" y="1402080"/>
            <a:ext cx="44297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NumPy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Pandas is built on NumPy arrays, enabling fast numerical operations.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</a:t>
            </a:r>
            <a:r>
              <a:rPr lang="en-US" sz="2000" dirty="0" err="1">
                <a:solidFill>
                  <a:schemeClr val="bg1"/>
                </a:solidFill>
              </a:rPr>
              <a:t>numpy</a:t>
            </a:r>
            <a:r>
              <a:rPr lang="en-US" sz="2000" dirty="0">
                <a:solidFill>
                  <a:schemeClr val="bg1"/>
                </a:solidFill>
              </a:rPr>
              <a:t> as np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arr</a:t>
            </a:r>
            <a:r>
              <a:rPr lang="en-US" sz="2000" dirty="0">
                <a:solidFill>
                  <a:schemeClr val="bg1"/>
                </a:solidFill>
              </a:rPr>
              <a:t> = </a:t>
            </a:r>
            <a:r>
              <a:rPr lang="en-US" sz="2000" dirty="0" err="1">
                <a:solidFill>
                  <a:schemeClr val="bg1"/>
                </a:solidFill>
              </a:rPr>
              <a:t>np.array</a:t>
            </a:r>
            <a:r>
              <a:rPr lang="en-US" sz="2000" dirty="0">
                <a:solidFill>
                  <a:schemeClr val="bg1"/>
                </a:solidFill>
              </a:rPr>
              <a:t>([1, 2, 3])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 = </a:t>
            </a:r>
            <a:r>
              <a:rPr lang="en-US" sz="2000" dirty="0" err="1">
                <a:solidFill>
                  <a:schemeClr val="bg1"/>
                </a:solidFill>
              </a:rPr>
              <a:t>pd.DataFrame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arr</a:t>
            </a:r>
            <a:r>
              <a:rPr lang="en-US" sz="20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C08509-1F44-4DF7-9054-CBD60F9CE86E}"/>
              </a:ext>
            </a:extLst>
          </p:cNvPr>
          <p:cNvSpPr txBox="1"/>
          <p:nvPr/>
        </p:nvSpPr>
        <p:spPr>
          <a:xfrm>
            <a:off x="296986" y="3869690"/>
            <a:ext cx="529336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Matplotlib &amp; Seaborn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data visualization.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df['Age'].plot(kind='hist’)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import seaborn as </a:t>
            </a:r>
            <a:r>
              <a:rPr lang="en-US" sz="2000" dirty="0" err="1">
                <a:solidFill>
                  <a:schemeClr val="bg1"/>
                </a:solidFill>
              </a:rPr>
              <a:t>sns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sns.boxplot</a:t>
            </a:r>
            <a:r>
              <a:rPr lang="en-US" sz="2000" dirty="0">
                <a:solidFill>
                  <a:schemeClr val="bg1"/>
                </a:solidFill>
              </a:rPr>
              <a:t>(data=df, x='Age')</a:t>
            </a:r>
            <a:endParaRPr lang="en-US" sz="2000" dirty="0">
              <a:solidFill>
                <a:schemeClr val="bg1"/>
              </a:solidFill>
              <a:highlight>
                <a:srgbClr val="C0C0C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1F892F-4166-4795-A83E-7B5AAE0CA9FA}"/>
              </a:ext>
            </a:extLst>
          </p:cNvPr>
          <p:cNvSpPr txBox="1"/>
          <p:nvPr/>
        </p:nvSpPr>
        <p:spPr>
          <a:xfrm>
            <a:off x="5958840" y="1442720"/>
            <a:ext cx="623316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Scikit</a:t>
            </a:r>
            <a:r>
              <a:rPr lang="en-US" sz="2400" b="1" dirty="0">
                <a:solidFill>
                  <a:schemeClr val="accent1"/>
                </a:solidFill>
              </a:rPr>
              <a:t>-learn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For machine learning pipelines.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 err="1">
                <a:solidFill>
                  <a:schemeClr val="bg1"/>
                </a:solidFill>
              </a:rPr>
              <a:t>sklearn.model_selection</a:t>
            </a:r>
            <a:r>
              <a:rPr lang="en-US" sz="2000" dirty="0">
                <a:solidFill>
                  <a:schemeClr val="bg1"/>
                </a:solidFill>
              </a:rPr>
              <a:t> import </a:t>
            </a:r>
            <a:r>
              <a:rPr lang="en-US" sz="2000" dirty="0" err="1">
                <a:solidFill>
                  <a:schemeClr val="bg1"/>
                </a:solidFill>
              </a:rPr>
              <a:t>train_test_split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X_train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X_test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y_train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y_test</a:t>
            </a:r>
            <a:r>
              <a:rPr lang="en-US" sz="2000" dirty="0">
                <a:solidFill>
                  <a:schemeClr val="bg1"/>
                </a:solidFill>
              </a:rPr>
              <a:t> =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train_test_split</a:t>
            </a:r>
            <a:r>
              <a:rPr lang="en-US" sz="2000" dirty="0">
                <a:solidFill>
                  <a:schemeClr val="bg1"/>
                </a:solidFill>
              </a:rPr>
              <a:t>(</a:t>
            </a:r>
            <a:r>
              <a:rPr lang="en-US" sz="2000" dirty="0" err="1">
                <a:solidFill>
                  <a:schemeClr val="bg1"/>
                </a:solidFill>
              </a:rPr>
              <a:t>df.drop</a:t>
            </a:r>
            <a:r>
              <a:rPr lang="en-US" sz="2000" dirty="0">
                <a:solidFill>
                  <a:schemeClr val="bg1"/>
                </a:solidFill>
              </a:rPr>
              <a:t>('target', axis=1), df['target'])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1C2938-5482-425A-80EB-F20A2549D9D7}"/>
              </a:ext>
            </a:extLst>
          </p:cNvPr>
          <p:cNvSpPr txBox="1"/>
          <p:nvPr/>
        </p:nvSpPr>
        <p:spPr>
          <a:xfrm>
            <a:off x="5958840" y="4019805"/>
            <a:ext cx="56337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 err="1">
                <a:solidFill>
                  <a:schemeClr val="accent1"/>
                </a:solidFill>
              </a:rPr>
              <a:t>SQLAlchemy</a:t>
            </a:r>
            <a:endParaRPr lang="en-US" sz="2400" b="1" dirty="0">
              <a:solidFill>
                <a:schemeClr val="accent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Read/write data from SQL databases.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from </a:t>
            </a:r>
            <a:r>
              <a:rPr lang="en-US" sz="2000" dirty="0" err="1">
                <a:solidFill>
                  <a:schemeClr val="bg1"/>
                </a:solidFill>
              </a:rPr>
              <a:t>sqlalchemy</a:t>
            </a:r>
            <a:r>
              <a:rPr lang="en-US" sz="2000" dirty="0">
                <a:solidFill>
                  <a:schemeClr val="bg1"/>
                </a:solidFill>
              </a:rPr>
              <a:t> import </a:t>
            </a:r>
            <a:r>
              <a:rPr lang="en-US" sz="2000" dirty="0" err="1">
                <a:solidFill>
                  <a:schemeClr val="bg1"/>
                </a:solidFill>
              </a:rPr>
              <a:t>create_engine</a:t>
            </a: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engine = </a:t>
            </a:r>
            <a:r>
              <a:rPr lang="en-US" sz="2000" dirty="0" err="1">
                <a:solidFill>
                  <a:schemeClr val="bg1"/>
                </a:solidFill>
              </a:rPr>
              <a:t>create_engine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sqlite</a:t>
            </a:r>
            <a:r>
              <a:rPr lang="en-US" sz="2000" dirty="0">
                <a:solidFill>
                  <a:schemeClr val="bg1"/>
                </a:solidFill>
              </a:rPr>
              <a:t>:///:memory:’)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</a:rPr>
              <a:t>df.to_sql</a:t>
            </a:r>
            <a:r>
              <a:rPr lang="en-US" sz="2000" dirty="0">
                <a:solidFill>
                  <a:schemeClr val="bg1"/>
                </a:solidFill>
              </a:rPr>
              <a:t>('</a:t>
            </a:r>
            <a:r>
              <a:rPr lang="en-US" sz="2000" dirty="0" err="1">
                <a:solidFill>
                  <a:schemeClr val="bg1"/>
                </a:solidFill>
              </a:rPr>
              <a:t>table_name</a:t>
            </a:r>
            <a:r>
              <a:rPr lang="en-US" sz="2000" dirty="0">
                <a:solidFill>
                  <a:schemeClr val="bg1"/>
                </a:solidFill>
              </a:rPr>
              <a:t>', engine)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86308A52-6F74-4243-B243-F723A924DC12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CF1813-B324-415B-9A89-FE90E55EA6CF}"/>
              </a:ext>
            </a:extLst>
          </p:cNvPr>
          <p:cNvSpPr txBox="1"/>
          <p:nvPr/>
        </p:nvSpPr>
        <p:spPr>
          <a:xfrm>
            <a:off x="4371907" y="5742488"/>
            <a:ext cx="3319213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Pandas works seamlessly with the Python data ecosystem.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DDC63-DA64-421E-8940-4B02FB78C1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357" y="2284056"/>
            <a:ext cx="1947578" cy="8720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447FCD-E45D-4B7B-9DAF-A36790AB04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4508" y="3172948"/>
            <a:ext cx="2559275" cy="14199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F32372-060E-48A6-8A41-B61F49447A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2849" y="4568233"/>
            <a:ext cx="998116" cy="99811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1538A5-BF22-4DD9-9B97-AE62EA351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3937" y="4053978"/>
            <a:ext cx="2153679" cy="1001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440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5CBA2176-C371-4AE5-B9F8-F830387446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8300" y="1108132"/>
            <a:ext cx="2077835" cy="15583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03FC31-6C65-49E6-97A5-29E360CCE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4" y="157473"/>
            <a:ext cx="1186184" cy="5311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C57F68-EA70-4BD0-8787-204395E5E6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88426" y="1206189"/>
            <a:ext cx="61342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Basic Plotting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df['Age'].plot(kind='hist', bins=20, title='Age Distribution')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AFA9DC-9831-4253-AB8F-CDFD8F5A47CD}"/>
              </a:ext>
            </a:extLst>
          </p:cNvPr>
          <p:cNvSpPr txBox="1"/>
          <p:nvPr/>
        </p:nvSpPr>
        <p:spPr>
          <a:xfrm>
            <a:off x="388426" y="2120804"/>
            <a:ext cx="59920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Line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(x='Date', y='Sales', kind='line')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57152-0B96-434B-AD40-F3F8E11C5E99}"/>
              </a:ext>
            </a:extLst>
          </p:cNvPr>
          <p:cNvSpPr txBox="1"/>
          <p:nvPr/>
        </p:nvSpPr>
        <p:spPr>
          <a:xfrm>
            <a:off x="371557" y="3952074"/>
            <a:ext cx="41574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Scatter Plot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df.plot.scatter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(x='Age', y='Income')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029FC-EA15-467F-B6C6-CA4FAB356B1E}"/>
              </a:ext>
            </a:extLst>
          </p:cNvPr>
          <p:cNvSpPr txBox="1"/>
          <p:nvPr/>
        </p:nvSpPr>
        <p:spPr>
          <a:xfrm>
            <a:off x="375377" y="3044279"/>
            <a:ext cx="481349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Bar Plot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df['Category'].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value_counts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().plot(kind='bar')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8BADAC-DE63-4014-9DF0-F988E5B88760}"/>
              </a:ext>
            </a:extLst>
          </p:cNvPr>
          <p:cNvSpPr txBox="1"/>
          <p:nvPr/>
        </p:nvSpPr>
        <p:spPr>
          <a:xfrm>
            <a:off x="384063" y="4859869"/>
            <a:ext cx="74652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Using matplotlib and seaborn for Enhanced Visualization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sns.boxplot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(x='Category', y='Income', data=df)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0D421CB-F3C3-450A-8677-0D293D68B4C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87BDF6-B03A-4A47-BF1F-2255714F15B1}"/>
              </a:ext>
            </a:extLst>
          </p:cNvPr>
          <p:cNvSpPr txBox="1"/>
          <p:nvPr/>
        </p:nvSpPr>
        <p:spPr>
          <a:xfrm>
            <a:off x="4001849" y="5783344"/>
            <a:ext cx="418830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Pandas integrates well with visualization libraries for exploratory analysis.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EA6C975-BFCD-487D-8C06-DED50A94C00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Data Visualization Using Pandas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D85DBC-9D33-4C83-946B-AD127AC7327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2805" y="4640336"/>
            <a:ext cx="3083620" cy="19272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FC6F1E3-BCA5-4356-BB7F-75661928A2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5527" y="2557407"/>
            <a:ext cx="2611096" cy="195832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C2C2851-3876-473C-8289-BD59F667F4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0480" y="2943741"/>
            <a:ext cx="2462601" cy="18469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717EBFC-8861-4BC7-AFD4-13DB5878B1A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210" y="1231174"/>
            <a:ext cx="2121902" cy="15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6091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08E192-9341-449E-8C4D-73F3DEACF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3672" y="1612307"/>
            <a:ext cx="2584959" cy="172017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98D79B-A82F-499F-9D40-0436E643FB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2E6578"/>
                </a:solidFill>
                <a:cs typeface="+mn-cs"/>
              </a:rPr>
              <a:t>Exporting Data &amp; Automation in Pandas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388426" y="1291847"/>
            <a:ext cx="469157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Export Data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To CSV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('output.csv',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Excel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df.to_excel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('output.xlsx', index=False)</a:t>
            </a:r>
          </a:p>
          <a:p>
            <a:pPr algn="just"/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To JSON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df.to_json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</a:t>
            </a:r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output.json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', orient='records')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57152-0B96-434B-AD40-F3F8E11C5E99}"/>
              </a:ext>
            </a:extLst>
          </p:cNvPr>
          <p:cNvSpPr txBox="1"/>
          <p:nvPr/>
        </p:nvSpPr>
        <p:spPr>
          <a:xfrm>
            <a:off x="6309362" y="1331767"/>
            <a:ext cx="5760719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Automate Tasks with 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Schedule scripts using </a:t>
            </a:r>
            <a:r>
              <a:rPr lang="en-US" sz="2000" dirty="0" err="1">
                <a:solidFill>
                  <a:schemeClr val="bg1"/>
                </a:solidFill>
              </a:rPr>
              <a:t>cron</a:t>
            </a:r>
            <a:r>
              <a:rPr lang="en-US" sz="2000" dirty="0">
                <a:solidFill>
                  <a:schemeClr val="bg1"/>
                </a:solidFill>
              </a:rPr>
              <a:t> (Linux) or Task Scheduler (Windows).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Use Python scripts to automate data cleaning and reporting.</a:t>
            </a:r>
          </a:p>
          <a:p>
            <a:pPr marL="342900" indent="-342900" algn="just">
              <a:buFontTx/>
              <a:buChar char="-"/>
            </a:pPr>
            <a:endParaRPr lang="en-US" sz="2000" dirty="0">
              <a:solidFill>
                <a:schemeClr val="bg1"/>
              </a:solidFill>
            </a:endParaRP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Example: Save filtered data daily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filtered = df[df['Age'] &gt; 30]</a:t>
            </a:r>
          </a:p>
          <a:p>
            <a:pPr algn="just"/>
            <a:r>
              <a:rPr lang="en-US" sz="2000" dirty="0" err="1">
                <a:solidFill>
                  <a:schemeClr val="bg1"/>
                </a:solidFill>
                <a:highlight>
                  <a:srgbClr val="C0C0C0"/>
                </a:highlight>
              </a:rPr>
              <a:t>filtered.to_csv</a:t>
            </a:r>
            <a:r>
              <a:rPr lang="en-US" sz="2000" dirty="0">
                <a:solidFill>
                  <a:schemeClr val="bg1"/>
                </a:solidFill>
                <a:highlight>
                  <a:srgbClr val="C0C0C0"/>
                </a:highlight>
              </a:rPr>
              <a:t>('filtered_data.csv', index=False)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029FC-EA15-467F-B6C6-CA4FAB356B1E}"/>
              </a:ext>
            </a:extLst>
          </p:cNvPr>
          <p:cNvSpPr txBox="1"/>
          <p:nvPr/>
        </p:nvSpPr>
        <p:spPr>
          <a:xfrm>
            <a:off x="388426" y="4439206"/>
            <a:ext cx="54535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chemeClr val="accent1"/>
                </a:solidFill>
              </a:rPr>
              <a:t>Converting Between NumPy and Tensors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TensorFlow and PyTorch tensors can be converted to/from NumPy arrays seamlessly.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C35830-FF9D-4637-A3BF-A6853F820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DFFC90EC-2877-45EB-8A0B-FD4A55CF8E7D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36029-4885-451A-991C-238FDE654790}"/>
              </a:ext>
            </a:extLst>
          </p:cNvPr>
          <p:cNvSpPr txBox="1"/>
          <p:nvPr/>
        </p:nvSpPr>
        <p:spPr>
          <a:xfrm>
            <a:off x="4439901" y="5742488"/>
            <a:ext cx="3345021" cy="1015663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Tip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Automating pandas workflows saves time and reduces errors.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EE7BB8-5BFF-4DBE-B16F-5547E1ADA5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826" y="4366087"/>
            <a:ext cx="3595334" cy="20133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33703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5F34548-C121-4A82-99BD-E6FF2E0A4E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517" y="139769"/>
            <a:ext cx="721043" cy="721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3085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883DF0-0005-433B-BDA8-C2EE4BC33EAE}"/>
              </a:ext>
            </a:extLst>
          </p:cNvPr>
          <p:cNvSpPr txBox="1"/>
          <p:nvPr/>
        </p:nvSpPr>
        <p:spPr>
          <a:xfrm>
            <a:off x="1018346" y="1971368"/>
            <a:ext cx="593109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solidFill>
                  <a:schemeClr val="accent1"/>
                </a:solidFill>
              </a:rPr>
              <a:t>Summary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Covered Pandas basics to advanced topics: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structures &amp; indexing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Data cleaning &amp; manipulation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Grouping, merging &amp; reshaping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Time series &amp; categorical data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Performance optimization &amp; visualization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Integration &amp; automation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2F405E7-14D3-4788-9BF6-A725E38845C3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019B63-3DCE-47AB-BE7A-8E8EA694463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274" b="31748"/>
          <a:stretch/>
        </p:blipFill>
        <p:spPr>
          <a:xfrm>
            <a:off x="157290" y="157473"/>
            <a:ext cx="1508443" cy="55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8462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C983DFC6-C495-4594-BDF5-357CB55BB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6986" y="99849"/>
            <a:ext cx="11691813" cy="1191998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2E6578"/>
                </a:solidFill>
                <a:cs typeface="+mn-cs"/>
              </a:rPr>
              <a:t>Q &amp; 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EE147-9E86-4B73-9018-E0D465602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9233" y="1878719"/>
            <a:ext cx="4587317" cy="4486275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29E39623-061D-4662-97EA-077035D18C1B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1">
                    <a:tint val="75000"/>
                  </a:schemeClr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4096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BBE9C5C-6569-4C5C-98FD-4514941A1A59}"/>
              </a:ext>
            </a:extLst>
          </p:cNvPr>
          <p:cNvSpPr/>
          <p:nvPr/>
        </p:nvSpPr>
        <p:spPr>
          <a:xfrm rot="2700000">
            <a:off x="4776987" y="1498228"/>
            <a:ext cx="2013391" cy="2013391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6BA146-A655-415F-8DCE-ED10500F28D3}"/>
              </a:ext>
            </a:extLst>
          </p:cNvPr>
          <p:cNvSpPr/>
          <p:nvPr/>
        </p:nvSpPr>
        <p:spPr>
          <a:xfrm rot="2700000">
            <a:off x="6838259" y="3069049"/>
            <a:ext cx="1719112" cy="17191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5C243C-8AFA-48C1-BC37-34FA15F457A4}"/>
              </a:ext>
            </a:extLst>
          </p:cNvPr>
          <p:cNvSpPr/>
          <p:nvPr/>
        </p:nvSpPr>
        <p:spPr>
          <a:xfrm rot="2700000" flipV="1">
            <a:off x="4540879" y="4118095"/>
            <a:ext cx="952612" cy="952612"/>
          </a:xfrm>
          <a:prstGeom prst="roundRect">
            <a:avLst>
              <a:gd name="adj" fmla="val 20464"/>
            </a:avLst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7236F8A-92A8-462D-9C5C-EBB0391EE255}"/>
              </a:ext>
            </a:extLst>
          </p:cNvPr>
          <p:cNvSpPr/>
          <p:nvPr/>
        </p:nvSpPr>
        <p:spPr>
          <a:xfrm rot="2700000">
            <a:off x="4873774" y="2476034"/>
            <a:ext cx="2632087" cy="2632087"/>
          </a:xfrm>
          <a:prstGeom prst="roundRect">
            <a:avLst>
              <a:gd name="adj" fmla="val 19126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72742A2-6260-4172-8D34-B3FEEEF9BC92}"/>
              </a:ext>
            </a:extLst>
          </p:cNvPr>
          <p:cNvSpPr txBox="1">
            <a:spLocks/>
          </p:cNvSpPr>
          <p:nvPr/>
        </p:nvSpPr>
        <p:spPr>
          <a:xfrm>
            <a:off x="5052519" y="3279223"/>
            <a:ext cx="2274595" cy="1239069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n-IN" sz="4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2A43068-9F93-4923-849F-C40C2616E5FD}"/>
              </a:ext>
            </a:extLst>
          </p:cNvPr>
          <p:cNvSpPr/>
          <p:nvPr/>
        </p:nvSpPr>
        <p:spPr>
          <a:xfrm rot="2700000">
            <a:off x="6514438" y="5459984"/>
            <a:ext cx="1597667" cy="1597667"/>
          </a:xfrm>
          <a:custGeom>
            <a:avLst/>
            <a:gdLst>
              <a:gd name="connsiteX0" fmla="*/ 89500 w 1597666"/>
              <a:gd name="connsiteY0" fmla="*/ 89500 h 1597666"/>
              <a:gd name="connsiteX1" fmla="*/ 305570 w 1597666"/>
              <a:gd name="connsiteY1" fmla="*/ 0 h 1597666"/>
              <a:gd name="connsiteX2" fmla="*/ 1292096 w 1597666"/>
              <a:gd name="connsiteY2" fmla="*/ 0 h 1597666"/>
              <a:gd name="connsiteX3" fmla="*/ 1597666 w 1597666"/>
              <a:gd name="connsiteY3" fmla="*/ 305570 h 1597666"/>
              <a:gd name="connsiteX4" fmla="*/ 1597666 w 1597666"/>
              <a:gd name="connsiteY4" fmla="*/ 828667 h 1597666"/>
              <a:gd name="connsiteX5" fmla="*/ 828667 w 1597666"/>
              <a:gd name="connsiteY5" fmla="*/ 1597666 h 1597666"/>
              <a:gd name="connsiteX6" fmla="*/ 305570 w 1597666"/>
              <a:gd name="connsiteY6" fmla="*/ 1597666 h 1597666"/>
              <a:gd name="connsiteX7" fmla="*/ 0 w 1597666"/>
              <a:gd name="connsiteY7" fmla="*/ 1292096 h 1597666"/>
              <a:gd name="connsiteX8" fmla="*/ 0 w 1597666"/>
              <a:gd name="connsiteY8" fmla="*/ 305570 h 1597666"/>
              <a:gd name="connsiteX9" fmla="*/ 89500 w 1597666"/>
              <a:gd name="connsiteY9" fmla="*/ 89500 h 1597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97666" h="1597666">
                <a:moveTo>
                  <a:pt x="89500" y="89500"/>
                </a:moveTo>
                <a:cubicBezTo>
                  <a:pt x="144796" y="34202"/>
                  <a:pt x="221189" y="0"/>
                  <a:pt x="305570" y="0"/>
                </a:cubicBezTo>
                <a:lnTo>
                  <a:pt x="1292096" y="0"/>
                </a:lnTo>
                <a:cubicBezTo>
                  <a:pt x="1460858" y="0"/>
                  <a:pt x="1597666" y="136808"/>
                  <a:pt x="1597666" y="305570"/>
                </a:cubicBezTo>
                <a:lnTo>
                  <a:pt x="1597666" y="828667"/>
                </a:lnTo>
                <a:lnTo>
                  <a:pt x="828667" y="1597666"/>
                </a:lnTo>
                <a:lnTo>
                  <a:pt x="305570" y="1597666"/>
                </a:lnTo>
                <a:cubicBezTo>
                  <a:pt x="136808" y="1597666"/>
                  <a:pt x="0" y="1460858"/>
                  <a:pt x="0" y="1292096"/>
                </a:cubicBezTo>
                <a:lnTo>
                  <a:pt x="0" y="305570"/>
                </a:lnTo>
                <a:cubicBezTo>
                  <a:pt x="0" y="221189"/>
                  <a:pt x="34202" y="144796"/>
                  <a:pt x="89500" y="89500"/>
                </a:cubicBezTo>
                <a:close/>
              </a:path>
            </a:pathLst>
          </a:cu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sz="14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3F0C82F-60D6-4E8E-8658-1945239ECDC7}"/>
              </a:ext>
            </a:extLst>
          </p:cNvPr>
          <p:cNvSpPr/>
          <p:nvPr/>
        </p:nvSpPr>
        <p:spPr>
          <a:xfrm rot="2700000">
            <a:off x="6510290" y="359620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632F3FE-74FC-4251-9C8C-0D58948AEC51}"/>
              </a:ext>
            </a:extLst>
          </p:cNvPr>
          <p:cNvSpPr/>
          <p:nvPr/>
        </p:nvSpPr>
        <p:spPr>
          <a:xfrm rot="2700000">
            <a:off x="2631201" y="2321567"/>
            <a:ext cx="1597667" cy="1597667"/>
          </a:xfrm>
          <a:prstGeom prst="roundRect">
            <a:avLst>
              <a:gd name="adj" fmla="val 19126"/>
            </a:avLst>
          </a:prstGeom>
          <a:solidFill>
            <a:schemeClr val="accent2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40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1B9AA9D-A8FA-472A-8829-35C9E7182704}"/>
              </a:ext>
            </a:extLst>
          </p:cNvPr>
          <p:cNvSpPr txBox="1">
            <a:spLocks/>
          </p:cNvSpPr>
          <p:nvPr/>
        </p:nvSpPr>
        <p:spPr>
          <a:xfrm>
            <a:off x="9309956" y="6504690"/>
            <a:ext cx="3012121" cy="457275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060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3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21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chemeClr val="bg1"/>
                </a:solidFill>
              </a:rPr>
              <a:t>Instructor : Fawad Bahadur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671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Earthy inspiration</Template>
  <TotalTime>0</TotalTime>
  <Words>2351</Words>
  <Application>Microsoft Office PowerPoint</Application>
  <PresentationFormat>Widescreen</PresentationFormat>
  <Paragraphs>392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Agency FB</vt:lpstr>
      <vt:lpstr>Arial</vt:lpstr>
      <vt:lpstr>Goudy Old Style</vt:lpstr>
      <vt:lpstr>Lato</vt:lpstr>
      <vt:lpstr>Wingdings 2</vt:lpstr>
      <vt:lpstr>SlateVTI</vt:lpstr>
      <vt:lpstr>Huawei HCCDA-AI certification </vt:lpstr>
      <vt:lpstr>Mastering Pandas: From Basics to Expert Level</vt:lpstr>
      <vt:lpstr>Training Objectives &amp; Outcomes</vt:lpstr>
      <vt:lpstr>Introduction to Pandas</vt:lpstr>
      <vt:lpstr>Setting Up Pandas in Your Environment</vt:lpstr>
      <vt:lpstr>Pandas Series</vt:lpstr>
      <vt:lpstr>Pandas DataFrame Basics</vt:lpstr>
      <vt:lpstr>Data Selection &amp; Indexing?</vt:lpstr>
      <vt:lpstr>Handling Missing Data?</vt:lpstr>
      <vt:lpstr>Data Aggregation &amp; Grouping</vt:lpstr>
      <vt:lpstr>Concatenation in Pandas</vt:lpstr>
      <vt:lpstr>Merge in Pandas</vt:lpstr>
      <vt:lpstr>Join in Pandas</vt:lpstr>
      <vt:lpstr>Working with Time Series Data</vt:lpstr>
      <vt:lpstr>Handling Text Data in Pandas</vt:lpstr>
      <vt:lpstr>Pivot Tables in Pandas</vt:lpstr>
      <vt:lpstr>Crosstabs in Pandas</vt:lpstr>
      <vt:lpstr>Reading &amp; Writing Data with Pandas</vt:lpstr>
      <vt:lpstr>Categorical Data in Pandas</vt:lpstr>
      <vt:lpstr>Efficient Function Application in Pandas</vt:lpstr>
      <vt:lpstr>Optimizing Pandas Performance</vt:lpstr>
      <vt:lpstr>Pandas Integration with Other Libraries</vt:lpstr>
      <vt:lpstr>Data Visualization Using Pandas</vt:lpstr>
      <vt:lpstr>Exporting Data &amp; Automation in Pandas</vt:lpstr>
      <vt:lpstr>Summary</vt:lpstr>
      <vt:lpstr>Q &amp; 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2025-05-18T04:39:12Z</dcterms:created>
  <dcterms:modified xsi:type="dcterms:W3CDTF">2025-06-24T11:09:03Z</dcterms:modified>
</cp:coreProperties>
</file>