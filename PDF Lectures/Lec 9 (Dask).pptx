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360" r:id="rId2"/>
    <p:sldId id="265" r:id="rId3"/>
    <p:sldId id="361" r:id="rId4"/>
    <p:sldId id="362" r:id="rId5"/>
    <p:sldId id="376" r:id="rId6"/>
    <p:sldId id="377" r:id="rId7"/>
    <p:sldId id="323" r:id="rId8"/>
    <p:sldId id="363" r:id="rId9"/>
    <p:sldId id="325" r:id="rId10"/>
    <p:sldId id="364" r:id="rId11"/>
    <p:sldId id="365" r:id="rId12"/>
    <p:sldId id="366" r:id="rId13"/>
    <p:sldId id="374" r:id="rId14"/>
    <p:sldId id="375" r:id="rId15"/>
    <p:sldId id="367" r:id="rId16"/>
    <p:sldId id="368" r:id="rId17"/>
    <p:sldId id="370" r:id="rId18"/>
    <p:sldId id="347" r:id="rId19"/>
    <p:sldId id="371" r:id="rId20"/>
    <p:sldId id="369" r:id="rId21"/>
    <p:sldId id="32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74B"/>
    <a:srgbClr val="26B481"/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7/10/2025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87120"/>
            <a:ext cx="12192000" cy="264838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3"/>
                </a:solidFill>
                <a:effectLst/>
              </a:rPr>
              <a:t>Mastering </a:t>
            </a:r>
            <a:r>
              <a:rPr lang="en-US" sz="4800" b="1" dirty="0" err="1">
                <a:solidFill>
                  <a:schemeClr val="accent3"/>
                </a:solidFill>
                <a:effectLst/>
              </a:rPr>
              <a:t>Dask</a:t>
            </a:r>
            <a:r>
              <a:rPr lang="en-US" sz="4800" b="1" dirty="0">
                <a:solidFill>
                  <a:schemeClr val="accent3"/>
                </a:solidFill>
                <a:effectLst/>
              </a:rPr>
              <a:t>: From Basics to Expert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tx1">
                    <a:lumMod val="50000"/>
                  </a:schemeClr>
                </a:solidFill>
                <a:effectLst/>
              </a:rPr>
              <a:t>Scalable Data Processing with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190" y="911972"/>
            <a:ext cx="1555039" cy="155503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CB66FD8F-78E2-4D71-A6AD-762061E9053D}"/>
              </a:ext>
            </a:extLst>
          </p:cNvPr>
          <p:cNvSpPr txBox="1">
            <a:spLocks/>
          </p:cNvSpPr>
          <p:nvPr/>
        </p:nvSpPr>
        <p:spPr>
          <a:xfrm>
            <a:off x="7121462" y="6077745"/>
            <a:ext cx="4836858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Instructor : Fawad Bahadur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E0B58F5-D20E-4FB6-BC0A-C191F415E89F}"/>
              </a:ext>
            </a:extLst>
          </p:cNvPr>
          <p:cNvSpPr txBox="1">
            <a:spLocks/>
          </p:cNvSpPr>
          <p:nvPr/>
        </p:nvSpPr>
        <p:spPr>
          <a:xfrm>
            <a:off x="172720" y="6159025"/>
            <a:ext cx="2397760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bg1"/>
                </a:solidFill>
              </a:rPr>
              <a:t>Dated: 14 June 2025</a:t>
            </a:r>
          </a:p>
        </p:txBody>
      </p:sp>
    </p:spTree>
    <p:extLst>
      <p:ext uri="{BB962C8B-B14F-4D97-AF65-F5344CB8AC3E}">
        <p14:creationId xmlns:p14="http://schemas.microsoft.com/office/powerpoint/2010/main" val="2505784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Training Objectives &amp; Outcomes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Instructor : Fawad Bahadur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511DCA0-1C83-43D5-8ED7-4D5DDD4E0CCE}"/>
              </a:ext>
            </a:extLst>
          </p:cNvPr>
          <p:cNvGrpSpPr/>
          <p:nvPr/>
        </p:nvGrpSpPr>
        <p:grpSpPr>
          <a:xfrm>
            <a:off x="1012180" y="2242741"/>
            <a:ext cx="10710113" cy="4261949"/>
            <a:chOff x="1942398" y="1019157"/>
            <a:chExt cx="6261760" cy="291203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E195731-AB24-42C6-9E1C-4C3F597142AB}"/>
                </a:ext>
              </a:extLst>
            </p:cNvPr>
            <p:cNvGrpSpPr/>
            <p:nvPr/>
          </p:nvGrpSpPr>
          <p:grpSpPr>
            <a:xfrm flipV="1">
              <a:off x="3262207" y="2824114"/>
              <a:ext cx="1161497" cy="1107080"/>
              <a:chOff x="2825608" y="737883"/>
              <a:chExt cx="1548662" cy="147610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E20931E0-671C-4854-AA76-8B68135BEDDC}"/>
                  </a:ext>
                </a:extLst>
              </p:cNvPr>
              <p:cNvCxnSpPr>
                <a:cxnSpLocks/>
              </p:cNvCxnSpPr>
              <p:nvPr/>
            </p:nvCxnSpPr>
            <p:spPr>
              <a:xfrm rot="-60000">
                <a:off x="3663659" y="2213990"/>
                <a:ext cx="710611" cy="0"/>
              </a:xfrm>
              <a:prstGeom prst="line">
                <a:avLst/>
              </a:prstGeom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2957C0E4-7B0A-4085-BEBC-9BF2EA18B89B}"/>
                  </a:ext>
                </a:extLst>
              </p:cNvPr>
              <p:cNvGrpSpPr/>
              <p:nvPr/>
            </p:nvGrpSpPr>
            <p:grpSpPr>
              <a:xfrm>
                <a:off x="3364423" y="1464859"/>
                <a:ext cx="846808" cy="168817"/>
                <a:chOff x="3364423" y="1464859"/>
                <a:chExt cx="846808" cy="168817"/>
              </a:xfrm>
            </p:grpSpPr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33F2F6E2-4943-4614-8BB9-BA1D9296B8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64423" y="1464859"/>
                  <a:ext cx="137351" cy="168817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DC3A168D-F31E-4B08-82E3-09C72DF41F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0620" y="1465674"/>
                  <a:ext cx="710611" cy="5938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8A08D696-F2B7-4B9B-AB5A-FE7110600CCC}"/>
                  </a:ext>
                </a:extLst>
              </p:cNvPr>
              <p:cNvGrpSpPr/>
              <p:nvPr/>
            </p:nvGrpSpPr>
            <p:grpSpPr>
              <a:xfrm>
                <a:off x="2825608" y="737883"/>
                <a:ext cx="874325" cy="444812"/>
                <a:chOff x="2956005" y="765222"/>
                <a:chExt cx="874325" cy="444812"/>
              </a:xfrm>
            </p:grpSpPr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BB3EBC8D-6B9B-4AED-B583-55573686D4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56005" y="765222"/>
                  <a:ext cx="361903" cy="444812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1EF6DC08-B7B7-4865-B56D-19E0ADFED9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17908" y="765222"/>
                  <a:ext cx="512422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1839534-284C-488A-BE56-EF820A8C5D18}"/>
                </a:ext>
              </a:extLst>
            </p:cNvPr>
            <p:cNvGrpSpPr/>
            <p:nvPr/>
          </p:nvGrpSpPr>
          <p:grpSpPr>
            <a:xfrm>
              <a:off x="3262207" y="1196350"/>
              <a:ext cx="1161497" cy="1107080"/>
              <a:chOff x="2825608" y="737883"/>
              <a:chExt cx="1548662" cy="1476107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83714441-8A6C-46C8-B736-F390102E30D1}"/>
                  </a:ext>
                </a:extLst>
              </p:cNvPr>
              <p:cNvCxnSpPr>
                <a:cxnSpLocks/>
              </p:cNvCxnSpPr>
              <p:nvPr/>
            </p:nvCxnSpPr>
            <p:spPr>
              <a:xfrm rot="-60000">
                <a:off x="3663659" y="2213990"/>
                <a:ext cx="710611" cy="0"/>
              </a:xfrm>
              <a:prstGeom prst="line">
                <a:avLst/>
              </a:prstGeom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CF453858-F83C-40E8-9B0B-7DD431DC231F}"/>
                  </a:ext>
                </a:extLst>
              </p:cNvPr>
              <p:cNvGrpSpPr/>
              <p:nvPr/>
            </p:nvGrpSpPr>
            <p:grpSpPr>
              <a:xfrm>
                <a:off x="3364423" y="1464859"/>
                <a:ext cx="846808" cy="168817"/>
                <a:chOff x="3364423" y="1464859"/>
                <a:chExt cx="846808" cy="168817"/>
              </a:xfrm>
            </p:grpSpPr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2DFA241A-7618-4CAE-9672-E3F301DADC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64423" y="1464859"/>
                  <a:ext cx="137351" cy="168817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ACEE41E9-92F5-4066-9F99-167C1D2C79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0620" y="1465674"/>
                  <a:ext cx="710611" cy="5938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714B80C1-F58F-48A5-AE52-21F60E937F28}"/>
                  </a:ext>
                </a:extLst>
              </p:cNvPr>
              <p:cNvGrpSpPr/>
              <p:nvPr/>
            </p:nvGrpSpPr>
            <p:grpSpPr>
              <a:xfrm>
                <a:off x="2825608" y="737883"/>
                <a:ext cx="874325" cy="444812"/>
                <a:chOff x="2956005" y="765222"/>
                <a:chExt cx="874325" cy="444812"/>
              </a:xfrm>
            </p:grpSpPr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4B638B2F-AF09-4448-AA08-E7C48E61CF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56005" y="765222"/>
                  <a:ext cx="361903" cy="444812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57304A96-5C14-4254-A101-879676F833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17908" y="765222"/>
                  <a:ext cx="512422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CC6AD63-CDAD-47D0-9B30-D220A4DDE502}"/>
                </a:ext>
              </a:extLst>
            </p:cNvPr>
            <p:cNvSpPr/>
            <p:nvPr/>
          </p:nvSpPr>
          <p:spPr>
            <a:xfrm>
              <a:off x="2759073" y="1415010"/>
              <a:ext cx="1161931" cy="2323862"/>
            </a:xfrm>
            <a:custGeom>
              <a:avLst/>
              <a:gdLst>
                <a:gd name="connsiteX0" fmla="*/ 0 w 1549241"/>
                <a:gd name="connsiteY0" fmla="*/ 0 h 3098482"/>
                <a:gd name="connsiteX1" fmla="*/ 1549241 w 1549241"/>
                <a:gd name="connsiteY1" fmla="*/ 1549241 h 3098482"/>
                <a:gd name="connsiteX2" fmla="*/ 0 w 1549241"/>
                <a:gd name="connsiteY2" fmla="*/ 3098482 h 3098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49241" h="3098482">
                  <a:moveTo>
                    <a:pt x="0" y="0"/>
                  </a:moveTo>
                  <a:cubicBezTo>
                    <a:pt x="855631" y="0"/>
                    <a:pt x="1549241" y="693611"/>
                    <a:pt x="1549241" y="1549241"/>
                  </a:cubicBezTo>
                  <a:cubicBezTo>
                    <a:pt x="1549241" y="2404872"/>
                    <a:pt x="855631" y="3098482"/>
                    <a:pt x="0" y="3098482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05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756083D-24F8-4CCB-AF2D-3B3346A1CFFB}"/>
                </a:ext>
              </a:extLst>
            </p:cNvPr>
            <p:cNvSpPr/>
            <p:nvPr/>
          </p:nvSpPr>
          <p:spPr>
            <a:xfrm>
              <a:off x="2689206" y="1345145"/>
              <a:ext cx="139732" cy="139732"/>
            </a:xfrm>
            <a:custGeom>
              <a:avLst/>
              <a:gdLst>
                <a:gd name="connsiteX0" fmla="*/ 186309 w 186309"/>
                <a:gd name="connsiteY0" fmla="*/ 93155 h 186309"/>
                <a:gd name="connsiteX1" fmla="*/ 93155 w 186309"/>
                <a:gd name="connsiteY1" fmla="*/ 186309 h 186309"/>
                <a:gd name="connsiteX2" fmla="*/ 0 w 186309"/>
                <a:gd name="connsiteY2" fmla="*/ 93155 h 186309"/>
                <a:gd name="connsiteX3" fmla="*/ 93155 w 186309"/>
                <a:gd name="connsiteY3" fmla="*/ 0 h 186309"/>
                <a:gd name="connsiteX4" fmla="*/ 186309 w 186309"/>
                <a:gd name="connsiteY4" fmla="*/ 93155 h 18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309" h="186309">
                  <a:moveTo>
                    <a:pt x="186309" y="93155"/>
                  </a:moveTo>
                  <a:cubicBezTo>
                    <a:pt x="186309" y="144602"/>
                    <a:pt x="144602" y="186309"/>
                    <a:pt x="93155" y="186309"/>
                  </a:cubicBezTo>
                  <a:cubicBezTo>
                    <a:pt x="41707" y="186309"/>
                    <a:pt x="0" y="144602"/>
                    <a:pt x="0" y="93155"/>
                  </a:cubicBezTo>
                  <a:cubicBezTo>
                    <a:pt x="0" y="41707"/>
                    <a:pt x="41707" y="0"/>
                    <a:pt x="93155" y="0"/>
                  </a:cubicBezTo>
                  <a:cubicBezTo>
                    <a:pt x="144602" y="0"/>
                    <a:pt x="186309" y="41707"/>
                    <a:pt x="186309" y="93155"/>
                  </a:cubicBezTo>
                  <a:close/>
                </a:path>
              </a:pathLst>
            </a:custGeom>
            <a:solidFill>
              <a:schemeClr val="bg1"/>
            </a:solidFill>
            <a:ln w="15875">
              <a:solidFill>
                <a:schemeClr val="bg1">
                  <a:alpha val="42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05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4AE4F44-0449-4F72-8075-9AF94AD7AA36}"/>
                </a:ext>
              </a:extLst>
            </p:cNvPr>
            <p:cNvSpPr/>
            <p:nvPr/>
          </p:nvSpPr>
          <p:spPr>
            <a:xfrm>
              <a:off x="3820920" y="2765394"/>
              <a:ext cx="139731" cy="139732"/>
            </a:xfrm>
            <a:custGeom>
              <a:avLst/>
              <a:gdLst>
                <a:gd name="connsiteX0" fmla="*/ 186309 w 186308"/>
                <a:gd name="connsiteY0" fmla="*/ 93154 h 186309"/>
                <a:gd name="connsiteX1" fmla="*/ 93155 w 186308"/>
                <a:gd name="connsiteY1" fmla="*/ 186309 h 186309"/>
                <a:gd name="connsiteX2" fmla="*/ 0 w 186308"/>
                <a:gd name="connsiteY2" fmla="*/ 93154 h 186309"/>
                <a:gd name="connsiteX3" fmla="*/ 93155 w 186308"/>
                <a:gd name="connsiteY3" fmla="*/ 0 h 186309"/>
                <a:gd name="connsiteX4" fmla="*/ 186309 w 186308"/>
                <a:gd name="connsiteY4" fmla="*/ 93154 h 18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308" h="186309">
                  <a:moveTo>
                    <a:pt x="186309" y="93154"/>
                  </a:moveTo>
                  <a:cubicBezTo>
                    <a:pt x="186309" y="144602"/>
                    <a:pt x="144602" y="186309"/>
                    <a:pt x="93155" y="186309"/>
                  </a:cubicBezTo>
                  <a:cubicBezTo>
                    <a:pt x="41707" y="186309"/>
                    <a:pt x="0" y="144602"/>
                    <a:pt x="0" y="93154"/>
                  </a:cubicBezTo>
                  <a:cubicBezTo>
                    <a:pt x="0" y="41707"/>
                    <a:pt x="41707" y="0"/>
                    <a:pt x="93155" y="0"/>
                  </a:cubicBezTo>
                  <a:cubicBezTo>
                    <a:pt x="144602" y="0"/>
                    <a:pt x="186309" y="41707"/>
                    <a:pt x="186309" y="931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solidFill>
                <a:schemeClr val="bg1"/>
              </a:solidFill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4E87F53-CED4-4444-A5BB-D6F361A0BAC1}"/>
                </a:ext>
              </a:extLst>
            </p:cNvPr>
            <p:cNvSpPr/>
            <p:nvPr/>
          </p:nvSpPr>
          <p:spPr>
            <a:xfrm>
              <a:off x="3821349" y="2248758"/>
              <a:ext cx="139731" cy="139732"/>
            </a:xfrm>
            <a:custGeom>
              <a:avLst/>
              <a:gdLst>
                <a:gd name="connsiteX0" fmla="*/ 186309 w 186308"/>
                <a:gd name="connsiteY0" fmla="*/ 93155 h 186309"/>
                <a:gd name="connsiteX1" fmla="*/ 93155 w 186308"/>
                <a:gd name="connsiteY1" fmla="*/ 186309 h 186309"/>
                <a:gd name="connsiteX2" fmla="*/ 0 w 186308"/>
                <a:gd name="connsiteY2" fmla="*/ 93155 h 186309"/>
                <a:gd name="connsiteX3" fmla="*/ 93155 w 186308"/>
                <a:gd name="connsiteY3" fmla="*/ 0 h 186309"/>
                <a:gd name="connsiteX4" fmla="*/ 186309 w 186308"/>
                <a:gd name="connsiteY4" fmla="*/ 93155 h 18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308" h="186309">
                  <a:moveTo>
                    <a:pt x="186309" y="93155"/>
                  </a:moveTo>
                  <a:cubicBezTo>
                    <a:pt x="186309" y="144602"/>
                    <a:pt x="144602" y="186309"/>
                    <a:pt x="93155" y="186309"/>
                  </a:cubicBezTo>
                  <a:cubicBezTo>
                    <a:pt x="41707" y="186309"/>
                    <a:pt x="0" y="144602"/>
                    <a:pt x="0" y="93155"/>
                  </a:cubicBezTo>
                  <a:cubicBezTo>
                    <a:pt x="0" y="41707"/>
                    <a:pt x="41707" y="0"/>
                    <a:pt x="93155" y="0"/>
                  </a:cubicBezTo>
                  <a:cubicBezTo>
                    <a:pt x="144602" y="0"/>
                    <a:pt x="186309" y="41707"/>
                    <a:pt x="186309" y="93155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solidFill>
                <a:schemeClr val="bg1"/>
              </a:solidFill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3FE5DC7-222B-4729-917F-3560FE3BE6BC}"/>
                </a:ext>
              </a:extLst>
            </p:cNvPr>
            <p:cNvSpPr/>
            <p:nvPr/>
          </p:nvSpPr>
          <p:spPr>
            <a:xfrm>
              <a:off x="3597606" y="1783128"/>
              <a:ext cx="139732" cy="139732"/>
            </a:xfrm>
            <a:custGeom>
              <a:avLst/>
              <a:gdLst>
                <a:gd name="connsiteX0" fmla="*/ 186309 w 186309"/>
                <a:gd name="connsiteY0" fmla="*/ 93154 h 186309"/>
                <a:gd name="connsiteX1" fmla="*/ 93155 w 186309"/>
                <a:gd name="connsiteY1" fmla="*/ 186309 h 186309"/>
                <a:gd name="connsiteX2" fmla="*/ 0 w 186309"/>
                <a:gd name="connsiteY2" fmla="*/ 93154 h 186309"/>
                <a:gd name="connsiteX3" fmla="*/ 93155 w 186309"/>
                <a:gd name="connsiteY3" fmla="*/ 0 h 186309"/>
                <a:gd name="connsiteX4" fmla="*/ 186309 w 186309"/>
                <a:gd name="connsiteY4" fmla="*/ 93154 h 18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309" h="186309">
                  <a:moveTo>
                    <a:pt x="186309" y="93154"/>
                  </a:moveTo>
                  <a:cubicBezTo>
                    <a:pt x="186309" y="144602"/>
                    <a:pt x="144602" y="186309"/>
                    <a:pt x="93155" y="186309"/>
                  </a:cubicBezTo>
                  <a:cubicBezTo>
                    <a:pt x="41707" y="186309"/>
                    <a:pt x="0" y="144602"/>
                    <a:pt x="0" y="93154"/>
                  </a:cubicBezTo>
                  <a:cubicBezTo>
                    <a:pt x="0" y="41707"/>
                    <a:pt x="41707" y="0"/>
                    <a:pt x="93155" y="0"/>
                  </a:cubicBezTo>
                  <a:cubicBezTo>
                    <a:pt x="144602" y="0"/>
                    <a:pt x="186309" y="41707"/>
                    <a:pt x="186309" y="93154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solidFill>
                <a:schemeClr val="bg1"/>
              </a:solidFill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957F2B-CECD-4443-98D5-7E5D2E1244AF}"/>
                </a:ext>
              </a:extLst>
            </p:cNvPr>
            <p:cNvSpPr/>
            <p:nvPr/>
          </p:nvSpPr>
          <p:spPr>
            <a:xfrm>
              <a:off x="3193984" y="1460660"/>
              <a:ext cx="139732" cy="139731"/>
            </a:xfrm>
            <a:custGeom>
              <a:avLst/>
              <a:gdLst>
                <a:gd name="connsiteX0" fmla="*/ 186309 w 186309"/>
                <a:gd name="connsiteY0" fmla="*/ 93155 h 186308"/>
                <a:gd name="connsiteX1" fmla="*/ 93155 w 186309"/>
                <a:gd name="connsiteY1" fmla="*/ 186309 h 186308"/>
                <a:gd name="connsiteX2" fmla="*/ 0 w 186309"/>
                <a:gd name="connsiteY2" fmla="*/ 93154 h 186308"/>
                <a:gd name="connsiteX3" fmla="*/ 93155 w 186309"/>
                <a:gd name="connsiteY3" fmla="*/ 0 h 186308"/>
                <a:gd name="connsiteX4" fmla="*/ 186309 w 186309"/>
                <a:gd name="connsiteY4" fmla="*/ 93155 h 186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309" h="186308">
                  <a:moveTo>
                    <a:pt x="186309" y="93155"/>
                  </a:moveTo>
                  <a:cubicBezTo>
                    <a:pt x="186309" y="144602"/>
                    <a:pt x="144602" y="186309"/>
                    <a:pt x="93155" y="186309"/>
                  </a:cubicBezTo>
                  <a:cubicBezTo>
                    <a:pt x="41707" y="186309"/>
                    <a:pt x="0" y="144602"/>
                    <a:pt x="0" y="93154"/>
                  </a:cubicBezTo>
                  <a:cubicBezTo>
                    <a:pt x="0" y="41707"/>
                    <a:pt x="41707" y="0"/>
                    <a:pt x="93155" y="0"/>
                  </a:cubicBezTo>
                  <a:cubicBezTo>
                    <a:pt x="144602" y="0"/>
                    <a:pt x="186309" y="41707"/>
                    <a:pt x="186309" y="9315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solidFill>
                <a:schemeClr val="bg1"/>
              </a:solidFill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endParaRPr lang="en-IN" sz="105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9D9DFC8-B2E2-4A9D-BA74-A64F1A90E554}"/>
                </a:ext>
              </a:extLst>
            </p:cNvPr>
            <p:cNvGrpSpPr/>
            <p:nvPr/>
          </p:nvGrpSpPr>
          <p:grpSpPr>
            <a:xfrm>
              <a:off x="1942398" y="1775510"/>
              <a:ext cx="1642370" cy="1593341"/>
              <a:chOff x="1065864" y="1510094"/>
              <a:chExt cx="2189826" cy="2124455"/>
            </a:xfrm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D5800357-DEFA-4A87-8A90-3F183C42D800}"/>
                  </a:ext>
                </a:extLst>
              </p:cNvPr>
              <p:cNvSpPr/>
              <p:nvPr/>
            </p:nvSpPr>
            <p:spPr>
              <a:xfrm>
                <a:off x="1098550" y="1510094"/>
                <a:ext cx="2124456" cy="2124455"/>
              </a:xfrm>
              <a:custGeom>
                <a:avLst/>
                <a:gdLst>
                  <a:gd name="connsiteX0" fmla="*/ 2124456 w 2124456"/>
                  <a:gd name="connsiteY0" fmla="*/ 1062228 h 2124455"/>
                  <a:gd name="connsiteX1" fmla="*/ 1062228 w 2124456"/>
                  <a:gd name="connsiteY1" fmla="*/ 2124456 h 2124455"/>
                  <a:gd name="connsiteX2" fmla="*/ 0 w 2124456"/>
                  <a:gd name="connsiteY2" fmla="*/ 1062228 h 2124455"/>
                  <a:gd name="connsiteX3" fmla="*/ 1062228 w 2124456"/>
                  <a:gd name="connsiteY3" fmla="*/ 0 h 2124455"/>
                  <a:gd name="connsiteX4" fmla="*/ 2124456 w 2124456"/>
                  <a:gd name="connsiteY4" fmla="*/ 1062228 h 2124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4456" h="2124455">
                    <a:moveTo>
                      <a:pt x="2124456" y="1062228"/>
                    </a:moveTo>
                    <a:cubicBezTo>
                      <a:pt x="2124456" y="1648880"/>
                      <a:pt x="1648880" y="2124456"/>
                      <a:pt x="1062228" y="2124456"/>
                    </a:cubicBezTo>
                    <a:cubicBezTo>
                      <a:pt x="475576" y="2124456"/>
                      <a:pt x="0" y="1648880"/>
                      <a:pt x="0" y="1062228"/>
                    </a:cubicBezTo>
                    <a:cubicBezTo>
                      <a:pt x="0" y="475575"/>
                      <a:pt x="475576" y="0"/>
                      <a:pt x="1062228" y="0"/>
                    </a:cubicBezTo>
                    <a:cubicBezTo>
                      <a:pt x="1648880" y="0"/>
                      <a:pt x="2124456" y="475575"/>
                      <a:pt x="2124456" y="106222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>
                <a:solidFill>
                  <a:schemeClr val="bg1">
                    <a:alpha val="52000"/>
                  </a:schemeClr>
                </a:solidFill>
              </a:ln>
              <a:effectLst>
                <a:innerShdw blurRad="63500" dist="25400" dir="162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050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438D75A7-3EA3-46E3-B700-D198A626AFC4}"/>
                  </a:ext>
                </a:extLst>
              </p:cNvPr>
              <p:cNvSpPr/>
              <p:nvPr/>
            </p:nvSpPr>
            <p:spPr>
              <a:xfrm>
                <a:off x="1202118" y="1613662"/>
                <a:ext cx="1917320" cy="1917320"/>
              </a:xfrm>
              <a:custGeom>
                <a:avLst/>
                <a:gdLst>
                  <a:gd name="connsiteX0" fmla="*/ 2124456 w 2124456"/>
                  <a:gd name="connsiteY0" fmla="*/ 1062228 h 2124455"/>
                  <a:gd name="connsiteX1" fmla="*/ 1062228 w 2124456"/>
                  <a:gd name="connsiteY1" fmla="*/ 2124456 h 2124455"/>
                  <a:gd name="connsiteX2" fmla="*/ 0 w 2124456"/>
                  <a:gd name="connsiteY2" fmla="*/ 1062228 h 2124455"/>
                  <a:gd name="connsiteX3" fmla="*/ 1062228 w 2124456"/>
                  <a:gd name="connsiteY3" fmla="*/ 0 h 2124455"/>
                  <a:gd name="connsiteX4" fmla="*/ 2124456 w 2124456"/>
                  <a:gd name="connsiteY4" fmla="*/ 1062228 h 2124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4456" h="2124455">
                    <a:moveTo>
                      <a:pt x="2124456" y="1062228"/>
                    </a:moveTo>
                    <a:cubicBezTo>
                      <a:pt x="2124456" y="1648880"/>
                      <a:pt x="1648880" y="2124456"/>
                      <a:pt x="1062228" y="2124456"/>
                    </a:cubicBezTo>
                    <a:cubicBezTo>
                      <a:pt x="475576" y="2124456"/>
                      <a:pt x="0" y="1648880"/>
                      <a:pt x="0" y="1062228"/>
                    </a:cubicBezTo>
                    <a:cubicBezTo>
                      <a:pt x="0" y="475575"/>
                      <a:pt x="475576" y="0"/>
                      <a:pt x="1062228" y="0"/>
                    </a:cubicBezTo>
                    <a:cubicBezTo>
                      <a:pt x="1648880" y="0"/>
                      <a:pt x="2124456" y="475575"/>
                      <a:pt x="2124456" y="1062228"/>
                    </a:cubicBezTo>
                    <a:close/>
                  </a:path>
                </a:pathLst>
              </a:custGeom>
              <a:solidFill>
                <a:schemeClr val="bg1"/>
              </a:solidFill>
              <a:ln w="15875">
                <a:solidFill>
                  <a:schemeClr val="bg1">
                    <a:alpha val="42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050" dirty="0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C10569A-7C0C-40CD-87ED-648B72085141}"/>
                  </a:ext>
                </a:extLst>
              </p:cNvPr>
              <p:cNvSpPr txBox="1"/>
              <p:nvPr/>
            </p:nvSpPr>
            <p:spPr>
              <a:xfrm>
                <a:off x="1065864" y="2185211"/>
                <a:ext cx="2189826" cy="6955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Clr>
                    <a:schemeClr val="dk1"/>
                  </a:buClr>
                  <a:buSzPts val="1100"/>
                </a:pPr>
                <a:endParaRPr lang="en-IN" sz="1350" b="1" spc="450" dirty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Kanit" pitchFamily="2" charset="-34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E0A60C4-2824-4BED-94BC-68E670E50F51}"/>
                </a:ext>
              </a:extLst>
            </p:cNvPr>
            <p:cNvGrpSpPr/>
            <p:nvPr/>
          </p:nvGrpSpPr>
          <p:grpSpPr>
            <a:xfrm>
              <a:off x="3845432" y="1019157"/>
              <a:ext cx="4358726" cy="2123692"/>
              <a:chOff x="3603243" y="501626"/>
              <a:chExt cx="5811636" cy="2831589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DC12C82-35E3-4C45-B59E-493D06407FAE}"/>
                  </a:ext>
                </a:extLst>
              </p:cNvPr>
              <p:cNvGrpSpPr/>
              <p:nvPr/>
            </p:nvGrpSpPr>
            <p:grpSpPr>
              <a:xfrm>
                <a:off x="3603243" y="501626"/>
                <a:ext cx="5070316" cy="669750"/>
                <a:chOff x="4130675" y="266335"/>
                <a:chExt cx="6528722" cy="862392"/>
              </a:xfrm>
            </p:grpSpPr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82E467B8-0B27-44D6-9505-C8F57A1B4FFA}"/>
                    </a:ext>
                  </a:extLst>
                </p:cNvPr>
                <p:cNvGrpSpPr/>
                <p:nvPr/>
              </p:nvGrpSpPr>
              <p:grpSpPr>
                <a:xfrm>
                  <a:off x="4130675" y="266335"/>
                  <a:ext cx="6445795" cy="862392"/>
                  <a:chOff x="3797300" y="666963"/>
                  <a:chExt cx="6445795" cy="862392"/>
                </a:xfrm>
              </p:grpSpPr>
              <p:sp>
                <p:nvSpPr>
                  <p:cNvPr id="65" name="Rectangle: Rounded Corners 64">
                    <a:extLst>
                      <a:ext uri="{FF2B5EF4-FFF2-40B4-BE49-F238E27FC236}">
                        <a16:creationId xmlns:a16="http://schemas.microsoft.com/office/drawing/2014/main" id="{CDF1684D-C9F7-4708-980F-821466A9EC82}"/>
                      </a:ext>
                    </a:extLst>
                  </p:cNvPr>
                  <p:cNvSpPr/>
                  <p:nvPr/>
                </p:nvSpPr>
                <p:spPr>
                  <a:xfrm>
                    <a:off x="3861656" y="750547"/>
                    <a:ext cx="6381439" cy="77880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>
                      <a:lumMod val="85000"/>
                      <a:alpha val="42000"/>
                    </a:schemeClr>
                  </a:solidFill>
                  <a:ln w="9525" cap="flat">
                    <a:noFill/>
                    <a:prstDash val="solid"/>
                    <a:miter/>
                  </a:ln>
                  <a:effectLst/>
                </p:spPr>
                <p:txBody>
                  <a:bodyPr rtlCol="0" anchor="ctr"/>
                  <a:lstStyle/>
                  <a:p>
                    <a:endParaRPr lang="en-IN" sz="1050" dirty="0"/>
                  </a:p>
                </p:txBody>
              </p:sp>
              <p:sp>
                <p:nvSpPr>
                  <p:cNvPr id="66" name="Rectangle: Rounded Corners 65">
                    <a:extLst>
                      <a:ext uri="{FF2B5EF4-FFF2-40B4-BE49-F238E27FC236}">
                        <a16:creationId xmlns:a16="http://schemas.microsoft.com/office/drawing/2014/main" id="{07862A75-5FB8-4E2F-B257-BB81BDEF1FEA}"/>
                      </a:ext>
                    </a:extLst>
                  </p:cNvPr>
                  <p:cNvSpPr/>
                  <p:nvPr/>
                </p:nvSpPr>
                <p:spPr>
                  <a:xfrm>
                    <a:off x="4054156" y="711876"/>
                    <a:ext cx="1116000" cy="90202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1"/>
                  </a:solidFill>
                  <a:ln w="15875" cap="flat">
                    <a:solidFill>
                      <a:schemeClr val="bg1">
                        <a:alpha val="48000"/>
                      </a:schemeClr>
                    </a:solidFill>
                    <a:prstDash val="solid"/>
                    <a:miter/>
                  </a:ln>
                  <a:effectLst>
                    <a:outerShdw blurRad="50800" dist="25400" dir="5400000" sx="97000" sy="97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endParaRPr lang="en-IN" sz="1050" dirty="0"/>
                  </a:p>
                </p:txBody>
              </p:sp>
              <p:grpSp>
                <p:nvGrpSpPr>
                  <p:cNvPr id="67" name="Group 66">
                    <a:extLst>
                      <a:ext uri="{FF2B5EF4-FFF2-40B4-BE49-F238E27FC236}">
                        <a16:creationId xmlns:a16="http://schemas.microsoft.com/office/drawing/2014/main" id="{360E629C-29A2-429C-B623-E252D566DDDD}"/>
                      </a:ext>
                    </a:extLst>
                  </p:cNvPr>
                  <p:cNvGrpSpPr/>
                  <p:nvPr/>
                </p:nvGrpSpPr>
                <p:grpSpPr>
                  <a:xfrm>
                    <a:off x="3797300" y="666963"/>
                    <a:ext cx="608424" cy="608424"/>
                    <a:chOff x="3797300" y="666963"/>
                    <a:chExt cx="608424" cy="608424"/>
                  </a:xfrm>
                </p:grpSpPr>
                <p:sp>
                  <p:nvSpPr>
                    <p:cNvPr id="68" name="Oval 67">
                      <a:extLst>
                        <a:ext uri="{FF2B5EF4-FFF2-40B4-BE49-F238E27FC236}">
                          <a16:creationId xmlns:a16="http://schemas.microsoft.com/office/drawing/2014/main" id="{5430ECAE-A023-4D61-850A-66480374A4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97300" y="666963"/>
                      <a:ext cx="608424" cy="608424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12700">
                      <a:solidFill>
                        <a:schemeClr val="bg1">
                          <a:alpha val="52000"/>
                        </a:schemeClr>
                      </a:solidFill>
                    </a:ln>
                    <a:effectLst>
                      <a:innerShdw blurRad="63500" dist="25400" dir="16200000">
                        <a:prstClr val="black">
                          <a:alpha val="50000"/>
                        </a:prstClr>
                      </a:inn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sz="1050" dirty="0"/>
                    </a:p>
                  </p:txBody>
                </p:sp>
                <p:sp>
                  <p:nvSpPr>
                    <p:cNvPr id="69" name="Oval 68">
                      <a:extLst>
                        <a:ext uri="{FF2B5EF4-FFF2-40B4-BE49-F238E27FC236}">
                          <a16:creationId xmlns:a16="http://schemas.microsoft.com/office/drawing/2014/main" id="{B0944186-7788-4521-97E9-CC6FE120CC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5767" y="735432"/>
                      <a:ext cx="471490" cy="471490"/>
                    </a:xfrm>
                    <a:prstGeom prst="ellipse">
                      <a:avLst/>
                    </a:prstGeom>
                    <a:gradFill>
                      <a:gsLst>
                        <a:gs pos="68000">
                          <a:schemeClr val="bg1"/>
                        </a:gs>
                        <a:gs pos="9000">
                          <a:schemeClr val="bg1">
                            <a:lumMod val="78000"/>
                          </a:schemeClr>
                        </a:gs>
                      </a:gsLst>
                      <a:lin ang="2700000" scaled="1"/>
                    </a:gradFill>
                    <a:ln w="15875">
                      <a:solidFill>
                        <a:schemeClr val="bg1">
                          <a:alpha val="42000"/>
                        </a:schemeClr>
                      </a:solidFill>
                    </a:ln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IN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</a:p>
                  </p:txBody>
                </p:sp>
              </p:grpSp>
            </p:grp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FDDC186-49C5-4441-9D47-83500AB2700B}"/>
                    </a:ext>
                  </a:extLst>
                </p:cNvPr>
                <p:cNvSpPr txBox="1"/>
                <p:nvPr/>
              </p:nvSpPr>
              <p:spPr>
                <a:xfrm>
                  <a:off x="5600203" y="410751"/>
                  <a:ext cx="5059194" cy="47082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8569" tIns="68569" rIns="68569" bIns="68569" anchor="t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L="0" indent="0">
                    <a:buNone/>
                    <a:defRPr sz="1100">
                      <a:solidFill>
                        <a:schemeClr val="bg1">
                          <a:lumMod val="65000"/>
                        </a:schemeClr>
                      </a:solidFill>
                      <a:latin typeface="+mn-lt"/>
                      <a:ea typeface="Roboto"/>
                      <a:cs typeface="Open Sans" pitchFamily="2" charset="0"/>
                    </a:defRPr>
                  </a:lvl1pPr>
                </a:lstStyle>
                <a:p>
                  <a:r>
                    <a:rPr lang="en-US" sz="1600" b="1" dirty="0">
                      <a:solidFill>
                        <a:schemeClr val="bg2"/>
                      </a:solidFill>
                      <a:latin typeface="Lato"/>
                      <a:ea typeface="Lato"/>
                      <a:cs typeface="Lato"/>
                    </a:rPr>
                    <a:t>Understand the fundamentals of Pandas Series and </a:t>
                  </a:r>
                  <a:r>
                    <a:rPr lang="en-US" sz="1600" b="1" dirty="0" err="1">
                      <a:solidFill>
                        <a:schemeClr val="bg2"/>
                      </a:solidFill>
                      <a:latin typeface="Lato"/>
                      <a:ea typeface="Lato"/>
                      <a:cs typeface="Lato"/>
                    </a:rPr>
                    <a:t>DataFrames</a:t>
                  </a:r>
                  <a:r>
                    <a:rPr lang="en-US" sz="1600" b="1" dirty="0">
                      <a:solidFill>
                        <a:schemeClr val="bg2"/>
                      </a:solidFill>
                      <a:latin typeface="Lato"/>
                      <a:ea typeface="Lato"/>
                      <a:cs typeface="Lato"/>
                    </a:rPr>
                    <a:t> </a:t>
                  </a: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06D8A01D-9D68-4238-82B5-7B71F30BD883}"/>
                  </a:ext>
                </a:extLst>
              </p:cNvPr>
              <p:cNvGrpSpPr/>
              <p:nvPr/>
            </p:nvGrpSpPr>
            <p:grpSpPr>
              <a:xfrm>
                <a:off x="4079477" y="1222239"/>
                <a:ext cx="5070327" cy="669750"/>
                <a:chOff x="4130675" y="266335"/>
                <a:chExt cx="6528737" cy="862392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A9F196C9-7625-45F1-827D-98CAE4D98583}"/>
                    </a:ext>
                  </a:extLst>
                </p:cNvPr>
                <p:cNvGrpSpPr/>
                <p:nvPr/>
              </p:nvGrpSpPr>
              <p:grpSpPr>
                <a:xfrm>
                  <a:off x="4130675" y="266335"/>
                  <a:ext cx="6445793" cy="862392"/>
                  <a:chOff x="3797300" y="666963"/>
                  <a:chExt cx="6445793" cy="862392"/>
                </a:xfrm>
              </p:grpSpPr>
              <p:sp>
                <p:nvSpPr>
                  <p:cNvPr id="58" name="Rectangle: Rounded Corners 57">
                    <a:extLst>
                      <a:ext uri="{FF2B5EF4-FFF2-40B4-BE49-F238E27FC236}">
                        <a16:creationId xmlns:a16="http://schemas.microsoft.com/office/drawing/2014/main" id="{8AA77D63-4E2A-4030-9D36-EE05B1B93414}"/>
                      </a:ext>
                    </a:extLst>
                  </p:cNvPr>
                  <p:cNvSpPr/>
                  <p:nvPr/>
                </p:nvSpPr>
                <p:spPr>
                  <a:xfrm>
                    <a:off x="3861655" y="750547"/>
                    <a:ext cx="6381438" cy="77880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>
                      <a:lumMod val="85000"/>
                      <a:alpha val="42000"/>
                    </a:schemeClr>
                  </a:solidFill>
                  <a:ln w="9525" cap="flat">
                    <a:noFill/>
                    <a:prstDash val="solid"/>
                    <a:miter/>
                  </a:ln>
                  <a:effectLst/>
                </p:spPr>
                <p:txBody>
                  <a:bodyPr rtlCol="0" anchor="ctr"/>
                  <a:lstStyle/>
                  <a:p>
                    <a:endParaRPr lang="en-IN" sz="1050" dirty="0"/>
                  </a:p>
                </p:txBody>
              </p:sp>
              <p:sp>
                <p:nvSpPr>
                  <p:cNvPr id="59" name="Rectangle: Rounded Corners 58">
                    <a:extLst>
                      <a:ext uri="{FF2B5EF4-FFF2-40B4-BE49-F238E27FC236}">
                        <a16:creationId xmlns:a16="http://schemas.microsoft.com/office/drawing/2014/main" id="{C35A3BE1-6D6F-448B-97DF-ABD9ABDB15E6}"/>
                      </a:ext>
                    </a:extLst>
                  </p:cNvPr>
                  <p:cNvSpPr/>
                  <p:nvPr/>
                </p:nvSpPr>
                <p:spPr>
                  <a:xfrm>
                    <a:off x="4054156" y="711876"/>
                    <a:ext cx="1116000" cy="90202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2"/>
                  </a:solidFill>
                  <a:ln w="15875" cap="flat">
                    <a:solidFill>
                      <a:schemeClr val="bg1">
                        <a:alpha val="48000"/>
                      </a:schemeClr>
                    </a:solidFill>
                    <a:prstDash val="solid"/>
                    <a:miter/>
                  </a:ln>
                  <a:effectLst>
                    <a:outerShdw blurRad="50800" dist="25400" dir="5400000" sx="97000" sy="97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endParaRPr lang="en-IN" sz="1050" dirty="0"/>
                  </a:p>
                </p:txBody>
              </p:sp>
              <p:grpSp>
                <p:nvGrpSpPr>
                  <p:cNvPr id="60" name="Group 59">
                    <a:extLst>
                      <a:ext uri="{FF2B5EF4-FFF2-40B4-BE49-F238E27FC236}">
                        <a16:creationId xmlns:a16="http://schemas.microsoft.com/office/drawing/2014/main" id="{903D3FB7-8799-4493-909D-C931D8B0BE16}"/>
                      </a:ext>
                    </a:extLst>
                  </p:cNvPr>
                  <p:cNvGrpSpPr/>
                  <p:nvPr/>
                </p:nvGrpSpPr>
                <p:grpSpPr>
                  <a:xfrm>
                    <a:off x="3797300" y="666963"/>
                    <a:ext cx="608424" cy="608424"/>
                    <a:chOff x="3797300" y="666963"/>
                    <a:chExt cx="608424" cy="608424"/>
                  </a:xfrm>
                </p:grpSpPr>
                <p:sp>
                  <p:nvSpPr>
                    <p:cNvPr id="61" name="Oval 60">
                      <a:extLst>
                        <a:ext uri="{FF2B5EF4-FFF2-40B4-BE49-F238E27FC236}">
                          <a16:creationId xmlns:a16="http://schemas.microsoft.com/office/drawing/2014/main" id="{439CA072-3661-4ED8-A937-08B9347712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97300" y="666963"/>
                      <a:ext cx="608424" cy="608424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 w="12700">
                      <a:solidFill>
                        <a:schemeClr val="bg1">
                          <a:alpha val="52000"/>
                        </a:schemeClr>
                      </a:solidFill>
                    </a:ln>
                    <a:effectLst>
                      <a:innerShdw blurRad="63500" dist="25400" dir="16200000">
                        <a:prstClr val="black">
                          <a:alpha val="50000"/>
                        </a:prstClr>
                      </a:inn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sz="1050" dirty="0"/>
                    </a:p>
                  </p:txBody>
                </p: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35D14561-3696-4768-B9D2-C2DCBC1D92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5767" y="735432"/>
                      <a:ext cx="471490" cy="471490"/>
                    </a:xfrm>
                    <a:prstGeom prst="ellipse">
                      <a:avLst/>
                    </a:prstGeom>
                    <a:gradFill>
                      <a:gsLst>
                        <a:gs pos="68000">
                          <a:schemeClr val="bg1"/>
                        </a:gs>
                        <a:gs pos="9000">
                          <a:schemeClr val="bg1">
                            <a:lumMod val="78000"/>
                          </a:schemeClr>
                        </a:gs>
                      </a:gsLst>
                      <a:lin ang="2700000" scaled="1"/>
                    </a:gradFill>
                    <a:ln w="15875">
                      <a:solidFill>
                        <a:schemeClr val="bg1">
                          <a:alpha val="42000"/>
                        </a:schemeClr>
                      </a:solidFill>
                    </a:ln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IN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</a:t>
                      </a:r>
                    </a:p>
                  </p:txBody>
                </p:sp>
              </p:grpSp>
            </p:grp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7EDA8F1-A4FF-4AA1-8E02-E3E2175004C3}"/>
                    </a:ext>
                  </a:extLst>
                </p:cNvPr>
                <p:cNvSpPr txBox="1"/>
                <p:nvPr/>
              </p:nvSpPr>
              <p:spPr>
                <a:xfrm>
                  <a:off x="5600196" y="410751"/>
                  <a:ext cx="5059216" cy="47082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8569" tIns="68569" rIns="68569" bIns="68569" anchor="t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L="0" indent="0">
                    <a:buNone/>
                    <a:defRPr sz="1100">
                      <a:solidFill>
                        <a:schemeClr val="bg1">
                          <a:lumMod val="65000"/>
                        </a:schemeClr>
                      </a:solidFill>
                      <a:latin typeface="+mn-lt"/>
                      <a:ea typeface="Roboto"/>
                      <a:cs typeface="Open Sans" pitchFamily="2" charset="0"/>
                    </a:defRPr>
                  </a:lvl1pPr>
                </a:lstStyle>
                <a:p>
                  <a:r>
                    <a:rPr lang="en-US" sz="1600" b="1" dirty="0">
                      <a:solidFill>
                        <a:schemeClr val="bg2"/>
                      </a:solidFill>
                      <a:latin typeface="Lato"/>
                      <a:ea typeface="Lato"/>
                      <a:cs typeface="Lato"/>
                    </a:rPr>
                    <a:t>Perform efficient data cleaning, filtering, and transformation </a:t>
                  </a: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CB57A15-4538-4BCA-88F4-91FC788002C9}"/>
                  </a:ext>
                </a:extLst>
              </p:cNvPr>
              <p:cNvGrpSpPr/>
              <p:nvPr/>
            </p:nvGrpSpPr>
            <p:grpSpPr>
              <a:xfrm>
                <a:off x="4344549" y="1942852"/>
                <a:ext cx="5070330" cy="669751"/>
                <a:chOff x="4130675" y="266335"/>
                <a:chExt cx="6528740" cy="862392"/>
              </a:xfrm>
            </p:grpSpPr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00F6810B-1220-4637-9AF2-81ECCA8FD36D}"/>
                    </a:ext>
                  </a:extLst>
                </p:cNvPr>
                <p:cNvGrpSpPr/>
                <p:nvPr/>
              </p:nvGrpSpPr>
              <p:grpSpPr>
                <a:xfrm>
                  <a:off x="4130675" y="266335"/>
                  <a:ext cx="6445792" cy="862392"/>
                  <a:chOff x="3797300" y="666963"/>
                  <a:chExt cx="6445792" cy="862392"/>
                </a:xfrm>
              </p:grpSpPr>
              <p:sp>
                <p:nvSpPr>
                  <p:cNvPr id="51" name="Rectangle: Rounded Corners 50">
                    <a:extLst>
                      <a:ext uri="{FF2B5EF4-FFF2-40B4-BE49-F238E27FC236}">
                        <a16:creationId xmlns:a16="http://schemas.microsoft.com/office/drawing/2014/main" id="{60D38AA1-01D9-41C0-8C3D-E0D06B397482}"/>
                      </a:ext>
                    </a:extLst>
                  </p:cNvPr>
                  <p:cNvSpPr/>
                  <p:nvPr/>
                </p:nvSpPr>
                <p:spPr>
                  <a:xfrm>
                    <a:off x="3861656" y="750547"/>
                    <a:ext cx="6381436" cy="77880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>
                      <a:lumMod val="85000"/>
                      <a:alpha val="42000"/>
                    </a:schemeClr>
                  </a:solidFill>
                  <a:ln w="9525" cap="flat">
                    <a:noFill/>
                    <a:prstDash val="solid"/>
                    <a:miter/>
                  </a:ln>
                  <a:effectLst/>
                </p:spPr>
                <p:txBody>
                  <a:bodyPr rtlCol="0" anchor="ctr"/>
                  <a:lstStyle/>
                  <a:p>
                    <a:endParaRPr lang="en-IN" sz="1050" dirty="0"/>
                  </a:p>
                </p:txBody>
              </p:sp>
              <p:sp>
                <p:nvSpPr>
                  <p:cNvPr id="52" name="Rectangle: Rounded Corners 51">
                    <a:extLst>
                      <a:ext uri="{FF2B5EF4-FFF2-40B4-BE49-F238E27FC236}">
                        <a16:creationId xmlns:a16="http://schemas.microsoft.com/office/drawing/2014/main" id="{1FA6C016-210B-43FF-B32F-F2AB5F7C2AED}"/>
                      </a:ext>
                    </a:extLst>
                  </p:cNvPr>
                  <p:cNvSpPr/>
                  <p:nvPr/>
                </p:nvSpPr>
                <p:spPr>
                  <a:xfrm>
                    <a:off x="4054156" y="711876"/>
                    <a:ext cx="1116000" cy="90202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3"/>
                  </a:solidFill>
                  <a:ln w="15875" cap="flat">
                    <a:solidFill>
                      <a:schemeClr val="bg1">
                        <a:alpha val="48000"/>
                      </a:schemeClr>
                    </a:solidFill>
                    <a:prstDash val="solid"/>
                    <a:miter/>
                  </a:ln>
                  <a:effectLst>
                    <a:outerShdw blurRad="50800" dist="25400" dir="5400000" sx="97000" sy="97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endParaRPr lang="en-IN" sz="1050" dirty="0"/>
                  </a:p>
                </p:txBody>
              </p:sp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A9D08FDE-6C0E-4BE8-A03C-07F5443077BB}"/>
                      </a:ext>
                    </a:extLst>
                  </p:cNvPr>
                  <p:cNvGrpSpPr/>
                  <p:nvPr/>
                </p:nvGrpSpPr>
                <p:grpSpPr>
                  <a:xfrm>
                    <a:off x="3797300" y="666963"/>
                    <a:ext cx="608424" cy="608424"/>
                    <a:chOff x="3797300" y="666963"/>
                    <a:chExt cx="608424" cy="608424"/>
                  </a:xfrm>
                </p:grpSpPr>
                <p:sp>
                  <p:nvSpPr>
                    <p:cNvPr id="54" name="Oval 53">
                      <a:extLst>
                        <a:ext uri="{FF2B5EF4-FFF2-40B4-BE49-F238E27FC236}">
                          <a16:creationId xmlns:a16="http://schemas.microsoft.com/office/drawing/2014/main" id="{B193B06C-0F22-4626-9AF0-AF6FA47011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97300" y="666963"/>
                      <a:ext cx="608424" cy="608424"/>
                    </a:xfrm>
                    <a:prstGeom prst="ellipse">
                      <a:avLst/>
                    </a:prstGeom>
                    <a:solidFill>
                      <a:schemeClr val="accent3"/>
                    </a:solidFill>
                    <a:ln w="12700">
                      <a:solidFill>
                        <a:schemeClr val="bg1">
                          <a:alpha val="52000"/>
                        </a:schemeClr>
                      </a:solidFill>
                    </a:ln>
                    <a:effectLst>
                      <a:innerShdw blurRad="63500" dist="25400" dir="16200000">
                        <a:prstClr val="black">
                          <a:alpha val="50000"/>
                        </a:prstClr>
                      </a:inn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sz="1050" dirty="0"/>
                    </a:p>
                  </p:txBody>
                </p:sp>
                <p:sp>
                  <p:nvSpPr>
                    <p:cNvPr id="55" name="Oval 54">
                      <a:extLst>
                        <a:ext uri="{FF2B5EF4-FFF2-40B4-BE49-F238E27FC236}">
                          <a16:creationId xmlns:a16="http://schemas.microsoft.com/office/drawing/2014/main" id="{EDCA590E-6256-4330-A6B3-D4DCAA6532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5767" y="735431"/>
                      <a:ext cx="471489" cy="471489"/>
                    </a:xfrm>
                    <a:prstGeom prst="ellipse">
                      <a:avLst/>
                    </a:prstGeom>
                    <a:gradFill>
                      <a:gsLst>
                        <a:gs pos="68000">
                          <a:schemeClr val="bg1"/>
                        </a:gs>
                        <a:gs pos="9000">
                          <a:schemeClr val="bg1">
                            <a:lumMod val="78000"/>
                          </a:schemeClr>
                        </a:gs>
                      </a:gsLst>
                      <a:lin ang="2700000" scaled="1"/>
                    </a:gradFill>
                    <a:ln w="15875">
                      <a:solidFill>
                        <a:schemeClr val="bg1">
                          <a:alpha val="42000"/>
                        </a:schemeClr>
                      </a:solidFill>
                    </a:ln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IN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</a:t>
                      </a:r>
                    </a:p>
                  </p:txBody>
                </p:sp>
              </p:grpSp>
            </p:grp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7A8E752-B3B9-4421-A9EE-37F30473C25F}"/>
                    </a:ext>
                  </a:extLst>
                </p:cNvPr>
                <p:cNvSpPr txBox="1"/>
                <p:nvPr/>
              </p:nvSpPr>
              <p:spPr>
                <a:xfrm>
                  <a:off x="5600191" y="410751"/>
                  <a:ext cx="5059224" cy="4708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8569" tIns="68569" rIns="68569" bIns="68569" anchor="t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L="0" indent="0">
                    <a:buNone/>
                    <a:defRPr sz="1100">
                      <a:solidFill>
                        <a:schemeClr val="bg1">
                          <a:lumMod val="65000"/>
                        </a:schemeClr>
                      </a:solidFill>
                      <a:latin typeface="+mn-lt"/>
                      <a:ea typeface="Roboto"/>
                      <a:cs typeface="Open Sans" pitchFamily="2" charset="0"/>
                    </a:defRPr>
                  </a:lvl1pPr>
                </a:lstStyle>
                <a:p>
                  <a:r>
                    <a:rPr lang="en-US" sz="1600" b="1" dirty="0">
                      <a:solidFill>
                        <a:schemeClr val="bg2"/>
                      </a:solidFill>
                      <a:latin typeface="Lato"/>
                      <a:ea typeface="Lato"/>
                      <a:cs typeface="Lato"/>
                    </a:rPr>
                    <a:t>Master advanced techniques like grouping, merging, reshaping, and time series handling 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5C5529C6-60E1-4EE2-BAD1-F31996784443}"/>
                  </a:ext>
                </a:extLst>
              </p:cNvPr>
              <p:cNvGrpSpPr/>
              <p:nvPr/>
            </p:nvGrpSpPr>
            <p:grpSpPr>
              <a:xfrm>
                <a:off x="4344549" y="2663465"/>
                <a:ext cx="5070313" cy="669750"/>
                <a:chOff x="4130675" y="266335"/>
                <a:chExt cx="6528718" cy="862392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45AC4C02-A050-40E6-B827-3ECDDA7B4792}"/>
                    </a:ext>
                  </a:extLst>
                </p:cNvPr>
                <p:cNvGrpSpPr/>
                <p:nvPr/>
              </p:nvGrpSpPr>
              <p:grpSpPr>
                <a:xfrm>
                  <a:off x="4130675" y="266335"/>
                  <a:ext cx="6445793" cy="862392"/>
                  <a:chOff x="3797300" y="666963"/>
                  <a:chExt cx="6445793" cy="862392"/>
                </a:xfrm>
              </p:grpSpPr>
              <p:sp>
                <p:nvSpPr>
                  <p:cNvPr id="44" name="Rectangle: Rounded Corners 43">
                    <a:extLst>
                      <a:ext uri="{FF2B5EF4-FFF2-40B4-BE49-F238E27FC236}">
                        <a16:creationId xmlns:a16="http://schemas.microsoft.com/office/drawing/2014/main" id="{C7B7FEF7-7ED5-44A7-BBEC-89ED39310A23}"/>
                      </a:ext>
                    </a:extLst>
                  </p:cNvPr>
                  <p:cNvSpPr/>
                  <p:nvPr/>
                </p:nvSpPr>
                <p:spPr>
                  <a:xfrm>
                    <a:off x="3861654" y="750547"/>
                    <a:ext cx="6381439" cy="77880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>
                      <a:lumMod val="85000"/>
                      <a:alpha val="42000"/>
                    </a:schemeClr>
                  </a:solidFill>
                  <a:ln w="9525" cap="flat">
                    <a:noFill/>
                    <a:prstDash val="solid"/>
                    <a:miter/>
                  </a:ln>
                  <a:effectLst/>
                </p:spPr>
                <p:txBody>
                  <a:bodyPr rtlCol="0" anchor="ctr"/>
                  <a:lstStyle/>
                  <a:p>
                    <a:endParaRPr lang="en-IN" sz="1050" dirty="0"/>
                  </a:p>
                </p:txBody>
              </p:sp>
              <p:sp>
                <p:nvSpPr>
                  <p:cNvPr id="45" name="Rectangle: Rounded Corners 44">
                    <a:extLst>
                      <a:ext uri="{FF2B5EF4-FFF2-40B4-BE49-F238E27FC236}">
                        <a16:creationId xmlns:a16="http://schemas.microsoft.com/office/drawing/2014/main" id="{1C9A5B25-35AF-4947-BA72-4174929C6579}"/>
                      </a:ext>
                    </a:extLst>
                  </p:cNvPr>
                  <p:cNvSpPr/>
                  <p:nvPr/>
                </p:nvSpPr>
                <p:spPr>
                  <a:xfrm>
                    <a:off x="4054156" y="711876"/>
                    <a:ext cx="1116000" cy="90202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/>
                  </a:solidFill>
                  <a:ln w="15875" cap="flat">
                    <a:solidFill>
                      <a:schemeClr val="bg1">
                        <a:alpha val="48000"/>
                      </a:schemeClr>
                    </a:solidFill>
                    <a:prstDash val="solid"/>
                    <a:miter/>
                  </a:ln>
                  <a:effectLst>
                    <a:outerShdw blurRad="50800" dist="25400" dir="5400000" sx="97000" sy="97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endParaRPr lang="en-IN" sz="1050" dirty="0"/>
                  </a:p>
                </p:txBody>
              </p:sp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3E8A2834-5BA6-45C4-9594-F56D199A3ECB}"/>
                      </a:ext>
                    </a:extLst>
                  </p:cNvPr>
                  <p:cNvGrpSpPr/>
                  <p:nvPr/>
                </p:nvGrpSpPr>
                <p:grpSpPr>
                  <a:xfrm>
                    <a:off x="3797300" y="666963"/>
                    <a:ext cx="608424" cy="608424"/>
                    <a:chOff x="3797300" y="666963"/>
                    <a:chExt cx="608424" cy="608424"/>
                  </a:xfrm>
                </p:grpSpPr>
                <p:sp>
                  <p:nvSpPr>
                    <p:cNvPr id="47" name="Oval 46">
                      <a:extLst>
                        <a:ext uri="{FF2B5EF4-FFF2-40B4-BE49-F238E27FC236}">
                          <a16:creationId xmlns:a16="http://schemas.microsoft.com/office/drawing/2014/main" id="{799240EB-0CE3-410D-98E0-0E76106349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97300" y="666963"/>
                      <a:ext cx="608424" cy="608424"/>
                    </a:xfrm>
                    <a:prstGeom prst="ellipse">
                      <a:avLst/>
                    </a:prstGeom>
                    <a:solidFill>
                      <a:schemeClr val="accent4"/>
                    </a:solidFill>
                    <a:ln w="12700">
                      <a:solidFill>
                        <a:schemeClr val="bg1">
                          <a:alpha val="52000"/>
                        </a:schemeClr>
                      </a:solidFill>
                    </a:ln>
                    <a:effectLst>
                      <a:innerShdw blurRad="63500" dist="25400" dir="16200000">
                        <a:prstClr val="black">
                          <a:alpha val="50000"/>
                        </a:prstClr>
                      </a:inn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sz="1050" dirty="0"/>
                    </a:p>
                  </p:txBody>
                </p:sp>
                <p:sp>
                  <p:nvSpPr>
                    <p:cNvPr id="48" name="Oval 47">
                      <a:extLst>
                        <a:ext uri="{FF2B5EF4-FFF2-40B4-BE49-F238E27FC236}">
                          <a16:creationId xmlns:a16="http://schemas.microsoft.com/office/drawing/2014/main" id="{8264E340-6CD0-4B6A-9D91-027AC2F820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5767" y="735431"/>
                      <a:ext cx="471489" cy="471489"/>
                    </a:xfrm>
                    <a:prstGeom prst="ellipse">
                      <a:avLst/>
                    </a:prstGeom>
                    <a:gradFill>
                      <a:gsLst>
                        <a:gs pos="68000">
                          <a:schemeClr val="bg1"/>
                        </a:gs>
                        <a:gs pos="9000">
                          <a:schemeClr val="bg1">
                            <a:lumMod val="78000"/>
                          </a:schemeClr>
                        </a:gs>
                      </a:gsLst>
                      <a:lin ang="2700000" scaled="1"/>
                    </a:gradFill>
                    <a:ln w="15875">
                      <a:solidFill>
                        <a:schemeClr val="bg1">
                          <a:alpha val="42000"/>
                        </a:schemeClr>
                      </a:solidFill>
                    </a:ln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IN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</a:t>
                      </a:r>
                    </a:p>
                  </p:txBody>
                </p:sp>
              </p:grpSp>
            </p:grp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0D8446C-1EBC-434C-8C13-54D2C06A516E}"/>
                    </a:ext>
                  </a:extLst>
                </p:cNvPr>
                <p:cNvSpPr txBox="1"/>
                <p:nvPr/>
              </p:nvSpPr>
              <p:spPr>
                <a:xfrm>
                  <a:off x="5600206" y="410751"/>
                  <a:ext cx="5059187" cy="47082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8569" tIns="68569" rIns="68569" bIns="68569" anchor="t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L="0" indent="0">
                    <a:buNone/>
                    <a:defRPr sz="1100">
                      <a:solidFill>
                        <a:schemeClr val="bg1">
                          <a:lumMod val="65000"/>
                        </a:schemeClr>
                      </a:solidFill>
                      <a:latin typeface="+mn-lt"/>
                      <a:ea typeface="Roboto"/>
                      <a:cs typeface="Open Sans" pitchFamily="2" charset="0"/>
                    </a:defRPr>
                  </a:lvl1pPr>
                </a:lstStyle>
                <a:p>
                  <a:r>
                    <a:rPr lang="en-US" sz="1600" b="1" dirty="0">
                      <a:solidFill>
                        <a:schemeClr val="bg2"/>
                      </a:solidFill>
                      <a:latin typeface="Lato"/>
                      <a:ea typeface="Lato"/>
                      <a:cs typeface="Lato"/>
                    </a:rPr>
                    <a:t>Apply Pandas to real-world data analysis, reporting, and machine learning workflows</a:t>
                  </a:r>
                </a:p>
              </p:txBody>
            </p:sp>
          </p:grpSp>
        </p:grpSp>
      </p:grpSp>
      <p:pic>
        <p:nvPicPr>
          <p:cNvPr id="245" name="Picture 244">
            <a:extLst>
              <a:ext uri="{FF2B5EF4-FFF2-40B4-BE49-F238E27FC236}">
                <a16:creationId xmlns:a16="http://schemas.microsoft.com/office/drawing/2014/main" id="{4FEE05FC-8C7F-4779-8E27-E63C5532F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170" y="3739283"/>
            <a:ext cx="1296452" cy="12964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43272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Introduction to </a:t>
            </a:r>
            <a:r>
              <a:rPr lang="en-US" b="1" dirty="0" err="1">
                <a:solidFill>
                  <a:schemeClr val="accent3"/>
                </a:solidFill>
                <a:effectLst/>
              </a:rPr>
              <a:t>Dask</a:t>
            </a:r>
            <a:endParaRPr lang="en-US" b="1" dirty="0">
              <a:solidFill>
                <a:schemeClr val="accent3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447040" y="1098014"/>
            <a:ext cx="73355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What is </a:t>
            </a:r>
            <a:r>
              <a:rPr lang="en-US" sz="2400" b="1" dirty="0" err="1">
                <a:solidFill>
                  <a:schemeClr val="accent1"/>
                </a:solidFill>
              </a:rPr>
              <a:t>Dask</a:t>
            </a:r>
            <a:r>
              <a:rPr lang="en-US" sz="2400" b="1" dirty="0">
                <a:solidFill>
                  <a:schemeClr val="accent1"/>
                </a:solidFill>
              </a:rPr>
              <a:t>?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 flexible parallel computing library for Python.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Scales from a single machine to large clusters.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Extends Pandas, NumPy, and </a:t>
            </a:r>
            <a:r>
              <a:rPr lang="en-US" sz="2000" dirty="0" err="1">
                <a:solidFill>
                  <a:schemeClr val="bg1"/>
                </a:solidFill>
              </a:rPr>
              <a:t>Scikit</a:t>
            </a:r>
            <a:r>
              <a:rPr lang="en-US" sz="2000" dirty="0">
                <a:solidFill>
                  <a:schemeClr val="bg1"/>
                </a:solidFill>
              </a:rPr>
              <a:t>-learn for big data.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447040" y="2791628"/>
            <a:ext cx="49072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Why Use </a:t>
            </a:r>
            <a:r>
              <a:rPr lang="en-US" sz="2400" b="1" dirty="0" err="1">
                <a:solidFill>
                  <a:schemeClr val="accent1"/>
                </a:solidFill>
              </a:rPr>
              <a:t>Dask</a:t>
            </a:r>
            <a:r>
              <a:rPr lang="en-US" sz="2400" b="1" dirty="0">
                <a:solidFill>
                  <a:schemeClr val="accent1"/>
                </a:solidFill>
              </a:rPr>
              <a:t>?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Handles datasets larger than memory.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Enables parallel and distributed computing.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Familiar APIs similar to Pandas &amp; NumPy.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447040" y="4485243"/>
            <a:ext cx="71018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Typical Use Cases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Big data analysis.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Machine learning on large datasets.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Parallel processing workflows.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41AC98A-25CC-412E-BA3E-4899148AD838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96991A-C980-4464-8B48-1D8BB18CFE8A}"/>
              </a:ext>
            </a:extLst>
          </p:cNvPr>
          <p:cNvSpPr txBox="1"/>
          <p:nvPr/>
        </p:nvSpPr>
        <p:spPr>
          <a:xfrm>
            <a:off x="4287520" y="5717664"/>
            <a:ext cx="434848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 err="1">
                <a:solidFill>
                  <a:schemeClr val="bg1"/>
                </a:solidFill>
              </a:rPr>
              <a:t>Dask</a:t>
            </a:r>
            <a:r>
              <a:rPr lang="en-US" sz="2000" dirty="0">
                <a:solidFill>
                  <a:schemeClr val="bg1"/>
                </a:solidFill>
              </a:rPr>
              <a:t> bridges the gap between single-machine and distributed data processing.</a:t>
            </a:r>
          </a:p>
        </p:txBody>
      </p:sp>
    </p:spTree>
    <p:extLst>
      <p:ext uri="{BB962C8B-B14F-4D97-AF65-F5344CB8AC3E}">
        <p14:creationId xmlns:p14="http://schemas.microsoft.com/office/powerpoint/2010/main" val="4021261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Core </a:t>
            </a:r>
            <a:r>
              <a:rPr lang="en-US" b="1" dirty="0" err="1">
                <a:solidFill>
                  <a:schemeClr val="accent3"/>
                </a:solidFill>
                <a:effectLst/>
              </a:rPr>
              <a:t>Dask</a:t>
            </a:r>
            <a:r>
              <a:rPr lang="en-US" b="1" dirty="0">
                <a:solidFill>
                  <a:schemeClr val="accent3"/>
                </a:solidFill>
                <a:effectLst/>
              </a:rPr>
              <a:t> Data Structures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2507" y="1004184"/>
            <a:ext cx="579901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err="1">
                <a:solidFill>
                  <a:schemeClr val="accent1"/>
                </a:solidFill>
              </a:rPr>
              <a:t>Dask</a:t>
            </a:r>
            <a:r>
              <a:rPr lang="en-US" sz="2400" b="1" dirty="0">
                <a:solidFill>
                  <a:schemeClr val="accent1"/>
                </a:solidFill>
              </a:rPr>
              <a:t> Arrays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Like NumPy arrays but for larger-than-memory data.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Supports parallel computation.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dask.array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as da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x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da.ones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((10000, 10000), chunks=(1000, 1000))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B5DB256-5AB2-4461-AF0A-771E9514D94E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7A7428-2BAC-45FF-B7C7-F1099811CB88}"/>
              </a:ext>
            </a:extLst>
          </p:cNvPr>
          <p:cNvSpPr txBox="1"/>
          <p:nvPr/>
        </p:nvSpPr>
        <p:spPr>
          <a:xfrm>
            <a:off x="4287520" y="5717664"/>
            <a:ext cx="402336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Choose the right data structure based on your data type and workload.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485146-CFAB-401D-A737-30DD4C3259EA}"/>
              </a:ext>
            </a:extLst>
          </p:cNvPr>
          <p:cNvSpPr txBox="1"/>
          <p:nvPr/>
        </p:nvSpPr>
        <p:spPr>
          <a:xfrm>
            <a:off x="12507" y="2839195"/>
            <a:ext cx="646519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err="1">
                <a:solidFill>
                  <a:schemeClr val="accent1"/>
                </a:solidFill>
              </a:rPr>
              <a:t>Dask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</a:rPr>
              <a:t>DataFrames</a:t>
            </a:r>
            <a:endParaRPr lang="en-US" sz="2400" b="1" dirty="0">
              <a:solidFill>
                <a:schemeClr val="accent1"/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Parallel version of Pandas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Operates on large datasets chunked across cores/machines.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dask.dataframe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as dd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df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dd.read_csv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('large_dataset.csv')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EBA3E4-7CCE-4EDF-8A4F-C9A0ACBE9D6F}"/>
              </a:ext>
            </a:extLst>
          </p:cNvPr>
          <p:cNvSpPr txBox="1"/>
          <p:nvPr/>
        </p:nvSpPr>
        <p:spPr>
          <a:xfrm>
            <a:off x="-48454" y="4533627"/>
            <a:ext cx="61647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err="1">
                <a:solidFill>
                  <a:schemeClr val="accent1"/>
                </a:solidFill>
              </a:rPr>
              <a:t>Dask</a:t>
            </a:r>
            <a:r>
              <a:rPr lang="en-US" sz="2400" b="1" dirty="0">
                <a:solidFill>
                  <a:schemeClr val="accent1"/>
                </a:solidFill>
              </a:rPr>
              <a:t> Bags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For unstructured or semi-structured data like JSON or text.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dask.bag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as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db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bag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db.read_text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('logs/*.txt')</a:t>
            </a:r>
          </a:p>
        </p:txBody>
      </p:sp>
    </p:spTree>
    <p:extLst>
      <p:ext uri="{BB962C8B-B14F-4D97-AF65-F5344CB8AC3E}">
        <p14:creationId xmlns:p14="http://schemas.microsoft.com/office/powerpoint/2010/main" val="3854336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3"/>
                </a:solidFill>
                <a:effectLst/>
              </a:rPr>
              <a:t>How </a:t>
            </a:r>
            <a:r>
              <a:rPr lang="en-US" sz="4800" b="1" dirty="0" err="1">
                <a:solidFill>
                  <a:schemeClr val="accent3"/>
                </a:solidFill>
                <a:effectLst/>
              </a:rPr>
              <a:t>Dask</a:t>
            </a:r>
            <a:r>
              <a:rPr lang="en-US" sz="4800" b="1" dirty="0">
                <a:solidFill>
                  <a:schemeClr val="accent3"/>
                </a:solidFill>
                <a:effectLst/>
              </a:rPr>
              <a:t> Works: Task Graphs &amp; Scheduling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0" y="1239046"/>
            <a:ext cx="60936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Task Graphs</a:t>
            </a:r>
          </a:p>
          <a:p>
            <a:pPr marL="342900" indent="-342900" algn="just">
              <a:buFontTx/>
              <a:buChar char="-"/>
            </a:pPr>
            <a:r>
              <a:rPr lang="en-US" sz="2000" dirty="0" err="1">
                <a:solidFill>
                  <a:schemeClr val="bg1"/>
                </a:solidFill>
              </a:rPr>
              <a:t>Dask</a:t>
            </a:r>
            <a:r>
              <a:rPr lang="en-US" sz="2000" dirty="0">
                <a:solidFill>
                  <a:schemeClr val="bg1"/>
                </a:solidFill>
              </a:rPr>
              <a:t> breaks computations into small tasks.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Creates a directed acyclic graph (DAG) of these tasks.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Each node represents a computation step.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B5DB256-5AB2-4461-AF0A-771E9514D94E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7A7428-2BAC-45FF-B7C7-F1099811CB88}"/>
              </a:ext>
            </a:extLst>
          </p:cNvPr>
          <p:cNvSpPr txBox="1"/>
          <p:nvPr/>
        </p:nvSpPr>
        <p:spPr>
          <a:xfrm>
            <a:off x="3933139" y="5455751"/>
            <a:ext cx="3280461" cy="1323439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Understanding </a:t>
            </a:r>
            <a:r>
              <a:rPr lang="en-US" sz="2000" dirty="0" err="1">
                <a:solidFill>
                  <a:schemeClr val="bg1"/>
                </a:solidFill>
              </a:rPr>
              <a:t>Dask’s</a:t>
            </a:r>
            <a:r>
              <a:rPr lang="en-US" sz="2000" dirty="0">
                <a:solidFill>
                  <a:schemeClr val="bg1"/>
                </a:solidFill>
              </a:rPr>
              <a:t> task graph model helps optimize your code.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485146-CFAB-401D-A737-30DD4C3259EA}"/>
              </a:ext>
            </a:extLst>
          </p:cNvPr>
          <p:cNvSpPr txBox="1"/>
          <p:nvPr/>
        </p:nvSpPr>
        <p:spPr>
          <a:xfrm>
            <a:off x="0" y="2624041"/>
            <a:ext cx="6908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Lazy Evaluation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Tasks aren’t executed immediately.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Computation runs only when results are needed (.compute()).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EBA3E4-7CCE-4EDF-8A4F-C9A0ACBE9D6F}"/>
              </a:ext>
            </a:extLst>
          </p:cNvPr>
          <p:cNvSpPr txBox="1"/>
          <p:nvPr/>
        </p:nvSpPr>
        <p:spPr>
          <a:xfrm>
            <a:off x="1345561" y="3879291"/>
            <a:ext cx="51751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Scheduler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Coordinates task execution. 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Supports: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Single-threaded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Multithreaded</a:t>
            </a:r>
          </a:p>
          <a:p>
            <a:pPr marL="342900" indent="-342900" algn="just">
              <a:buFontTx/>
              <a:buChar char="-"/>
            </a:pPr>
            <a:r>
              <a:rPr lang="en-US" sz="2000" dirty="0" err="1">
                <a:solidFill>
                  <a:schemeClr val="bg1"/>
                </a:solidFill>
              </a:rPr>
              <a:t>Multiprocess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Distributed (cluster)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96C4D8-233E-4FE4-A103-F7890D409785}"/>
              </a:ext>
            </a:extLst>
          </p:cNvPr>
          <p:cNvSpPr txBox="1"/>
          <p:nvPr/>
        </p:nvSpPr>
        <p:spPr>
          <a:xfrm>
            <a:off x="7374261" y="3879291"/>
            <a:ext cx="517515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Visualization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Visualize task graphs to debug and optimize.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Supports:</a:t>
            </a:r>
          </a:p>
          <a:p>
            <a:pPr marL="342900" indent="-342900" algn="just">
              <a:buFontTx/>
              <a:buChar char="-"/>
            </a:pPr>
            <a:r>
              <a:rPr lang="pt-BR" sz="2000" dirty="0">
                <a:solidFill>
                  <a:schemeClr val="bg1"/>
                </a:solidFill>
              </a:rPr>
              <a:t>future = x.sum()</a:t>
            </a:r>
          </a:p>
          <a:p>
            <a:pPr marL="342900" indent="-342900" algn="just">
              <a:buFontTx/>
              <a:buChar char="-"/>
            </a:pPr>
            <a:r>
              <a:rPr lang="pt-BR" sz="2000" dirty="0">
                <a:solidFill>
                  <a:schemeClr val="bg1"/>
                </a:solidFill>
              </a:rPr>
              <a:t>future.visualize()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20646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3"/>
                </a:solidFill>
                <a:effectLst/>
              </a:rPr>
              <a:t>Installing &amp; Setting Up </a:t>
            </a:r>
            <a:r>
              <a:rPr lang="en-US" sz="4800" b="1" dirty="0" err="1">
                <a:solidFill>
                  <a:schemeClr val="accent3"/>
                </a:solidFill>
                <a:effectLst/>
              </a:rPr>
              <a:t>Dask</a:t>
            </a:r>
            <a:endParaRPr lang="en-US" sz="4800" b="1" dirty="0">
              <a:solidFill>
                <a:schemeClr val="accent3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347" y="1014344"/>
            <a:ext cx="60936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Installation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pip install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dask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[complete]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- Installs core </a:t>
            </a:r>
            <a:r>
              <a:rPr lang="en-US" sz="2000" dirty="0" err="1">
                <a:solidFill>
                  <a:schemeClr val="bg1"/>
                </a:solidFill>
              </a:rPr>
              <a:t>Dask</a:t>
            </a:r>
            <a:r>
              <a:rPr lang="en-US" sz="2000" dirty="0">
                <a:solidFill>
                  <a:schemeClr val="bg1"/>
                </a:solidFill>
              </a:rPr>
              <a:t> and recommended dependencies.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B5DB256-5AB2-4461-AF0A-771E9514D94E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7A7428-2BAC-45FF-B7C7-F1099811CB88}"/>
              </a:ext>
            </a:extLst>
          </p:cNvPr>
          <p:cNvSpPr txBox="1"/>
          <p:nvPr/>
        </p:nvSpPr>
        <p:spPr>
          <a:xfrm>
            <a:off x="4287520" y="5819264"/>
            <a:ext cx="402336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the distributed scheduler for parallelism beyond your CPU cores.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485146-CFAB-401D-A737-30DD4C3259EA}"/>
              </a:ext>
            </a:extLst>
          </p:cNvPr>
          <p:cNvSpPr txBox="1"/>
          <p:nvPr/>
        </p:nvSpPr>
        <p:spPr>
          <a:xfrm>
            <a:off x="0" y="2236616"/>
            <a:ext cx="64651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Optional: Distributed Scheduler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pip install distributed –upgrade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EBA3E4-7CCE-4EDF-8A4F-C9A0ACBE9D6F}"/>
              </a:ext>
            </a:extLst>
          </p:cNvPr>
          <p:cNvSpPr txBox="1"/>
          <p:nvPr/>
        </p:nvSpPr>
        <p:spPr>
          <a:xfrm>
            <a:off x="0" y="4702657"/>
            <a:ext cx="57157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Dashboard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Web UI for monitoring tasks and cluster status.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 Usually accessible at: </a:t>
            </a:r>
            <a:r>
              <a:rPr lang="en-US" sz="2000" u="sng" dirty="0">
                <a:solidFill>
                  <a:srgbClr val="0070C0"/>
                </a:solidFill>
              </a:rPr>
              <a:t>http://localhost:8787/status</a:t>
            </a:r>
            <a:endParaRPr lang="en-US" sz="2000" u="sng" dirty="0">
              <a:solidFill>
                <a:srgbClr val="0070C0"/>
              </a:solidFill>
              <a:highlight>
                <a:srgbClr val="C0C0C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5326D3-0C78-45FA-AC66-521824821D17}"/>
              </a:ext>
            </a:extLst>
          </p:cNvPr>
          <p:cNvSpPr txBox="1"/>
          <p:nvPr/>
        </p:nvSpPr>
        <p:spPr>
          <a:xfrm>
            <a:off x="0" y="3188375"/>
            <a:ext cx="64651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Basic Setup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dask.distributed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import Client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client = Client()  # Starts a local cluster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print(client)</a:t>
            </a:r>
          </a:p>
        </p:txBody>
      </p:sp>
    </p:spTree>
    <p:extLst>
      <p:ext uri="{BB962C8B-B14F-4D97-AF65-F5344CB8AC3E}">
        <p14:creationId xmlns:p14="http://schemas.microsoft.com/office/powerpoint/2010/main" val="1308625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3"/>
                </a:solidFill>
                <a:effectLst/>
              </a:rPr>
              <a:t>Working with </a:t>
            </a:r>
            <a:r>
              <a:rPr lang="en-US" sz="4800" b="1" dirty="0" err="1">
                <a:solidFill>
                  <a:schemeClr val="accent3"/>
                </a:solidFill>
                <a:effectLst/>
              </a:rPr>
              <a:t>Dask</a:t>
            </a:r>
            <a:r>
              <a:rPr lang="en-US" sz="4800" b="1" dirty="0">
                <a:solidFill>
                  <a:schemeClr val="accent3"/>
                </a:solidFill>
                <a:effectLst/>
              </a:rPr>
              <a:t> Arrays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0" y="1098236"/>
            <a:ext cx="37033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Creating </a:t>
            </a:r>
            <a:r>
              <a:rPr lang="en-US" sz="2400" b="1" dirty="0" err="1">
                <a:solidFill>
                  <a:schemeClr val="accent1"/>
                </a:solidFill>
              </a:rPr>
              <a:t>Dask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</a:rPr>
              <a:t>DataFrames</a:t>
            </a:r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dask.dataframe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as dd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df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dd.read_csv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large_data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/*.csv')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0" y="2210168"/>
            <a:ext cx="56941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Similarities with Pandas</a:t>
            </a:r>
          </a:p>
          <a:p>
            <a:pPr marL="285750" indent="-285750" algn="just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Uses familiar syntax: </a:t>
            </a:r>
            <a:r>
              <a:rPr lang="en-US" dirty="0" err="1">
                <a:solidFill>
                  <a:schemeClr val="bg1"/>
                </a:solidFill>
                <a:highlight>
                  <a:srgbClr val="C0C0C0"/>
                </a:highlight>
              </a:rPr>
              <a:t>df.head</a:t>
            </a:r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(), </a:t>
            </a:r>
            <a:r>
              <a:rPr lang="en-US" dirty="0" err="1">
                <a:solidFill>
                  <a:schemeClr val="bg1"/>
                </a:solidFill>
                <a:highlight>
                  <a:srgbClr val="C0C0C0"/>
                </a:highlight>
              </a:rPr>
              <a:t>df.groupby</a:t>
            </a:r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(), </a:t>
            </a:r>
            <a:r>
              <a:rPr lang="en-US" dirty="0" err="1">
                <a:solidFill>
                  <a:schemeClr val="bg1"/>
                </a:solidFill>
                <a:highlight>
                  <a:srgbClr val="C0C0C0"/>
                </a:highlight>
              </a:rPr>
              <a:t>df.merge</a:t>
            </a:r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pPr marL="285750" indent="-285750" algn="just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Lazy evaluation: operations build task graphs</a:t>
            </a:r>
            <a:endParaRPr lang="en-US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0" y="4990323"/>
            <a:ext cx="5415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Important: .compute()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Executes the tasks and returns a Pandas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rgbClr val="92D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0" y="3273339"/>
            <a:ext cx="458739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Common Operations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Filtering: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df[df['age'] &gt; 30]</a:t>
            </a:r>
          </a:p>
          <a:p>
            <a:pPr algn="just"/>
            <a:r>
              <a:rPr lang="en-US" sz="2000" b="1" dirty="0" err="1">
                <a:solidFill>
                  <a:schemeClr val="bg1"/>
                </a:solidFill>
              </a:rPr>
              <a:t>GroupBy</a:t>
            </a:r>
            <a:r>
              <a:rPr lang="en-US" sz="2000" b="1" dirty="0">
                <a:solidFill>
                  <a:schemeClr val="bg1"/>
                </a:solidFill>
              </a:rPr>
              <a:t> aggregation: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df.groupby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('category').mean().compute()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74B83CC-3CBB-4487-B678-916151D982D6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1431DF-C55A-45DE-A7EC-0CB2784A905F}"/>
              </a:ext>
            </a:extLst>
          </p:cNvPr>
          <p:cNvSpPr txBox="1"/>
          <p:nvPr/>
        </p:nvSpPr>
        <p:spPr>
          <a:xfrm>
            <a:off x="3703321" y="5759986"/>
            <a:ext cx="478535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</a:t>
            </a:r>
            <a:r>
              <a:rPr lang="en-US" sz="2000" dirty="0" err="1">
                <a:solidFill>
                  <a:schemeClr val="bg1"/>
                </a:solidFill>
              </a:rPr>
              <a:t>Dask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for out-of-memory tabular data processing with Pandas-like API.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9EAF04-B288-4DE9-BD86-0A99D49ABE8C}"/>
              </a:ext>
            </a:extLst>
          </p:cNvPr>
          <p:cNvSpPr txBox="1"/>
          <p:nvPr/>
        </p:nvSpPr>
        <p:spPr>
          <a:xfrm>
            <a:off x="6096000" y="4665074"/>
            <a:ext cx="60834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Limitations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No support for all Pandas methods yet.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Some operations trigger full computation (be cautious).</a:t>
            </a:r>
            <a:endParaRPr lang="en-US" sz="20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27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0" y="1216425"/>
            <a:ext cx="54457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What are </a:t>
            </a:r>
            <a:r>
              <a:rPr lang="en-US" sz="2400" b="1" dirty="0" err="1">
                <a:solidFill>
                  <a:schemeClr val="accent1"/>
                </a:solidFill>
              </a:rPr>
              <a:t>Dask</a:t>
            </a:r>
            <a:r>
              <a:rPr lang="en-US" sz="2400" b="1" dirty="0">
                <a:solidFill>
                  <a:schemeClr val="accent1"/>
                </a:solidFill>
              </a:rPr>
              <a:t> Bags?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Like Python lists but for large, distributed data.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Ideal for JSON logs, text files, or nested data.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10160" y="2408746"/>
            <a:ext cx="42570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Creating </a:t>
            </a:r>
            <a:r>
              <a:rPr lang="en-US" sz="2400" b="1" dirty="0" err="1">
                <a:solidFill>
                  <a:schemeClr val="accent1"/>
                </a:solidFill>
              </a:rPr>
              <a:t>Dask</a:t>
            </a:r>
            <a:r>
              <a:rPr lang="en-US" sz="2400" b="1" dirty="0">
                <a:solidFill>
                  <a:schemeClr val="accent1"/>
                </a:solidFill>
              </a:rPr>
              <a:t> Bags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dask.bag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as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db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bag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db.read_text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('logs/*.txt')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7577355" y="3037155"/>
            <a:ext cx="47955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Advantages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Processes data too large for memory.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Parallelized and lazy evaluation.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0" y="3607870"/>
            <a:ext cx="42570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Common Operation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Map: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words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bag.map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(lambda x: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x.split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())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Filter: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errors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bag.filter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(lambda x: 'error' in x)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Compute results: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results = </a:t>
            </a:r>
            <a:r>
              <a:rPr lang="en-US" sz="2000" b="1" dirty="0" err="1">
                <a:solidFill>
                  <a:schemeClr val="bg1"/>
                </a:solidFill>
              </a:rPr>
              <a:t>errors.take</a:t>
            </a:r>
            <a:r>
              <a:rPr lang="en-US" sz="2000" b="1" dirty="0">
                <a:solidFill>
                  <a:schemeClr val="bg1"/>
                </a:solidFill>
              </a:rPr>
              <a:t>(10)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4B88526-6341-47E9-8502-C05CEF1BCEB8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BBFF1F-6685-430C-A757-C7D330A5B739}"/>
              </a:ext>
            </a:extLst>
          </p:cNvPr>
          <p:cNvSpPr txBox="1"/>
          <p:nvPr/>
        </p:nvSpPr>
        <p:spPr>
          <a:xfrm>
            <a:off x="3942080" y="5820000"/>
            <a:ext cx="430783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Use </a:t>
            </a:r>
            <a:r>
              <a:rPr lang="en-US" sz="2000" dirty="0" err="1">
                <a:solidFill>
                  <a:schemeClr val="bg1"/>
                </a:solidFill>
              </a:rPr>
              <a:t>Dask</a:t>
            </a:r>
            <a:r>
              <a:rPr lang="en-US" sz="2000" dirty="0">
                <a:solidFill>
                  <a:schemeClr val="bg1"/>
                </a:solidFill>
              </a:rPr>
              <a:t> Bags for flexible processing of semi-structured big data.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1999" cy="1191998"/>
          </a:xfrm>
        </p:spPr>
        <p:txBody>
          <a:bodyPr>
            <a:noAutofit/>
          </a:bodyPr>
          <a:lstStyle/>
          <a:p>
            <a:r>
              <a:rPr lang="en-US" sz="4400" b="1" dirty="0" err="1">
                <a:solidFill>
                  <a:schemeClr val="accent3"/>
                </a:solidFill>
                <a:effectLst/>
              </a:rPr>
              <a:t>Dask</a:t>
            </a:r>
            <a:r>
              <a:rPr lang="en-US" sz="4400" b="1" dirty="0">
                <a:solidFill>
                  <a:schemeClr val="accent3"/>
                </a:solidFill>
                <a:effectLst/>
              </a:rPr>
              <a:t> Bags: </a:t>
            </a:r>
            <a:r>
              <a:rPr lang="en-US" sz="3600" b="1" dirty="0">
                <a:solidFill>
                  <a:schemeClr val="accent3"/>
                </a:solidFill>
                <a:effectLst/>
              </a:rPr>
              <a:t>Handling Unstructured &amp; Semi-structured Data</a:t>
            </a:r>
            <a:endParaRPr lang="en-US" sz="4400" b="1" dirty="0"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52810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79060" y="1271240"/>
            <a:ext cx="73355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Parallelism on a Single Machine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Uses threads or processes to run tasks concurrently.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Handles multicore CPUs efficiently.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179060" y="2469703"/>
            <a:ext cx="68681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Distributed Computing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Scale out to clusters of machines.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Distribute data and computations across nodes.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4623B0E-5723-4B5D-9915-C01BEA9BA1E8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2DB2DF-46BB-4D38-947B-C38B74416BE5}"/>
              </a:ext>
            </a:extLst>
          </p:cNvPr>
          <p:cNvSpPr txBox="1"/>
          <p:nvPr/>
        </p:nvSpPr>
        <p:spPr>
          <a:xfrm>
            <a:off x="4028441" y="5774106"/>
            <a:ext cx="413511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Choose the right scheduler based on your workload and environment.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440" y="99849"/>
            <a:ext cx="11816269" cy="11919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Parallel &amp; Distributed Computing with </a:t>
            </a:r>
            <a:r>
              <a:rPr lang="en-US" b="1" dirty="0" err="1">
                <a:solidFill>
                  <a:schemeClr val="accent3"/>
                </a:solidFill>
                <a:effectLst/>
              </a:rPr>
              <a:t>Dask</a:t>
            </a:r>
            <a:endParaRPr lang="en-US" b="1" dirty="0">
              <a:solidFill>
                <a:schemeClr val="accent3"/>
              </a:solidFill>
              <a:effectLst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473134-1A81-421C-B11A-BD2AB1E3E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974298"/>
              </p:ext>
            </p:extLst>
          </p:nvPr>
        </p:nvGraphicFramePr>
        <p:xfrm>
          <a:off x="6126574" y="2326530"/>
          <a:ext cx="5997796" cy="2204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423">
                  <a:extLst>
                    <a:ext uri="{9D8B030D-6E8A-4147-A177-3AD203B41FA5}">
                      <a16:colId xmlns:a16="http://schemas.microsoft.com/office/drawing/2014/main" val="2700710115"/>
                    </a:ext>
                  </a:extLst>
                </a:gridCol>
                <a:gridCol w="4357373">
                  <a:extLst>
                    <a:ext uri="{9D8B030D-6E8A-4147-A177-3AD203B41FA5}">
                      <a16:colId xmlns:a16="http://schemas.microsoft.com/office/drawing/2014/main" val="2429055738"/>
                    </a:ext>
                  </a:extLst>
                </a:gridCol>
              </a:tblGrid>
              <a:tr h="36749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Dask</a:t>
                      </a:r>
                      <a:r>
                        <a:rPr lang="en-US" dirty="0"/>
                        <a:t> Scheduler Types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591822"/>
                  </a:ext>
                </a:extLst>
              </a:tr>
              <a:tr h="3674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Scheduler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714312"/>
                  </a:ext>
                </a:extLst>
              </a:tr>
              <a:tr h="367490">
                <a:tc>
                  <a:txBody>
                    <a:bodyPr/>
                    <a:lstStyle/>
                    <a:p>
                      <a:r>
                        <a:rPr lang="en-US" dirty="0"/>
                        <a:t>Single-threaded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Debugging, sequential execution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027898"/>
                  </a:ext>
                </a:extLst>
              </a:tr>
              <a:tr h="367490">
                <a:tc>
                  <a:txBody>
                    <a:bodyPr/>
                    <a:lstStyle/>
                    <a:p>
                      <a:r>
                        <a:rPr lang="en-US" dirty="0"/>
                        <a:t>Threaded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threads, good for I/O-bound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507130"/>
                  </a:ext>
                </a:extLst>
              </a:tr>
              <a:tr h="367490">
                <a:tc>
                  <a:txBody>
                    <a:bodyPr/>
                    <a:lstStyle/>
                    <a:p>
                      <a:r>
                        <a:rPr lang="en-US" dirty="0"/>
                        <a:t>Processes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Multiple processes, better for CPU-bound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433652"/>
                  </a:ext>
                </a:extLst>
              </a:tr>
              <a:tr h="367490">
                <a:tc>
                  <a:txBody>
                    <a:bodyPr/>
                    <a:lstStyle/>
                    <a:p>
                      <a:r>
                        <a:rPr lang="en-US" dirty="0"/>
                        <a:t>Distributed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Cluster of machines, scalable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32141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E803FFE1-CD3A-4C5B-A182-E16DFA1CE03E}"/>
              </a:ext>
            </a:extLst>
          </p:cNvPr>
          <p:cNvSpPr txBox="1"/>
          <p:nvPr/>
        </p:nvSpPr>
        <p:spPr>
          <a:xfrm>
            <a:off x="179060" y="3800663"/>
            <a:ext cx="317374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Benefits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Faster processing.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Handles larger-than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memory data.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Fault-tolerant &amp; scalable.</a:t>
            </a:r>
          </a:p>
        </p:txBody>
      </p:sp>
    </p:spTree>
    <p:extLst>
      <p:ext uri="{BB962C8B-B14F-4D97-AF65-F5344CB8AC3E}">
        <p14:creationId xmlns:p14="http://schemas.microsoft.com/office/powerpoint/2010/main" val="797250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chemeClr val="accent3"/>
                </a:solidFill>
                <a:effectLst/>
              </a:rPr>
              <a:t>Dask</a:t>
            </a:r>
            <a:r>
              <a:rPr lang="en-US" sz="4800" b="1" dirty="0">
                <a:solidFill>
                  <a:schemeClr val="accent3"/>
                </a:solidFill>
                <a:effectLst/>
              </a:rPr>
              <a:t> Delayed: Building Custom Task Graphs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2507" y="965053"/>
            <a:ext cx="73355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rgbClr val="FF0000"/>
              </a:solidFill>
            </a:endParaRPr>
          </a:p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What is </a:t>
            </a:r>
            <a:r>
              <a:rPr lang="en-US" sz="2400" b="1" dirty="0" err="1">
                <a:solidFill>
                  <a:schemeClr val="accent1"/>
                </a:solidFill>
              </a:rPr>
              <a:t>Dask</a:t>
            </a:r>
            <a:r>
              <a:rPr lang="en-US" sz="2400" b="1" dirty="0">
                <a:solidFill>
                  <a:schemeClr val="accent1"/>
                </a:solidFill>
              </a:rPr>
              <a:t> Delayed?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Decorator/function to parallelize custom Python code.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Wraps functions to create lazy tasks.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7455095" y="1301444"/>
            <a:ext cx="403586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Basic Usage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dask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import delayed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@delayed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def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inc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(x):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   return x + 1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@delayed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def add(x, y):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   return x + y</a:t>
            </a:r>
          </a:p>
          <a:p>
            <a:pPr algn="just"/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result = add(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inc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(1),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inc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(2))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result.compute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())  # Output: 5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A2607B01-5B8E-42B5-9DC4-3DEF1B489A7D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A64FF5-C8A1-44D9-A732-08AB824664D0}"/>
              </a:ext>
            </a:extLst>
          </p:cNvPr>
          <p:cNvSpPr txBox="1"/>
          <p:nvPr/>
        </p:nvSpPr>
        <p:spPr>
          <a:xfrm>
            <a:off x="4145282" y="5764204"/>
            <a:ext cx="472440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delayed for custom, non-array/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computations needing parallelism.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B67F7-C0ED-4E2F-B509-56F6545E207F}"/>
              </a:ext>
            </a:extLst>
          </p:cNvPr>
          <p:cNvSpPr txBox="1"/>
          <p:nvPr/>
        </p:nvSpPr>
        <p:spPr>
          <a:xfrm>
            <a:off x="12506" y="2538879"/>
            <a:ext cx="56872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Benefits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Easily parallelize existing code.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Build complex workflows without changing logic.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AA06A4-930A-43AF-AD14-8864849836C1}"/>
              </a:ext>
            </a:extLst>
          </p:cNvPr>
          <p:cNvSpPr txBox="1"/>
          <p:nvPr/>
        </p:nvSpPr>
        <p:spPr>
          <a:xfrm>
            <a:off x="12507" y="4160421"/>
            <a:ext cx="472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Visualizing Task Graphs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result.visualize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574228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2507" y="1212268"/>
            <a:ext cx="50384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What are </a:t>
            </a:r>
            <a:r>
              <a:rPr lang="en-US" sz="2400" b="1" dirty="0" err="1">
                <a:solidFill>
                  <a:schemeClr val="accent1"/>
                </a:solidFill>
              </a:rPr>
              <a:t>Dask</a:t>
            </a:r>
            <a:r>
              <a:rPr lang="en-US" sz="2400" b="1" dirty="0">
                <a:solidFill>
                  <a:schemeClr val="accent1"/>
                </a:solidFill>
              </a:rPr>
              <a:t> Futures?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Similar to Python’s </a:t>
            </a:r>
            <a:r>
              <a:rPr lang="en-US" sz="2000" dirty="0" err="1">
                <a:solidFill>
                  <a:schemeClr val="bg1"/>
                </a:solidFill>
              </a:rPr>
              <a:t>concurrent.futures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Represent ongoing computations in the distributed scheduler.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12506" y="4374397"/>
            <a:ext cx="61241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Advantages of Futures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Immediate submission and execution.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Check status, cancel, or retrieve results asynchronously.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Useful for dynamic, real-time workflows.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12506" y="2632625"/>
            <a:ext cx="620541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Using Futures 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dask.distributed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import Client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client = Client()future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client.submit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(lambda x: x + 1, 10)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result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future.result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print(result)  # Output: 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7141023" y="1291847"/>
            <a:ext cx="51374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just"/>
            <a:r>
              <a:rPr lang="en-US" sz="2400" b="1" dirty="0">
                <a:solidFill>
                  <a:schemeClr val="accent1"/>
                </a:solidFill>
              </a:rPr>
              <a:t>Distributed Scheduler Features</a:t>
            </a:r>
          </a:p>
          <a:p>
            <a:pPr marL="342900" lvl="2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Manages task scheduling across cluster nodes.</a:t>
            </a:r>
          </a:p>
          <a:p>
            <a:pPr marL="342900" lvl="2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Provides dashboard for monitoring.</a:t>
            </a:r>
          </a:p>
          <a:p>
            <a:pPr marL="342900" lvl="2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Supports fault tolerance &amp; scalability.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BB61AC0-A836-47C8-A1A6-202F65B404C5}"/>
              </a:ext>
            </a:extLst>
          </p:cNvPr>
          <p:cNvSpPr txBox="1">
            <a:spLocks/>
          </p:cNvSpPr>
          <p:nvPr/>
        </p:nvSpPr>
        <p:spPr>
          <a:xfrm>
            <a:off x="9309956" y="649453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CAB653-9AF2-4777-BC16-CED66C9C1443}"/>
              </a:ext>
            </a:extLst>
          </p:cNvPr>
          <p:cNvSpPr txBox="1"/>
          <p:nvPr/>
        </p:nvSpPr>
        <p:spPr>
          <a:xfrm>
            <a:off x="4170681" y="5742488"/>
            <a:ext cx="385063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Futures for fine-grained control in distributed computations.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chemeClr val="accent3"/>
                </a:solidFill>
                <a:effectLst/>
              </a:rPr>
              <a:t>Dask</a:t>
            </a:r>
            <a:r>
              <a:rPr lang="en-US" b="1" dirty="0">
                <a:solidFill>
                  <a:schemeClr val="accent3"/>
                </a:solidFill>
                <a:effectLst/>
              </a:rPr>
              <a:t> Futures &amp; Distributed Scheduler</a:t>
            </a:r>
          </a:p>
        </p:txBody>
      </p:sp>
    </p:spTree>
    <p:extLst>
      <p:ext uri="{BB962C8B-B14F-4D97-AF65-F5344CB8AC3E}">
        <p14:creationId xmlns:p14="http://schemas.microsoft.com/office/powerpoint/2010/main" val="3424768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3"/>
                </a:solidFill>
                <a:effectLst/>
              </a:rPr>
              <a:t>Integrating </a:t>
            </a:r>
            <a:r>
              <a:rPr lang="en-US" sz="4800" b="1" dirty="0" err="1">
                <a:solidFill>
                  <a:schemeClr val="accent3"/>
                </a:solidFill>
                <a:effectLst/>
              </a:rPr>
              <a:t>Dask</a:t>
            </a:r>
            <a:r>
              <a:rPr lang="en-US" sz="4800" b="1" dirty="0">
                <a:solidFill>
                  <a:schemeClr val="accent3"/>
                </a:solidFill>
                <a:effectLst/>
              </a:rPr>
              <a:t> with Pandas &amp; NumPy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0" y="1285905"/>
            <a:ext cx="51121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Seamless API Compatibility</a:t>
            </a:r>
          </a:p>
          <a:p>
            <a:pPr marL="342900" indent="-342900" algn="just">
              <a:buFontTx/>
              <a:buChar char="-"/>
            </a:pPr>
            <a:r>
              <a:rPr lang="en-US" sz="2000" dirty="0" err="1">
                <a:solidFill>
                  <a:schemeClr val="bg1"/>
                </a:solidFill>
              </a:rPr>
              <a:t>Dask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mimic Pandas API. </a:t>
            </a:r>
          </a:p>
          <a:p>
            <a:pPr marL="342900" indent="-342900" algn="just">
              <a:buFontTx/>
              <a:buChar char="-"/>
            </a:pPr>
            <a:r>
              <a:rPr lang="en-US" sz="2000" dirty="0" err="1">
                <a:solidFill>
                  <a:schemeClr val="bg1"/>
                </a:solidFill>
              </a:rPr>
              <a:t>Dask</a:t>
            </a:r>
            <a:r>
              <a:rPr lang="en-US" sz="2000" dirty="0">
                <a:solidFill>
                  <a:schemeClr val="bg1"/>
                </a:solidFill>
              </a:rPr>
              <a:t> Arrays mimic NumPy API.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Minimal code changes to scale up workflows.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0" y="2778932"/>
            <a:ext cx="457727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Example: From Pandas to </a:t>
            </a:r>
            <a:r>
              <a:rPr lang="en-US" sz="2400" b="1" dirty="0" err="1">
                <a:solidFill>
                  <a:schemeClr val="accent1"/>
                </a:solidFill>
              </a:rPr>
              <a:t>Dask</a:t>
            </a:r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pandas as pd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dask.dataframe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as dd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pdf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pd.read_csv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('data.csv’)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ddf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dd.from_pandas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(pdf,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npartitions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=4)</a:t>
            </a:r>
            <a:endParaRPr lang="en-US" sz="2400" b="1" dirty="0">
              <a:solidFill>
                <a:schemeClr val="accent1"/>
              </a:solidFill>
              <a:highlight>
                <a:srgbClr val="C0C0C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6781102" y="1285905"/>
            <a:ext cx="541089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Example: From NumPy to </a:t>
            </a:r>
            <a:r>
              <a:rPr lang="en-US" sz="2400" b="1" dirty="0" err="1">
                <a:solidFill>
                  <a:schemeClr val="accent1"/>
                </a:solidFill>
              </a:rPr>
              <a:t>Dask</a:t>
            </a:r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numpy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as np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dask.array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as da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np_array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np.arange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(10000)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dask_array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da.from_array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np_array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, chunks=1000)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B768C7E-E4A0-4CA2-808E-1D1343D877D2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EE905B-B31E-4E9A-A79B-7E85F1132402}"/>
              </a:ext>
            </a:extLst>
          </p:cNvPr>
          <p:cNvSpPr txBox="1"/>
          <p:nvPr/>
        </p:nvSpPr>
        <p:spPr>
          <a:xfrm>
            <a:off x="0" y="4812741"/>
            <a:ext cx="45772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Benefits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Work with big data using familiar tools.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Effortlessly scale existing Python code.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F329FD-A446-4015-8C96-1BE7DD5C2DF5}"/>
              </a:ext>
            </a:extLst>
          </p:cNvPr>
          <p:cNvSpPr txBox="1"/>
          <p:nvPr/>
        </p:nvSpPr>
        <p:spPr>
          <a:xfrm>
            <a:off x="4170681" y="5742488"/>
            <a:ext cx="385063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Transition to </a:t>
            </a:r>
            <a:r>
              <a:rPr lang="en-US" sz="2000" dirty="0" err="1">
                <a:solidFill>
                  <a:schemeClr val="bg1"/>
                </a:solidFill>
              </a:rPr>
              <a:t>Dask</a:t>
            </a:r>
            <a:r>
              <a:rPr lang="en-US" sz="2000" dirty="0">
                <a:solidFill>
                  <a:schemeClr val="bg1"/>
                </a:solidFill>
              </a:rPr>
              <a:t> gradually by converting Pandas/NumPy code.</a:t>
            </a:r>
          </a:p>
        </p:txBody>
      </p:sp>
    </p:spTree>
    <p:extLst>
      <p:ext uri="{BB962C8B-B14F-4D97-AF65-F5344CB8AC3E}">
        <p14:creationId xmlns:p14="http://schemas.microsoft.com/office/powerpoint/2010/main" val="3375973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3"/>
                </a:solidFill>
                <a:effectLst/>
              </a:rPr>
              <a:t>Performance Optimization Tips in </a:t>
            </a:r>
            <a:r>
              <a:rPr lang="en-US" sz="4800" b="1" dirty="0" err="1">
                <a:solidFill>
                  <a:schemeClr val="accent3"/>
                </a:solidFill>
                <a:effectLst/>
              </a:rPr>
              <a:t>Dask</a:t>
            </a:r>
            <a:endParaRPr lang="en-US" sz="4800" b="1" dirty="0">
              <a:solidFill>
                <a:schemeClr val="accent3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0160" y="1126961"/>
            <a:ext cx="54965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Choose Appropriate Chunk Sizes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Balance between task overhead and parallelism.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Too small chunks increase overhead; too large reduce parallelism.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-15430" y="2519790"/>
            <a:ext cx="55221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Use Efficient Data Formats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Prefer Parquet or HDF5 over CSV for faster I/O.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Supports columnar storage and compression.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-15429" y="3686122"/>
            <a:ext cx="51868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Persist Intermediate Results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df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df.persist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- Keeps data in memory for faster repeated access.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B768C7E-E4A0-4CA2-808E-1D1343D877D2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5976FF-A99E-4783-AD39-7FD28C0CB7E7}"/>
              </a:ext>
            </a:extLst>
          </p:cNvPr>
          <p:cNvSpPr txBox="1"/>
          <p:nvPr/>
        </p:nvSpPr>
        <p:spPr>
          <a:xfrm>
            <a:off x="4145282" y="5742488"/>
            <a:ext cx="388111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Proper tuning significantly boosts </a:t>
            </a:r>
            <a:r>
              <a:rPr lang="en-US" sz="2000" dirty="0" err="1">
                <a:solidFill>
                  <a:schemeClr val="bg1"/>
                </a:solidFill>
              </a:rPr>
              <a:t>Dask’s</a:t>
            </a:r>
            <a:r>
              <a:rPr lang="en-US" sz="2000" dirty="0">
                <a:solidFill>
                  <a:schemeClr val="bg1"/>
                </a:solidFill>
              </a:rPr>
              <a:t> performance.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940764-5D68-4614-B386-167AE62CBE60}"/>
              </a:ext>
            </a:extLst>
          </p:cNvPr>
          <p:cNvSpPr txBox="1"/>
          <p:nvPr/>
        </p:nvSpPr>
        <p:spPr>
          <a:xfrm>
            <a:off x="0" y="4828980"/>
            <a:ext cx="56303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Avoid Excessive Computations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Chain operations before calling .compute().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Minimize data movement.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E1924A-FD01-4BDC-8F1A-094600279B08}"/>
              </a:ext>
            </a:extLst>
          </p:cNvPr>
          <p:cNvSpPr txBox="1"/>
          <p:nvPr/>
        </p:nvSpPr>
        <p:spPr>
          <a:xfrm>
            <a:off x="7100156" y="3147513"/>
            <a:ext cx="56303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Monitor &amp; Profile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Use dashboard to identify bottlenecks.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Profile using %time and </a:t>
            </a:r>
            <a:r>
              <a:rPr lang="en-US" sz="2000" dirty="0" err="1">
                <a:solidFill>
                  <a:schemeClr val="bg1"/>
                </a:solidFill>
              </a:rPr>
              <a:t>dask.diagnostics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2609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3"/>
                </a:solidFill>
                <a:effectLst/>
              </a:rPr>
              <a:t>Real-world Use Cases of </a:t>
            </a:r>
            <a:r>
              <a:rPr lang="en-US" sz="4800" b="1" dirty="0" err="1">
                <a:solidFill>
                  <a:schemeClr val="accent3"/>
                </a:solidFill>
                <a:effectLst/>
              </a:rPr>
              <a:t>Dask</a:t>
            </a:r>
            <a:endParaRPr lang="en-US" sz="4800" b="1" dirty="0">
              <a:solidFill>
                <a:schemeClr val="accent3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82880" y="1248881"/>
            <a:ext cx="55676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Data Science &amp; Machine Learning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Processing large datasets for training ML models.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Parallel feature engineering and model evaluation.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157290" y="2699902"/>
            <a:ext cx="43131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Finance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Risk analysis on massive datasets.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Real-time data ingestion and analysis.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166943" y="4417642"/>
            <a:ext cx="64167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Genomics &amp; Bioinformatics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Handling genomic sequences and large biological datasets.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Parallel computation on distributed clusters.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B768C7E-E4A0-4CA2-808E-1D1343D877D2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5976FF-A99E-4783-AD39-7FD28C0CB7E7}"/>
              </a:ext>
            </a:extLst>
          </p:cNvPr>
          <p:cNvSpPr txBox="1"/>
          <p:nvPr/>
        </p:nvSpPr>
        <p:spPr>
          <a:xfrm>
            <a:off x="4145282" y="5742488"/>
            <a:ext cx="388111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 err="1">
                <a:solidFill>
                  <a:schemeClr val="bg1"/>
                </a:solidFill>
              </a:rPr>
              <a:t>Dask</a:t>
            </a:r>
            <a:r>
              <a:rPr lang="en-US" sz="2000" dirty="0">
                <a:solidFill>
                  <a:schemeClr val="bg1"/>
                </a:solidFill>
              </a:rPr>
              <a:t> is versatile — adapts to many big data domains seamlessly.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FD1EC0-298D-4F53-B3B9-FD81A02252D1}"/>
              </a:ext>
            </a:extLst>
          </p:cNvPr>
          <p:cNvSpPr txBox="1"/>
          <p:nvPr/>
        </p:nvSpPr>
        <p:spPr>
          <a:xfrm>
            <a:off x="6258560" y="1291847"/>
            <a:ext cx="52357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Web &amp; Log Analytics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Processing large volumes of server logs.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Real-time monitoring and anomaly detection.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A83BD9-B2A0-45E8-BE00-69EA9A8D422B}"/>
              </a:ext>
            </a:extLst>
          </p:cNvPr>
          <p:cNvSpPr txBox="1"/>
          <p:nvPr/>
        </p:nvSpPr>
        <p:spPr>
          <a:xfrm>
            <a:off x="6258560" y="2699902"/>
            <a:ext cx="52357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Climate Science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Analyzing large-scale climate simulations.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Handling multidimensional time series data.</a:t>
            </a:r>
          </a:p>
        </p:txBody>
      </p:sp>
    </p:spTree>
    <p:extLst>
      <p:ext uri="{BB962C8B-B14F-4D97-AF65-F5344CB8AC3E}">
        <p14:creationId xmlns:p14="http://schemas.microsoft.com/office/powerpoint/2010/main" val="2743057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322077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Hands-on Example: Large Dataset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2506" y="1159997"/>
            <a:ext cx="689629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Objective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Analyze a large CSV file (e.g., 10+ GB) using </a:t>
            </a:r>
            <a:r>
              <a:rPr lang="en-US" sz="2000" dirty="0" err="1">
                <a:solidFill>
                  <a:schemeClr val="bg1"/>
                </a:solidFill>
              </a:rPr>
              <a:t>Dask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buFontTx/>
              <a:buChar char="-"/>
            </a:pP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Steps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dask.dataframe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as dd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Read large CSV dataset in chunks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df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dd.read_csv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('large_dataset.csv')Filter rows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filtered_df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= df[df['value'] &gt; 100]Group by and aggregate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result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filtered_df.groupby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('category').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value.mean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().compute()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print(result)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12506" y="4570089"/>
            <a:ext cx="49760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Benefits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No need to load entire file into memory.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Parallelized and efficient.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435A867E-79B5-4C7F-BD87-33C968FBAA95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A8BE29-AF34-4A0B-87C8-A3AB89F64A2A}"/>
              </a:ext>
            </a:extLst>
          </p:cNvPr>
          <p:cNvSpPr txBox="1"/>
          <p:nvPr/>
        </p:nvSpPr>
        <p:spPr>
          <a:xfrm>
            <a:off x="4174758" y="5275827"/>
            <a:ext cx="4542521" cy="1323439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Try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Modify filters.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Add more complex aggregations.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Explore dashboard during execution.</a:t>
            </a:r>
          </a:p>
        </p:txBody>
      </p:sp>
    </p:spTree>
    <p:extLst>
      <p:ext uri="{BB962C8B-B14F-4D97-AF65-F5344CB8AC3E}">
        <p14:creationId xmlns:p14="http://schemas.microsoft.com/office/powerpoint/2010/main" val="1303597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chemeClr val="accent3"/>
                </a:solidFill>
                <a:effectLst/>
              </a:rPr>
              <a:t>Dask</a:t>
            </a:r>
            <a:r>
              <a:rPr lang="en-US" b="1" dirty="0">
                <a:solidFill>
                  <a:schemeClr val="accent3"/>
                </a:solidFill>
                <a:effectLst/>
              </a:rPr>
              <a:t> &amp; Machine Learning Integration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96986" y="1362731"/>
            <a:ext cx="55450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Scaling ML with </a:t>
            </a:r>
            <a:r>
              <a:rPr lang="en-US" sz="2400" b="1" dirty="0" err="1">
                <a:solidFill>
                  <a:schemeClr val="accent1"/>
                </a:solidFill>
              </a:rPr>
              <a:t>Dask</a:t>
            </a:r>
            <a:r>
              <a:rPr lang="en-US" sz="2400" b="1" dirty="0">
                <a:solidFill>
                  <a:schemeClr val="accent1"/>
                </a:solidFill>
              </a:rPr>
              <a:t>-ML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Built on top of </a:t>
            </a:r>
            <a:r>
              <a:rPr lang="en-US" sz="2000" dirty="0" err="1">
                <a:solidFill>
                  <a:schemeClr val="bg1"/>
                </a:solidFill>
              </a:rPr>
              <a:t>Scikit</a:t>
            </a:r>
            <a:r>
              <a:rPr lang="en-US" sz="2000" dirty="0">
                <a:solidFill>
                  <a:schemeClr val="bg1"/>
                </a:solidFill>
              </a:rPr>
              <a:t>-learn.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Enables parallel and distributed ML workflows.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296986" y="2510833"/>
            <a:ext cx="533165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Key Features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Scalable implementations of clustering, regression, and classification.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Parallelized hyperparameter tuning (</a:t>
            </a:r>
            <a:r>
              <a:rPr lang="en-US" sz="2000" dirty="0" err="1">
                <a:solidFill>
                  <a:schemeClr val="bg1"/>
                </a:solidFill>
              </a:rPr>
              <a:t>GridSearchCV</a:t>
            </a:r>
            <a:r>
              <a:rPr lang="en-US" sz="2000" dirty="0">
                <a:solidFill>
                  <a:schemeClr val="bg1"/>
                </a:solidFill>
              </a:rPr>
              <a:t>).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Handles larger-than-memory datasets.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296986" y="4594386"/>
            <a:ext cx="55450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Benefits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Faster training with large datasets.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Easy integration with existing </a:t>
            </a:r>
            <a:r>
              <a:rPr lang="en-US" sz="2000" dirty="0" err="1">
                <a:solidFill>
                  <a:schemeClr val="bg1"/>
                </a:solidFill>
              </a:rPr>
              <a:t>Scikit</a:t>
            </a:r>
            <a:r>
              <a:rPr lang="en-US" sz="2000" dirty="0">
                <a:solidFill>
                  <a:schemeClr val="bg1"/>
                </a:solidFill>
              </a:rPr>
              <a:t>-learn code.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231E906A-29C8-4193-B186-6139224A5E5A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BDA754-49F4-40B0-A4CA-0DF8C43AD4C1}"/>
              </a:ext>
            </a:extLst>
          </p:cNvPr>
          <p:cNvSpPr txBox="1"/>
          <p:nvPr/>
        </p:nvSpPr>
        <p:spPr>
          <a:xfrm>
            <a:off x="4145282" y="5742488"/>
            <a:ext cx="388111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</a:t>
            </a:r>
            <a:r>
              <a:rPr lang="en-US" sz="2000" dirty="0" err="1">
                <a:solidFill>
                  <a:schemeClr val="bg1"/>
                </a:solidFill>
              </a:rPr>
              <a:t>Dask</a:t>
            </a:r>
            <a:r>
              <a:rPr lang="en-US" sz="2000" dirty="0">
                <a:solidFill>
                  <a:schemeClr val="bg1"/>
                </a:solidFill>
              </a:rPr>
              <a:t>-ML to scale your ML pipelines effortlessly.</a:t>
            </a:r>
          </a:p>
        </p:txBody>
      </p:sp>
    </p:spTree>
    <p:extLst>
      <p:ext uri="{BB962C8B-B14F-4D97-AF65-F5344CB8AC3E}">
        <p14:creationId xmlns:p14="http://schemas.microsoft.com/office/powerpoint/2010/main" val="4200829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1988799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Visualization &amp; Monitoring with </a:t>
            </a:r>
            <a:r>
              <a:rPr lang="en-US" sz="4400" b="1" dirty="0" err="1">
                <a:solidFill>
                  <a:schemeClr val="accent3"/>
                </a:solidFill>
                <a:effectLst/>
              </a:rPr>
              <a:t>Dask</a:t>
            </a:r>
            <a:r>
              <a:rPr lang="en-US" sz="4400" b="1" dirty="0">
                <a:solidFill>
                  <a:schemeClr val="accent3"/>
                </a:solidFill>
                <a:effectLst/>
              </a:rPr>
              <a:t>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239" y="1217675"/>
            <a:ext cx="56134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What is </a:t>
            </a:r>
            <a:r>
              <a:rPr lang="en-US" sz="2400" b="1" dirty="0" err="1">
                <a:solidFill>
                  <a:schemeClr val="accent1"/>
                </a:solidFill>
              </a:rPr>
              <a:t>Dask</a:t>
            </a:r>
            <a:r>
              <a:rPr lang="en-US" sz="2400" b="1" dirty="0">
                <a:solidFill>
                  <a:schemeClr val="accent1"/>
                </a:solidFill>
              </a:rPr>
              <a:t> Dashboard?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 real-time web interface to monitor </a:t>
            </a:r>
            <a:r>
              <a:rPr lang="en-US" sz="2000" dirty="0" err="1">
                <a:solidFill>
                  <a:schemeClr val="bg1"/>
                </a:solidFill>
              </a:rPr>
              <a:t>Dask</a:t>
            </a:r>
            <a:r>
              <a:rPr lang="en-US" sz="2000" dirty="0">
                <a:solidFill>
                  <a:schemeClr val="bg1"/>
                </a:solidFill>
              </a:rPr>
              <a:t> clusters.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Displays task progress, memory usage, CPU utilization, and more.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15239" y="2754835"/>
            <a:ext cx="561340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Key Components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Task Stream: </a:t>
            </a:r>
            <a:r>
              <a:rPr lang="en-US" sz="2000" dirty="0">
                <a:solidFill>
                  <a:schemeClr val="bg1"/>
                </a:solidFill>
              </a:rPr>
              <a:t>Visualizes running tasks over time.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Progress: </a:t>
            </a:r>
            <a:r>
              <a:rPr lang="en-US" sz="2000" dirty="0">
                <a:solidFill>
                  <a:schemeClr val="bg1"/>
                </a:solidFill>
              </a:rPr>
              <a:t>Shows task completion percentage.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Worker Profiles: </a:t>
            </a:r>
            <a:r>
              <a:rPr lang="en-US" sz="2000" dirty="0">
                <a:solidFill>
                  <a:schemeClr val="bg1"/>
                </a:solidFill>
              </a:rPr>
              <a:t>CPU, memory usage per worker.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System Monitor: </a:t>
            </a:r>
            <a:r>
              <a:rPr lang="en-US" sz="2000" dirty="0">
                <a:solidFill>
                  <a:schemeClr val="bg1"/>
                </a:solidFill>
              </a:rPr>
              <a:t>Overall cluster health.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3896360" y="5734973"/>
            <a:ext cx="439928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Regularly check the dashboard to optimize your workflows.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D9E541B-FB7C-4ED1-A148-D801DB9781FC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6BCAA1-8D48-4BCC-BE34-46B792A4D12F}"/>
              </a:ext>
            </a:extLst>
          </p:cNvPr>
          <p:cNvSpPr txBox="1"/>
          <p:nvPr/>
        </p:nvSpPr>
        <p:spPr>
          <a:xfrm>
            <a:off x="15239" y="4525675"/>
            <a:ext cx="45669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Benefits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Helps debug performance bottlenecks.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Provides insight into task execution.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Improves resource utilization.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91F9F6-8DD6-4F40-A772-911A2912B847}"/>
              </a:ext>
            </a:extLst>
          </p:cNvPr>
          <p:cNvSpPr txBox="1"/>
          <p:nvPr/>
        </p:nvSpPr>
        <p:spPr>
          <a:xfrm>
            <a:off x="6578598" y="3013797"/>
            <a:ext cx="56134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Accessing the Dashboard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Usually available at: </a:t>
            </a:r>
            <a:r>
              <a:rPr lang="en-US" sz="2000" u="sng" dirty="0">
                <a:solidFill>
                  <a:srgbClr val="0070C0"/>
                </a:solidFill>
              </a:rPr>
              <a:t>http://localhost:8787/status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Starts automatically with Client() in distributed mode.</a:t>
            </a:r>
          </a:p>
        </p:txBody>
      </p:sp>
    </p:spTree>
    <p:extLst>
      <p:ext uri="{BB962C8B-B14F-4D97-AF65-F5344CB8AC3E}">
        <p14:creationId xmlns:p14="http://schemas.microsoft.com/office/powerpoint/2010/main" val="840274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840" y="99849"/>
            <a:ext cx="11490959" cy="1191998"/>
          </a:xfrm>
        </p:spPr>
        <p:txBody>
          <a:bodyPr>
            <a:normAutofit/>
          </a:bodyPr>
          <a:lstStyle/>
          <a:p>
            <a:r>
              <a:rPr lang="nb-NO" b="1" dirty="0">
                <a:solidFill>
                  <a:schemeClr val="accent3"/>
                </a:solidFill>
                <a:effectLst/>
              </a:rPr>
              <a:t>Error Handling &amp; Debugging in Dask</a:t>
            </a:r>
            <a:endParaRPr lang="en-US" b="1" dirty="0">
              <a:solidFill>
                <a:schemeClr val="accent3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98119" y="1258315"/>
            <a:ext cx="5410201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Reading Data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CSV files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 = </a:t>
            </a:r>
            <a:r>
              <a:rPr lang="en-US" sz="2000" dirty="0" err="1">
                <a:solidFill>
                  <a:schemeClr val="bg1"/>
                </a:solidFill>
              </a:rPr>
              <a:t>pd.read_csv</a:t>
            </a:r>
            <a:r>
              <a:rPr lang="en-US" sz="2000" dirty="0">
                <a:solidFill>
                  <a:schemeClr val="bg1"/>
                </a:solidFill>
              </a:rPr>
              <a:t>('data.csv’)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Excel files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 = </a:t>
            </a:r>
            <a:r>
              <a:rPr lang="en-US" sz="2000" dirty="0" err="1">
                <a:solidFill>
                  <a:schemeClr val="bg1"/>
                </a:solidFill>
              </a:rPr>
              <a:t>pd.read_excel</a:t>
            </a:r>
            <a:r>
              <a:rPr lang="en-US" sz="2000" dirty="0">
                <a:solidFill>
                  <a:schemeClr val="bg1"/>
                </a:solidFill>
              </a:rPr>
              <a:t>('data.xlsx', </a:t>
            </a:r>
            <a:r>
              <a:rPr lang="en-US" sz="2000" dirty="0" err="1">
                <a:solidFill>
                  <a:schemeClr val="bg1"/>
                </a:solidFill>
              </a:rPr>
              <a:t>sheet_name</a:t>
            </a:r>
            <a:r>
              <a:rPr lang="en-US" sz="2000" dirty="0">
                <a:solidFill>
                  <a:schemeClr val="bg1"/>
                </a:solidFill>
              </a:rPr>
              <a:t>='Sheet1’)</a:t>
            </a:r>
          </a:p>
          <a:p>
            <a:pPr algn="just"/>
            <a:endParaRPr lang="en-US" sz="2000" b="1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JSON files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 = </a:t>
            </a:r>
            <a:r>
              <a:rPr lang="en-US" sz="2000" dirty="0" err="1">
                <a:solidFill>
                  <a:schemeClr val="bg1"/>
                </a:solidFill>
              </a:rPr>
              <a:t>pd.read_json</a:t>
            </a:r>
            <a:r>
              <a:rPr lang="en-US" sz="2000" dirty="0">
                <a:solidFill>
                  <a:schemeClr val="bg1"/>
                </a:solidFill>
              </a:rPr>
              <a:t>('</a:t>
            </a:r>
            <a:r>
              <a:rPr lang="en-US" sz="2000" dirty="0" err="1">
                <a:solidFill>
                  <a:schemeClr val="bg1"/>
                </a:solidFill>
              </a:rPr>
              <a:t>data.json</a:t>
            </a:r>
            <a:r>
              <a:rPr lang="en-US" sz="2000" dirty="0">
                <a:solidFill>
                  <a:schemeClr val="bg1"/>
                </a:solidFill>
              </a:rPr>
              <a:t>’)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4287520" y="5717664"/>
            <a:ext cx="361696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Pandas supports many file formats for easy data import/export.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D9E541B-FB7C-4ED1-A148-D801DB9781FC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F5B2CD-0E2F-40AC-9269-FB20A03B2D6C}"/>
              </a:ext>
            </a:extLst>
          </p:cNvPr>
          <p:cNvSpPr txBox="1"/>
          <p:nvPr/>
        </p:nvSpPr>
        <p:spPr>
          <a:xfrm>
            <a:off x="6563359" y="1331208"/>
            <a:ext cx="3942081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Writing Data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To CSV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df.to_csv</a:t>
            </a:r>
            <a:r>
              <a:rPr lang="en-US" sz="2000" dirty="0">
                <a:solidFill>
                  <a:schemeClr val="bg1"/>
                </a:solidFill>
              </a:rPr>
              <a:t>('output.csv', index=False)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To Excel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df.to_excel</a:t>
            </a:r>
            <a:r>
              <a:rPr lang="en-US" sz="2000" dirty="0">
                <a:solidFill>
                  <a:schemeClr val="bg1"/>
                </a:solidFill>
              </a:rPr>
              <a:t>('output.xlsx', index=False)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To JOSN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df.to_json</a:t>
            </a:r>
            <a:r>
              <a:rPr lang="en-US" sz="2000" dirty="0">
                <a:solidFill>
                  <a:schemeClr val="bg1"/>
                </a:solidFill>
              </a:rPr>
              <a:t>('</a:t>
            </a:r>
            <a:r>
              <a:rPr lang="en-US" sz="2000" dirty="0" err="1">
                <a:solidFill>
                  <a:schemeClr val="bg1"/>
                </a:solidFill>
              </a:rPr>
              <a:t>output.json</a:t>
            </a:r>
            <a:r>
              <a:rPr lang="en-US" sz="2000" dirty="0">
                <a:solidFill>
                  <a:schemeClr val="bg1"/>
                </a:solidFill>
              </a:rPr>
              <a:t>', index=False)</a:t>
            </a:r>
          </a:p>
        </p:txBody>
      </p:sp>
    </p:spTree>
    <p:extLst>
      <p:ext uri="{BB962C8B-B14F-4D97-AF65-F5344CB8AC3E}">
        <p14:creationId xmlns:p14="http://schemas.microsoft.com/office/powerpoint/2010/main" val="321301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3"/>
                </a:solidFill>
                <a:effectLst/>
              </a:rPr>
              <a:t>Advanced Features: Custom Collections &amp; Extensions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98119" y="1258315"/>
            <a:ext cx="65989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Setting </a:t>
            </a:r>
            <a:r>
              <a:rPr lang="en-US" sz="2400" b="1" dirty="0" err="1">
                <a:solidFill>
                  <a:schemeClr val="accent1"/>
                </a:solidFill>
              </a:rPr>
              <a:t>MultiIndex</a:t>
            </a:r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df.set_index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(['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AgeGroup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', 'Gender'],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inplace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=True)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198119" y="3294824"/>
            <a:ext cx="38464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Resetting Index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df.reset_index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inplace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=True)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198119" y="2222970"/>
            <a:ext cx="51663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Accessing </a:t>
            </a:r>
            <a:r>
              <a:rPr lang="en-US" sz="2400" b="1" dirty="0" err="1">
                <a:solidFill>
                  <a:schemeClr val="accent1"/>
                </a:solidFill>
              </a:rPr>
              <a:t>MultiIndex</a:t>
            </a:r>
            <a:r>
              <a:rPr lang="en-US" sz="2400" b="1" dirty="0">
                <a:solidFill>
                  <a:schemeClr val="accent1"/>
                </a:solidFill>
              </a:rPr>
              <a:t> Data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df.loc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[('Adult', 'Male')]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4287520" y="5717664"/>
            <a:ext cx="361696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Advanced indexing allows for powerful, flexible data selection.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D9E541B-FB7C-4ED1-A148-D801DB9781FC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6BCAA1-8D48-4BCC-BE34-46B792A4D12F}"/>
              </a:ext>
            </a:extLst>
          </p:cNvPr>
          <p:cNvSpPr txBox="1"/>
          <p:nvPr/>
        </p:nvSpPr>
        <p:spPr>
          <a:xfrm>
            <a:off x="198118" y="4281192"/>
            <a:ext cx="51663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Using .at and .</a:t>
            </a:r>
            <a:r>
              <a:rPr lang="en-US" sz="2400" b="1" dirty="0" err="1">
                <a:solidFill>
                  <a:schemeClr val="accent1"/>
                </a:solidFill>
              </a:rPr>
              <a:t>iat</a:t>
            </a:r>
            <a:r>
              <a:rPr lang="en-US" sz="2400" b="1" dirty="0">
                <a:solidFill>
                  <a:schemeClr val="accent1"/>
                </a:solidFill>
              </a:rPr>
              <a:t> for Fast Scalar Access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df.at[0, 'Name']   # Access by label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df.iat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[0, 1]      # Access by position</a:t>
            </a:r>
          </a:p>
        </p:txBody>
      </p:sp>
    </p:spTree>
    <p:extLst>
      <p:ext uri="{BB962C8B-B14F-4D97-AF65-F5344CB8AC3E}">
        <p14:creationId xmlns:p14="http://schemas.microsoft.com/office/powerpoint/2010/main" val="1910835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840" y="99849"/>
            <a:ext cx="11490959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Best Practices &amp; Tips for </a:t>
            </a:r>
            <a:r>
              <a:rPr lang="en-US" b="1" dirty="0" err="1">
                <a:solidFill>
                  <a:schemeClr val="accent3"/>
                </a:solidFill>
                <a:effectLst/>
              </a:rPr>
              <a:t>Dask</a:t>
            </a:r>
            <a:r>
              <a:rPr lang="en-US" b="1" dirty="0">
                <a:solidFill>
                  <a:schemeClr val="accent3"/>
                </a:solidFill>
                <a:effectLst/>
              </a:rPr>
              <a:t> Users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98119" y="1258315"/>
            <a:ext cx="65989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What are Categorical Variables?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Variables with a fixed number of possible values (categories).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Saves memory and improves performance.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198119" y="3406584"/>
            <a:ext cx="38464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Benefits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Efficient storage.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Faster operations.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Useful for grouping and analysis.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198119" y="2578570"/>
            <a:ext cx="51663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Converting to Category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df['Gender'] = df['Gender'].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astype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('category')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4287520" y="5717664"/>
            <a:ext cx="361696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categorical </a:t>
            </a:r>
            <a:r>
              <a:rPr lang="en-US" sz="2000" dirty="0" err="1">
                <a:solidFill>
                  <a:schemeClr val="bg1"/>
                </a:solidFill>
              </a:rPr>
              <a:t>dtype</a:t>
            </a:r>
            <a:r>
              <a:rPr lang="en-US" sz="2000" dirty="0">
                <a:solidFill>
                  <a:schemeClr val="bg1"/>
                </a:solidFill>
              </a:rPr>
              <a:t> for columns with repeated values.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D9E541B-FB7C-4ED1-A148-D801DB9781FC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6BCAA1-8D48-4BCC-BE34-46B792A4D12F}"/>
              </a:ext>
            </a:extLst>
          </p:cNvPr>
          <p:cNvSpPr txBox="1"/>
          <p:nvPr/>
        </p:nvSpPr>
        <p:spPr>
          <a:xfrm>
            <a:off x="198119" y="4850152"/>
            <a:ext cx="38464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Categories and Codes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print(df['Gender'].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cat.categories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print(df['Gender'].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cat.codes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7870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sv-SE" b="1" dirty="0">
                <a:solidFill>
                  <a:schemeClr val="accent3"/>
                </a:solidFill>
                <a:effectLst/>
              </a:rPr>
              <a:t>Summary &amp; Next Steps</a:t>
            </a:r>
            <a:endParaRPr lang="en-US" b="1" dirty="0">
              <a:solidFill>
                <a:schemeClr val="accent3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9423" y="1107440"/>
            <a:ext cx="480641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Techniques to Handle Big Data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Use </a:t>
            </a:r>
            <a:r>
              <a:rPr lang="en-US" sz="2000" dirty="0" err="1">
                <a:solidFill>
                  <a:schemeClr val="bg1"/>
                </a:solidFill>
              </a:rPr>
              <a:t>chunksize</a:t>
            </a:r>
            <a:r>
              <a:rPr lang="en-US" sz="2000" dirty="0">
                <a:solidFill>
                  <a:schemeClr val="bg1"/>
                </a:solidFill>
              </a:rPr>
              <a:t> parameter while reading files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for chunk in </a:t>
            </a:r>
            <a:r>
              <a:rPr lang="en-US" sz="2000" dirty="0" err="1">
                <a:solidFill>
                  <a:schemeClr val="bg1"/>
                </a:solidFill>
              </a:rPr>
              <a:t>pd.read_csv</a:t>
            </a:r>
            <a:r>
              <a:rPr lang="en-US" sz="2000" dirty="0">
                <a:solidFill>
                  <a:schemeClr val="bg1"/>
                </a:solidFill>
              </a:rPr>
              <a:t>('large_data.csv',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chunksize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=10000):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   process(chunk)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0" y="5068547"/>
            <a:ext cx="46843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Filter Early</a:t>
            </a:r>
            <a:endParaRPr lang="en-US" sz="2000" b="1" dirty="0">
              <a:solidFill>
                <a:schemeClr val="bg1"/>
              </a:solidFill>
            </a:endParaRPr>
          </a:p>
          <a:p>
            <a:pPr algn="just"/>
            <a:r>
              <a:rPr lang="en-US" dirty="0">
                <a:solidFill>
                  <a:schemeClr val="bg1"/>
                </a:solidFill>
              </a:rPr>
              <a:t>Filter data before heavy processing to reduce size.</a:t>
            </a:r>
            <a:endParaRPr lang="en-US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0" y="2764828"/>
            <a:ext cx="58935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Use Efficient Data Types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Convert object columns to categorical.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Downcast numeric types.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df['Age']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pd.to_numeric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(df['Age'], downcast='integer')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1F892F-4166-4795-A83E-7B5AAE0CA9FA}"/>
              </a:ext>
            </a:extLst>
          </p:cNvPr>
          <p:cNvSpPr txBox="1"/>
          <p:nvPr/>
        </p:nvSpPr>
        <p:spPr>
          <a:xfrm>
            <a:off x="9423" y="4226863"/>
            <a:ext cx="51721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Use .query() for Faster Filtering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df.query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('Age &gt; 30 &amp; Gender == "Male“’)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28C078B6-2FD8-494D-B33C-7ADC8838D348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ED009E-4AAB-4DB1-9C30-79212D3DE666}"/>
              </a:ext>
            </a:extLst>
          </p:cNvPr>
          <p:cNvSpPr txBox="1"/>
          <p:nvPr/>
        </p:nvSpPr>
        <p:spPr>
          <a:xfrm>
            <a:off x="4175760" y="5717664"/>
            <a:ext cx="3667759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Optimize memory and processing to work with large data smoothly.</a:t>
            </a:r>
          </a:p>
        </p:txBody>
      </p:sp>
    </p:spTree>
    <p:extLst>
      <p:ext uri="{BB962C8B-B14F-4D97-AF65-F5344CB8AC3E}">
        <p14:creationId xmlns:p14="http://schemas.microsoft.com/office/powerpoint/2010/main" val="36981506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2162</Words>
  <Application>Microsoft Office PowerPoint</Application>
  <PresentationFormat>Widescreen</PresentationFormat>
  <Paragraphs>378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Goudy Old Style</vt:lpstr>
      <vt:lpstr>Lato</vt:lpstr>
      <vt:lpstr>Roboto</vt:lpstr>
      <vt:lpstr>Wingdings 2</vt:lpstr>
      <vt:lpstr>SlateVTI</vt:lpstr>
      <vt:lpstr>Mastering Dask: From Basics to Expert Level</vt:lpstr>
      <vt:lpstr>Training Objectives &amp; Outcomes</vt:lpstr>
      <vt:lpstr>Introduction to Dask</vt:lpstr>
      <vt:lpstr>Core Dask Data Structures</vt:lpstr>
      <vt:lpstr>How Dask Works: Task Graphs &amp; Scheduling</vt:lpstr>
      <vt:lpstr>Installing &amp; Setting Up Dask</vt:lpstr>
      <vt:lpstr>Working with Dask Arrays</vt:lpstr>
      <vt:lpstr>Dask Bags: Handling Unstructured &amp; Semi-structured Data</vt:lpstr>
      <vt:lpstr>Parallel &amp; Distributed Computing with Dask</vt:lpstr>
      <vt:lpstr>Dask Delayed: Building Custom Task Graphs</vt:lpstr>
      <vt:lpstr>Dask Futures &amp; Distributed Scheduler</vt:lpstr>
      <vt:lpstr>Integrating Dask with Pandas &amp; NumPy</vt:lpstr>
      <vt:lpstr>Performance Optimization Tips in Dask</vt:lpstr>
      <vt:lpstr>Real-world Use Cases of Dask</vt:lpstr>
      <vt:lpstr>Hands-on Example: Large Dataset Analysis</vt:lpstr>
      <vt:lpstr>Dask &amp; Machine Learning Integration</vt:lpstr>
      <vt:lpstr>Visualization &amp; Monitoring with Dask Dashboard</vt:lpstr>
      <vt:lpstr>Error Handling &amp; Debugging in Dask</vt:lpstr>
      <vt:lpstr>Advanced Features: Custom Collections &amp; Extensions</vt:lpstr>
      <vt:lpstr>Best Practices &amp; Tips for Dask Users</vt:lpstr>
      <vt:lpstr>Summary &amp;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2025-05-18T04:39:12Z</dcterms:created>
  <dcterms:modified xsi:type="dcterms:W3CDTF">2025-07-10T08:13:43Z</dcterms:modified>
</cp:coreProperties>
</file>